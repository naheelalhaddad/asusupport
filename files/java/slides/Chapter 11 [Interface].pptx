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35"/>
  </p:notesMasterIdLst>
  <p:sldIdLst>
    <p:sldId id="256" r:id="rId5"/>
    <p:sldId id="257" r:id="rId6"/>
    <p:sldId id="756" r:id="rId7"/>
    <p:sldId id="757" r:id="rId8"/>
    <p:sldId id="758" r:id="rId9"/>
    <p:sldId id="759" r:id="rId10"/>
    <p:sldId id="760" r:id="rId11"/>
    <p:sldId id="761" r:id="rId12"/>
    <p:sldId id="763" r:id="rId13"/>
    <p:sldId id="765" r:id="rId14"/>
    <p:sldId id="766" r:id="rId15"/>
    <p:sldId id="767" r:id="rId16"/>
    <p:sldId id="769" r:id="rId17"/>
    <p:sldId id="770" r:id="rId18"/>
    <p:sldId id="771" r:id="rId19"/>
    <p:sldId id="772" r:id="rId20"/>
    <p:sldId id="773" r:id="rId21"/>
    <p:sldId id="774" r:id="rId22"/>
    <p:sldId id="775" r:id="rId23"/>
    <p:sldId id="776" r:id="rId24"/>
    <p:sldId id="777" r:id="rId25"/>
    <p:sldId id="778" r:id="rId26"/>
    <p:sldId id="779" r:id="rId27"/>
    <p:sldId id="780" r:id="rId28"/>
    <p:sldId id="784" r:id="rId29"/>
    <p:sldId id="785" r:id="rId30"/>
    <p:sldId id="783" r:id="rId31"/>
    <p:sldId id="782" r:id="rId32"/>
    <p:sldId id="781" r:id="rId33"/>
    <p:sldId id="38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40FF"/>
    <a:srgbClr val="0070C0"/>
    <a:srgbClr val="FF0000"/>
    <a:srgbClr val="ADBADA"/>
    <a:srgbClr val="D9A0FF"/>
    <a:srgbClr val="E8ECF5"/>
    <a:srgbClr val="FF8080"/>
    <a:srgbClr val="CDD4E8"/>
    <a:srgbClr val="FF8C8C"/>
    <a:srgbClr val="CCEF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63526B-931D-7A7D-1E86-2BE3EFEDBCBA}" v="21" dt="2024-02-25T23:02:35.4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3220" autoAdjust="0"/>
  </p:normalViewPr>
  <p:slideViewPr>
    <p:cSldViewPr snapToGrid="0">
      <p:cViewPr varScale="1">
        <p:scale>
          <a:sx n="87" d="100"/>
          <a:sy n="87" d="100"/>
        </p:scale>
        <p:origin x="4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C863526B-931D-7A7D-1E86-2BE3EFEDBCBA}"/>
    <pc:docChg chg="mod modSld modMainMaster">
      <pc:chgData name="Bara Hamadeh" userId="S::b_hamadeh@asu.edu.jo::ba91a99f-f3ba-46e6-ad5d-582794b375a9" providerId="AD" clId="Web-{C863526B-931D-7A7D-1E86-2BE3EFEDBCBA}" dt="2024-02-25T23:02:35.460" v="20"/>
      <pc:docMkLst>
        <pc:docMk/>
      </pc:docMkLst>
      <pc:sldChg chg="delSp modTransition">
        <pc:chgData name="Bara Hamadeh" userId="S::b_hamadeh@asu.edu.jo::ba91a99f-f3ba-46e6-ad5d-582794b375a9" providerId="AD" clId="Web-{C863526B-931D-7A7D-1E86-2BE3EFEDBCBA}" dt="2024-02-25T23:02:21.632" v="18"/>
        <pc:sldMkLst>
          <pc:docMk/>
          <pc:sldMk cId="98556299" sldId="256"/>
        </pc:sldMkLst>
        <pc:spChg chg="del">
          <ac:chgData name="Bara Hamadeh" userId="S::b_hamadeh@asu.edu.jo::ba91a99f-f3ba-46e6-ad5d-582794b375a9" providerId="AD" clId="Web-{C863526B-931D-7A7D-1E86-2BE3EFEDBCBA}" dt="2024-02-25T23:02:21.632" v="18"/>
          <ac:spMkLst>
            <pc:docMk/>
            <pc:sldMk cId="98556299" sldId="256"/>
            <ac:spMk id="4" creationId="{3E2AE632-31A0-217D-FD10-0A342181E0D1}"/>
          </ac:spMkLst>
        </pc:spChg>
      </pc:sldChg>
      <pc:sldChg chg="modSp">
        <pc:chgData name="Bara Hamadeh" userId="S::b_hamadeh@asu.edu.jo::ba91a99f-f3ba-46e6-ad5d-582794b375a9" providerId="AD" clId="Web-{C863526B-931D-7A7D-1E86-2BE3EFEDBCBA}" dt="2024-02-25T23:02:29.867" v="19"/>
        <pc:sldMkLst>
          <pc:docMk/>
          <pc:sldMk cId="763895569" sldId="257"/>
        </pc:sldMkLst>
        <pc:spChg chg="mod">
          <ac:chgData name="Bara Hamadeh" userId="S::b_hamadeh@asu.edu.jo::ba91a99f-f3ba-46e6-ad5d-582794b375a9" providerId="AD" clId="Web-{C863526B-931D-7A7D-1E86-2BE3EFEDBCBA}" dt="2024-02-25T23:02:29.867" v="19"/>
          <ac:spMkLst>
            <pc:docMk/>
            <pc:sldMk cId="763895569" sldId="257"/>
            <ac:spMk id="4" creationId="{8258CA88-4CE1-2FF4-DD8D-F6AFF13B654D}"/>
          </ac:spMkLst>
        </pc:spChg>
      </pc:sldChg>
      <pc:sldChg chg="modSp modTransition">
        <pc:chgData name="Bara Hamadeh" userId="S::b_hamadeh@asu.edu.jo::ba91a99f-f3ba-46e6-ad5d-582794b375a9" providerId="AD" clId="Web-{C863526B-931D-7A7D-1E86-2BE3EFEDBCBA}" dt="2024-02-25T23:02:29.867" v="19"/>
        <pc:sldMkLst>
          <pc:docMk/>
          <pc:sldMk cId="1327438597" sldId="384"/>
        </pc:sldMkLst>
        <pc:spChg chg="mod">
          <ac:chgData name="Bara Hamadeh" userId="S::b_hamadeh@asu.edu.jo::ba91a99f-f3ba-46e6-ad5d-582794b375a9" providerId="AD" clId="Web-{C863526B-931D-7A7D-1E86-2BE3EFEDBCBA}" dt="2024-02-25T23:02:29.867" v="19"/>
          <ac:spMkLst>
            <pc:docMk/>
            <pc:sldMk cId="1327438597" sldId="384"/>
            <ac:spMk id="4" creationId="{66738BBB-0AA8-3DCA-D70D-202ADE3D7914}"/>
          </ac:spMkLst>
        </pc:spChg>
      </pc:sldChg>
      <pc:sldChg chg="modSp">
        <pc:chgData name="Bara Hamadeh" userId="S::b_hamadeh@asu.edu.jo::ba91a99f-f3ba-46e6-ad5d-582794b375a9" providerId="AD" clId="Web-{C863526B-931D-7A7D-1E86-2BE3EFEDBCBA}" dt="2024-02-25T23:02:29.867" v="19"/>
        <pc:sldMkLst>
          <pc:docMk/>
          <pc:sldMk cId="680220244" sldId="756"/>
        </pc:sldMkLst>
        <pc:spChg chg="mod">
          <ac:chgData name="Bara Hamadeh" userId="S::b_hamadeh@asu.edu.jo::ba91a99f-f3ba-46e6-ad5d-582794b375a9" providerId="AD" clId="Web-{C863526B-931D-7A7D-1E86-2BE3EFEDBCBA}" dt="2024-02-25T23:02:29.867" v="19"/>
          <ac:spMkLst>
            <pc:docMk/>
            <pc:sldMk cId="680220244" sldId="756"/>
            <ac:spMk id="4" creationId="{DADDCFB3-405D-156B-67BF-752F3897E84B}"/>
          </ac:spMkLst>
        </pc:spChg>
      </pc:sldChg>
      <pc:sldChg chg="modSp">
        <pc:chgData name="Bara Hamadeh" userId="S::b_hamadeh@asu.edu.jo::ba91a99f-f3ba-46e6-ad5d-582794b375a9" providerId="AD" clId="Web-{C863526B-931D-7A7D-1E86-2BE3EFEDBCBA}" dt="2024-02-25T23:02:29.867" v="19"/>
        <pc:sldMkLst>
          <pc:docMk/>
          <pc:sldMk cId="1255574244" sldId="757"/>
        </pc:sldMkLst>
        <pc:spChg chg="mod">
          <ac:chgData name="Bara Hamadeh" userId="S::b_hamadeh@asu.edu.jo::ba91a99f-f3ba-46e6-ad5d-582794b375a9" providerId="AD" clId="Web-{C863526B-931D-7A7D-1E86-2BE3EFEDBCBA}" dt="2024-02-25T23:02:29.867" v="19"/>
          <ac:spMkLst>
            <pc:docMk/>
            <pc:sldMk cId="1255574244" sldId="757"/>
            <ac:spMk id="4" creationId="{5AB37340-0364-893C-DCD0-C82A430617D8}"/>
          </ac:spMkLst>
        </pc:spChg>
      </pc:sldChg>
      <pc:sldChg chg="modSp">
        <pc:chgData name="Bara Hamadeh" userId="S::b_hamadeh@asu.edu.jo::ba91a99f-f3ba-46e6-ad5d-582794b375a9" providerId="AD" clId="Web-{C863526B-931D-7A7D-1E86-2BE3EFEDBCBA}" dt="2024-02-25T23:02:29.867" v="19"/>
        <pc:sldMkLst>
          <pc:docMk/>
          <pc:sldMk cId="1975782957" sldId="758"/>
        </pc:sldMkLst>
        <pc:spChg chg="mod">
          <ac:chgData name="Bara Hamadeh" userId="S::b_hamadeh@asu.edu.jo::ba91a99f-f3ba-46e6-ad5d-582794b375a9" providerId="AD" clId="Web-{C863526B-931D-7A7D-1E86-2BE3EFEDBCBA}" dt="2024-02-25T23:02:29.867" v="19"/>
          <ac:spMkLst>
            <pc:docMk/>
            <pc:sldMk cId="1975782957" sldId="758"/>
            <ac:spMk id="4" creationId="{6853A1AE-19E8-EDE6-9360-6BF981B05C9D}"/>
          </ac:spMkLst>
        </pc:spChg>
      </pc:sldChg>
      <pc:sldChg chg="modSp">
        <pc:chgData name="Bara Hamadeh" userId="S::b_hamadeh@asu.edu.jo::ba91a99f-f3ba-46e6-ad5d-582794b375a9" providerId="AD" clId="Web-{C863526B-931D-7A7D-1E86-2BE3EFEDBCBA}" dt="2024-02-25T23:02:29.867" v="19"/>
        <pc:sldMkLst>
          <pc:docMk/>
          <pc:sldMk cId="227996064" sldId="759"/>
        </pc:sldMkLst>
        <pc:spChg chg="mod">
          <ac:chgData name="Bara Hamadeh" userId="S::b_hamadeh@asu.edu.jo::ba91a99f-f3ba-46e6-ad5d-582794b375a9" providerId="AD" clId="Web-{C863526B-931D-7A7D-1E86-2BE3EFEDBCBA}" dt="2024-02-25T23:02:29.867" v="19"/>
          <ac:spMkLst>
            <pc:docMk/>
            <pc:sldMk cId="227996064" sldId="759"/>
            <ac:spMk id="4" creationId="{7C3587DC-D5FE-F868-8E7C-F4D5C38BD689}"/>
          </ac:spMkLst>
        </pc:spChg>
      </pc:sldChg>
      <pc:sldChg chg="modSp">
        <pc:chgData name="Bara Hamadeh" userId="S::b_hamadeh@asu.edu.jo::ba91a99f-f3ba-46e6-ad5d-582794b375a9" providerId="AD" clId="Web-{C863526B-931D-7A7D-1E86-2BE3EFEDBCBA}" dt="2024-02-25T23:02:29.867" v="19"/>
        <pc:sldMkLst>
          <pc:docMk/>
          <pc:sldMk cId="1805347492" sldId="760"/>
        </pc:sldMkLst>
        <pc:spChg chg="mod">
          <ac:chgData name="Bara Hamadeh" userId="S::b_hamadeh@asu.edu.jo::ba91a99f-f3ba-46e6-ad5d-582794b375a9" providerId="AD" clId="Web-{C863526B-931D-7A7D-1E86-2BE3EFEDBCBA}" dt="2024-02-25T23:02:29.867" v="19"/>
          <ac:spMkLst>
            <pc:docMk/>
            <pc:sldMk cId="1805347492" sldId="760"/>
            <ac:spMk id="4" creationId="{A98B77B9-8839-49A9-15D0-CCCDCFFD8CBA}"/>
          </ac:spMkLst>
        </pc:spChg>
      </pc:sldChg>
      <pc:sldChg chg="modSp">
        <pc:chgData name="Bara Hamadeh" userId="S::b_hamadeh@asu.edu.jo::ba91a99f-f3ba-46e6-ad5d-582794b375a9" providerId="AD" clId="Web-{C863526B-931D-7A7D-1E86-2BE3EFEDBCBA}" dt="2024-02-25T23:02:29.867" v="19"/>
        <pc:sldMkLst>
          <pc:docMk/>
          <pc:sldMk cId="3677284140" sldId="761"/>
        </pc:sldMkLst>
        <pc:spChg chg="mod">
          <ac:chgData name="Bara Hamadeh" userId="S::b_hamadeh@asu.edu.jo::ba91a99f-f3ba-46e6-ad5d-582794b375a9" providerId="AD" clId="Web-{C863526B-931D-7A7D-1E86-2BE3EFEDBCBA}" dt="2024-02-25T23:02:29.867" v="19"/>
          <ac:spMkLst>
            <pc:docMk/>
            <pc:sldMk cId="3677284140" sldId="761"/>
            <ac:spMk id="4" creationId="{96E91AAC-BC4B-6BE2-5BCC-FDBB7BA668F5}"/>
          </ac:spMkLst>
        </pc:spChg>
      </pc:sldChg>
      <pc:sldChg chg="modSp">
        <pc:chgData name="Bara Hamadeh" userId="S::b_hamadeh@asu.edu.jo::ba91a99f-f3ba-46e6-ad5d-582794b375a9" providerId="AD" clId="Web-{C863526B-931D-7A7D-1E86-2BE3EFEDBCBA}" dt="2024-02-25T23:02:29.867" v="19"/>
        <pc:sldMkLst>
          <pc:docMk/>
          <pc:sldMk cId="2226807426" sldId="763"/>
        </pc:sldMkLst>
        <pc:spChg chg="mod">
          <ac:chgData name="Bara Hamadeh" userId="S::b_hamadeh@asu.edu.jo::ba91a99f-f3ba-46e6-ad5d-582794b375a9" providerId="AD" clId="Web-{C863526B-931D-7A7D-1E86-2BE3EFEDBCBA}" dt="2024-02-25T23:02:29.867" v="19"/>
          <ac:spMkLst>
            <pc:docMk/>
            <pc:sldMk cId="2226807426" sldId="763"/>
            <ac:spMk id="4" creationId="{F4B8323C-5CDC-91D2-670B-7628F46F0E84}"/>
          </ac:spMkLst>
        </pc:spChg>
      </pc:sldChg>
      <pc:sldChg chg="modSp">
        <pc:chgData name="Bara Hamadeh" userId="S::b_hamadeh@asu.edu.jo::ba91a99f-f3ba-46e6-ad5d-582794b375a9" providerId="AD" clId="Web-{C863526B-931D-7A7D-1E86-2BE3EFEDBCBA}" dt="2024-02-25T23:02:29.867" v="19"/>
        <pc:sldMkLst>
          <pc:docMk/>
          <pc:sldMk cId="3237801343" sldId="765"/>
        </pc:sldMkLst>
        <pc:spChg chg="mod">
          <ac:chgData name="Bara Hamadeh" userId="S::b_hamadeh@asu.edu.jo::ba91a99f-f3ba-46e6-ad5d-582794b375a9" providerId="AD" clId="Web-{C863526B-931D-7A7D-1E86-2BE3EFEDBCBA}" dt="2024-02-25T23:02:29.867" v="19"/>
          <ac:spMkLst>
            <pc:docMk/>
            <pc:sldMk cId="3237801343" sldId="765"/>
            <ac:spMk id="4" creationId="{8C89530E-6FAD-6145-74B1-7AD5A36B87E4}"/>
          </ac:spMkLst>
        </pc:spChg>
      </pc:sldChg>
      <pc:sldChg chg="modSp modTransition">
        <pc:chgData name="Bara Hamadeh" userId="S::b_hamadeh@asu.edu.jo::ba91a99f-f3ba-46e6-ad5d-582794b375a9" providerId="AD" clId="Web-{C863526B-931D-7A7D-1E86-2BE3EFEDBCBA}" dt="2024-02-25T23:02:29.867" v="19"/>
        <pc:sldMkLst>
          <pc:docMk/>
          <pc:sldMk cId="3384965462" sldId="766"/>
        </pc:sldMkLst>
        <pc:spChg chg="mod">
          <ac:chgData name="Bara Hamadeh" userId="S::b_hamadeh@asu.edu.jo::ba91a99f-f3ba-46e6-ad5d-582794b375a9" providerId="AD" clId="Web-{C863526B-931D-7A7D-1E86-2BE3EFEDBCBA}" dt="2024-02-25T23:02:29.867" v="19"/>
          <ac:spMkLst>
            <pc:docMk/>
            <pc:sldMk cId="3384965462" sldId="766"/>
            <ac:spMk id="4" creationId="{0E987185-B238-0280-812B-971A0185412C}"/>
          </ac:spMkLst>
        </pc:spChg>
      </pc:sldChg>
      <pc:sldChg chg="modSp modTransition">
        <pc:chgData name="Bara Hamadeh" userId="S::b_hamadeh@asu.edu.jo::ba91a99f-f3ba-46e6-ad5d-582794b375a9" providerId="AD" clId="Web-{C863526B-931D-7A7D-1E86-2BE3EFEDBCBA}" dt="2024-02-25T23:02:29.867" v="19"/>
        <pc:sldMkLst>
          <pc:docMk/>
          <pc:sldMk cId="1462901002" sldId="767"/>
        </pc:sldMkLst>
        <pc:spChg chg="mod">
          <ac:chgData name="Bara Hamadeh" userId="S::b_hamadeh@asu.edu.jo::ba91a99f-f3ba-46e6-ad5d-582794b375a9" providerId="AD" clId="Web-{C863526B-931D-7A7D-1E86-2BE3EFEDBCBA}" dt="2024-02-25T23:02:29.867" v="19"/>
          <ac:spMkLst>
            <pc:docMk/>
            <pc:sldMk cId="1462901002" sldId="767"/>
            <ac:spMk id="4" creationId="{FFB2980B-8780-684F-4A52-7B2D84FC14F5}"/>
          </ac:spMkLst>
        </pc:spChg>
      </pc:sldChg>
      <pc:sldChg chg="modSp modTransition">
        <pc:chgData name="Bara Hamadeh" userId="S::b_hamadeh@asu.edu.jo::ba91a99f-f3ba-46e6-ad5d-582794b375a9" providerId="AD" clId="Web-{C863526B-931D-7A7D-1E86-2BE3EFEDBCBA}" dt="2024-02-25T23:02:29.867" v="19"/>
        <pc:sldMkLst>
          <pc:docMk/>
          <pc:sldMk cId="2840212330" sldId="769"/>
        </pc:sldMkLst>
        <pc:spChg chg="mod">
          <ac:chgData name="Bara Hamadeh" userId="S::b_hamadeh@asu.edu.jo::ba91a99f-f3ba-46e6-ad5d-582794b375a9" providerId="AD" clId="Web-{C863526B-931D-7A7D-1E86-2BE3EFEDBCBA}" dt="2024-02-25T23:02:29.867" v="19"/>
          <ac:spMkLst>
            <pc:docMk/>
            <pc:sldMk cId="2840212330" sldId="769"/>
            <ac:spMk id="4" creationId="{AFFF58D4-7FDF-763D-BCFD-2A650DBF32C6}"/>
          </ac:spMkLst>
        </pc:spChg>
      </pc:sldChg>
      <pc:sldChg chg="modSp modTransition">
        <pc:chgData name="Bara Hamadeh" userId="S::b_hamadeh@asu.edu.jo::ba91a99f-f3ba-46e6-ad5d-582794b375a9" providerId="AD" clId="Web-{C863526B-931D-7A7D-1E86-2BE3EFEDBCBA}" dt="2024-02-25T23:02:29.867" v="19"/>
        <pc:sldMkLst>
          <pc:docMk/>
          <pc:sldMk cId="333685036" sldId="770"/>
        </pc:sldMkLst>
        <pc:spChg chg="mod">
          <ac:chgData name="Bara Hamadeh" userId="S::b_hamadeh@asu.edu.jo::ba91a99f-f3ba-46e6-ad5d-582794b375a9" providerId="AD" clId="Web-{C863526B-931D-7A7D-1E86-2BE3EFEDBCBA}" dt="2024-02-25T23:02:29.867" v="19"/>
          <ac:spMkLst>
            <pc:docMk/>
            <pc:sldMk cId="333685036" sldId="770"/>
            <ac:spMk id="4" creationId="{58F2053B-FAEC-1D19-0F0B-5ECBF570CC2C}"/>
          </ac:spMkLst>
        </pc:spChg>
      </pc:sldChg>
      <pc:sldChg chg="modSp modTransition">
        <pc:chgData name="Bara Hamadeh" userId="S::b_hamadeh@asu.edu.jo::ba91a99f-f3ba-46e6-ad5d-582794b375a9" providerId="AD" clId="Web-{C863526B-931D-7A7D-1E86-2BE3EFEDBCBA}" dt="2024-02-25T23:02:29.867" v="19"/>
        <pc:sldMkLst>
          <pc:docMk/>
          <pc:sldMk cId="3531367622" sldId="771"/>
        </pc:sldMkLst>
        <pc:spChg chg="mod">
          <ac:chgData name="Bara Hamadeh" userId="S::b_hamadeh@asu.edu.jo::ba91a99f-f3ba-46e6-ad5d-582794b375a9" providerId="AD" clId="Web-{C863526B-931D-7A7D-1E86-2BE3EFEDBCBA}" dt="2024-02-25T23:02:29.867" v="19"/>
          <ac:spMkLst>
            <pc:docMk/>
            <pc:sldMk cId="3531367622" sldId="771"/>
            <ac:spMk id="4" creationId="{150AF9DC-6F5C-9525-C8B1-DBE7A0858F50}"/>
          </ac:spMkLst>
        </pc:spChg>
      </pc:sldChg>
      <pc:sldChg chg="modSp modTransition">
        <pc:chgData name="Bara Hamadeh" userId="S::b_hamadeh@asu.edu.jo::ba91a99f-f3ba-46e6-ad5d-582794b375a9" providerId="AD" clId="Web-{C863526B-931D-7A7D-1E86-2BE3EFEDBCBA}" dt="2024-02-25T23:02:29.867" v="19"/>
        <pc:sldMkLst>
          <pc:docMk/>
          <pc:sldMk cId="2511998431" sldId="772"/>
        </pc:sldMkLst>
        <pc:spChg chg="mod">
          <ac:chgData name="Bara Hamadeh" userId="S::b_hamadeh@asu.edu.jo::ba91a99f-f3ba-46e6-ad5d-582794b375a9" providerId="AD" clId="Web-{C863526B-931D-7A7D-1E86-2BE3EFEDBCBA}" dt="2024-02-25T23:02:29.867" v="19"/>
          <ac:spMkLst>
            <pc:docMk/>
            <pc:sldMk cId="2511998431" sldId="772"/>
            <ac:spMk id="4" creationId="{6908466E-A8C9-55DE-A9F3-E992BF2CF126}"/>
          </ac:spMkLst>
        </pc:spChg>
      </pc:sldChg>
      <pc:sldChg chg="modSp modTransition">
        <pc:chgData name="Bara Hamadeh" userId="S::b_hamadeh@asu.edu.jo::ba91a99f-f3ba-46e6-ad5d-582794b375a9" providerId="AD" clId="Web-{C863526B-931D-7A7D-1E86-2BE3EFEDBCBA}" dt="2024-02-25T23:02:29.867" v="19"/>
        <pc:sldMkLst>
          <pc:docMk/>
          <pc:sldMk cId="3167236036" sldId="773"/>
        </pc:sldMkLst>
        <pc:spChg chg="mod">
          <ac:chgData name="Bara Hamadeh" userId="S::b_hamadeh@asu.edu.jo::ba91a99f-f3ba-46e6-ad5d-582794b375a9" providerId="AD" clId="Web-{C863526B-931D-7A7D-1E86-2BE3EFEDBCBA}" dt="2024-02-25T23:02:29.867" v="19"/>
          <ac:spMkLst>
            <pc:docMk/>
            <pc:sldMk cId="3167236036" sldId="773"/>
            <ac:spMk id="4" creationId="{59B30325-1BFA-0F98-FAD8-E03C5E5A9E24}"/>
          </ac:spMkLst>
        </pc:spChg>
      </pc:sldChg>
      <pc:sldChg chg="modSp modTransition">
        <pc:chgData name="Bara Hamadeh" userId="S::b_hamadeh@asu.edu.jo::ba91a99f-f3ba-46e6-ad5d-582794b375a9" providerId="AD" clId="Web-{C863526B-931D-7A7D-1E86-2BE3EFEDBCBA}" dt="2024-02-25T23:02:29.867" v="19"/>
        <pc:sldMkLst>
          <pc:docMk/>
          <pc:sldMk cId="3200917820" sldId="774"/>
        </pc:sldMkLst>
        <pc:spChg chg="mod">
          <ac:chgData name="Bara Hamadeh" userId="S::b_hamadeh@asu.edu.jo::ba91a99f-f3ba-46e6-ad5d-582794b375a9" providerId="AD" clId="Web-{C863526B-931D-7A7D-1E86-2BE3EFEDBCBA}" dt="2024-02-25T23:02:29.867" v="19"/>
          <ac:spMkLst>
            <pc:docMk/>
            <pc:sldMk cId="3200917820" sldId="774"/>
            <ac:spMk id="4" creationId="{212FC7DA-686E-B1A7-98C8-7A15BBE9DCE6}"/>
          </ac:spMkLst>
        </pc:spChg>
      </pc:sldChg>
      <pc:sldChg chg="modSp modTransition">
        <pc:chgData name="Bara Hamadeh" userId="S::b_hamadeh@asu.edu.jo::ba91a99f-f3ba-46e6-ad5d-582794b375a9" providerId="AD" clId="Web-{C863526B-931D-7A7D-1E86-2BE3EFEDBCBA}" dt="2024-02-25T23:02:29.867" v="19"/>
        <pc:sldMkLst>
          <pc:docMk/>
          <pc:sldMk cId="3766065679" sldId="775"/>
        </pc:sldMkLst>
        <pc:spChg chg="mod">
          <ac:chgData name="Bara Hamadeh" userId="S::b_hamadeh@asu.edu.jo::ba91a99f-f3ba-46e6-ad5d-582794b375a9" providerId="AD" clId="Web-{C863526B-931D-7A7D-1E86-2BE3EFEDBCBA}" dt="2024-02-25T23:02:29.867" v="19"/>
          <ac:spMkLst>
            <pc:docMk/>
            <pc:sldMk cId="3766065679" sldId="775"/>
            <ac:spMk id="4" creationId="{025F9C2E-B33F-E59B-8E80-263EAA711AC1}"/>
          </ac:spMkLst>
        </pc:spChg>
      </pc:sldChg>
      <pc:sldChg chg="modSp modTransition">
        <pc:chgData name="Bara Hamadeh" userId="S::b_hamadeh@asu.edu.jo::ba91a99f-f3ba-46e6-ad5d-582794b375a9" providerId="AD" clId="Web-{C863526B-931D-7A7D-1E86-2BE3EFEDBCBA}" dt="2024-02-25T23:02:29.867" v="19"/>
        <pc:sldMkLst>
          <pc:docMk/>
          <pc:sldMk cId="418129087" sldId="776"/>
        </pc:sldMkLst>
        <pc:spChg chg="mod">
          <ac:chgData name="Bara Hamadeh" userId="S::b_hamadeh@asu.edu.jo::ba91a99f-f3ba-46e6-ad5d-582794b375a9" providerId="AD" clId="Web-{C863526B-931D-7A7D-1E86-2BE3EFEDBCBA}" dt="2024-02-25T23:02:29.867" v="19"/>
          <ac:spMkLst>
            <pc:docMk/>
            <pc:sldMk cId="418129087" sldId="776"/>
            <ac:spMk id="4" creationId="{C4A25C7B-AA62-0049-FC96-90C5723E3AF3}"/>
          </ac:spMkLst>
        </pc:spChg>
      </pc:sldChg>
      <pc:sldChg chg="modSp modTransition">
        <pc:chgData name="Bara Hamadeh" userId="S::b_hamadeh@asu.edu.jo::ba91a99f-f3ba-46e6-ad5d-582794b375a9" providerId="AD" clId="Web-{C863526B-931D-7A7D-1E86-2BE3EFEDBCBA}" dt="2024-02-25T23:02:29.867" v="19"/>
        <pc:sldMkLst>
          <pc:docMk/>
          <pc:sldMk cId="559709603" sldId="777"/>
        </pc:sldMkLst>
        <pc:spChg chg="mod">
          <ac:chgData name="Bara Hamadeh" userId="S::b_hamadeh@asu.edu.jo::ba91a99f-f3ba-46e6-ad5d-582794b375a9" providerId="AD" clId="Web-{C863526B-931D-7A7D-1E86-2BE3EFEDBCBA}" dt="2024-02-25T23:02:29.867" v="19"/>
          <ac:spMkLst>
            <pc:docMk/>
            <pc:sldMk cId="559709603" sldId="777"/>
            <ac:spMk id="4" creationId="{35C8074A-8309-A440-9AD3-AF998FF0629E}"/>
          </ac:spMkLst>
        </pc:spChg>
      </pc:sldChg>
      <pc:sldChg chg="modSp modTransition">
        <pc:chgData name="Bara Hamadeh" userId="S::b_hamadeh@asu.edu.jo::ba91a99f-f3ba-46e6-ad5d-582794b375a9" providerId="AD" clId="Web-{C863526B-931D-7A7D-1E86-2BE3EFEDBCBA}" dt="2024-02-25T23:02:29.867" v="19"/>
        <pc:sldMkLst>
          <pc:docMk/>
          <pc:sldMk cId="4237071119" sldId="778"/>
        </pc:sldMkLst>
        <pc:spChg chg="mod">
          <ac:chgData name="Bara Hamadeh" userId="S::b_hamadeh@asu.edu.jo::ba91a99f-f3ba-46e6-ad5d-582794b375a9" providerId="AD" clId="Web-{C863526B-931D-7A7D-1E86-2BE3EFEDBCBA}" dt="2024-02-25T23:02:29.867" v="19"/>
          <ac:spMkLst>
            <pc:docMk/>
            <pc:sldMk cId="4237071119" sldId="778"/>
            <ac:spMk id="4" creationId="{50775832-D3EF-7EB5-1120-E74DC5801411}"/>
          </ac:spMkLst>
        </pc:spChg>
      </pc:sldChg>
      <pc:sldChg chg="modSp modTransition">
        <pc:chgData name="Bara Hamadeh" userId="S::b_hamadeh@asu.edu.jo::ba91a99f-f3ba-46e6-ad5d-582794b375a9" providerId="AD" clId="Web-{C863526B-931D-7A7D-1E86-2BE3EFEDBCBA}" dt="2024-02-25T23:02:29.867" v="19"/>
        <pc:sldMkLst>
          <pc:docMk/>
          <pc:sldMk cId="2767572442" sldId="779"/>
        </pc:sldMkLst>
        <pc:spChg chg="mod">
          <ac:chgData name="Bara Hamadeh" userId="S::b_hamadeh@asu.edu.jo::ba91a99f-f3ba-46e6-ad5d-582794b375a9" providerId="AD" clId="Web-{C863526B-931D-7A7D-1E86-2BE3EFEDBCBA}" dt="2024-02-25T23:02:29.867" v="19"/>
          <ac:spMkLst>
            <pc:docMk/>
            <pc:sldMk cId="2767572442" sldId="779"/>
            <ac:spMk id="4" creationId="{B71B9FA1-60B0-F4C5-FA78-07CF326B66A9}"/>
          </ac:spMkLst>
        </pc:spChg>
      </pc:sldChg>
      <pc:sldChg chg="modSp modTransition">
        <pc:chgData name="Bara Hamadeh" userId="S::b_hamadeh@asu.edu.jo::ba91a99f-f3ba-46e6-ad5d-582794b375a9" providerId="AD" clId="Web-{C863526B-931D-7A7D-1E86-2BE3EFEDBCBA}" dt="2024-02-25T23:02:29.867" v="19"/>
        <pc:sldMkLst>
          <pc:docMk/>
          <pc:sldMk cId="426508262" sldId="780"/>
        </pc:sldMkLst>
        <pc:spChg chg="mod">
          <ac:chgData name="Bara Hamadeh" userId="S::b_hamadeh@asu.edu.jo::ba91a99f-f3ba-46e6-ad5d-582794b375a9" providerId="AD" clId="Web-{C863526B-931D-7A7D-1E86-2BE3EFEDBCBA}" dt="2024-02-25T23:02:29.867" v="19"/>
          <ac:spMkLst>
            <pc:docMk/>
            <pc:sldMk cId="426508262" sldId="780"/>
            <ac:spMk id="4" creationId="{0ABB699A-E9AC-CAC5-C85D-6632D5A8C537}"/>
          </ac:spMkLst>
        </pc:spChg>
      </pc:sldChg>
      <pc:sldChg chg="modSp modTransition">
        <pc:chgData name="Bara Hamadeh" userId="S::b_hamadeh@asu.edu.jo::ba91a99f-f3ba-46e6-ad5d-582794b375a9" providerId="AD" clId="Web-{C863526B-931D-7A7D-1E86-2BE3EFEDBCBA}" dt="2024-02-25T23:02:29.867" v="19"/>
        <pc:sldMkLst>
          <pc:docMk/>
          <pc:sldMk cId="3001235128" sldId="781"/>
        </pc:sldMkLst>
        <pc:spChg chg="mod">
          <ac:chgData name="Bara Hamadeh" userId="S::b_hamadeh@asu.edu.jo::ba91a99f-f3ba-46e6-ad5d-582794b375a9" providerId="AD" clId="Web-{C863526B-931D-7A7D-1E86-2BE3EFEDBCBA}" dt="2024-02-25T23:02:29.867" v="19"/>
          <ac:spMkLst>
            <pc:docMk/>
            <pc:sldMk cId="3001235128" sldId="781"/>
            <ac:spMk id="4" creationId="{C9CF1A01-2BD7-F454-827A-5E828C0718F0}"/>
          </ac:spMkLst>
        </pc:spChg>
      </pc:sldChg>
      <pc:sldChg chg="modSp modTransition">
        <pc:chgData name="Bara Hamadeh" userId="S::b_hamadeh@asu.edu.jo::ba91a99f-f3ba-46e6-ad5d-582794b375a9" providerId="AD" clId="Web-{C863526B-931D-7A7D-1E86-2BE3EFEDBCBA}" dt="2024-02-25T23:02:29.867" v="19"/>
        <pc:sldMkLst>
          <pc:docMk/>
          <pc:sldMk cId="3825689238" sldId="782"/>
        </pc:sldMkLst>
        <pc:spChg chg="mod">
          <ac:chgData name="Bara Hamadeh" userId="S::b_hamadeh@asu.edu.jo::ba91a99f-f3ba-46e6-ad5d-582794b375a9" providerId="AD" clId="Web-{C863526B-931D-7A7D-1E86-2BE3EFEDBCBA}" dt="2024-02-25T23:02:29.867" v="19"/>
          <ac:spMkLst>
            <pc:docMk/>
            <pc:sldMk cId="3825689238" sldId="782"/>
            <ac:spMk id="4" creationId="{F3A5F3EA-11BC-65DE-4701-1197454D3FE8}"/>
          </ac:spMkLst>
        </pc:spChg>
      </pc:sldChg>
      <pc:sldMasterChg chg="modSp mod modSldLayout">
        <pc:chgData name="Bara Hamadeh" userId="S::b_hamadeh@asu.edu.jo::ba91a99f-f3ba-46e6-ad5d-582794b375a9" providerId="AD" clId="Web-{C863526B-931D-7A7D-1E86-2BE3EFEDBCBA}" dt="2024-02-25T23:02:35.460" v="20"/>
        <pc:sldMasterMkLst>
          <pc:docMk/>
          <pc:sldMasterMk cId="1719295273" sldId="2147483672"/>
        </pc:sldMasterMkLst>
        <pc:spChg chg="mod">
          <ac:chgData name="Bara Hamadeh" userId="S::b_hamadeh@asu.edu.jo::ba91a99f-f3ba-46e6-ad5d-582794b375a9" providerId="AD" clId="Web-{C863526B-931D-7A7D-1E86-2BE3EFEDBCBA}" dt="2024-02-25T23:02:29.867" v="19"/>
          <ac:spMkLst>
            <pc:docMk/>
            <pc:sldMasterMk cId="1719295273" sldId="2147483672"/>
            <ac:spMk id="5" creationId="{00000000-0000-0000-0000-000000000000}"/>
          </ac:spMkLst>
        </pc:sp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1136942225" sldId="2147483673"/>
          </pc:sldLayoutMkLst>
          <pc:spChg chg="mod">
            <ac:chgData name="Bara Hamadeh" userId="S::b_hamadeh@asu.edu.jo::ba91a99f-f3ba-46e6-ad5d-582794b375a9" providerId="AD" clId="Web-{C863526B-931D-7A7D-1E86-2BE3EFEDBCBA}" dt="2024-02-25T23:02:29.867" v="19"/>
            <ac:spMkLst>
              <pc:docMk/>
              <pc:sldMasterMk cId="1719295273" sldId="2147483672"/>
              <pc:sldLayoutMk cId="1136942225" sldId="2147483673"/>
              <ac:spMk id="5"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543625086" sldId="2147483674"/>
          </pc:sldLayoutMkLst>
          <pc:spChg chg="mod">
            <ac:chgData name="Bara Hamadeh" userId="S::b_hamadeh@asu.edu.jo::ba91a99f-f3ba-46e6-ad5d-582794b375a9" providerId="AD" clId="Web-{C863526B-931D-7A7D-1E86-2BE3EFEDBCBA}" dt="2024-02-25T23:02:29.867" v="19"/>
            <ac:spMkLst>
              <pc:docMk/>
              <pc:sldMasterMk cId="1719295273" sldId="2147483672"/>
              <pc:sldLayoutMk cId="543625086" sldId="2147483674"/>
              <ac:spMk id="5"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695053800" sldId="2147483675"/>
          </pc:sldLayoutMkLst>
          <pc:spChg chg="mod">
            <ac:chgData name="Bara Hamadeh" userId="S::b_hamadeh@asu.edu.jo::ba91a99f-f3ba-46e6-ad5d-582794b375a9" providerId="AD" clId="Web-{C863526B-931D-7A7D-1E86-2BE3EFEDBCBA}" dt="2024-02-25T23:02:29.867" v="19"/>
            <ac:spMkLst>
              <pc:docMk/>
              <pc:sldMasterMk cId="1719295273" sldId="2147483672"/>
              <pc:sldLayoutMk cId="695053800" sldId="2147483675"/>
              <ac:spMk id="5"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1555795183" sldId="2147483676"/>
          </pc:sldLayoutMkLst>
          <pc:spChg chg="mod">
            <ac:chgData name="Bara Hamadeh" userId="S::b_hamadeh@asu.edu.jo::ba91a99f-f3ba-46e6-ad5d-582794b375a9" providerId="AD" clId="Web-{C863526B-931D-7A7D-1E86-2BE3EFEDBCBA}" dt="2024-02-25T23:02:29.867" v="19"/>
            <ac:spMkLst>
              <pc:docMk/>
              <pc:sldMasterMk cId="1719295273" sldId="2147483672"/>
              <pc:sldLayoutMk cId="1555795183" sldId="2147483676"/>
              <ac:spMk id="6"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3154714844" sldId="2147483677"/>
          </pc:sldLayoutMkLst>
          <pc:spChg chg="mod">
            <ac:chgData name="Bara Hamadeh" userId="S::b_hamadeh@asu.edu.jo::ba91a99f-f3ba-46e6-ad5d-582794b375a9" providerId="AD" clId="Web-{C863526B-931D-7A7D-1E86-2BE3EFEDBCBA}" dt="2024-02-25T23:02:29.867" v="19"/>
            <ac:spMkLst>
              <pc:docMk/>
              <pc:sldMasterMk cId="1719295273" sldId="2147483672"/>
              <pc:sldLayoutMk cId="3154714844" sldId="2147483677"/>
              <ac:spMk id="8"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1943265441" sldId="2147483678"/>
          </pc:sldLayoutMkLst>
          <pc:spChg chg="mod">
            <ac:chgData name="Bara Hamadeh" userId="S::b_hamadeh@asu.edu.jo::ba91a99f-f3ba-46e6-ad5d-582794b375a9" providerId="AD" clId="Web-{C863526B-931D-7A7D-1E86-2BE3EFEDBCBA}" dt="2024-02-25T23:02:29.867" v="19"/>
            <ac:spMkLst>
              <pc:docMk/>
              <pc:sldMasterMk cId="1719295273" sldId="2147483672"/>
              <pc:sldLayoutMk cId="1943265441" sldId="2147483678"/>
              <ac:spMk id="4"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1103728720" sldId="2147483679"/>
          </pc:sldLayoutMkLst>
          <pc:spChg chg="mod">
            <ac:chgData name="Bara Hamadeh" userId="S::b_hamadeh@asu.edu.jo::ba91a99f-f3ba-46e6-ad5d-582794b375a9" providerId="AD" clId="Web-{C863526B-931D-7A7D-1E86-2BE3EFEDBCBA}" dt="2024-02-25T23:02:29.867" v="19"/>
            <ac:spMkLst>
              <pc:docMk/>
              <pc:sldMasterMk cId="1719295273" sldId="2147483672"/>
              <pc:sldLayoutMk cId="1103728720" sldId="2147483679"/>
              <ac:spMk id="8"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3199667561" sldId="2147483680"/>
          </pc:sldLayoutMkLst>
          <pc:spChg chg="mod">
            <ac:chgData name="Bara Hamadeh" userId="S::b_hamadeh@asu.edu.jo::ba91a99f-f3ba-46e6-ad5d-582794b375a9" providerId="AD" clId="Web-{C863526B-931D-7A7D-1E86-2BE3EFEDBCBA}" dt="2024-02-25T23:02:29.867" v="19"/>
            <ac:spMkLst>
              <pc:docMk/>
              <pc:sldMasterMk cId="1719295273" sldId="2147483672"/>
              <pc:sldLayoutMk cId="3199667561" sldId="2147483680"/>
              <ac:spMk id="6"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1593807278" sldId="2147483681"/>
          </pc:sldLayoutMkLst>
          <pc:spChg chg="mod">
            <ac:chgData name="Bara Hamadeh" userId="S::b_hamadeh@asu.edu.jo::ba91a99f-f3ba-46e6-ad5d-582794b375a9" providerId="AD" clId="Web-{C863526B-931D-7A7D-1E86-2BE3EFEDBCBA}" dt="2024-02-25T23:02:29.867" v="19"/>
            <ac:spMkLst>
              <pc:docMk/>
              <pc:sldMasterMk cId="1719295273" sldId="2147483672"/>
              <pc:sldLayoutMk cId="1593807278" sldId="2147483681"/>
              <ac:spMk id="6"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4052592978" sldId="2147483682"/>
          </pc:sldLayoutMkLst>
          <pc:spChg chg="mod">
            <ac:chgData name="Bara Hamadeh" userId="S::b_hamadeh@asu.edu.jo::ba91a99f-f3ba-46e6-ad5d-582794b375a9" providerId="AD" clId="Web-{C863526B-931D-7A7D-1E86-2BE3EFEDBCBA}" dt="2024-02-25T23:02:29.867" v="19"/>
            <ac:spMkLst>
              <pc:docMk/>
              <pc:sldMasterMk cId="1719295273" sldId="2147483672"/>
              <pc:sldLayoutMk cId="4052592978" sldId="2147483682"/>
              <ac:spMk id="5" creationId="{00000000-0000-0000-0000-000000000000}"/>
            </ac:spMkLst>
          </pc:spChg>
        </pc:sldLayoutChg>
        <pc:sldLayoutChg chg="modSp mod">
          <pc:chgData name="Bara Hamadeh" userId="S::b_hamadeh@asu.edu.jo::ba91a99f-f3ba-46e6-ad5d-582794b375a9" providerId="AD" clId="Web-{C863526B-931D-7A7D-1E86-2BE3EFEDBCBA}" dt="2024-02-25T23:02:35.460" v="20"/>
          <pc:sldLayoutMkLst>
            <pc:docMk/>
            <pc:sldMasterMk cId="1719295273" sldId="2147483672"/>
            <pc:sldLayoutMk cId="2606264647" sldId="2147483683"/>
          </pc:sldLayoutMkLst>
          <pc:spChg chg="mod">
            <ac:chgData name="Bara Hamadeh" userId="S::b_hamadeh@asu.edu.jo::ba91a99f-f3ba-46e6-ad5d-582794b375a9" providerId="AD" clId="Web-{C863526B-931D-7A7D-1E86-2BE3EFEDBCBA}" dt="2024-02-25T23:02:29.867" v="19"/>
            <ac:spMkLst>
              <pc:docMk/>
              <pc:sldMasterMk cId="1719295273" sldId="2147483672"/>
              <pc:sldLayoutMk cId="2606264647" sldId="2147483683"/>
              <ac:spMk id="5"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a:t>
            </a:fld>
            <a:endParaRPr lang="en-US"/>
          </a:p>
        </p:txBody>
      </p:sp>
    </p:spTree>
    <p:extLst>
      <p:ext uri="{BB962C8B-B14F-4D97-AF65-F5344CB8AC3E}">
        <p14:creationId xmlns:p14="http://schemas.microsoft.com/office/powerpoint/2010/main" val="3513681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03BE2A-8381-40C9-B3D6-6229E5CD3030}"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A062AF-8B3E-4DB9-828D-83ADE13B6805}"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FF2BB-DF0E-4B1C-ACD2-7C019724981D}"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5A3755-EACB-46D1-BFD1-81FC7701AE8C}"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75FC37-99B6-4B88-B98A-9BD403B4378A}" type="datetime1">
              <a:rPr lang="en-US" smtClean="0"/>
              <a:t>2/26/2024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5CDD88-3789-4638-AB8D-650CA7D4E8A9}" type="datetime1">
              <a:rPr lang="en-US" smtClean="0"/>
              <a:t>2/26/2024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A04F46A-2CA9-4AE5-AF29-103B9F7CEC13}" type="datetime1">
              <a:rPr lang="en-US" smtClean="0"/>
              <a:t>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C4C7BBA-DF5C-454A-B94F-8E4E2F8638DD}" type="datetime1">
              <a:rPr lang="en-US" smtClean="0"/>
              <a:t>2/26/2024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DE9E84-9BE9-4967-ADFE-B13858CEC510}"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2448B-D712-4438-B98F-BC01B3FC3196}"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2A8D3-2D4A-40A6-A64D-6BFF16A79ACA}"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E78F382D-057B-4A0C-9363-4D711C8934E2}" type="datetime1">
              <a:rPr lang="en-US" smtClean="0"/>
              <a:t>2/26/2024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Edited and Reviewed By: I. Bara' Qadomi &amp; I. Bara' Hamadah (FIT, Applied Science Private University)</a:t>
            </a:r>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t>Fundamental Programming Structures in JAVA</a:t>
            </a: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a:lstStyle/>
          <a:p>
            <a:r>
              <a:rPr lang="en-US" altLang="ar-SA" dirty="0"/>
              <a:t>Interface  </a:t>
            </a:r>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a:bodyPr>
          <a:lstStyle/>
          <a:p>
            <a:pPr marL="460375" lvl="2" indent="-457200">
              <a:buFont typeface="Wingdings" panose="05000000000000000000" pitchFamily="2" charset="2"/>
              <a:buChar char="§"/>
            </a:pPr>
            <a:r>
              <a:rPr lang="en-GB" altLang="en-US" sz="2400" dirty="0"/>
              <a:t>To understand the concept of Java interfaces.</a:t>
            </a:r>
          </a:p>
          <a:p>
            <a:pPr marL="460375" lvl="2" indent="-457200">
              <a:buFont typeface="Wingdings" panose="05000000000000000000" pitchFamily="2" charset="2"/>
              <a:buChar char="§"/>
            </a:pPr>
            <a:r>
              <a:rPr lang="en-GB" altLang="en-US" sz="2400" dirty="0"/>
              <a:t>To outline the benefits of using interfaces.</a:t>
            </a:r>
          </a:p>
          <a:p>
            <a:pPr marL="460375" lvl="2" indent="-457200">
              <a:buFont typeface="Wingdings" panose="05000000000000000000" pitchFamily="2" charset="2"/>
              <a:buChar char="§"/>
            </a:pPr>
            <a:r>
              <a:rPr lang="en-GB" altLang="en-US" sz="2400" dirty="0"/>
              <a:t>To define a Java interface.</a:t>
            </a:r>
          </a:p>
          <a:p>
            <a:pPr marL="460375" lvl="2" indent="-457200">
              <a:buFont typeface="Wingdings" panose="05000000000000000000" pitchFamily="2" charset="2"/>
              <a:buChar char="§"/>
            </a:pPr>
            <a:r>
              <a:rPr lang="en-GB" altLang="en-US" sz="2400" dirty="0"/>
              <a:t>To learn how to use Java interfaces.</a:t>
            </a:r>
            <a:r>
              <a:rPr lang="en-US" altLang="en-US" sz="2400" dirty="0"/>
              <a:t>  </a:t>
            </a:r>
          </a:p>
          <a:p>
            <a:pPr marL="460375" lvl="2" indent="-457200">
              <a:buFont typeface="Wingdings" panose="05000000000000000000" pitchFamily="2" charset="2"/>
              <a:buChar char="§"/>
            </a:pPr>
            <a:endParaRPr lang="en-US" altLang="en-US" sz="2400" dirty="0"/>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449C-4DBA-BD49-BF09-145CF9C8D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72EEC-A637-424C-1DBB-291F7F33CD11}"/>
              </a:ext>
            </a:extLst>
          </p:cNvPr>
          <p:cNvSpPr>
            <a:spLocks noGrp="1"/>
          </p:cNvSpPr>
          <p:nvPr>
            <p:ph type="title"/>
          </p:nvPr>
        </p:nvSpPr>
        <p:spPr>
          <a:xfrm>
            <a:off x="348791" y="286603"/>
            <a:ext cx="11481847" cy="1450757"/>
          </a:xfrm>
        </p:spPr>
        <p:txBody>
          <a:bodyPr/>
          <a:lstStyle/>
          <a:p>
            <a:r>
              <a:rPr lang="en-US" altLang="ar-SA" dirty="0"/>
              <a:t>Interface</a:t>
            </a:r>
            <a:endParaRPr lang="en-US" dirty="0"/>
          </a:p>
        </p:txBody>
      </p:sp>
      <p:sp>
        <p:nvSpPr>
          <p:cNvPr id="4" name="Footer Placeholder 3">
            <a:extLst>
              <a:ext uri="{FF2B5EF4-FFF2-40B4-BE49-F238E27FC236}">
                <a16:creationId xmlns:a16="http://schemas.microsoft.com/office/drawing/2014/main" id="{DADDCFB3-405D-156B-67BF-752F3897E84B}"/>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5FB53A3C-D03B-DE22-D3DE-0A7D7A0FCDC9}"/>
              </a:ext>
            </a:extLst>
          </p:cNvPr>
          <p:cNvSpPr>
            <a:spLocks noGrp="1"/>
          </p:cNvSpPr>
          <p:nvPr>
            <p:ph idx="1"/>
          </p:nvPr>
        </p:nvSpPr>
        <p:spPr/>
        <p:txBody>
          <a:bodyPr>
            <a:normAutofit/>
          </a:bodyPr>
          <a:lstStyle/>
          <a:p>
            <a:pPr algn="just"/>
            <a:r>
              <a:rPr lang="en-US" b="0" dirty="0">
                <a:solidFill>
                  <a:srgbClr val="333333"/>
                </a:solidFill>
                <a:effectLst/>
              </a:rPr>
              <a:t>An </a:t>
            </a:r>
            <a:r>
              <a:rPr lang="en-US" b="1" dirty="0">
                <a:solidFill>
                  <a:srgbClr val="333333"/>
                </a:solidFill>
                <a:effectLst/>
              </a:rPr>
              <a:t>interface in Java</a:t>
            </a:r>
            <a:r>
              <a:rPr lang="en-US" b="0" dirty="0">
                <a:solidFill>
                  <a:srgbClr val="333333"/>
                </a:solidFill>
                <a:effectLst/>
              </a:rPr>
              <a:t> is a blueprint of a class. It has static constants and abstract methods.</a:t>
            </a:r>
          </a:p>
          <a:p>
            <a:pPr algn="just"/>
            <a:r>
              <a:rPr lang="en-US" b="0" dirty="0">
                <a:solidFill>
                  <a:srgbClr val="333333"/>
                </a:solidFill>
                <a:effectLst/>
              </a:rPr>
              <a:t>The interface in Java is a mechanism to achieve </a:t>
            </a:r>
            <a:r>
              <a:rPr lang="en-US" b="0" u="none" strike="noStrike" dirty="0">
                <a:solidFill>
                  <a:schemeClr val="bg2">
                    <a:lumMod val="75000"/>
                  </a:schemeClr>
                </a:solidFill>
                <a:effectLst/>
              </a:rPr>
              <a:t>abstraction</a:t>
            </a:r>
            <a:r>
              <a:rPr lang="en-US" b="0" dirty="0">
                <a:solidFill>
                  <a:srgbClr val="333333"/>
                </a:solidFill>
                <a:effectLst/>
              </a:rPr>
              <a:t>. There can be only abstract methods in the Java interface, not method body. </a:t>
            </a:r>
          </a:p>
          <a:p>
            <a:pPr algn="just"/>
            <a:r>
              <a:rPr lang="en-US" b="0" dirty="0">
                <a:solidFill>
                  <a:srgbClr val="333333"/>
                </a:solidFill>
                <a:effectLst/>
              </a:rPr>
              <a:t>In other words, you can say that interfaces can have abstract methods and variables. It cannot have a method body.</a:t>
            </a: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8022024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26B6-8E49-6802-0CA0-64CF810DD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7729D-DAB9-1F10-CCB5-5FEB221B7999}"/>
              </a:ext>
            </a:extLst>
          </p:cNvPr>
          <p:cNvSpPr>
            <a:spLocks noGrp="1"/>
          </p:cNvSpPr>
          <p:nvPr>
            <p:ph type="title"/>
          </p:nvPr>
        </p:nvSpPr>
        <p:spPr>
          <a:xfrm>
            <a:off x="348791" y="286603"/>
            <a:ext cx="11481847" cy="1450757"/>
          </a:xfrm>
        </p:spPr>
        <p:txBody>
          <a:bodyPr/>
          <a:lstStyle/>
          <a:p>
            <a:r>
              <a:rPr lang="en-US" altLang="ar-SA" dirty="0"/>
              <a:t>Interface</a:t>
            </a:r>
            <a:endParaRPr lang="en-US" dirty="0"/>
          </a:p>
        </p:txBody>
      </p:sp>
      <p:sp>
        <p:nvSpPr>
          <p:cNvPr id="4" name="Footer Placeholder 3">
            <a:extLst>
              <a:ext uri="{FF2B5EF4-FFF2-40B4-BE49-F238E27FC236}">
                <a16:creationId xmlns:a16="http://schemas.microsoft.com/office/drawing/2014/main" id="{5AB37340-0364-893C-DCD0-C82A430617D8}"/>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02C192B3-56C9-3F10-55F0-6E48B13B30D3}"/>
              </a:ext>
            </a:extLst>
          </p:cNvPr>
          <p:cNvSpPr>
            <a:spLocks noGrp="1"/>
          </p:cNvSpPr>
          <p:nvPr>
            <p:ph idx="1"/>
          </p:nvPr>
        </p:nvSpPr>
        <p:spPr/>
        <p:txBody>
          <a:bodyPr>
            <a:normAutofit/>
          </a:bodyPr>
          <a:lstStyle/>
          <a:p>
            <a:pPr marL="342900" indent="-342900"/>
            <a:r>
              <a:rPr lang="en-GB" sz="2400" dirty="0"/>
              <a:t>An interface is a programming construct in Java that defines a </a:t>
            </a:r>
            <a:r>
              <a:rPr lang="en-GB" sz="2400" b="1" dirty="0"/>
              <a:t>contract</a:t>
            </a:r>
            <a:r>
              <a:rPr lang="en-GB" sz="2400" dirty="0"/>
              <a:t> (a set of behaviours) that classes must follow. </a:t>
            </a:r>
          </a:p>
          <a:p>
            <a:pPr marL="342900" indent="-342900"/>
            <a:r>
              <a:rPr lang="en-GB" sz="2400" dirty="0"/>
              <a:t>An interface defines a set of abstract methods (methods without bodies) that must be provided by any class that implements the interface.</a:t>
            </a:r>
          </a:p>
          <a:p>
            <a:pPr marL="342900" indent="-342900"/>
            <a:r>
              <a:rPr lang="en-GB" sz="2400" dirty="0"/>
              <a:t>In result, Interfaces allow you to create a contract that ensures all implementing classes use the same method signatures.</a:t>
            </a: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5557424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656EF-970A-214E-870A-2E60FFEB6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D457F-924A-D7BC-97B8-580453EA701D}"/>
              </a:ext>
            </a:extLst>
          </p:cNvPr>
          <p:cNvSpPr>
            <a:spLocks noGrp="1"/>
          </p:cNvSpPr>
          <p:nvPr>
            <p:ph type="title"/>
          </p:nvPr>
        </p:nvSpPr>
        <p:spPr>
          <a:xfrm>
            <a:off x="348791" y="286603"/>
            <a:ext cx="11481847" cy="1450757"/>
          </a:xfrm>
        </p:spPr>
        <p:txBody>
          <a:bodyPr/>
          <a:lstStyle/>
          <a:p>
            <a:r>
              <a:rPr lang="en-US" altLang="ar-SA" dirty="0"/>
              <a:t>Benefits of Interface</a:t>
            </a:r>
            <a:endParaRPr lang="en-US" dirty="0"/>
          </a:p>
        </p:txBody>
      </p:sp>
      <p:sp>
        <p:nvSpPr>
          <p:cNvPr id="4" name="Footer Placeholder 3">
            <a:extLst>
              <a:ext uri="{FF2B5EF4-FFF2-40B4-BE49-F238E27FC236}">
                <a16:creationId xmlns:a16="http://schemas.microsoft.com/office/drawing/2014/main" id="{6853A1AE-19E8-EDE6-9360-6BF981B05C9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8BE78274-A3A2-DBB1-C67F-399D1FE83857}"/>
              </a:ext>
            </a:extLst>
          </p:cNvPr>
          <p:cNvSpPr>
            <a:spLocks noGrp="1"/>
          </p:cNvSpPr>
          <p:nvPr>
            <p:ph idx="1"/>
          </p:nvPr>
        </p:nvSpPr>
        <p:spPr/>
        <p:txBody>
          <a:bodyPr>
            <a:normAutofit/>
          </a:bodyPr>
          <a:lstStyle/>
          <a:p>
            <a:r>
              <a:rPr lang="en-US" altLang="en-US" dirty="0"/>
              <a:t>The intent of the interface is to specify a common behavior for objects. </a:t>
            </a:r>
          </a:p>
          <a:p>
            <a:r>
              <a:rPr lang="en-GB" dirty="0"/>
              <a:t>Interfaces provide a powerful tool for accomplishing Abstraction, multiple Inheritance and Polymorphism.</a:t>
            </a:r>
          </a:p>
          <a:p>
            <a:r>
              <a:rPr lang="en-GB" dirty="0"/>
              <a:t>Interfaces are also used to provide code reusability and support good software engineering practises. </a:t>
            </a: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7578295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65BBE-D35F-A819-05D7-207428231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32E49-D362-FAFC-A76C-AE775F9C10B0}"/>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How to use Java interfaces?</a:t>
            </a:r>
            <a:endParaRPr lang="en-US" dirty="0"/>
          </a:p>
        </p:txBody>
      </p:sp>
      <p:sp>
        <p:nvSpPr>
          <p:cNvPr id="4" name="Footer Placeholder 3">
            <a:extLst>
              <a:ext uri="{FF2B5EF4-FFF2-40B4-BE49-F238E27FC236}">
                <a16:creationId xmlns:a16="http://schemas.microsoft.com/office/drawing/2014/main" id="{7C3587DC-D5FE-F868-8E7C-F4D5C38BD689}"/>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08A07D6D-803E-20FA-A070-438D1603D87E}"/>
              </a:ext>
            </a:extLst>
          </p:cNvPr>
          <p:cNvSpPr>
            <a:spLocks noGrp="1"/>
          </p:cNvSpPr>
          <p:nvPr>
            <p:ph idx="1"/>
          </p:nvPr>
        </p:nvSpPr>
        <p:spPr/>
        <p:txBody>
          <a:bodyPr>
            <a:normAutofit/>
          </a:bodyPr>
          <a:lstStyle/>
          <a:p>
            <a:r>
              <a:rPr lang="en-US" altLang="en-US" sz="2400" dirty="0">
                <a:cs typeface="Courier New" panose="02070309020205020404" pitchFamily="49" charset="0"/>
              </a:rPr>
              <a:t>An interface is treated like a special class in Java. </a:t>
            </a:r>
          </a:p>
          <a:p>
            <a:r>
              <a:rPr lang="en-US" altLang="en-US" sz="2400" dirty="0">
                <a:cs typeface="Courier New" panose="02070309020205020404" pitchFamily="49" charset="0"/>
              </a:rPr>
              <a:t>Each interface is compiled into a separate bytecode file, just like a regular class. </a:t>
            </a:r>
          </a:p>
          <a:p>
            <a:r>
              <a:rPr lang="en-US" altLang="en-US" sz="2400" dirty="0">
                <a:cs typeface="Courier New" panose="02070309020205020404" pitchFamily="49" charset="0"/>
              </a:rPr>
              <a:t>Like an abstract class, you cannot create an instance from an interface using the new operator, but in most cases you can use an interface more or less the same way you use an abstract class. </a:t>
            </a:r>
          </a:p>
          <a:p>
            <a:r>
              <a:rPr lang="en-US" altLang="en-US" sz="2400" dirty="0">
                <a:cs typeface="Courier New" panose="02070309020205020404" pitchFamily="49" charset="0"/>
              </a:rPr>
              <a:t>For example, you can use an interface as a data type for a variable, as the result of casting, and so on.</a:t>
            </a:r>
            <a:endParaRPr lang="en-US" altLang="en-US" sz="2400" dirty="0">
              <a:ea typeface="PMingLiU" panose="02020500000000000000" pitchFamily="18" charset="-12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799606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52D0-7441-94D4-7683-0E0304F35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7FC6C-A26A-6082-2F43-8AA056199447}"/>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Define a Java interfaces</a:t>
            </a:r>
            <a:endParaRPr lang="en-US" dirty="0"/>
          </a:p>
        </p:txBody>
      </p:sp>
      <p:sp>
        <p:nvSpPr>
          <p:cNvPr id="4" name="Footer Placeholder 3">
            <a:extLst>
              <a:ext uri="{FF2B5EF4-FFF2-40B4-BE49-F238E27FC236}">
                <a16:creationId xmlns:a16="http://schemas.microsoft.com/office/drawing/2014/main" id="{A98B77B9-8839-49A9-15D0-CCCDCFFD8CB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23021D1F-60C9-1D54-CC6B-07E2BFCAFE01}"/>
              </a:ext>
            </a:extLst>
          </p:cNvPr>
          <p:cNvSpPr>
            <a:spLocks noGrp="1"/>
          </p:cNvSpPr>
          <p:nvPr>
            <p:ph idx="1"/>
          </p:nvPr>
        </p:nvSpPr>
        <p:spPr>
          <a:xfrm>
            <a:off x="94446" y="1845734"/>
            <a:ext cx="12024574" cy="4340418"/>
          </a:xfrm>
        </p:spPr>
        <p:txBody>
          <a:bodyPr>
            <a:normAutofit fontScale="92500" lnSpcReduction="20000"/>
          </a:bodyPr>
          <a:lstStyle/>
          <a:p>
            <a:pPr lvl="0" algn="just" rtl="0" fontAlgn="t">
              <a:lnSpc>
                <a:spcPct val="150000"/>
              </a:lnSpc>
            </a:pPr>
            <a:r>
              <a:rPr lang="en-US" sz="2800" dirty="0">
                <a:solidFill>
                  <a:schemeClr val="tx1">
                    <a:lumMod val="65000"/>
                    <a:lumOff val="35000"/>
                  </a:schemeClr>
                </a:solidFill>
                <a:cs typeface="Times New Roman" panose="02020603050405020304" pitchFamily="18" charset="0"/>
              </a:rPr>
              <a:t>An </a:t>
            </a:r>
            <a:r>
              <a:rPr lang="en-US" sz="2800" b="1" dirty="0">
                <a:solidFill>
                  <a:schemeClr val="tx1">
                    <a:lumMod val="65000"/>
                    <a:lumOff val="35000"/>
                  </a:schemeClr>
                </a:solidFill>
                <a:cs typeface="Times New Roman" panose="02020603050405020304" pitchFamily="18" charset="0"/>
              </a:rPr>
              <a:t>interface</a:t>
            </a:r>
            <a:r>
              <a:rPr lang="en-US" sz="2800" dirty="0">
                <a:solidFill>
                  <a:schemeClr val="tx1">
                    <a:lumMod val="65000"/>
                    <a:lumOff val="35000"/>
                  </a:schemeClr>
                </a:solidFill>
                <a:cs typeface="Times New Roman" panose="02020603050405020304" pitchFamily="18" charset="0"/>
              </a:rPr>
              <a:t> are class-like structures that contain only constant data fields and abstract methods. </a:t>
            </a:r>
          </a:p>
          <a:p>
            <a:pPr lvl="0" algn="just" rtl="0" fontAlgn="t">
              <a:lnSpc>
                <a:spcPct val="150000"/>
              </a:lnSpc>
            </a:pPr>
            <a:r>
              <a:rPr lang="en-US" sz="2400" b="1" dirty="0">
                <a:cs typeface="Times New Roman" panose="02020603050405020304" pitchFamily="18" charset="0"/>
              </a:rPr>
              <a:t>Interface contains:</a:t>
            </a:r>
            <a:endParaRPr lang="en-US" sz="2400" dirty="0">
              <a:cs typeface="Times New Roman" panose="02020603050405020304" pitchFamily="18" charset="0"/>
            </a:endParaRPr>
          </a:p>
          <a:p>
            <a:pPr marL="882900" lvl="1" indent="-342900" algn="just" fontAlgn="t">
              <a:lnSpc>
                <a:spcPct val="150000"/>
              </a:lnSpc>
            </a:pPr>
            <a:r>
              <a:rPr lang="en-US" sz="2400" dirty="0">
                <a:cs typeface="Times New Roman" panose="02020603050405020304" pitchFamily="18" charset="0"/>
              </a:rPr>
              <a:t>	only abstract methods (without adding the “abstract” keyword).</a:t>
            </a:r>
          </a:p>
          <a:p>
            <a:pPr marL="882900" lvl="1" indent="-342900" algn="just" fontAlgn="t">
              <a:lnSpc>
                <a:spcPct val="150000"/>
              </a:lnSpc>
            </a:pPr>
            <a:r>
              <a:rPr lang="en-US" sz="2400" b="1" dirty="0">
                <a:solidFill>
                  <a:srgbClr val="0000FF"/>
                </a:solidFill>
                <a:cs typeface="Times New Roman" panose="02020603050405020304" pitchFamily="18" charset="0"/>
              </a:rPr>
              <a:t>	</a:t>
            </a:r>
            <a:r>
              <a:rPr lang="en-US" sz="2400" b="1" dirty="0">
                <a:solidFill>
                  <a:schemeClr val="bg2">
                    <a:lumMod val="75000"/>
                  </a:schemeClr>
                </a:solidFill>
                <a:cs typeface="Times New Roman" panose="02020603050405020304" pitchFamily="18" charset="0"/>
              </a:rPr>
              <a:t>Static final </a:t>
            </a:r>
            <a:r>
              <a:rPr lang="en-US" sz="2400" dirty="0">
                <a:cs typeface="Times New Roman" panose="02020603050405020304" pitchFamily="18" charset="0"/>
              </a:rPr>
              <a:t>fields</a:t>
            </a:r>
          </a:p>
          <a:p>
            <a:pPr marL="882900" lvl="1" indent="-342900" algn="just" fontAlgn="t">
              <a:lnSpc>
                <a:spcPct val="150000"/>
              </a:lnSpc>
            </a:pPr>
            <a:r>
              <a:rPr lang="en-US" sz="2400" dirty="0">
                <a:cs typeface="Times New Roman" panose="02020603050405020304" pitchFamily="18" charset="0"/>
              </a:rPr>
              <a:t>	no need to constructors too.</a:t>
            </a:r>
          </a:p>
          <a:p>
            <a:pPr marL="882900" lvl="1" indent="-342900" algn="just" fontAlgn="t">
              <a:lnSpc>
                <a:spcPct val="150000"/>
              </a:lnSpc>
            </a:pPr>
            <a:r>
              <a:rPr lang="en-US" sz="2400" dirty="0">
                <a:cs typeface="Times New Roman" panose="02020603050405020304" pitchFamily="18" charset="0"/>
              </a:rPr>
              <a:t>	A class that derives from an interface must </a:t>
            </a:r>
            <a:r>
              <a:rPr lang="en-US" sz="2400" b="1" dirty="0">
                <a:solidFill>
                  <a:schemeClr val="bg2">
                    <a:lumMod val="75000"/>
                  </a:schemeClr>
                </a:solidFill>
                <a:cs typeface="Times New Roman" panose="02020603050405020304" pitchFamily="18" charset="0"/>
              </a:rPr>
              <a:t>implement</a:t>
            </a:r>
            <a:r>
              <a:rPr lang="en-US" sz="2400" dirty="0">
                <a:cs typeface="Times New Roman" panose="02020603050405020304" pitchFamily="18" charset="0"/>
              </a:rPr>
              <a:t> all members of the interface. </a:t>
            </a:r>
          </a:p>
          <a:p>
            <a:pPr marL="882900" lvl="1" indent="-342900" algn="just">
              <a:lnSpc>
                <a:spcPct val="150000"/>
              </a:lnSpc>
            </a:pPr>
            <a:r>
              <a:rPr lang="en-US" sz="2400" dirty="0">
                <a:cs typeface="Times New Roman" panose="02020603050405020304" pitchFamily="18" charset="0"/>
              </a:rPr>
              <a:t>	To denote that the subclass inherits an interface, (implements) keyword should be used.</a:t>
            </a: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0534749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4CA75-8ACA-A559-03B9-E3FEA9E8E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11D06-79B6-CA0C-884A-F0B9244F9F05}"/>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 Template </a:t>
            </a:r>
            <a:endParaRPr lang="en-US" dirty="0"/>
          </a:p>
        </p:txBody>
      </p:sp>
      <p:sp>
        <p:nvSpPr>
          <p:cNvPr id="4" name="Footer Placeholder 3">
            <a:extLst>
              <a:ext uri="{FF2B5EF4-FFF2-40B4-BE49-F238E27FC236}">
                <a16:creationId xmlns:a16="http://schemas.microsoft.com/office/drawing/2014/main" id="{96E91AAC-BC4B-6BE2-5BCC-FDBB7BA668F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pSp>
        <p:nvGrpSpPr>
          <p:cNvPr id="7" name="Group 6">
            <a:extLst>
              <a:ext uri="{FF2B5EF4-FFF2-40B4-BE49-F238E27FC236}">
                <a16:creationId xmlns:a16="http://schemas.microsoft.com/office/drawing/2014/main" id="{D92AB8C9-AC7C-7D6F-9727-946DF1836602}"/>
              </a:ext>
            </a:extLst>
          </p:cNvPr>
          <p:cNvGrpSpPr/>
          <p:nvPr/>
        </p:nvGrpSpPr>
        <p:grpSpPr>
          <a:xfrm>
            <a:off x="8556926" y="4098616"/>
            <a:ext cx="3441968" cy="1705790"/>
            <a:chOff x="759494" y="3214686"/>
            <a:chExt cx="3441968" cy="1952899"/>
          </a:xfrm>
        </p:grpSpPr>
        <p:sp>
          <p:nvSpPr>
            <p:cNvPr id="8" name="Rectangle 7">
              <a:extLst>
                <a:ext uri="{FF2B5EF4-FFF2-40B4-BE49-F238E27FC236}">
                  <a16:creationId xmlns:a16="http://schemas.microsoft.com/office/drawing/2014/main" id="{61B1604F-8F06-7C63-0634-E5910978549A}"/>
                </a:ext>
              </a:extLst>
            </p:cNvPr>
            <p:cNvSpPr/>
            <p:nvPr/>
          </p:nvSpPr>
          <p:spPr>
            <a:xfrm>
              <a:off x="785786" y="3214686"/>
              <a:ext cx="3415676" cy="1857388"/>
            </a:xfrm>
            <a:prstGeom prst="rect">
              <a:avLst/>
            </a:prstGeom>
            <a:solidFill>
              <a:srgbClr val="FFC000">
                <a:alpha val="7000"/>
              </a:srgbClr>
            </a:solidFill>
            <a:ln w="3175">
              <a:solidFill>
                <a:srgbClr val="0033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96E3E84A-255D-A1B5-839E-57E666E4E258}"/>
                </a:ext>
              </a:extLst>
            </p:cNvPr>
            <p:cNvGrpSpPr/>
            <p:nvPr/>
          </p:nvGrpSpPr>
          <p:grpSpPr>
            <a:xfrm>
              <a:off x="1500165" y="3571875"/>
              <a:ext cx="1516363" cy="1595710"/>
              <a:chOff x="6286511" y="2428867"/>
              <a:chExt cx="1516363" cy="1595710"/>
            </a:xfrm>
          </p:grpSpPr>
          <p:sp>
            <p:nvSpPr>
              <p:cNvPr id="11" name="Rectangle 10">
                <a:extLst>
                  <a:ext uri="{FF2B5EF4-FFF2-40B4-BE49-F238E27FC236}">
                    <a16:creationId xmlns:a16="http://schemas.microsoft.com/office/drawing/2014/main" id="{7B0822FB-00F8-1D51-B60E-8D5C7092663E}"/>
                  </a:ext>
                </a:extLst>
              </p:cNvPr>
              <p:cNvSpPr/>
              <p:nvPr/>
            </p:nvSpPr>
            <p:spPr>
              <a:xfrm>
                <a:off x="6286511" y="2428867"/>
                <a:ext cx="1516363" cy="1491350"/>
              </a:xfrm>
              <a:prstGeom prst="rect">
                <a:avLst/>
              </a:prstGeom>
              <a:solidFill>
                <a:schemeClr val="accent1">
                  <a:alpha val="0"/>
                </a:schemeClr>
              </a:solidFill>
              <a:ln w="3175">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B55BA2-1F13-845D-A594-A97F7CA35A96}"/>
                  </a:ext>
                </a:extLst>
              </p:cNvPr>
              <p:cNvSpPr txBox="1"/>
              <p:nvPr/>
            </p:nvSpPr>
            <p:spPr>
              <a:xfrm>
                <a:off x="6523050" y="3601742"/>
                <a:ext cx="1082348" cy="422835"/>
              </a:xfrm>
              <a:prstGeom prst="rect">
                <a:avLst/>
              </a:prstGeom>
              <a:noFill/>
              <a:ln>
                <a:noFill/>
              </a:ln>
            </p:spPr>
            <p:txBody>
              <a:bodyPr wrap="none" rtlCol="0">
                <a:spAutoFit/>
              </a:bodyPr>
              <a:lstStyle/>
              <a:p>
                <a:r>
                  <a:rPr lang="en-GB" dirty="0"/>
                  <a:t>Interface</a:t>
                </a:r>
                <a:endParaRPr lang="en-US" dirty="0"/>
              </a:p>
            </p:txBody>
          </p:sp>
          <p:sp>
            <p:nvSpPr>
              <p:cNvPr id="13" name="TextBox 12">
                <a:extLst>
                  <a:ext uri="{FF2B5EF4-FFF2-40B4-BE49-F238E27FC236}">
                    <a16:creationId xmlns:a16="http://schemas.microsoft.com/office/drawing/2014/main" id="{E288CD64-A13D-0D25-FDA7-E865FB55085D}"/>
                  </a:ext>
                </a:extLst>
              </p:cNvPr>
              <p:cNvSpPr txBox="1"/>
              <p:nvPr/>
            </p:nvSpPr>
            <p:spPr>
              <a:xfrm>
                <a:off x="6663818" y="2928114"/>
                <a:ext cx="761747" cy="422835"/>
              </a:xfrm>
              <a:prstGeom prst="rect">
                <a:avLst/>
              </a:prstGeom>
              <a:noFill/>
              <a:ln>
                <a:noFill/>
              </a:ln>
            </p:spPr>
            <p:txBody>
              <a:bodyPr wrap="none" rtlCol="0">
                <a:spAutoFit/>
              </a:bodyPr>
              <a:lstStyle/>
              <a:p>
                <a:r>
                  <a:rPr lang="en-GB" dirty="0"/>
                  <a:t>Class</a:t>
                </a:r>
                <a:endParaRPr lang="en-US" dirty="0"/>
              </a:p>
            </p:txBody>
          </p:sp>
          <p:sp>
            <p:nvSpPr>
              <p:cNvPr id="14" name="Oval 5">
                <a:extLst>
                  <a:ext uri="{FF2B5EF4-FFF2-40B4-BE49-F238E27FC236}">
                    <a16:creationId xmlns:a16="http://schemas.microsoft.com/office/drawing/2014/main" id="{AE9B1F38-CA4B-8214-4D72-3DB2310FB732}"/>
                  </a:ext>
                </a:extLst>
              </p:cNvPr>
              <p:cNvSpPr>
                <a:spLocks noChangeArrowheads="1"/>
              </p:cNvSpPr>
              <p:nvPr/>
            </p:nvSpPr>
            <p:spPr bwMode="auto">
              <a:xfrm>
                <a:off x="6521228" y="3394103"/>
                <a:ext cx="1135215" cy="231946"/>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Rectangle 4">
                <a:extLst>
                  <a:ext uri="{FF2B5EF4-FFF2-40B4-BE49-F238E27FC236}">
                    <a16:creationId xmlns:a16="http://schemas.microsoft.com/office/drawing/2014/main" id="{1AA8BBFF-CCFE-AE8C-FF86-3455F4B7BECA}"/>
                  </a:ext>
                </a:extLst>
              </p:cNvPr>
              <p:cNvSpPr>
                <a:spLocks noChangeArrowheads="1"/>
              </p:cNvSpPr>
              <p:nvPr/>
            </p:nvSpPr>
            <p:spPr bwMode="auto">
              <a:xfrm>
                <a:off x="6486539" y="2500306"/>
                <a:ext cx="1084515" cy="53197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0" name="Rectangle 9">
              <a:extLst>
                <a:ext uri="{FF2B5EF4-FFF2-40B4-BE49-F238E27FC236}">
                  <a16:creationId xmlns:a16="http://schemas.microsoft.com/office/drawing/2014/main" id="{CCC6C333-BC04-E40E-E859-2592FEE82F4E}"/>
                </a:ext>
              </a:extLst>
            </p:cNvPr>
            <p:cNvSpPr/>
            <p:nvPr/>
          </p:nvSpPr>
          <p:spPr>
            <a:xfrm>
              <a:off x="759494" y="3214686"/>
              <a:ext cx="3441968" cy="422835"/>
            </a:xfrm>
            <a:prstGeom prst="rect">
              <a:avLst/>
            </a:prstGeom>
          </p:spPr>
          <p:txBody>
            <a:bodyPr wrap="none">
              <a:spAutoFit/>
            </a:bodyPr>
            <a:lstStyle/>
            <a:p>
              <a:r>
                <a:rPr lang="en-US" b="1" dirty="0"/>
                <a:t>symbols used in class design</a:t>
              </a:r>
            </a:p>
          </p:txBody>
        </p:sp>
      </p:grpSp>
      <p:grpSp>
        <p:nvGrpSpPr>
          <p:cNvPr id="16" name="Group 15">
            <a:extLst>
              <a:ext uri="{FF2B5EF4-FFF2-40B4-BE49-F238E27FC236}">
                <a16:creationId xmlns:a16="http://schemas.microsoft.com/office/drawing/2014/main" id="{F890CFFC-0269-6FFA-904A-D89DE7B875D3}"/>
              </a:ext>
            </a:extLst>
          </p:cNvPr>
          <p:cNvGrpSpPr/>
          <p:nvPr/>
        </p:nvGrpSpPr>
        <p:grpSpPr>
          <a:xfrm>
            <a:off x="1874292" y="2998263"/>
            <a:ext cx="4956970" cy="3290921"/>
            <a:chOff x="1041476" y="3286124"/>
            <a:chExt cx="4956970" cy="3163061"/>
          </a:xfrm>
        </p:grpSpPr>
        <p:grpSp>
          <p:nvGrpSpPr>
            <p:cNvPr id="17" name="Group 30">
              <a:extLst>
                <a:ext uri="{FF2B5EF4-FFF2-40B4-BE49-F238E27FC236}">
                  <a16:creationId xmlns:a16="http://schemas.microsoft.com/office/drawing/2014/main" id="{22FAA007-2057-FF60-F444-CC60D88FB5A8}"/>
                </a:ext>
              </a:extLst>
            </p:cNvPr>
            <p:cNvGrpSpPr/>
            <p:nvPr/>
          </p:nvGrpSpPr>
          <p:grpSpPr>
            <a:xfrm>
              <a:off x="1041476" y="3286124"/>
              <a:ext cx="4956970" cy="3163061"/>
              <a:chOff x="1071506" y="3000372"/>
              <a:chExt cx="4772677" cy="3163061"/>
            </a:xfrm>
          </p:grpSpPr>
          <p:grpSp>
            <p:nvGrpSpPr>
              <p:cNvPr id="19" name="Group 32">
                <a:extLst>
                  <a:ext uri="{FF2B5EF4-FFF2-40B4-BE49-F238E27FC236}">
                    <a16:creationId xmlns:a16="http://schemas.microsoft.com/office/drawing/2014/main" id="{8B5EE4FB-57E9-0C67-3C41-67590E999542}"/>
                  </a:ext>
                </a:extLst>
              </p:cNvPr>
              <p:cNvGrpSpPr/>
              <p:nvPr/>
            </p:nvGrpSpPr>
            <p:grpSpPr>
              <a:xfrm>
                <a:off x="1071506" y="3000372"/>
                <a:ext cx="4772677" cy="3163061"/>
                <a:chOff x="1357258" y="2714620"/>
                <a:chExt cx="4772677" cy="3163061"/>
              </a:xfrm>
            </p:grpSpPr>
            <p:grpSp>
              <p:nvGrpSpPr>
                <p:cNvPr id="21" name="Group 20">
                  <a:extLst>
                    <a:ext uri="{FF2B5EF4-FFF2-40B4-BE49-F238E27FC236}">
                      <a16:creationId xmlns:a16="http://schemas.microsoft.com/office/drawing/2014/main" id="{C4A683C9-07BA-96DF-B0BE-97DF60B5B0FE}"/>
                    </a:ext>
                  </a:extLst>
                </p:cNvPr>
                <p:cNvGrpSpPr/>
                <p:nvPr/>
              </p:nvGrpSpPr>
              <p:grpSpPr>
                <a:xfrm>
                  <a:off x="1357258" y="2714620"/>
                  <a:ext cx="4772677" cy="2928958"/>
                  <a:chOff x="785754" y="2626866"/>
                  <a:chExt cx="4772677" cy="2928958"/>
                </a:xfrm>
              </p:grpSpPr>
              <p:sp>
                <p:nvSpPr>
                  <p:cNvPr id="25" name="Rectangle 9">
                    <a:extLst>
                      <a:ext uri="{FF2B5EF4-FFF2-40B4-BE49-F238E27FC236}">
                        <a16:creationId xmlns:a16="http://schemas.microsoft.com/office/drawing/2014/main" id="{456E0170-71EA-9600-B1AE-137965425499}"/>
                      </a:ext>
                    </a:extLst>
                  </p:cNvPr>
                  <p:cNvSpPr>
                    <a:spLocks noChangeArrowheads="1"/>
                  </p:cNvSpPr>
                  <p:nvPr/>
                </p:nvSpPr>
                <p:spPr bwMode="auto">
                  <a:xfrm>
                    <a:off x="858812" y="2626866"/>
                    <a:ext cx="4699619" cy="292895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spcBef>
                        <a:spcPct val="0"/>
                      </a:spcBef>
                      <a:spcAft>
                        <a:spcPts val="200"/>
                      </a:spcAft>
                      <a:buClrTx/>
                      <a:buSzTx/>
                      <a:buFontTx/>
                      <a:buNone/>
                      <a:tabLst/>
                    </a:pPr>
                    <a:r>
                      <a:rPr kumimoji="0" lang="en-US" sz="2000" b="1" i="0" u="none" strike="noStrike" cap="none" normalizeH="0" baseline="0" dirty="0">
                        <a:ln>
                          <a:noFill/>
                        </a:ln>
                        <a:solidFill>
                          <a:srgbClr val="C00000"/>
                        </a:solidFill>
                        <a:effectLst/>
                        <a:latin typeface="Times New Roman" pitchFamily="18" charset="0"/>
                        <a:ea typeface="Arial" pitchFamily="34" charset="0"/>
                        <a:cs typeface="Times New Roman" pitchFamily="18" charset="0"/>
                      </a:rPr>
                      <a:t>Class Name</a:t>
                    </a:r>
                  </a:p>
                  <a:p>
                    <a:pPr marL="0" marR="0" lvl="0" indent="0" algn="l" defTabSz="914400" rtl="0" eaLnBrk="1" fontAlgn="base" latinLnBrk="0" hangingPunct="1">
                      <a:spcBef>
                        <a:spcPct val="0"/>
                      </a:spcBef>
                      <a:spcAft>
                        <a:spcPts val="200"/>
                      </a:spcAft>
                      <a:buClrTx/>
                      <a:buSzTx/>
                      <a:buFontTx/>
                      <a:buNone/>
                      <a:tabLst/>
                    </a:pPr>
                    <a:endParaRPr lang="en-US" sz="2000" b="1" dirty="0">
                      <a:latin typeface="Times New Roman" pitchFamily="18" charset="0"/>
                      <a:cs typeface="Times New Roman" pitchFamily="18" charset="0"/>
                    </a:endParaRPr>
                  </a:p>
                  <a:p>
                    <a:pPr marL="0" marR="0" lvl="0" indent="0" algn="l" defTabSz="914400" rtl="0" eaLnBrk="1" fontAlgn="base" latinLnBrk="0" hangingPunct="1">
                      <a:spcBef>
                        <a:spcPct val="0"/>
                      </a:spcBef>
                      <a:spcAft>
                        <a:spcPts val="200"/>
                      </a:spcAft>
                      <a:buClrTx/>
                      <a:buSzTx/>
                      <a:buFontTx/>
                      <a:buNone/>
                      <a:tabLst/>
                    </a:pPr>
                    <a:r>
                      <a:rPr lang="en-US" sz="2000" b="1" dirty="0">
                        <a:latin typeface="Times New Roman" pitchFamily="18" charset="0"/>
                        <a:cs typeface="Times New Roman" pitchFamily="18" charset="0"/>
                      </a:rPr>
                      <a:t>List of Attributes …..</a:t>
                    </a:r>
                  </a:p>
                  <a:p>
                    <a:pPr marL="0" marR="0" lvl="0" indent="0" algn="l" defTabSz="914400" rtl="0" eaLnBrk="1" fontAlgn="base" latinLnBrk="0" hangingPunct="1">
                      <a:spcBef>
                        <a:spcPct val="0"/>
                      </a:spcBef>
                      <a:spcAft>
                        <a:spcPts val="200"/>
                      </a:spcAft>
                      <a:buClrTx/>
                      <a:buSzTx/>
                      <a:buFontTx/>
                      <a:buNone/>
                      <a:tabLst/>
                    </a:pPr>
                    <a:endParaRPr lang="en-US" sz="2000" b="1" dirty="0">
                      <a:latin typeface="Times New Roman" pitchFamily="18" charset="0"/>
                      <a:cs typeface="Times New Roman" pitchFamily="18" charset="0"/>
                    </a:endParaRPr>
                  </a:p>
                  <a:p>
                    <a:pPr marL="0" marR="0" lvl="0" indent="0" algn="l" defTabSz="914400" rtl="0" eaLnBrk="1" fontAlgn="base" latinLnBrk="0" hangingPunct="1">
                      <a:spcBef>
                        <a:spcPct val="0"/>
                      </a:spcBef>
                      <a:spcAft>
                        <a:spcPts val="200"/>
                      </a:spcAft>
                      <a:buClrTx/>
                      <a:buSzTx/>
                      <a:buFontTx/>
                      <a:buNone/>
                      <a:tabLst/>
                    </a:pPr>
                    <a:endParaRPr lang="en-US" sz="2000" dirty="0"/>
                  </a:p>
                  <a:p>
                    <a:pPr marL="0" marR="0" lvl="0" indent="0" algn="l" defTabSz="914400" rtl="0" eaLnBrk="1" fontAlgn="base" latinLnBrk="0" hangingPunct="1">
                      <a:spcBef>
                        <a:spcPct val="0"/>
                      </a:spcBef>
                      <a:spcAft>
                        <a:spcPts val="200"/>
                      </a:spcAft>
                      <a:buClrTx/>
                      <a:buSzTx/>
                      <a:buFontTx/>
                      <a:buNone/>
                      <a:tabLst/>
                    </a:pPr>
                    <a:endPar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26" name="AutoShape 11">
                    <a:extLst>
                      <a:ext uri="{FF2B5EF4-FFF2-40B4-BE49-F238E27FC236}">
                        <a16:creationId xmlns:a16="http://schemas.microsoft.com/office/drawing/2014/main" id="{6EC18B9B-D7FE-08C7-A633-F88DFCD39E0D}"/>
                      </a:ext>
                    </a:extLst>
                  </p:cNvPr>
                  <p:cNvCxnSpPr>
                    <a:cxnSpLocks noChangeShapeType="1"/>
                  </p:cNvCxnSpPr>
                  <p:nvPr/>
                </p:nvCxnSpPr>
                <p:spPr bwMode="auto">
                  <a:xfrm>
                    <a:off x="858812" y="3769874"/>
                    <a:ext cx="4699619" cy="0"/>
                  </a:xfrm>
                  <a:prstGeom prst="straightConnector1">
                    <a:avLst/>
                  </a:prstGeom>
                  <a:noFill/>
                  <a:ln w="9525">
                    <a:solidFill>
                      <a:srgbClr val="000000"/>
                    </a:solidFill>
                    <a:round/>
                    <a:headEnd/>
                    <a:tailEnd/>
                  </a:ln>
                </p:spPr>
              </p:cxnSp>
              <p:sp>
                <p:nvSpPr>
                  <p:cNvPr id="27" name="Rectangle 26">
                    <a:extLst>
                      <a:ext uri="{FF2B5EF4-FFF2-40B4-BE49-F238E27FC236}">
                        <a16:creationId xmlns:a16="http://schemas.microsoft.com/office/drawing/2014/main" id="{8A43AD75-CA67-D0D0-4F3A-516C89FDB07B}"/>
                      </a:ext>
                    </a:extLst>
                  </p:cNvPr>
                  <p:cNvSpPr/>
                  <p:nvPr/>
                </p:nvSpPr>
                <p:spPr>
                  <a:xfrm>
                    <a:off x="785754" y="3841312"/>
                    <a:ext cx="4615463" cy="458072"/>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Method</a:t>
                    </a:r>
                    <a:r>
                      <a:rPr lang="en-US" sz="2000" b="1" baseline="-25000" dirty="0">
                        <a:solidFill>
                          <a:srgbClr val="006600"/>
                        </a:solidFill>
                        <a:latin typeface="Times New Roman" pitchFamily="18" charset="0"/>
                        <a:cs typeface="Times New Roman" pitchFamily="18" charset="0"/>
                      </a:rPr>
                      <a:t>1</a:t>
                    </a:r>
                    <a:r>
                      <a:rPr lang="en-US" sz="2000" b="1" dirty="0">
                        <a:solidFill>
                          <a:srgbClr val="006600"/>
                        </a:solidFill>
                        <a:latin typeface="Times New Roman" pitchFamily="18" charset="0"/>
                        <a:cs typeface="Times New Roman" pitchFamily="18" charset="0"/>
                      </a:rPr>
                      <a:t> name (): return data type or void</a:t>
                    </a:r>
                  </a:p>
                </p:txBody>
              </p:sp>
            </p:grpSp>
            <p:sp>
              <p:nvSpPr>
                <p:cNvPr id="22" name="Rectangle 21">
                  <a:extLst>
                    <a:ext uri="{FF2B5EF4-FFF2-40B4-BE49-F238E27FC236}">
                      <a16:creationId xmlns:a16="http://schemas.microsoft.com/office/drawing/2014/main" id="{F050071F-9831-2951-C7E7-B2DCC6BC8629}"/>
                    </a:ext>
                  </a:extLst>
                </p:cNvPr>
                <p:cNvSpPr/>
                <p:nvPr/>
              </p:nvSpPr>
              <p:spPr>
                <a:xfrm>
                  <a:off x="1358878" y="4208182"/>
                  <a:ext cx="4615463" cy="458072"/>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Method</a:t>
                  </a:r>
                  <a:r>
                    <a:rPr lang="en-US" sz="2000" b="1" baseline="-25000" dirty="0">
                      <a:solidFill>
                        <a:srgbClr val="006600"/>
                      </a:solidFill>
                      <a:latin typeface="Times New Roman" pitchFamily="18" charset="0"/>
                      <a:cs typeface="Times New Roman" pitchFamily="18" charset="0"/>
                    </a:rPr>
                    <a:t>2</a:t>
                  </a:r>
                  <a:r>
                    <a:rPr lang="en-US" sz="2000" b="1" dirty="0">
                      <a:solidFill>
                        <a:srgbClr val="006600"/>
                      </a:solidFill>
                      <a:latin typeface="Times New Roman" pitchFamily="18" charset="0"/>
                      <a:cs typeface="Times New Roman" pitchFamily="18" charset="0"/>
                    </a:rPr>
                    <a:t> name (): return data type or void</a:t>
                  </a:r>
                </a:p>
              </p:txBody>
            </p:sp>
            <p:sp>
              <p:nvSpPr>
                <p:cNvPr id="23" name="Rectangle 22">
                  <a:extLst>
                    <a:ext uri="{FF2B5EF4-FFF2-40B4-BE49-F238E27FC236}">
                      <a16:creationId xmlns:a16="http://schemas.microsoft.com/office/drawing/2014/main" id="{949C884D-1ADB-CFB2-275A-C62A21046F6A}"/>
                    </a:ext>
                  </a:extLst>
                </p:cNvPr>
                <p:cNvSpPr/>
                <p:nvPr/>
              </p:nvSpPr>
              <p:spPr>
                <a:xfrm>
                  <a:off x="1358878" y="4493935"/>
                  <a:ext cx="4615463" cy="458072"/>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Method</a:t>
                  </a:r>
                  <a:r>
                    <a:rPr lang="en-US" sz="2000" b="1" baseline="-25000" dirty="0">
                      <a:solidFill>
                        <a:srgbClr val="006600"/>
                      </a:solidFill>
                      <a:latin typeface="Times New Roman" pitchFamily="18" charset="0"/>
                      <a:cs typeface="Times New Roman" pitchFamily="18" charset="0"/>
                    </a:rPr>
                    <a:t>3</a:t>
                  </a:r>
                  <a:r>
                    <a:rPr lang="en-US" sz="2000" b="1" dirty="0">
                      <a:solidFill>
                        <a:srgbClr val="006600"/>
                      </a:solidFill>
                      <a:latin typeface="Times New Roman" pitchFamily="18" charset="0"/>
                      <a:cs typeface="Times New Roman" pitchFamily="18" charset="0"/>
                    </a:rPr>
                    <a:t> name (): return data type or void</a:t>
                  </a:r>
                </a:p>
              </p:txBody>
            </p:sp>
            <p:sp>
              <p:nvSpPr>
                <p:cNvPr id="24" name="Rectangle 23">
                  <a:extLst>
                    <a:ext uri="{FF2B5EF4-FFF2-40B4-BE49-F238E27FC236}">
                      <a16:creationId xmlns:a16="http://schemas.microsoft.com/office/drawing/2014/main" id="{C602E8B0-6FA3-6926-EA4F-CE5B85F4207A}"/>
                    </a:ext>
                  </a:extLst>
                </p:cNvPr>
                <p:cNvSpPr/>
                <p:nvPr/>
              </p:nvSpPr>
              <p:spPr>
                <a:xfrm>
                  <a:off x="2573324" y="4714884"/>
                  <a:ext cx="239536" cy="1162797"/>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a:t>
                  </a:r>
                </a:p>
                <a:p>
                  <a:r>
                    <a:rPr lang="en-GB" sz="2000" b="1" dirty="0">
                      <a:solidFill>
                        <a:srgbClr val="006600"/>
                      </a:solidFill>
                      <a:latin typeface="Times New Roman" pitchFamily="18" charset="0"/>
                      <a:cs typeface="Times New Roman" pitchFamily="18" charset="0"/>
                    </a:rPr>
                    <a:t>.</a:t>
                  </a:r>
                </a:p>
                <a:p>
                  <a:r>
                    <a:rPr lang="en-GB" sz="2000" b="1" dirty="0">
                      <a:solidFill>
                        <a:srgbClr val="006600"/>
                      </a:solidFill>
                      <a:latin typeface="Times New Roman" pitchFamily="18" charset="0"/>
                      <a:cs typeface="Times New Roman" pitchFamily="18" charset="0"/>
                    </a:rPr>
                    <a:t>.</a:t>
                  </a:r>
                  <a:endParaRPr lang="en-US" sz="2000" b="1" dirty="0">
                    <a:solidFill>
                      <a:srgbClr val="006600"/>
                    </a:solidFill>
                    <a:latin typeface="Times New Roman" pitchFamily="18" charset="0"/>
                    <a:cs typeface="Times New Roman" pitchFamily="18" charset="0"/>
                  </a:endParaRPr>
                </a:p>
              </p:txBody>
            </p:sp>
          </p:grpSp>
          <p:cxnSp>
            <p:nvCxnSpPr>
              <p:cNvPr id="20" name="AutoShape 11">
                <a:extLst>
                  <a:ext uri="{FF2B5EF4-FFF2-40B4-BE49-F238E27FC236}">
                    <a16:creationId xmlns:a16="http://schemas.microsoft.com/office/drawing/2014/main" id="{CB58B743-2C5F-CFB0-904F-40C7E5766F60}"/>
                  </a:ext>
                </a:extLst>
              </p:cNvPr>
              <p:cNvCxnSpPr>
                <a:cxnSpLocks noChangeShapeType="1"/>
              </p:cNvCxnSpPr>
              <p:nvPr/>
            </p:nvCxnSpPr>
            <p:spPr bwMode="auto">
              <a:xfrm>
                <a:off x="1144564" y="3355974"/>
                <a:ext cx="3254096" cy="1588"/>
              </a:xfrm>
              <a:prstGeom prst="straightConnector1">
                <a:avLst/>
              </a:prstGeom>
              <a:noFill/>
              <a:ln w="9525">
                <a:solidFill>
                  <a:srgbClr val="000000"/>
                </a:solidFill>
                <a:round/>
                <a:headEnd/>
                <a:tailEnd/>
              </a:ln>
            </p:spPr>
          </p:cxnSp>
        </p:grpSp>
        <p:sp>
          <p:nvSpPr>
            <p:cNvPr id="18" name="Rectangle 17">
              <a:extLst>
                <a:ext uri="{FF2B5EF4-FFF2-40B4-BE49-F238E27FC236}">
                  <a16:creationId xmlns:a16="http://schemas.microsoft.com/office/drawing/2014/main" id="{BCE41A32-8094-2BA7-4467-B18ED97A9EA5}"/>
                </a:ext>
              </a:extLst>
            </p:cNvPr>
            <p:cNvSpPr/>
            <p:nvPr/>
          </p:nvSpPr>
          <p:spPr>
            <a:xfrm>
              <a:off x="1071538" y="5851256"/>
              <a:ext cx="4793685" cy="458072"/>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Method</a:t>
              </a:r>
              <a:r>
                <a:rPr lang="en-US" sz="2000" b="1" baseline="-25000" dirty="0">
                  <a:solidFill>
                    <a:srgbClr val="006600"/>
                  </a:solidFill>
                  <a:latin typeface="Times New Roman" pitchFamily="18" charset="0"/>
                  <a:cs typeface="Times New Roman" pitchFamily="18" charset="0"/>
                </a:rPr>
                <a:t>3</a:t>
              </a:r>
              <a:r>
                <a:rPr lang="en-US" sz="2000" b="1" dirty="0">
                  <a:solidFill>
                    <a:srgbClr val="006600"/>
                  </a:solidFill>
                  <a:latin typeface="Times New Roman" pitchFamily="18" charset="0"/>
                  <a:cs typeface="Times New Roman" pitchFamily="18" charset="0"/>
                </a:rPr>
                <a:t> name (): return data type or void</a:t>
              </a:r>
            </a:p>
          </p:txBody>
        </p:sp>
      </p:grpSp>
      <p:cxnSp>
        <p:nvCxnSpPr>
          <p:cNvPr id="28" name="Straight Arrow Connector 27">
            <a:extLst>
              <a:ext uri="{FF2B5EF4-FFF2-40B4-BE49-F238E27FC236}">
                <a16:creationId xmlns:a16="http://schemas.microsoft.com/office/drawing/2014/main" id="{E560EE78-021E-6FE2-A196-072F5322EA88}"/>
              </a:ext>
            </a:extLst>
          </p:cNvPr>
          <p:cNvCxnSpPr>
            <a:cxnSpLocks/>
          </p:cNvCxnSpPr>
          <p:nvPr/>
        </p:nvCxnSpPr>
        <p:spPr>
          <a:xfrm flipV="1">
            <a:off x="3505218" y="2828948"/>
            <a:ext cx="1588" cy="1071572"/>
          </a:xfrm>
          <a:prstGeom prst="straightConnector1">
            <a:avLst/>
          </a:prstGeom>
          <a:ln>
            <a:solidFill>
              <a:srgbClr val="80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D1BC889-82ED-C15A-6D7E-7864B80A53C4}"/>
              </a:ext>
            </a:extLst>
          </p:cNvPr>
          <p:cNvCxnSpPr>
            <a:cxnSpLocks/>
          </p:cNvCxnSpPr>
          <p:nvPr/>
        </p:nvCxnSpPr>
        <p:spPr>
          <a:xfrm flipH="1" flipV="1">
            <a:off x="2505881" y="2828155"/>
            <a:ext cx="71440" cy="1071571"/>
          </a:xfrm>
          <a:prstGeom prst="straightConnector1">
            <a:avLst/>
          </a:prstGeom>
          <a:ln>
            <a:solidFill>
              <a:srgbClr val="80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1" name="Rectangle 4">
            <a:extLst>
              <a:ext uri="{FF2B5EF4-FFF2-40B4-BE49-F238E27FC236}">
                <a16:creationId xmlns:a16="http://schemas.microsoft.com/office/drawing/2014/main" id="{24D1B927-8A8D-FA89-3DC8-69AECCC59DFB}"/>
              </a:ext>
            </a:extLst>
          </p:cNvPr>
          <p:cNvSpPr>
            <a:spLocks noChangeArrowheads="1"/>
          </p:cNvSpPr>
          <p:nvPr/>
        </p:nvSpPr>
        <p:spPr bwMode="auto">
          <a:xfrm>
            <a:off x="3220260" y="2185212"/>
            <a:ext cx="657228" cy="449269"/>
          </a:xfrm>
          <a:prstGeom prst="rect">
            <a:avLst/>
          </a:prstGeom>
          <a:solidFill>
            <a:srgbClr val="FFFFFF"/>
          </a:solidFill>
          <a:ln w="9525">
            <a:solidFill>
              <a:srgbClr val="000000"/>
            </a:solidFill>
            <a:prstDash val="dash"/>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 name="Oval 5">
            <a:extLst>
              <a:ext uri="{FF2B5EF4-FFF2-40B4-BE49-F238E27FC236}">
                <a16:creationId xmlns:a16="http://schemas.microsoft.com/office/drawing/2014/main" id="{8723E675-067E-7DBA-94F9-3C31CB5C451D}"/>
              </a:ext>
            </a:extLst>
          </p:cNvPr>
          <p:cNvSpPr>
            <a:spLocks noChangeArrowheads="1"/>
          </p:cNvSpPr>
          <p:nvPr/>
        </p:nvSpPr>
        <p:spPr bwMode="auto">
          <a:xfrm>
            <a:off x="1791500" y="2042336"/>
            <a:ext cx="1285884" cy="623986"/>
          </a:xfrm>
          <a:prstGeom prst="ellipse">
            <a:avLst/>
          </a:prstGeom>
          <a:solidFill>
            <a:srgbClr val="FFFFFF"/>
          </a:solid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33" name="Group 32">
            <a:extLst>
              <a:ext uri="{FF2B5EF4-FFF2-40B4-BE49-F238E27FC236}">
                <a16:creationId xmlns:a16="http://schemas.microsoft.com/office/drawing/2014/main" id="{D9BC0FB1-152B-2D3B-1CE9-5F80F7AFAF92}"/>
              </a:ext>
            </a:extLst>
          </p:cNvPr>
          <p:cNvGrpSpPr/>
          <p:nvPr/>
        </p:nvGrpSpPr>
        <p:grpSpPr>
          <a:xfrm>
            <a:off x="6787606" y="1789949"/>
            <a:ext cx="5318078" cy="1931466"/>
            <a:chOff x="2285984" y="1282838"/>
            <a:chExt cx="5504721" cy="2211268"/>
          </a:xfrm>
        </p:grpSpPr>
        <p:sp>
          <p:nvSpPr>
            <p:cNvPr id="34" name="Oval 5">
              <a:extLst>
                <a:ext uri="{FF2B5EF4-FFF2-40B4-BE49-F238E27FC236}">
                  <a16:creationId xmlns:a16="http://schemas.microsoft.com/office/drawing/2014/main" id="{01B87C10-8B6B-0FDD-FE3A-568F0E5CDB49}"/>
                </a:ext>
              </a:extLst>
            </p:cNvPr>
            <p:cNvSpPr>
              <a:spLocks noChangeArrowheads="1"/>
            </p:cNvSpPr>
            <p:nvPr/>
          </p:nvSpPr>
          <p:spPr bwMode="auto">
            <a:xfrm>
              <a:off x="2285984" y="1357298"/>
              <a:ext cx="5504721" cy="2136808"/>
            </a:xfrm>
            <a:prstGeom prst="ellipse">
              <a:avLst/>
            </a:prstGeom>
            <a:solidFill>
              <a:srgbClr val="FFC000">
                <a:alpha val="1100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5" name="TextBox 34">
              <a:extLst>
                <a:ext uri="{FF2B5EF4-FFF2-40B4-BE49-F238E27FC236}">
                  <a16:creationId xmlns:a16="http://schemas.microsoft.com/office/drawing/2014/main" id="{E895CA88-2BBC-4D93-4DFC-4ABA0E826296}"/>
                </a:ext>
              </a:extLst>
            </p:cNvPr>
            <p:cNvSpPr txBox="1"/>
            <p:nvPr/>
          </p:nvSpPr>
          <p:spPr>
            <a:xfrm>
              <a:off x="4101093" y="1282838"/>
              <a:ext cx="1737580" cy="422835"/>
            </a:xfrm>
            <a:prstGeom prst="rect">
              <a:avLst/>
            </a:prstGeom>
            <a:noFill/>
            <a:ln>
              <a:noFill/>
            </a:ln>
          </p:spPr>
          <p:txBody>
            <a:bodyPr wrap="none" rtlCol="0">
              <a:spAutoFit/>
            </a:bodyPr>
            <a:lstStyle/>
            <a:p>
              <a:pPr algn="ctr" rtl="0"/>
              <a:r>
                <a:rPr lang="en-GB" b="1" dirty="0">
                  <a:solidFill>
                    <a:srgbClr val="C00000"/>
                  </a:solidFill>
                  <a:latin typeface="Times New Roman" pitchFamily="18" charset="0"/>
                  <a:ea typeface="Arial" pitchFamily="34" charset="0"/>
                  <a:cs typeface="Times New Roman" pitchFamily="18" charset="0"/>
                </a:rPr>
                <a:t>Interface name</a:t>
              </a:r>
              <a:endParaRPr lang="en-US" b="1" dirty="0">
                <a:solidFill>
                  <a:srgbClr val="C00000"/>
                </a:solidFill>
                <a:latin typeface="Times New Roman" pitchFamily="18" charset="0"/>
                <a:ea typeface="Arial" pitchFamily="34" charset="0"/>
                <a:cs typeface="Times New Roman" pitchFamily="18" charset="0"/>
              </a:endParaRPr>
            </a:p>
          </p:txBody>
        </p:sp>
        <p:cxnSp>
          <p:nvCxnSpPr>
            <p:cNvPr id="36" name="AutoShape 11">
              <a:extLst>
                <a:ext uri="{FF2B5EF4-FFF2-40B4-BE49-F238E27FC236}">
                  <a16:creationId xmlns:a16="http://schemas.microsoft.com/office/drawing/2014/main" id="{07876C0D-FEEB-A3B2-D626-2ACFFC1537EC}"/>
                </a:ext>
              </a:extLst>
            </p:cNvPr>
            <p:cNvCxnSpPr>
              <a:cxnSpLocks noChangeShapeType="1"/>
            </p:cNvCxnSpPr>
            <p:nvPr/>
          </p:nvCxnSpPr>
          <p:spPr bwMode="auto">
            <a:xfrm>
              <a:off x="3245366" y="1602659"/>
              <a:ext cx="3461598" cy="56723"/>
            </a:xfrm>
            <a:prstGeom prst="straightConnector1">
              <a:avLst/>
            </a:prstGeom>
            <a:noFill/>
            <a:ln w="9525">
              <a:solidFill>
                <a:srgbClr val="000000"/>
              </a:solidFill>
              <a:round/>
              <a:headEnd/>
              <a:tailEnd/>
            </a:ln>
          </p:spPr>
        </p:cxnSp>
        <p:sp>
          <p:nvSpPr>
            <p:cNvPr id="37" name="TextBox 36">
              <a:extLst>
                <a:ext uri="{FF2B5EF4-FFF2-40B4-BE49-F238E27FC236}">
                  <a16:creationId xmlns:a16="http://schemas.microsoft.com/office/drawing/2014/main" id="{A41BFEEE-187A-6829-58EF-F57B798882EC}"/>
                </a:ext>
              </a:extLst>
            </p:cNvPr>
            <p:cNvSpPr txBox="1"/>
            <p:nvPr/>
          </p:nvSpPr>
          <p:spPr>
            <a:xfrm>
              <a:off x="3465496" y="1584405"/>
              <a:ext cx="3097318" cy="422835"/>
            </a:xfrm>
            <a:prstGeom prst="rect">
              <a:avLst/>
            </a:prstGeom>
            <a:noFill/>
            <a:ln>
              <a:noFill/>
            </a:ln>
          </p:spPr>
          <p:txBody>
            <a:bodyPr wrap="square" rtlCol="0">
              <a:spAutoFit/>
            </a:bodyPr>
            <a:lstStyle/>
            <a:p>
              <a:pPr algn="l" rtl="0"/>
              <a:r>
                <a:rPr lang="en-US" b="1" dirty="0">
                  <a:latin typeface="Times New Roman" pitchFamily="18" charset="0"/>
                  <a:cs typeface="Times New Roman" pitchFamily="18" charset="0"/>
                </a:rPr>
                <a:t>List of Attributes……..</a:t>
              </a:r>
              <a:endParaRPr lang="en-US" dirty="0"/>
            </a:p>
          </p:txBody>
        </p:sp>
        <p:cxnSp>
          <p:nvCxnSpPr>
            <p:cNvPr id="38" name="AutoShape 11">
              <a:extLst>
                <a:ext uri="{FF2B5EF4-FFF2-40B4-BE49-F238E27FC236}">
                  <a16:creationId xmlns:a16="http://schemas.microsoft.com/office/drawing/2014/main" id="{4CD5B734-676F-F5DD-D79D-15D6A8E0BBB6}"/>
                </a:ext>
              </a:extLst>
            </p:cNvPr>
            <p:cNvCxnSpPr>
              <a:cxnSpLocks noChangeShapeType="1"/>
            </p:cNvCxnSpPr>
            <p:nvPr/>
          </p:nvCxnSpPr>
          <p:spPr bwMode="auto">
            <a:xfrm>
              <a:off x="2877671" y="1966533"/>
              <a:ext cx="3929090" cy="1588"/>
            </a:xfrm>
            <a:prstGeom prst="straightConnector1">
              <a:avLst/>
            </a:prstGeom>
            <a:noFill/>
            <a:ln w="9525">
              <a:solidFill>
                <a:srgbClr val="000000"/>
              </a:solidFill>
              <a:round/>
              <a:headEnd/>
              <a:tailEnd/>
            </a:ln>
          </p:spPr>
        </p:cxnSp>
        <p:sp>
          <p:nvSpPr>
            <p:cNvPr id="39" name="Rectangle 38">
              <a:extLst>
                <a:ext uri="{FF2B5EF4-FFF2-40B4-BE49-F238E27FC236}">
                  <a16:creationId xmlns:a16="http://schemas.microsoft.com/office/drawing/2014/main" id="{A7D343C3-9C81-4EF3-7070-D2EA33BCAC5A}"/>
                </a:ext>
              </a:extLst>
            </p:cNvPr>
            <p:cNvSpPr/>
            <p:nvPr/>
          </p:nvSpPr>
          <p:spPr>
            <a:xfrm>
              <a:off x="2794633" y="1928802"/>
              <a:ext cx="4748807" cy="422835"/>
            </a:xfrm>
            <a:prstGeom prst="rect">
              <a:avLst/>
            </a:prstGeom>
          </p:spPr>
          <p:txBody>
            <a:bodyPr wrap="none">
              <a:spAutoFit/>
            </a:bodyPr>
            <a:lstStyle/>
            <a:p>
              <a:pPr algn="l" rtl="0"/>
              <a:r>
                <a:rPr lang="en-US" b="1" dirty="0">
                  <a:solidFill>
                    <a:srgbClr val="000099"/>
                  </a:solidFill>
                  <a:latin typeface="Times New Roman" pitchFamily="18" charset="0"/>
                  <a:cs typeface="Times New Roman" pitchFamily="18" charset="0"/>
                </a:rPr>
                <a:t>Method</a:t>
              </a:r>
              <a:r>
                <a:rPr lang="en-US" b="1" baseline="-25000" dirty="0">
                  <a:solidFill>
                    <a:srgbClr val="000099"/>
                  </a:solidFill>
                  <a:latin typeface="Times New Roman" pitchFamily="18" charset="0"/>
                  <a:cs typeface="Times New Roman" pitchFamily="18" charset="0"/>
                </a:rPr>
                <a:t>1</a:t>
              </a:r>
              <a:r>
                <a:rPr lang="en-US" b="1" dirty="0">
                  <a:solidFill>
                    <a:srgbClr val="000099"/>
                  </a:solidFill>
                  <a:latin typeface="Times New Roman" pitchFamily="18" charset="0"/>
                  <a:cs typeface="Times New Roman" pitchFamily="18" charset="0"/>
                </a:rPr>
                <a:t> name (): return data type or void   ;</a:t>
              </a:r>
            </a:p>
          </p:txBody>
        </p:sp>
        <p:sp>
          <p:nvSpPr>
            <p:cNvPr id="40" name="Rectangle 39">
              <a:extLst>
                <a:ext uri="{FF2B5EF4-FFF2-40B4-BE49-F238E27FC236}">
                  <a16:creationId xmlns:a16="http://schemas.microsoft.com/office/drawing/2014/main" id="{8A95F422-955B-7A3B-7A6A-8581D35EE839}"/>
                </a:ext>
              </a:extLst>
            </p:cNvPr>
            <p:cNvSpPr/>
            <p:nvPr/>
          </p:nvSpPr>
          <p:spPr>
            <a:xfrm>
              <a:off x="2794633" y="2262768"/>
              <a:ext cx="4748807" cy="422835"/>
            </a:xfrm>
            <a:prstGeom prst="rect">
              <a:avLst/>
            </a:prstGeom>
          </p:spPr>
          <p:txBody>
            <a:bodyPr wrap="none">
              <a:spAutoFit/>
            </a:bodyPr>
            <a:lstStyle/>
            <a:p>
              <a:pPr algn="l" rtl="0"/>
              <a:r>
                <a:rPr lang="en-US" b="1" dirty="0">
                  <a:solidFill>
                    <a:srgbClr val="000099"/>
                  </a:solidFill>
                  <a:latin typeface="Times New Roman" pitchFamily="18" charset="0"/>
                  <a:cs typeface="Times New Roman" pitchFamily="18" charset="0"/>
                </a:rPr>
                <a:t>Method</a:t>
              </a:r>
              <a:r>
                <a:rPr lang="en-US" b="1" baseline="-25000" dirty="0">
                  <a:solidFill>
                    <a:srgbClr val="000099"/>
                  </a:solidFill>
                  <a:latin typeface="Times New Roman" pitchFamily="18" charset="0"/>
                  <a:cs typeface="Times New Roman" pitchFamily="18" charset="0"/>
                </a:rPr>
                <a:t>2</a:t>
              </a:r>
              <a:r>
                <a:rPr lang="en-US" b="1" dirty="0">
                  <a:solidFill>
                    <a:srgbClr val="000099"/>
                  </a:solidFill>
                  <a:latin typeface="Times New Roman" pitchFamily="18" charset="0"/>
                  <a:cs typeface="Times New Roman" pitchFamily="18" charset="0"/>
                </a:rPr>
                <a:t> name (): return data type or void   ;</a:t>
              </a:r>
            </a:p>
          </p:txBody>
        </p:sp>
        <p:sp>
          <p:nvSpPr>
            <p:cNvPr id="41" name="Rectangle 40">
              <a:extLst>
                <a:ext uri="{FF2B5EF4-FFF2-40B4-BE49-F238E27FC236}">
                  <a16:creationId xmlns:a16="http://schemas.microsoft.com/office/drawing/2014/main" id="{61C4F606-0221-7049-E65F-2E22883BEF8B}"/>
                </a:ext>
              </a:extLst>
            </p:cNvPr>
            <p:cNvSpPr/>
            <p:nvPr/>
          </p:nvSpPr>
          <p:spPr>
            <a:xfrm>
              <a:off x="4223618" y="2285992"/>
              <a:ext cx="250880" cy="739962"/>
            </a:xfrm>
            <a:prstGeom prst="rect">
              <a:avLst/>
            </a:prstGeom>
          </p:spPr>
          <p:txBody>
            <a:bodyPr wrap="none">
              <a:spAutoFit/>
            </a:bodyPr>
            <a:lstStyle/>
            <a:p>
              <a:r>
                <a:rPr lang="en-US" b="1" dirty="0">
                  <a:solidFill>
                    <a:srgbClr val="006600"/>
                  </a:solidFill>
                  <a:latin typeface="Times New Roman" pitchFamily="18" charset="0"/>
                  <a:cs typeface="Times New Roman" pitchFamily="18" charset="0"/>
                </a:rPr>
                <a:t>.</a:t>
              </a:r>
            </a:p>
            <a:p>
              <a:r>
                <a:rPr lang="en-GB" b="1" dirty="0">
                  <a:solidFill>
                    <a:srgbClr val="006600"/>
                  </a:solidFill>
                  <a:latin typeface="Times New Roman" pitchFamily="18" charset="0"/>
                  <a:cs typeface="Times New Roman" pitchFamily="18" charset="0"/>
                </a:rPr>
                <a:t>.</a:t>
              </a:r>
              <a:endParaRPr lang="en-US" b="1" dirty="0">
                <a:solidFill>
                  <a:srgbClr val="006600"/>
                </a:solidFill>
                <a:latin typeface="Times New Roman" pitchFamily="18" charset="0"/>
                <a:cs typeface="Times New Roman" pitchFamily="18" charset="0"/>
              </a:endParaRPr>
            </a:p>
          </p:txBody>
        </p:sp>
        <p:sp>
          <p:nvSpPr>
            <p:cNvPr id="42" name="Rectangle 41">
              <a:extLst>
                <a:ext uri="{FF2B5EF4-FFF2-40B4-BE49-F238E27FC236}">
                  <a16:creationId xmlns:a16="http://schemas.microsoft.com/office/drawing/2014/main" id="{FDB4C34B-AD3C-D1EF-26E4-D750CC9844D7}"/>
                </a:ext>
              </a:extLst>
            </p:cNvPr>
            <p:cNvSpPr/>
            <p:nvPr/>
          </p:nvSpPr>
          <p:spPr>
            <a:xfrm>
              <a:off x="2794633" y="2626313"/>
              <a:ext cx="4697371" cy="422835"/>
            </a:xfrm>
            <a:prstGeom prst="rect">
              <a:avLst/>
            </a:prstGeom>
          </p:spPr>
          <p:txBody>
            <a:bodyPr wrap="none">
              <a:spAutoFit/>
            </a:bodyPr>
            <a:lstStyle/>
            <a:p>
              <a:pPr algn="l" rtl="0"/>
              <a:r>
                <a:rPr lang="en-US" b="1" dirty="0">
                  <a:solidFill>
                    <a:srgbClr val="000099"/>
                  </a:solidFill>
                  <a:latin typeface="Times New Roman" pitchFamily="18" charset="0"/>
                  <a:cs typeface="Times New Roman" pitchFamily="18" charset="0"/>
                </a:rPr>
                <a:t>Method </a:t>
              </a:r>
              <a:r>
                <a:rPr lang="en-US" b="1" baseline="-25000" dirty="0">
                  <a:solidFill>
                    <a:srgbClr val="000099"/>
                  </a:solidFill>
                  <a:latin typeface="Times New Roman" pitchFamily="18" charset="0"/>
                  <a:cs typeface="Times New Roman" pitchFamily="18" charset="0"/>
                </a:rPr>
                <a:t>n</a:t>
              </a:r>
              <a:r>
                <a:rPr lang="en-US" b="1" dirty="0">
                  <a:solidFill>
                    <a:srgbClr val="000099"/>
                  </a:solidFill>
                  <a:latin typeface="Times New Roman" pitchFamily="18" charset="0"/>
                  <a:cs typeface="Times New Roman" pitchFamily="18" charset="0"/>
                </a:rPr>
                <a:t> name (): return data type or void ;</a:t>
              </a:r>
            </a:p>
          </p:txBody>
        </p:sp>
      </p:grpSp>
      <p:sp>
        <p:nvSpPr>
          <p:cNvPr id="43" name="Left Brace 42">
            <a:extLst>
              <a:ext uri="{FF2B5EF4-FFF2-40B4-BE49-F238E27FC236}">
                <a16:creationId xmlns:a16="http://schemas.microsoft.com/office/drawing/2014/main" id="{79562805-2C5E-C5AE-157D-5B7DC366B91D}"/>
              </a:ext>
            </a:extLst>
          </p:cNvPr>
          <p:cNvSpPr/>
          <p:nvPr/>
        </p:nvSpPr>
        <p:spPr>
          <a:xfrm>
            <a:off x="1505748" y="2042336"/>
            <a:ext cx="357190" cy="4180708"/>
          </a:xfrm>
          <a:prstGeom prst="leftBrace">
            <a:avLst>
              <a:gd name="adj1" fmla="val 0"/>
              <a:gd name="adj2" fmla="val 50273"/>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C00000"/>
              </a:solidFill>
            </a:endParaRPr>
          </a:p>
        </p:txBody>
      </p:sp>
      <p:sp>
        <p:nvSpPr>
          <p:cNvPr id="44" name="Rectangle 43">
            <a:extLst>
              <a:ext uri="{FF2B5EF4-FFF2-40B4-BE49-F238E27FC236}">
                <a16:creationId xmlns:a16="http://schemas.microsoft.com/office/drawing/2014/main" id="{05AF4609-EE69-9A99-FD61-D8DED81627B0}"/>
              </a:ext>
            </a:extLst>
          </p:cNvPr>
          <p:cNvSpPr/>
          <p:nvPr/>
        </p:nvSpPr>
        <p:spPr>
          <a:xfrm>
            <a:off x="291702" y="4114038"/>
            <a:ext cx="1291379" cy="836126"/>
          </a:xfrm>
          <a:prstGeom prst="rect">
            <a:avLst/>
          </a:prstGeom>
        </p:spPr>
        <p:txBody>
          <a:bodyPr wrap="none">
            <a:spAutoFit/>
          </a:bodyPr>
          <a:lstStyle/>
          <a:p>
            <a:pPr lvl="0" algn="ctr" rtl="0" fontAlgn="base">
              <a:spcBef>
                <a:spcPct val="0"/>
              </a:spcBef>
              <a:spcAft>
                <a:spcPts val="1000"/>
              </a:spcAft>
            </a:pPr>
            <a:r>
              <a:rPr lang="en-US" sz="2000" dirty="0">
                <a:solidFill>
                  <a:srgbClr val="0000FF"/>
                </a:solidFill>
                <a:latin typeface="+mj-lt"/>
                <a:cs typeface="Times New Roman" pitchFamily="18" charset="0"/>
              </a:rPr>
              <a:t>A class</a:t>
            </a:r>
          </a:p>
          <a:p>
            <a:pPr lvl="0" algn="ctr" rtl="0" fontAlgn="base">
              <a:spcBef>
                <a:spcPct val="0"/>
              </a:spcBef>
              <a:spcAft>
                <a:spcPts val="1000"/>
              </a:spcAft>
            </a:pPr>
            <a:r>
              <a:rPr lang="en-US" sz="2000" dirty="0">
                <a:solidFill>
                  <a:srgbClr val="0000FF"/>
                </a:solidFill>
                <a:latin typeface="+mj-lt"/>
                <a:cs typeface="Times New Roman" pitchFamily="18" charset="0"/>
              </a:rPr>
              <a:t> Template</a:t>
            </a:r>
          </a:p>
        </p:txBody>
      </p:sp>
      <p:cxnSp>
        <p:nvCxnSpPr>
          <p:cNvPr id="45" name="Connector: Elbow 44">
            <a:extLst>
              <a:ext uri="{FF2B5EF4-FFF2-40B4-BE49-F238E27FC236}">
                <a16:creationId xmlns:a16="http://schemas.microsoft.com/office/drawing/2014/main" id="{74CAE89F-FD90-45F3-9DB9-32DF9BA9C346}"/>
              </a:ext>
            </a:extLst>
          </p:cNvPr>
          <p:cNvCxnSpPr>
            <a:stCxn id="25" idx="3"/>
            <a:endCxn id="34" idx="3"/>
          </p:cNvCxnSpPr>
          <p:nvPr/>
        </p:nvCxnSpPr>
        <p:spPr>
          <a:xfrm flipV="1">
            <a:off x="6831262" y="3448083"/>
            <a:ext cx="735158" cy="1073858"/>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728414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A53B-7078-866F-245B-43C99DDE6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A2B4C-5AC9-C2F2-E612-16618CA93760}"/>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 Template </a:t>
            </a:r>
            <a:endParaRPr lang="en-US" dirty="0"/>
          </a:p>
        </p:txBody>
      </p:sp>
      <p:sp>
        <p:nvSpPr>
          <p:cNvPr id="4" name="Footer Placeholder 3">
            <a:extLst>
              <a:ext uri="{FF2B5EF4-FFF2-40B4-BE49-F238E27FC236}">
                <a16:creationId xmlns:a16="http://schemas.microsoft.com/office/drawing/2014/main" id="{F4B8323C-5CDC-91D2-670B-7628F46F0E8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F279131F-171A-E218-FCEC-B98E32ABC9B4}"/>
              </a:ext>
            </a:extLst>
          </p:cNvPr>
          <p:cNvGrpSpPr/>
          <p:nvPr/>
        </p:nvGrpSpPr>
        <p:grpSpPr>
          <a:xfrm>
            <a:off x="-42930" y="1880236"/>
            <a:ext cx="6966407" cy="2786082"/>
            <a:chOff x="2285984" y="1357298"/>
            <a:chExt cx="5096443" cy="2071702"/>
          </a:xfrm>
        </p:grpSpPr>
        <p:sp>
          <p:nvSpPr>
            <p:cNvPr id="6" name="Oval 5">
              <a:extLst>
                <a:ext uri="{FF2B5EF4-FFF2-40B4-BE49-F238E27FC236}">
                  <a16:creationId xmlns:a16="http://schemas.microsoft.com/office/drawing/2014/main" id="{F227E1B4-B8E7-C8DE-8C30-76BDD9F7D28C}"/>
                </a:ext>
              </a:extLst>
            </p:cNvPr>
            <p:cNvSpPr>
              <a:spLocks noChangeArrowheads="1"/>
            </p:cNvSpPr>
            <p:nvPr/>
          </p:nvSpPr>
          <p:spPr bwMode="auto">
            <a:xfrm>
              <a:off x="2285984" y="1357298"/>
              <a:ext cx="4214842" cy="207170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TextBox 44">
              <a:extLst>
                <a:ext uri="{FF2B5EF4-FFF2-40B4-BE49-F238E27FC236}">
                  <a16:creationId xmlns:a16="http://schemas.microsoft.com/office/drawing/2014/main" id="{C6AF6B47-E7B5-1FC7-D17F-E50B5C753105}"/>
                </a:ext>
              </a:extLst>
            </p:cNvPr>
            <p:cNvSpPr txBox="1"/>
            <p:nvPr/>
          </p:nvSpPr>
          <p:spPr>
            <a:xfrm>
              <a:off x="3600990" y="1436754"/>
              <a:ext cx="1678665" cy="274631"/>
            </a:xfrm>
            <a:prstGeom prst="rect">
              <a:avLst/>
            </a:prstGeom>
            <a:noFill/>
            <a:ln>
              <a:noFill/>
            </a:ln>
          </p:spPr>
          <p:txBody>
            <a:bodyPr wrap="none" rtlCol="0">
              <a:spAutoFit/>
            </a:bodyPr>
            <a:lstStyle/>
            <a:p>
              <a:pPr algn="ctr" rtl="0"/>
              <a:r>
                <a:rPr lang="en-GB" b="1" dirty="0">
                  <a:solidFill>
                    <a:srgbClr val="C00000"/>
                  </a:solidFill>
                  <a:latin typeface="Times New Roman" pitchFamily="18" charset="0"/>
                  <a:ea typeface="Arial" pitchFamily="34" charset="0"/>
                  <a:cs typeface="Times New Roman" pitchFamily="18" charset="0"/>
                </a:rPr>
                <a:t>Interface name</a:t>
              </a:r>
              <a:endParaRPr lang="en-US" b="1" dirty="0">
                <a:solidFill>
                  <a:srgbClr val="C00000"/>
                </a:solidFill>
                <a:latin typeface="Times New Roman" pitchFamily="18" charset="0"/>
                <a:ea typeface="Arial" pitchFamily="34" charset="0"/>
                <a:cs typeface="Times New Roman" pitchFamily="18" charset="0"/>
              </a:endParaRPr>
            </a:p>
          </p:txBody>
        </p:sp>
        <p:cxnSp>
          <p:nvCxnSpPr>
            <p:cNvPr id="46" name="AutoShape 11">
              <a:extLst>
                <a:ext uri="{FF2B5EF4-FFF2-40B4-BE49-F238E27FC236}">
                  <a16:creationId xmlns:a16="http://schemas.microsoft.com/office/drawing/2014/main" id="{D2879DB4-A2AD-7B5A-5A1E-82EB2BAB3027}"/>
                </a:ext>
              </a:extLst>
            </p:cNvPr>
            <p:cNvCxnSpPr>
              <a:cxnSpLocks noChangeShapeType="1"/>
            </p:cNvCxnSpPr>
            <p:nvPr/>
          </p:nvCxnSpPr>
          <p:spPr bwMode="auto">
            <a:xfrm>
              <a:off x="2928926" y="1643050"/>
              <a:ext cx="2928958" cy="1588"/>
            </a:xfrm>
            <a:prstGeom prst="straightConnector1">
              <a:avLst/>
            </a:prstGeom>
            <a:noFill/>
            <a:ln w="9525">
              <a:solidFill>
                <a:srgbClr val="000000"/>
              </a:solidFill>
              <a:round/>
              <a:headEnd/>
              <a:tailEnd/>
            </a:ln>
          </p:spPr>
        </p:cxnSp>
        <p:sp>
          <p:nvSpPr>
            <p:cNvPr id="47" name="TextBox 46">
              <a:extLst>
                <a:ext uri="{FF2B5EF4-FFF2-40B4-BE49-F238E27FC236}">
                  <a16:creationId xmlns:a16="http://schemas.microsoft.com/office/drawing/2014/main" id="{24F74D64-71C8-98DC-F63C-8F8E51243131}"/>
                </a:ext>
              </a:extLst>
            </p:cNvPr>
            <p:cNvSpPr txBox="1"/>
            <p:nvPr/>
          </p:nvSpPr>
          <p:spPr>
            <a:xfrm>
              <a:off x="2903442" y="1714488"/>
              <a:ext cx="1811434" cy="480605"/>
            </a:xfrm>
            <a:prstGeom prst="rect">
              <a:avLst/>
            </a:prstGeom>
            <a:ln w="3175">
              <a:no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pPr algn="l" rtl="0"/>
              <a:r>
                <a:rPr lang="en-US" b="1" dirty="0">
                  <a:latin typeface="Times New Roman" pitchFamily="18" charset="0"/>
                  <a:cs typeface="Times New Roman" pitchFamily="18" charset="0"/>
                </a:rPr>
                <a:t>List of Attributes……..</a:t>
              </a:r>
              <a:endParaRPr lang="en-US" dirty="0"/>
            </a:p>
          </p:txBody>
        </p:sp>
        <p:cxnSp>
          <p:nvCxnSpPr>
            <p:cNvPr id="48" name="AutoShape 11">
              <a:extLst>
                <a:ext uri="{FF2B5EF4-FFF2-40B4-BE49-F238E27FC236}">
                  <a16:creationId xmlns:a16="http://schemas.microsoft.com/office/drawing/2014/main" id="{9304B4BB-E207-B807-6D2B-FB6A14FBFE4F}"/>
                </a:ext>
              </a:extLst>
            </p:cNvPr>
            <p:cNvCxnSpPr>
              <a:cxnSpLocks noChangeShapeType="1"/>
            </p:cNvCxnSpPr>
            <p:nvPr/>
          </p:nvCxnSpPr>
          <p:spPr bwMode="auto">
            <a:xfrm>
              <a:off x="2428860" y="2070090"/>
              <a:ext cx="3929090" cy="1588"/>
            </a:xfrm>
            <a:prstGeom prst="straightConnector1">
              <a:avLst/>
            </a:prstGeom>
            <a:noFill/>
            <a:ln w="9525">
              <a:solidFill>
                <a:srgbClr val="000000"/>
              </a:solidFill>
              <a:round/>
              <a:headEnd/>
              <a:tailEnd/>
            </a:ln>
          </p:spPr>
        </p:cxnSp>
        <p:sp>
          <p:nvSpPr>
            <p:cNvPr id="49" name="Rectangle 48">
              <a:extLst>
                <a:ext uri="{FF2B5EF4-FFF2-40B4-BE49-F238E27FC236}">
                  <a16:creationId xmlns:a16="http://schemas.microsoft.com/office/drawing/2014/main" id="{A156D75F-FA12-AA9E-B4E3-45B4A18696F0}"/>
                </a:ext>
              </a:extLst>
            </p:cNvPr>
            <p:cNvSpPr/>
            <p:nvPr/>
          </p:nvSpPr>
          <p:spPr>
            <a:xfrm>
              <a:off x="2794633" y="2136480"/>
              <a:ext cx="4587794" cy="274631"/>
            </a:xfrm>
            <a:prstGeom prst="rect">
              <a:avLst/>
            </a:prstGeom>
          </p:spPr>
          <p:txBody>
            <a:bodyPr wrap="none">
              <a:spAutoFit/>
            </a:bodyPr>
            <a:lstStyle/>
            <a:p>
              <a:pPr algn="l" rtl="0"/>
              <a:r>
                <a:rPr lang="en-US" b="1" dirty="0">
                  <a:solidFill>
                    <a:srgbClr val="000099"/>
                  </a:solidFill>
                  <a:latin typeface="Times New Roman" pitchFamily="18" charset="0"/>
                  <a:cs typeface="Times New Roman" pitchFamily="18" charset="0"/>
                </a:rPr>
                <a:t>Method</a:t>
              </a:r>
              <a:r>
                <a:rPr lang="en-US" b="1" baseline="-25000" dirty="0">
                  <a:solidFill>
                    <a:srgbClr val="000099"/>
                  </a:solidFill>
                  <a:latin typeface="Times New Roman" pitchFamily="18" charset="0"/>
                  <a:cs typeface="Times New Roman" pitchFamily="18" charset="0"/>
                </a:rPr>
                <a:t>1</a:t>
              </a:r>
              <a:r>
                <a:rPr lang="en-US" b="1" dirty="0">
                  <a:solidFill>
                    <a:srgbClr val="000099"/>
                  </a:solidFill>
                  <a:latin typeface="Times New Roman" pitchFamily="18" charset="0"/>
                  <a:cs typeface="Times New Roman" pitchFamily="18" charset="0"/>
                </a:rPr>
                <a:t> name (): return data type or void   ;</a:t>
              </a:r>
            </a:p>
          </p:txBody>
        </p:sp>
        <p:sp>
          <p:nvSpPr>
            <p:cNvPr id="50" name="Rectangle 49">
              <a:extLst>
                <a:ext uri="{FF2B5EF4-FFF2-40B4-BE49-F238E27FC236}">
                  <a16:creationId xmlns:a16="http://schemas.microsoft.com/office/drawing/2014/main" id="{7B4C5FB7-F296-6978-27D7-66DB3846E217}"/>
                </a:ext>
              </a:extLst>
            </p:cNvPr>
            <p:cNvSpPr/>
            <p:nvPr/>
          </p:nvSpPr>
          <p:spPr>
            <a:xfrm>
              <a:off x="2794633" y="2344158"/>
              <a:ext cx="4587794" cy="274631"/>
            </a:xfrm>
            <a:prstGeom prst="rect">
              <a:avLst/>
            </a:prstGeom>
          </p:spPr>
          <p:txBody>
            <a:bodyPr wrap="none">
              <a:spAutoFit/>
            </a:bodyPr>
            <a:lstStyle/>
            <a:p>
              <a:pPr algn="l" rtl="0"/>
              <a:r>
                <a:rPr lang="en-US" b="1" dirty="0">
                  <a:solidFill>
                    <a:srgbClr val="000099"/>
                  </a:solidFill>
                  <a:latin typeface="Times New Roman" pitchFamily="18" charset="0"/>
                  <a:cs typeface="Times New Roman" pitchFamily="18" charset="0"/>
                </a:rPr>
                <a:t>Method</a:t>
              </a:r>
              <a:r>
                <a:rPr lang="en-US" b="1" baseline="-25000" dirty="0">
                  <a:solidFill>
                    <a:srgbClr val="000099"/>
                  </a:solidFill>
                  <a:latin typeface="Times New Roman" pitchFamily="18" charset="0"/>
                  <a:cs typeface="Times New Roman" pitchFamily="18" charset="0"/>
                </a:rPr>
                <a:t>2</a:t>
              </a:r>
              <a:r>
                <a:rPr lang="en-US" b="1" dirty="0">
                  <a:solidFill>
                    <a:srgbClr val="000099"/>
                  </a:solidFill>
                  <a:latin typeface="Times New Roman" pitchFamily="18" charset="0"/>
                  <a:cs typeface="Times New Roman" pitchFamily="18" charset="0"/>
                </a:rPr>
                <a:t> name (): return data type or void   ;</a:t>
              </a:r>
            </a:p>
          </p:txBody>
        </p:sp>
        <p:sp>
          <p:nvSpPr>
            <p:cNvPr id="51" name="Rectangle 50">
              <a:extLst>
                <a:ext uri="{FF2B5EF4-FFF2-40B4-BE49-F238E27FC236}">
                  <a16:creationId xmlns:a16="http://schemas.microsoft.com/office/drawing/2014/main" id="{339A4805-3131-D437-3E16-C7BC831C9576}"/>
                </a:ext>
              </a:extLst>
            </p:cNvPr>
            <p:cNvSpPr/>
            <p:nvPr/>
          </p:nvSpPr>
          <p:spPr>
            <a:xfrm>
              <a:off x="4223618" y="2493670"/>
              <a:ext cx="242374" cy="480605"/>
            </a:xfrm>
            <a:prstGeom prst="rect">
              <a:avLst/>
            </a:prstGeom>
          </p:spPr>
          <p:txBody>
            <a:bodyPr wrap="none">
              <a:spAutoFit/>
            </a:bodyPr>
            <a:lstStyle/>
            <a:p>
              <a:r>
                <a:rPr lang="en-US" b="1" dirty="0">
                  <a:solidFill>
                    <a:srgbClr val="006600"/>
                  </a:solidFill>
                  <a:latin typeface="Times New Roman" pitchFamily="18" charset="0"/>
                  <a:cs typeface="Times New Roman" pitchFamily="18" charset="0"/>
                </a:rPr>
                <a:t>.</a:t>
              </a:r>
            </a:p>
            <a:p>
              <a:r>
                <a:rPr lang="en-GB" b="1" dirty="0">
                  <a:solidFill>
                    <a:srgbClr val="006600"/>
                  </a:solidFill>
                  <a:latin typeface="Times New Roman" pitchFamily="18" charset="0"/>
                  <a:cs typeface="Times New Roman" pitchFamily="18" charset="0"/>
                </a:rPr>
                <a:t>.</a:t>
              </a:r>
              <a:endParaRPr lang="en-US" b="1" dirty="0">
                <a:solidFill>
                  <a:srgbClr val="006600"/>
                </a:solidFill>
                <a:latin typeface="Times New Roman" pitchFamily="18" charset="0"/>
                <a:cs typeface="Times New Roman" pitchFamily="18" charset="0"/>
              </a:endParaRPr>
            </a:p>
          </p:txBody>
        </p:sp>
        <p:sp>
          <p:nvSpPr>
            <p:cNvPr id="52" name="Rectangle 51">
              <a:extLst>
                <a:ext uri="{FF2B5EF4-FFF2-40B4-BE49-F238E27FC236}">
                  <a16:creationId xmlns:a16="http://schemas.microsoft.com/office/drawing/2014/main" id="{826FC2CF-A850-C091-8621-2961FAE150C0}"/>
                </a:ext>
              </a:extLst>
            </p:cNvPr>
            <p:cNvSpPr/>
            <p:nvPr/>
          </p:nvSpPr>
          <p:spPr>
            <a:xfrm>
              <a:off x="2786050" y="2779422"/>
              <a:ext cx="4595810" cy="274631"/>
            </a:xfrm>
            <a:prstGeom prst="rect">
              <a:avLst/>
            </a:prstGeom>
          </p:spPr>
          <p:txBody>
            <a:bodyPr wrap="none">
              <a:spAutoFit/>
            </a:bodyPr>
            <a:lstStyle/>
            <a:p>
              <a:pPr algn="l" rtl="0"/>
              <a:r>
                <a:rPr lang="en-US" b="1" dirty="0" err="1">
                  <a:solidFill>
                    <a:srgbClr val="000099"/>
                  </a:solidFill>
                  <a:latin typeface="Times New Roman" pitchFamily="18" charset="0"/>
                  <a:cs typeface="Times New Roman" pitchFamily="18" charset="0"/>
                </a:rPr>
                <a:t>Method</a:t>
              </a:r>
              <a:r>
                <a:rPr lang="en-US" b="1" baseline="-25000" dirty="0" err="1">
                  <a:solidFill>
                    <a:srgbClr val="000099"/>
                  </a:solidFill>
                  <a:latin typeface="Times New Roman" pitchFamily="18" charset="0"/>
                  <a:cs typeface="Times New Roman" pitchFamily="18" charset="0"/>
                </a:rPr>
                <a:t>n</a:t>
              </a:r>
              <a:r>
                <a:rPr lang="en-US" b="1" dirty="0">
                  <a:solidFill>
                    <a:srgbClr val="000099"/>
                  </a:solidFill>
                  <a:latin typeface="Times New Roman" pitchFamily="18" charset="0"/>
                  <a:cs typeface="Times New Roman" pitchFamily="18" charset="0"/>
                </a:rPr>
                <a:t> name (): return data type or void   ;</a:t>
              </a:r>
            </a:p>
          </p:txBody>
        </p:sp>
      </p:grpSp>
      <p:sp>
        <p:nvSpPr>
          <p:cNvPr id="53" name="Oval 52">
            <a:extLst>
              <a:ext uri="{FF2B5EF4-FFF2-40B4-BE49-F238E27FC236}">
                <a16:creationId xmlns:a16="http://schemas.microsoft.com/office/drawing/2014/main" id="{5CD41980-5C58-02C2-F8E8-8489ACDB8B25}"/>
              </a:ext>
            </a:extLst>
          </p:cNvPr>
          <p:cNvSpPr/>
          <p:nvPr/>
        </p:nvSpPr>
        <p:spPr>
          <a:xfrm>
            <a:off x="4946982" y="2990881"/>
            <a:ext cx="285752" cy="285752"/>
          </a:xfrm>
          <a:prstGeom prst="ellipse">
            <a:avLst/>
          </a:prstGeom>
          <a:solidFill>
            <a:schemeClr val="lt1">
              <a:alpha val="0"/>
            </a:schemeClr>
          </a:solidFill>
          <a:ln>
            <a:solidFill>
              <a:srgbClr val="C0000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4" name="Oval 53">
            <a:extLst>
              <a:ext uri="{FF2B5EF4-FFF2-40B4-BE49-F238E27FC236}">
                <a16:creationId xmlns:a16="http://schemas.microsoft.com/office/drawing/2014/main" id="{8F542151-8723-8DFE-00B4-3042DDFFF33E}"/>
              </a:ext>
            </a:extLst>
          </p:cNvPr>
          <p:cNvSpPr/>
          <p:nvPr/>
        </p:nvSpPr>
        <p:spPr>
          <a:xfrm>
            <a:off x="4935283" y="3279469"/>
            <a:ext cx="285752" cy="285752"/>
          </a:xfrm>
          <a:prstGeom prst="ellipse">
            <a:avLst/>
          </a:prstGeom>
          <a:solidFill>
            <a:schemeClr val="lt1">
              <a:alpha val="0"/>
            </a:schemeClr>
          </a:solidFill>
          <a:ln>
            <a:solidFill>
              <a:srgbClr val="C0000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5" name="Oval 54">
            <a:extLst>
              <a:ext uri="{FF2B5EF4-FFF2-40B4-BE49-F238E27FC236}">
                <a16:creationId xmlns:a16="http://schemas.microsoft.com/office/drawing/2014/main" id="{A8623C2B-E46D-7B3A-7F47-BECA152DAD44}"/>
              </a:ext>
            </a:extLst>
          </p:cNvPr>
          <p:cNvSpPr/>
          <p:nvPr/>
        </p:nvSpPr>
        <p:spPr>
          <a:xfrm>
            <a:off x="4935283" y="3846931"/>
            <a:ext cx="285752" cy="285752"/>
          </a:xfrm>
          <a:prstGeom prst="ellipse">
            <a:avLst/>
          </a:prstGeom>
          <a:solidFill>
            <a:schemeClr val="lt1">
              <a:alpha val="0"/>
            </a:schemeClr>
          </a:solidFill>
          <a:ln>
            <a:solidFill>
              <a:srgbClr val="C0000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3" name="Rectangle 4">
            <a:extLst>
              <a:ext uri="{FF2B5EF4-FFF2-40B4-BE49-F238E27FC236}">
                <a16:creationId xmlns:a16="http://schemas.microsoft.com/office/drawing/2014/main" id="{285AC4B0-0EFD-672A-7339-3A75231FD442}"/>
              </a:ext>
            </a:extLst>
          </p:cNvPr>
          <p:cNvSpPr>
            <a:spLocks noChangeArrowheads="1"/>
          </p:cNvSpPr>
          <p:nvPr/>
        </p:nvSpPr>
        <p:spPr bwMode="auto">
          <a:xfrm>
            <a:off x="2629933" y="6095078"/>
            <a:ext cx="657228" cy="514352"/>
          </a:xfrm>
          <a:prstGeom prst="rect">
            <a:avLst/>
          </a:prstGeom>
          <a:solidFill>
            <a:srgbClr val="FFFFFF"/>
          </a:solidFill>
          <a:ln w="3175">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cxnSp>
        <p:nvCxnSpPr>
          <p:cNvPr id="64" name="Straight Arrow Connector 63">
            <a:extLst>
              <a:ext uri="{FF2B5EF4-FFF2-40B4-BE49-F238E27FC236}">
                <a16:creationId xmlns:a16="http://schemas.microsoft.com/office/drawing/2014/main" id="{7C494956-2CCF-3EAB-8EA8-C19AD4FF8ECF}"/>
              </a:ext>
            </a:extLst>
          </p:cNvPr>
          <p:cNvCxnSpPr>
            <a:cxnSpLocks/>
          </p:cNvCxnSpPr>
          <p:nvPr/>
        </p:nvCxnSpPr>
        <p:spPr>
          <a:xfrm rot="5400000" flipH="1" flipV="1">
            <a:off x="2700577" y="5809326"/>
            <a:ext cx="429422" cy="794"/>
          </a:xfrm>
          <a:prstGeom prst="straightConnector1">
            <a:avLst/>
          </a:prstGeom>
          <a:ln>
            <a:solidFill>
              <a:srgbClr val="80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68761D3-FEAE-1682-8C6F-FFB4D789AEFD}"/>
              </a:ext>
            </a:extLst>
          </p:cNvPr>
          <p:cNvCxnSpPr>
            <a:cxnSpLocks/>
          </p:cNvCxnSpPr>
          <p:nvPr/>
        </p:nvCxnSpPr>
        <p:spPr>
          <a:xfrm rot="16200000" flipV="1">
            <a:off x="2272742" y="5595013"/>
            <a:ext cx="428630" cy="428628"/>
          </a:xfrm>
          <a:prstGeom prst="straightConnector1">
            <a:avLst/>
          </a:prstGeom>
          <a:ln>
            <a:solidFill>
              <a:srgbClr val="80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6" name="Rectangle 4">
            <a:extLst>
              <a:ext uri="{FF2B5EF4-FFF2-40B4-BE49-F238E27FC236}">
                <a16:creationId xmlns:a16="http://schemas.microsoft.com/office/drawing/2014/main" id="{16621DA6-7A45-A5E8-9513-5348AC2DEC29}"/>
              </a:ext>
            </a:extLst>
          </p:cNvPr>
          <p:cNvSpPr>
            <a:spLocks noChangeArrowheads="1"/>
          </p:cNvSpPr>
          <p:nvPr/>
        </p:nvSpPr>
        <p:spPr bwMode="auto">
          <a:xfrm>
            <a:off x="2487057" y="5023508"/>
            <a:ext cx="657228" cy="514352"/>
          </a:xfrm>
          <a:prstGeom prst="rect">
            <a:avLst/>
          </a:prstGeom>
          <a:solidFill>
            <a:srgbClr val="FFFFFF"/>
          </a:solidFill>
          <a:ln w="9525">
            <a:solidFill>
              <a:srgbClr val="000000"/>
            </a:solidFill>
            <a:prstDash val="dash"/>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67" name="Oval 5">
            <a:extLst>
              <a:ext uri="{FF2B5EF4-FFF2-40B4-BE49-F238E27FC236}">
                <a16:creationId xmlns:a16="http://schemas.microsoft.com/office/drawing/2014/main" id="{2AE9868C-FA80-0652-B868-74C5D5FEAFA6}"/>
              </a:ext>
            </a:extLst>
          </p:cNvPr>
          <p:cNvSpPr>
            <a:spLocks noChangeArrowheads="1"/>
          </p:cNvSpPr>
          <p:nvPr/>
        </p:nvSpPr>
        <p:spPr bwMode="auto">
          <a:xfrm>
            <a:off x="1272611" y="5023508"/>
            <a:ext cx="1000132" cy="642942"/>
          </a:xfrm>
          <a:prstGeom prst="ellipse">
            <a:avLst/>
          </a:prstGeom>
          <a:solidFill>
            <a:srgbClr val="FFFFFF"/>
          </a:solid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TextBox 69">
            <a:extLst>
              <a:ext uri="{FF2B5EF4-FFF2-40B4-BE49-F238E27FC236}">
                <a16:creationId xmlns:a16="http://schemas.microsoft.com/office/drawing/2014/main" id="{3673021D-050D-C1CC-3082-240B4BDBA61F}"/>
              </a:ext>
            </a:extLst>
          </p:cNvPr>
          <p:cNvSpPr txBox="1"/>
          <p:nvPr/>
        </p:nvSpPr>
        <p:spPr>
          <a:xfrm>
            <a:off x="2356927" y="5123464"/>
            <a:ext cx="864339" cy="646331"/>
          </a:xfrm>
          <a:prstGeom prst="rect">
            <a:avLst/>
          </a:prstGeom>
          <a:noFill/>
          <a:ln>
            <a:noFill/>
          </a:ln>
        </p:spPr>
        <p:txBody>
          <a:bodyPr wrap="none" rtlCol="0">
            <a:spAutoFit/>
          </a:bodyPr>
          <a:lstStyle/>
          <a:p>
            <a:pPr algn="ctr"/>
            <a:r>
              <a:rPr lang="en-GB" dirty="0"/>
              <a:t>Super </a:t>
            </a:r>
          </a:p>
          <a:p>
            <a:pPr algn="ctr"/>
            <a:r>
              <a:rPr lang="en-GB" dirty="0"/>
              <a:t>Class</a:t>
            </a:r>
            <a:endParaRPr lang="en-US" dirty="0"/>
          </a:p>
        </p:txBody>
      </p:sp>
      <p:sp>
        <p:nvSpPr>
          <p:cNvPr id="71" name="TextBox 70">
            <a:extLst>
              <a:ext uri="{FF2B5EF4-FFF2-40B4-BE49-F238E27FC236}">
                <a16:creationId xmlns:a16="http://schemas.microsoft.com/office/drawing/2014/main" id="{A05B9A04-2F8F-A012-2E94-0AEE0157D7DA}"/>
              </a:ext>
            </a:extLst>
          </p:cNvPr>
          <p:cNvSpPr txBox="1"/>
          <p:nvPr/>
        </p:nvSpPr>
        <p:spPr>
          <a:xfrm>
            <a:off x="2553894" y="6166516"/>
            <a:ext cx="761748" cy="646331"/>
          </a:xfrm>
          <a:prstGeom prst="rect">
            <a:avLst/>
          </a:prstGeom>
          <a:noFill/>
          <a:ln>
            <a:noFill/>
          </a:ln>
        </p:spPr>
        <p:txBody>
          <a:bodyPr wrap="none" rtlCol="0">
            <a:spAutoFit/>
          </a:bodyPr>
          <a:lstStyle/>
          <a:p>
            <a:pPr algn="ctr"/>
            <a:r>
              <a:rPr lang="en-GB" dirty="0"/>
              <a:t>Sub </a:t>
            </a:r>
          </a:p>
          <a:p>
            <a:pPr algn="ctr"/>
            <a:r>
              <a:rPr lang="en-GB" dirty="0"/>
              <a:t>Class</a:t>
            </a:r>
            <a:endParaRPr lang="en-US" dirty="0"/>
          </a:p>
        </p:txBody>
      </p:sp>
      <p:sp>
        <p:nvSpPr>
          <p:cNvPr id="72" name="TextBox 71">
            <a:extLst>
              <a:ext uri="{FF2B5EF4-FFF2-40B4-BE49-F238E27FC236}">
                <a16:creationId xmlns:a16="http://schemas.microsoft.com/office/drawing/2014/main" id="{38E3715F-0659-A1C7-1A54-37B508E1561C}"/>
              </a:ext>
            </a:extLst>
          </p:cNvPr>
          <p:cNvSpPr txBox="1"/>
          <p:nvPr/>
        </p:nvSpPr>
        <p:spPr>
          <a:xfrm>
            <a:off x="1187886" y="5237822"/>
            <a:ext cx="1274709" cy="369332"/>
          </a:xfrm>
          <a:prstGeom prst="rect">
            <a:avLst/>
          </a:prstGeom>
          <a:noFill/>
          <a:ln>
            <a:noFill/>
          </a:ln>
        </p:spPr>
        <p:txBody>
          <a:bodyPr wrap="none" rtlCol="0">
            <a:spAutoFit/>
          </a:bodyPr>
          <a:lstStyle/>
          <a:p>
            <a:pPr algn="ctr"/>
            <a:r>
              <a:rPr lang="en-GB" dirty="0"/>
              <a:t>Interface 1</a:t>
            </a:r>
            <a:endParaRPr lang="en-US" dirty="0"/>
          </a:p>
        </p:txBody>
      </p:sp>
      <p:cxnSp>
        <p:nvCxnSpPr>
          <p:cNvPr id="73" name="Straight Arrow Connector 72">
            <a:extLst>
              <a:ext uri="{FF2B5EF4-FFF2-40B4-BE49-F238E27FC236}">
                <a16:creationId xmlns:a16="http://schemas.microsoft.com/office/drawing/2014/main" id="{82E13AA8-486E-1AB6-EAB3-E065C8E108A8}"/>
              </a:ext>
            </a:extLst>
          </p:cNvPr>
          <p:cNvCxnSpPr>
            <a:cxnSpLocks/>
          </p:cNvCxnSpPr>
          <p:nvPr/>
        </p:nvCxnSpPr>
        <p:spPr>
          <a:xfrm flipV="1">
            <a:off x="3272875" y="5666450"/>
            <a:ext cx="500066" cy="428630"/>
          </a:xfrm>
          <a:prstGeom prst="straightConnector1">
            <a:avLst/>
          </a:prstGeom>
          <a:ln>
            <a:solidFill>
              <a:srgbClr val="80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4" name="Oval 5">
            <a:extLst>
              <a:ext uri="{FF2B5EF4-FFF2-40B4-BE49-F238E27FC236}">
                <a16:creationId xmlns:a16="http://schemas.microsoft.com/office/drawing/2014/main" id="{A994E817-9E92-0D36-2FF8-07E83D079109}"/>
              </a:ext>
            </a:extLst>
          </p:cNvPr>
          <p:cNvSpPr>
            <a:spLocks noChangeArrowheads="1"/>
          </p:cNvSpPr>
          <p:nvPr/>
        </p:nvSpPr>
        <p:spPr bwMode="auto">
          <a:xfrm>
            <a:off x="3701503" y="5166384"/>
            <a:ext cx="1000132" cy="642942"/>
          </a:xfrm>
          <a:prstGeom prst="ellipse">
            <a:avLst/>
          </a:prstGeom>
          <a:solidFill>
            <a:srgbClr val="FFFFFF"/>
          </a:solid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US"/>
          </a:p>
        </p:txBody>
      </p:sp>
      <p:sp>
        <p:nvSpPr>
          <p:cNvPr id="75" name="TextBox 74">
            <a:extLst>
              <a:ext uri="{FF2B5EF4-FFF2-40B4-BE49-F238E27FC236}">
                <a16:creationId xmlns:a16="http://schemas.microsoft.com/office/drawing/2014/main" id="{720771CE-A8F6-F01D-D9F9-457343AD25CB}"/>
              </a:ext>
            </a:extLst>
          </p:cNvPr>
          <p:cNvSpPr txBox="1"/>
          <p:nvPr/>
        </p:nvSpPr>
        <p:spPr>
          <a:xfrm>
            <a:off x="3594311" y="5348791"/>
            <a:ext cx="1274708" cy="369332"/>
          </a:xfrm>
          <a:prstGeom prst="rect">
            <a:avLst/>
          </a:prstGeom>
          <a:noFill/>
          <a:ln>
            <a:noFill/>
          </a:ln>
        </p:spPr>
        <p:txBody>
          <a:bodyPr wrap="none" rtlCol="0">
            <a:spAutoFit/>
          </a:bodyPr>
          <a:lstStyle/>
          <a:p>
            <a:pPr algn="ctr"/>
            <a:r>
              <a:rPr lang="en-GB" dirty="0"/>
              <a:t>Interface 2</a:t>
            </a:r>
            <a:endParaRPr lang="en-US" dirty="0"/>
          </a:p>
        </p:txBody>
      </p:sp>
      <p:sp>
        <p:nvSpPr>
          <p:cNvPr id="76" name="Rectangle 75">
            <a:extLst>
              <a:ext uri="{FF2B5EF4-FFF2-40B4-BE49-F238E27FC236}">
                <a16:creationId xmlns:a16="http://schemas.microsoft.com/office/drawing/2014/main" id="{6D0C5701-3807-EF11-E9E1-72B7004DE1A8}"/>
              </a:ext>
            </a:extLst>
          </p:cNvPr>
          <p:cNvSpPr/>
          <p:nvPr/>
        </p:nvSpPr>
        <p:spPr>
          <a:xfrm>
            <a:off x="1201173" y="4952070"/>
            <a:ext cx="3643338" cy="1714512"/>
          </a:xfrm>
          <a:prstGeom prst="rect">
            <a:avLst/>
          </a:prstGeom>
          <a:solidFill>
            <a:schemeClr val="accent1">
              <a:alpha val="33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Arrow Connector 76">
            <a:extLst>
              <a:ext uri="{FF2B5EF4-FFF2-40B4-BE49-F238E27FC236}">
                <a16:creationId xmlns:a16="http://schemas.microsoft.com/office/drawing/2014/main" id="{D5DB74CD-9C4C-C847-6E00-7599D12354FE}"/>
              </a:ext>
            </a:extLst>
          </p:cNvPr>
          <p:cNvCxnSpPr>
            <a:cxnSpLocks/>
          </p:cNvCxnSpPr>
          <p:nvPr/>
        </p:nvCxnSpPr>
        <p:spPr>
          <a:xfrm rot="5400000" flipH="1" flipV="1">
            <a:off x="2737090" y="5059227"/>
            <a:ext cx="1428760" cy="500066"/>
          </a:xfrm>
          <a:prstGeom prst="straightConnector1">
            <a:avLst/>
          </a:prstGeom>
          <a:ln w="38100">
            <a:solidFill>
              <a:srgbClr val="80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0E0CAC6-CA12-407B-996F-D47FCD1610D1}"/>
              </a:ext>
            </a:extLst>
          </p:cNvPr>
          <p:cNvSpPr txBox="1"/>
          <p:nvPr/>
        </p:nvSpPr>
        <p:spPr>
          <a:xfrm>
            <a:off x="6473599" y="1797333"/>
            <a:ext cx="5409127" cy="1477328"/>
          </a:xfrm>
          <a:prstGeom prst="rect">
            <a:avLst/>
          </a:prstGeom>
          <a:noFill/>
          <a:ln w="28575">
            <a:solidFill>
              <a:srgbClr val="FF0000"/>
            </a:solidFill>
            <a:prstDash val="dash"/>
          </a:ln>
        </p:spPr>
        <p:txBody>
          <a:bodyPr wrap="square" rtlCol="0">
            <a:spAutoFit/>
          </a:bodyPr>
          <a:lstStyle/>
          <a:p>
            <a:r>
              <a:rPr lang="en-US" dirty="0"/>
              <a:t>Regardless of whether a programmer specifically writes a static final, any data field added to an interface will be regarded as a static final; therefore, the value of these data fields should be provided directly in the declaration statement.</a:t>
            </a:r>
          </a:p>
        </p:txBody>
      </p:sp>
      <p:sp>
        <p:nvSpPr>
          <p:cNvPr id="42" name="TextBox 41">
            <a:extLst>
              <a:ext uri="{FF2B5EF4-FFF2-40B4-BE49-F238E27FC236}">
                <a16:creationId xmlns:a16="http://schemas.microsoft.com/office/drawing/2014/main" id="{35E145AA-7957-41AF-9365-6FEAD5462780}"/>
              </a:ext>
            </a:extLst>
          </p:cNvPr>
          <p:cNvSpPr txBox="1"/>
          <p:nvPr/>
        </p:nvSpPr>
        <p:spPr>
          <a:xfrm>
            <a:off x="6467878" y="3454246"/>
            <a:ext cx="5409127" cy="1754326"/>
          </a:xfrm>
          <a:prstGeom prst="rect">
            <a:avLst/>
          </a:prstGeom>
          <a:noFill/>
          <a:ln w="28575">
            <a:solidFill>
              <a:srgbClr val="0070C0"/>
            </a:solidFill>
            <a:prstDash val="dash"/>
          </a:ln>
        </p:spPr>
        <p:txBody>
          <a:bodyPr wrap="square" rtlCol="0">
            <a:spAutoFit/>
          </a:bodyPr>
          <a:lstStyle/>
          <a:p>
            <a:r>
              <a:rPr lang="en-US" dirty="0"/>
              <a:t>The special thing about the abstract class is that it has only abstract methods (either with or without adding the “abstract” keyword at the implementation phase) by adding a semicolon at the end of each method declaration during the design stage.</a:t>
            </a:r>
            <a:endParaRPr lang="en-US" dirty="0">
              <a:effectLst/>
            </a:endParaRPr>
          </a:p>
        </p:txBody>
      </p:sp>
      <p:sp>
        <p:nvSpPr>
          <p:cNvPr id="44" name="TextBox 43">
            <a:extLst>
              <a:ext uri="{FF2B5EF4-FFF2-40B4-BE49-F238E27FC236}">
                <a16:creationId xmlns:a16="http://schemas.microsoft.com/office/drawing/2014/main" id="{638A2913-E33C-40F5-85D4-D7B2EFFB44FD}"/>
              </a:ext>
            </a:extLst>
          </p:cNvPr>
          <p:cNvSpPr txBox="1"/>
          <p:nvPr/>
        </p:nvSpPr>
        <p:spPr>
          <a:xfrm>
            <a:off x="6467877" y="5317846"/>
            <a:ext cx="5409127" cy="923330"/>
          </a:xfrm>
          <a:prstGeom prst="rect">
            <a:avLst/>
          </a:prstGeom>
          <a:noFill/>
          <a:ln w="28575">
            <a:solidFill>
              <a:srgbClr val="92D050"/>
            </a:solidFill>
            <a:prstDash val="dash"/>
          </a:ln>
        </p:spPr>
        <p:txBody>
          <a:bodyPr wrap="square" rtlCol="0">
            <a:spAutoFit/>
          </a:bodyPr>
          <a:lstStyle/>
          <a:p>
            <a:r>
              <a:rPr lang="en-US" b="1" dirty="0"/>
              <a:t>Remember that </a:t>
            </a:r>
            <a:r>
              <a:rPr lang="en-US" dirty="0"/>
              <a:t>a subclass can extends only one concrete class or an abstract class, but it can implements any number of interfaces..</a:t>
            </a:r>
            <a:endParaRPr lang="en-US" dirty="0">
              <a:effectLst/>
            </a:endParaRPr>
          </a:p>
        </p:txBody>
      </p:sp>
    </p:spTree>
    <p:extLst>
      <p:ext uri="{BB962C8B-B14F-4D97-AF65-F5344CB8AC3E}">
        <p14:creationId xmlns:p14="http://schemas.microsoft.com/office/powerpoint/2010/main" val="222680742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4860C-F076-CBC4-3545-ABDAE8223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E3381-F3B1-8258-2476-79DC922616A0}"/>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a:t>
            </a:r>
            <a:endParaRPr lang="en-US" dirty="0"/>
          </a:p>
        </p:txBody>
      </p:sp>
      <p:sp>
        <p:nvSpPr>
          <p:cNvPr id="4" name="Footer Placeholder 3">
            <a:extLst>
              <a:ext uri="{FF2B5EF4-FFF2-40B4-BE49-F238E27FC236}">
                <a16:creationId xmlns:a16="http://schemas.microsoft.com/office/drawing/2014/main" id="{8C89530E-6FAD-6145-74B1-7AD5A36B87E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69EAC1C5-F5E2-5E13-30C8-1A81C54BA3F8}"/>
              </a:ext>
            </a:extLst>
          </p:cNvPr>
          <p:cNvSpPr>
            <a:spLocks noGrp="1"/>
          </p:cNvSpPr>
          <p:nvPr>
            <p:ph idx="1"/>
          </p:nvPr>
        </p:nvSpPr>
        <p:spPr/>
        <p:txBody>
          <a:bodyPr>
            <a:normAutofit/>
          </a:bodyPr>
          <a:lstStyle/>
          <a:p>
            <a:pPr algn="just" rtl="0">
              <a:lnSpc>
                <a:spcPct val="150000"/>
              </a:lnSpc>
            </a:pPr>
            <a:r>
              <a:rPr lang="en-US" sz="2400" b="1" dirty="0">
                <a:solidFill>
                  <a:schemeClr val="bg2">
                    <a:lumMod val="75000"/>
                  </a:schemeClr>
                </a:solidFill>
                <a:latin typeface="+mj-lt"/>
                <a:cs typeface="Times New Roman" pitchFamily="18" charset="0"/>
              </a:rPr>
              <a:t>Example</a:t>
            </a:r>
            <a:r>
              <a:rPr lang="en-US" sz="2400" dirty="0">
                <a:latin typeface="+mj-lt"/>
                <a:cs typeface="Times New Roman" pitchFamily="18" charset="0"/>
              </a:rPr>
              <a:t>: Going back to the company that has two types of employees, the first type gets a monthly salary (</a:t>
            </a:r>
            <a:r>
              <a:rPr lang="en-US" sz="2400" b="1" dirty="0" err="1">
                <a:solidFill>
                  <a:schemeClr val="bg2">
                    <a:lumMod val="75000"/>
                  </a:schemeClr>
                </a:solidFill>
                <a:latin typeface="+mj-lt"/>
                <a:cs typeface="Times New Roman" pitchFamily="18" charset="0"/>
              </a:rPr>
              <a:t>SEmp</a:t>
            </a:r>
            <a:r>
              <a:rPr lang="en-US" sz="2400" dirty="0">
                <a:latin typeface="+mj-lt"/>
                <a:cs typeface="Times New Roman" pitchFamily="18" charset="0"/>
              </a:rPr>
              <a:t>), and the other gets an hourly-based salary (</a:t>
            </a:r>
            <a:r>
              <a:rPr lang="en-US" sz="2400" b="1" dirty="0" err="1">
                <a:solidFill>
                  <a:schemeClr val="bg2">
                    <a:lumMod val="75000"/>
                  </a:schemeClr>
                </a:solidFill>
                <a:latin typeface="+mj-lt"/>
                <a:cs typeface="Times New Roman" pitchFamily="18" charset="0"/>
              </a:rPr>
              <a:t>HEmp</a:t>
            </a:r>
            <a:r>
              <a:rPr lang="en-US" sz="2400" dirty="0">
                <a:latin typeface="+mj-lt"/>
                <a:cs typeface="Times New Roman" pitchFamily="18" charset="0"/>
              </a:rPr>
              <a:t>). This company also employs (</a:t>
            </a:r>
            <a:r>
              <a:rPr lang="en-US" sz="2400" b="1" dirty="0">
                <a:solidFill>
                  <a:schemeClr val="bg2">
                    <a:lumMod val="75000"/>
                  </a:schemeClr>
                </a:solidFill>
                <a:latin typeface="+mj-lt"/>
                <a:cs typeface="Times New Roman" pitchFamily="18" charset="0"/>
              </a:rPr>
              <a:t>Trainees</a:t>
            </a:r>
            <a:r>
              <a:rPr lang="en-US" sz="2400" dirty="0">
                <a:latin typeface="+mj-lt"/>
                <a:cs typeface="Times New Roman" pitchFamily="18" charset="0"/>
              </a:rPr>
              <a:t>) who work for experience only and receive no pay from the employer.</a:t>
            </a:r>
          </a:p>
          <a:p>
            <a:pPr marL="0" marR="0" indent="0">
              <a:lnSpc>
                <a:spcPct val="115000"/>
              </a:lnSpc>
              <a:spcBef>
                <a:spcPts val="0"/>
              </a:spcBef>
              <a:spcAft>
                <a:spcPts val="0"/>
              </a:spcAft>
              <a:buNone/>
            </a:pPr>
            <a:endParaRPr lang="en-US" sz="2000" dirty="0">
              <a:effectLst/>
              <a:latin typeface="+mj-lt"/>
              <a:ea typeface="Times New Roman" panose="02020603050405020304" pitchFamily="18" charset="0"/>
            </a:endParaRPr>
          </a:p>
        </p:txBody>
      </p:sp>
    </p:spTree>
    <p:extLst>
      <p:ext uri="{BB962C8B-B14F-4D97-AF65-F5344CB8AC3E}">
        <p14:creationId xmlns:p14="http://schemas.microsoft.com/office/powerpoint/2010/main" val="32378013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8918A-A133-F390-CD36-4F4E50F9D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37667-791D-C0C1-FB18-8EFCAF1EC89B}"/>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 (Design Phase)</a:t>
            </a:r>
            <a:endParaRPr lang="en-US" dirty="0"/>
          </a:p>
        </p:txBody>
      </p:sp>
      <p:sp>
        <p:nvSpPr>
          <p:cNvPr id="4" name="Footer Placeholder 3">
            <a:extLst>
              <a:ext uri="{FF2B5EF4-FFF2-40B4-BE49-F238E27FC236}">
                <a16:creationId xmlns:a16="http://schemas.microsoft.com/office/drawing/2014/main" id="{0E987185-B238-0280-812B-971A0185412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7D7AAA97-3A4D-7B84-F125-C1151C308974}"/>
              </a:ext>
            </a:extLst>
          </p:cNvPr>
          <p:cNvGrpSpPr/>
          <p:nvPr/>
        </p:nvGrpSpPr>
        <p:grpSpPr>
          <a:xfrm>
            <a:off x="1941425" y="1922026"/>
            <a:ext cx="7072362" cy="3941174"/>
            <a:chOff x="571472" y="1785926"/>
            <a:chExt cx="7072362" cy="3941174"/>
          </a:xfrm>
        </p:grpSpPr>
        <p:grpSp>
          <p:nvGrpSpPr>
            <p:cNvPr id="7" name="Group 56">
              <a:extLst>
                <a:ext uri="{FF2B5EF4-FFF2-40B4-BE49-F238E27FC236}">
                  <a16:creationId xmlns:a16="http://schemas.microsoft.com/office/drawing/2014/main" id="{31F53D60-5993-002A-A494-447CCF474821}"/>
                </a:ext>
              </a:extLst>
            </p:cNvPr>
            <p:cNvGrpSpPr/>
            <p:nvPr/>
          </p:nvGrpSpPr>
          <p:grpSpPr>
            <a:xfrm>
              <a:off x="1643044" y="1785926"/>
              <a:ext cx="3702623" cy="1643074"/>
              <a:chOff x="2496894" y="1214422"/>
              <a:chExt cx="2286018" cy="1168214"/>
            </a:xfrm>
          </p:grpSpPr>
          <p:sp>
            <p:nvSpPr>
              <p:cNvPr id="37" name="Rectangle 9">
                <a:extLst>
                  <a:ext uri="{FF2B5EF4-FFF2-40B4-BE49-F238E27FC236}">
                    <a16:creationId xmlns:a16="http://schemas.microsoft.com/office/drawing/2014/main" id="{78B34D20-88DB-873B-EF1F-C5C740B70158}"/>
                  </a:ext>
                </a:extLst>
              </p:cNvPr>
              <p:cNvSpPr>
                <a:spLocks noChangeArrowheads="1"/>
              </p:cNvSpPr>
              <p:nvPr/>
            </p:nvSpPr>
            <p:spPr bwMode="auto">
              <a:xfrm>
                <a:off x="2505201" y="1214422"/>
                <a:ext cx="2206272" cy="116821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1300" b="1" dirty="0" err="1">
                    <a:solidFill>
                      <a:srgbClr val="C00000"/>
                    </a:solidFill>
                    <a:latin typeface="+mj-lt"/>
                    <a:ea typeface="Arial" pitchFamily="34" charset="0"/>
                    <a:cs typeface="Times New Roman" pitchFamily="18" charset="0"/>
                  </a:rPr>
                  <a:t>Emp</a:t>
                </a:r>
                <a:endParaRPr lang="en-US" sz="1300" b="1" dirty="0">
                  <a:solidFill>
                    <a:srgbClr val="C00000"/>
                  </a:solidFill>
                  <a:latin typeface="+mj-lt"/>
                  <a:ea typeface="Arial" pitchFamily="34" charset="0"/>
                  <a:cs typeface="Times New Roman" pitchFamily="18" charset="0"/>
                </a:endParaRPr>
              </a:p>
              <a:p>
                <a:pPr algn="ctr" rtl="0" fontAlgn="base">
                  <a:spcBef>
                    <a:spcPct val="0"/>
                  </a:spcBef>
                  <a:spcAft>
                    <a:spcPts val="200"/>
                  </a:spcAft>
                </a:pPr>
                <a:endParaRPr lang="en-US" sz="500" b="1" dirty="0">
                  <a:solidFill>
                    <a:srgbClr val="C00000"/>
                  </a:solidFill>
                  <a:latin typeface="+mj-lt"/>
                  <a:ea typeface="Arial" pitchFamily="34" charset="0"/>
                  <a:cs typeface="Times New Roman" pitchFamily="18" charset="0"/>
                </a:endParaRPr>
              </a:p>
              <a:p>
                <a:pPr lvl="0" algn="l" rtl="0"/>
                <a:r>
                  <a:rPr lang="en-US" sz="1400" dirty="0">
                    <a:latin typeface="+mj-lt"/>
                  </a:rPr>
                  <a:t>+ name: String </a:t>
                </a:r>
              </a:p>
              <a:p>
                <a:pPr lvl="0" algn="l" rtl="0"/>
                <a:r>
                  <a:rPr lang="en-US" sz="1400" dirty="0">
                    <a:latin typeface="+mj-lt"/>
                  </a:rPr>
                  <a:t>+ job: String</a:t>
                </a:r>
              </a:p>
              <a:p>
                <a:pPr lvl="0" algn="l" rtl="0"/>
                <a:r>
                  <a:rPr lang="en-GB" sz="1400" dirty="0">
                    <a:latin typeface="+mj-lt"/>
                  </a:rPr>
                  <a:t>+ </a:t>
                </a:r>
                <a:r>
                  <a:rPr lang="en-US" sz="1400" dirty="0" err="1">
                    <a:latin typeface="+mj-lt"/>
                  </a:rPr>
                  <a:t>startYear</a:t>
                </a:r>
                <a:r>
                  <a:rPr lang="en-US" sz="1400" dirty="0">
                    <a:latin typeface="+mj-lt"/>
                  </a:rPr>
                  <a:t>: </a:t>
                </a:r>
                <a:r>
                  <a:rPr lang="en-US" sz="1400" dirty="0" err="1">
                    <a:latin typeface="+mj-lt"/>
                  </a:rPr>
                  <a:t>int</a:t>
                </a:r>
                <a:endParaRPr lang="en-US" sz="1400" dirty="0">
                  <a:latin typeface="+mj-lt"/>
                </a:endParaRPr>
              </a:p>
              <a:p>
                <a:pPr lvl="0" algn="l" rtl="0"/>
                <a:endParaRPr lang="en-US" sz="1400" dirty="0">
                  <a:latin typeface="+mj-lt"/>
                </a:endParaRPr>
              </a:p>
              <a:p>
                <a:pPr marL="0" marR="0" lvl="0" indent="0" algn="l" defTabSz="914400" rtl="0" eaLnBrk="1" fontAlgn="base" latinLnBrk="0" hangingPunct="1">
                  <a:spcBef>
                    <a:spcPct val="0"/>
                  </a:spcBef>
                  <a:spcAft>
                    <a:spcPts val="200"/>
                  </a:spcAft>
                  <a:buClrTx/>
                  <a:buSzTx/>
                  <a:buFontTx/>
                  <a:buNone/>
                  <a:tabLst/>
                </a:pPr>
                <a:endParaRPr lang="en-US" sz="1200" dirty="0">
                  <a:latin typeface="+mj-lt"/>
                </a:endParaRPr>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mj-lt"/>
                  <a:ea typeface="Arial" pitchFamily="34" charset="0"/>
                  <a:cs typeface="Arial" pitchFamily="34" charset="0"/>
                </a:endParaRPr>
              </a:p>
            </p:txBody>
          </p:sp>
          <p:cxnSp>
            <p:nvCxnSpPr>
              <p:cNvPr id="38" name="AutoShape 11">
                <a:extLst>
                  <a:ext uri="{FF2B5EF4-FFF2-40B4-BE49-F238E27FC236}">
                    <a16:creationId xmlns:a16="http://schemas.microsoft.com/office/drawing/2014/main" id="{A435BD1E-8AFC-B64C-6873-150F9A96941B}"/>
                  </a:ext>
                </a:extLst>
              </p:cNvPr>
              <p:cNvCxnSpPr>
                <a:cxnSpLocks noChangeShapeType="1"/>
              </p:cNvCxnSpPr>
              <p:nvPr/>
            </p:nvCxnSpPr>
            <p:spPr bwMode="auto">
              <a:xfrm>
                <a:off x="2505202" y="1408996"/>
                <a:ext cx="2206272" cy="1588"/>
              </a:xfrm>
              <a:prstGeom prst="straightConnector1">
                <a:avLst/>
              </a:prstGeom>
              <a:noFill/>
              <a:ln w="9525">
                <a:solidFill>
                  <a:srgbClr val="000000"/>
                </a:solidFill>
                <a:round/>
                <a:headEnd/>
                <a:tailEnd/>
              </a:ln>
            </p:spPr>
          </p:cxnSp>
          <p:cxnSp>
            <p:nvCxnSpPr>
              <p:cNvPr id="39" name="AutoShape 11">
                <a:extLst>
                  <a:ext uri="{FF2B5EF4-FFF2-40B4-BE49-F238E27FC236}">
                    <a16:creationId xmlns:a16="http://schemas.microsoft.com/office/drawing/2014/main" id="{62C04E77-B3D5-584C-404B-D4AA2396BE65}"/>
                  </a:ext>
                </a:extLst>
              </p:cNvPr>
              <p:cNvCxnSpPr>
                <a:cxnSpLocks noChangeShapeType="1"/>
              </p:cNvCxnSpPr>
              <p:nvPr/>
            </p:nvCxnSpPr>
            <p:spPr bwMode="auto">
              <a:xfrm>
                <a:off x="2496894" y="1974712"/>
                <a:ext cx="2214578" cy="1588"/>
              </a:xfrm>
              <a:prstGeom prst="straightConnector1">
                <a:avLst/>
              </a:prstGeom>
              <a:noFill/>
              <a:ln w="9525">
                <a:solidFill>
                  <a:srgbClr val="000000"/>
                </a:solidFill>
                <a:round/>
                <a:headEnd/>
                <a:tailEnd/>
              </a:ln>
            </p:spPr>
          </p:cxnSp>
          <p:sp>
            <p:nvSpPr>
              <p:cNvPr id="40" name="Rectangle 39">
                <a:extLst>
                  <a:ext uri="{FF2B5EF4-FFF2-40B4-BE49-F238E27FC236}">
                    <a16:creationId xmlns:a16="http://schemas.microsoft.com/office/drawing/2014/main" id="{0590BC55-B4AC-5A56-3211-3742EBC87E11}"/>
                  </a:ext>
                </a:extLst>
              </p:cNvPr>
              <p:cNvSpPr/>
              <p:nvPr/>
            </p:nvSpPr>
            <p:spPr>
              <a:xfrm>
                <a:off x="2496895" y="1987709"/>
                <a:ext cx="2286017" cy="350123"/>
              </a:xfrm>
              <a:prstGeom prst="rect">
                <a:avLst/>
              </a:prstGeom>
            </p:spPr>
            <p:txBody>
              <a:bodyPr wrap="square">
                <a:spAutoFit/>
              </a:bodyPr>
              <a:lstStyle/>
              <a:p>
                <a:pPr algn="l" rtl="0"/>
                <a:r>
                  <a:rPr lang="en-US" sz="1300" dirty="0">
                    <a:latin typeface="+mj-lt"/>
                    <a:cs typeface="Times New Roman" pitchFamily="18" charset="0"/>
                  </a:rPr>
                  <a:t>+ </a:t>
                </a:r>
                <a:r>
                  <a:rPr lang="en-US" sz="1300" dirty="0" err="1">
                    <a:latin typeface="+mj-lt"/>
                    <a:cs typeface="Times New Roman" pitchFamily="18" charset="0"/>
                  </a:rPr>
                  <a:t>calYearServices</a:t>
                </a:r>
                <a:r>
                  <a:rPr lang="en-US" sz="1300" dirty="0">
                    <a:latin typeface="+mj-lt"/>
                    <a:cs typeface="Times New Roman" pitchFamily="18" charset="0"/>
                  </a:rPr>
                  <a:t> (</a:t>
                </a:r>
                <a:r>
                  <a:rPr lang="en-US" sz="1300" dirty="0" err="1">
                    <a:latin typeface="+mj-lt"/>
                    <a:cs typeface="Times New Roman" pitchFamily="18" charset="0"/>
                  </a:rPr>
                  <a:t>int</a:t>
                </a:r>
                <a:r>
                  <a:rPr lang="en-US" sz="1300" dirty="0">
                    <a:latin typeface="+mj-lt"/>
                    <a:cs typeface="Times New Roman" pitchFamily="18" charset="0"/>
                  </a:rPr>
                  <a:t> </a:t>
                </a:r>
                <a:r>
                  <a:rPr lang="en-US" sz="1300" dirty="0" err="1">
                    <a:latin typeface="+mj-lt"/>
                    <a:cs typeface="Times New Roman" pitchFamily="18" charset="0"/>
                  </a:rPr>
                  <a:t>currentYear</a:t>
                </a:r>
                <a:r>
                  <a:rPr lang="en-US" sz="1300" dirty="0">
                    <a:latin typeface="+mj-lt"/>
                    <a:cs typeface="Times New Roman" pitchFamily="18" charset="0"/>
                  </a:rPr>
                  <a:t>): </a:t>
                </a:r>
                <a:r>
                  <a:rPr lang="en-US" sz="1300" dirty="0" err="1">
                    <a:latin typeface="+mj-lt"/>
                    <a:cs typeface="Times New Roman" pitchFamily="18" charset="0"/>
                  </a:rPr>
                  <a:t>int</a:t>
                </a:r>
                <a:endParaRPr lang="en-US" sz="1300" dirty="0">
                  <a:latin typeface="+mj-lt"/>
                  <a:cs typeface="Times New Roman" pitchFamily="18" charset="0"/>
                </a:endParaRPr>
              </a:p>
              <a:p>
                <a:pPr algn="l" rtl="0"/>
                <a:r>
                  <a:rPr lang="en-US" sz="1300" dirty="0">
                    <a:latin typeface="+mj-lt"/>
                    <a:cs typeface="Times New Roman" pitchFamily="18" charset="0"/>
                  </a:rPr>
                  <a:t>+ </a:t>
                </a:r>
                <a:r>
                  <a:rPr lang="en-US" sz="1300" dirty="0" err="1">
                    <a:latin typeface="+mj-lt"/>
                    <a:cs typeface="Times New Roman" pitchFamily="18" charset="0"/>
                  </a:rPr>
                  <a:t>toString</a:t>
                </a:r>
                <a:r>
                  <a:rPr lang="en-US" sz="1300" dirty="0">
                    <a:latin typeface="+mj-lt"/>
                    <a:cs typeface="Times New Roman" pitchFamily="18" charset="0"/>
                  </a:rPr>
                  <a:t>(): String</a:t>
                </a:r>
              </a:p>
            </p:txBody>
          </p:sp>
        </p:grpSp>
        <p:grpSp>
          <p:nvGrpSpPr>
            <p:cNvPr id="8" name="Group 56">
              <a:extLst>
                <a:ext uri="{FF2B5EF4-FFF2-40B4-BE49-F238E27FC236}">
                  <a16:creationId xmlns:a16="http://schemas.microsoft.com/office/drawing/2014/main" id="{9757A4B0-446D-C98C-4FC9-7864EB693B26}"/>
                </a:ext>
              </a:extLst>
            </p:cNvPr>
            <p:cNvGrpSpPr/>
            <p:nvPr/>
          </p:nvGrpSpPr>
          <p:grpSpPr>
            <a:xfrm>
              <a:off x="2500304" y="4643447"/>
              <a:ext cx="1939469" cy="1071570"/>
              <a:chOff x="3857620" y="1214420"/>
              <a:chExt cx="1197438" cy="761878"/>
            </a:xfrm>
          </p:grpSpPr>
          <p:sp>
            <p:nvSpPr>
              <p:cNvPr id="33" name="Rectangle 9">
                <a:extLst>
                  <a:ext uri="{FF2B5EF4-FFF2-40B4-BE49-F238E27FC236}">
                    <a16:creationId xmlns:a16="http://schemas.microsoft.com/office/drawing/2014/main" id="{2BDEFC58-BEAB-00E1-6559-1BBD70B35CEC}"/>
                  </a:ext>
                </a:extLst>
              </p:cNvPr>
              <p:cNvSpPr>
                <a:spLocks noChangeArrowheads="1"/>
              </p:cNvSpPr>
              <p:nvPr/>
            </p:nvSpPr>
            <p:spPr bwMode="auto">
              <a:xfrm>
                <a:off x="3865927" y="1214420"/>
                <a:ext cx="1080274" cy="761878"/>
              </a:xfrm>
              <a:prstGeom prst="rect">
                <a:avLst/>
              </a:prstGeom>
              <a:solidFill>
                <a:srgbClr val="FFFFFF"/>
              </a:solidFill>
              <a:ln w="9525">
                <a:solidFill>
                  <a:srgbClr val="FF0000"/>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1300" b="1" dirty="0" err="1">
                    <a:solidFill>
                      <a:srgbClr val="C00000"/>
                    </a:solidFill>
                    <a:latin typeface="+mj-lt"/>
                    <a:ea typeface="Arial" pitchFamily="34" charset="0"/>
                    <a:cs typeface="Times New Roman" pitchFamily="18" charset="0"/>
                  </a:rPr>
                  <a:t>HEmp</a:t>
                </a:r>
                <a:endParaRPr lang="en-US" sz="1300" b="1" dirty="0">
                  <a:solidFill>
                    <a:srgbClr val="C00000"/>
                  </a:solidFill>
                  <a:latin typeface="+mj-lt"/>
                  <a:ea typeface="Arial" pitchFamily="34" charset="0"/>
                  <a:cs typeface="Times New Roman" pitchFamily="18" charset="0"/>
                </a:endParaRPr>
              </a:p>
              <a:p>
                <a:pPr algn="ctr" rtl="0" fontAlgn="base">
                  <a:spcBef>
                    <a:spcPct val="0"/>
                  </a:spcBef>
                  <a:spcAft>
                    <a:spcPts val="200"/>
                  </a:spcAft>
                </a:pPr>
                <a:endParaRPr lang="en-US" sz="500" b="1" dirty="0">
                  <a:solidFill>
                    <a:srgbClr val="C00000"/>
                  </a:solidFill>
                  <a:latin typeface="+mj-lt"/>
                  <a:ea typeface="Arial" pitchFamily="34" charset="0"/>
                  <a:cs typeface="Times New Roman" pitchFamily="18" charset="0"/>
                </a:endParaRPr>
              </a:p>
              <a:p>
                <a:pPr lvl="0" algn="l" rtl="0">
                  <a:buFontTx/>
                  <a:buChar char="-"/>
                </a:pPr>
                <a:r>
                  <a:rPr lang="en-US" sz="1400" dirty="0">
                    <a:latin typeface="+mj-lt"/>
                  </a:rPr>
                  <a:t> hours : </a:t>
                </a:r>
                <a:r>
                  <a:rPr lang="en-US" sz="1400" dirty="0" err="1">
                    <a:latin typeface="+mj-lt"/>
                  </a:rPr>
                  <a:t>int</a:t>
                </a:r>
                <a:endParaRPr lang="en-US" sz="1400" dirty="0">
                  <a:latin typeface="+mj-lt"/>
                </a:endParaRPr>
              </a:p>
              <a:p>
                <a:pPr lvl="0" algn="l" rtl="0">
                  <a:buFontTx/>
                  <a:buChar char="-"/>
                </a:pPr>
                <a:r>
                  <a:rPr lang="en-US" sz="1400" dirty="0">
                    <a:latin typeface="+mj-lt"/>
                  </a:rPr>
                  <a:t> rate: double </a:t>
                </a:r>
              </a:p>
              <a:p>
                <a:pPr lvl="0" algn="l" rtl="0"/>
                <a:endParaRPr lang="en-US" sz="1400" dirty="0">
                  <a:latin typeface="+mj-lt"/>
                </a:endParaRPr>
              </a:p>
              <a:p>
                <a:pPr marL="0" marR="0" lvl="0" indent="0" algn="l" defTabSz="914400" rtl="0" eaLnBrk="1" fontAlgn="base" latinLnBrk="0" hangingPunct="1">
                  <a:spcBef>
                    <a:spcPct val="0"/>
                  </a:spcBef>
                  <a:spcAft>
                    <a:spcPts val="200"/>
                  </a:spcAft>
                  <a:buClrTx/>
                  <a:buSzTx/>
                  <a:buFontTx/>
                  <a:buNone/>
                  <a:tabLst/>
                </a:pPr>
                <a:endParaRPr lang="en-US" sz="1200" dirty="0">
                  <a:latin typeface="+mj-lt"/>
                </a:endParaRPr>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mj-lt"/>
                  <a:ea typeface="Arial" pitchFamily="34" charset="0"/>
                  <a:cs typeface="Arial" pitchFamily="34" charset="0"/>
                </a:endParaRPr>
              </a:p>
            </p:txBody>
          </p:sp>
          <p:cxnSp>
            <p:nvCxnSpPr>
              <p:cNvPr id="34" name="AutoShape 11">
                <a:extLst>
                  <a:ext uri="{FF2B5EF4-FFF2-40B4-BE49-F238E27FC236}">
                    <a16:creationId xmlns:a16="http://schemas.microsoft.com/office/drawing/2014/main" id="{9BABBCD0-D0F7-48E9-B994-446E84AEFEE2}"/>
                  </a:ext>
                </a:extLst>
              </p:cNvPr>
              <p:cNvCxnSpPr>
                <a:cxnSpLocks noChangeShapeType="1"/>
              </p:cNvCxnSpPr>
              <p:nvPr/>
            </p:nvCxnSpPr>
            <p:spPr bwMode="auto">
              <a:xfrm>
                <a:off x="3865927" y="1408996"/>
                <a:ext cx="1080272" cy="8592"/>
              </a:xfrm>
              <a:prstGeom prst="straightConnector1">
                <a:avLst/>
              </a:prstGeom>
              <a:noFill/>
              <a:ln w="9525">
                <a:solidFill>
                  <a:srgbClr val="000000"/>
                </a:solidFill>
                <a:round/>
                <a:headEnd/>
                <a:tailEnd/>
              </a:ln>
            </p:spPr>
          </p:cxnSp>
          <p:cxnSp>
            <p:nvCxnSpPr>
              <p:cNvPr id="35" name="AutoShape 11">
                <a:extLst>
                  <a:ext uri="{FF2B5EF4-FFF2-40B4-BE49-F238E27FC236}">
                    <a16:creationId xmlns:a16="http://schemas.microsoft.com/office/drawing/2014/main" id="{DDDAC3B3-3653-9EAE-5111-898C503DA6D7}"/>
                  </a:ext>
                </a:extLst>
              </p:cNvPr>
              <p:cNvCxnSpPr>
                <a:cxnSpLocks noChangeShapeType="1"/>
              </p:cNvCxnSpPr>
              <p:nvPr/>
            </p:nvCxnSpPr>
            <p:spPr bwMode="auto">
              <a:xfrm flipV="1">
                <a:off x="3857620" y="1773132"/>
                <a:ext cx="1088580" cy="1"/>
              </a:xfrm>
              <a:prstGeom prst="straightConnector1">
                <a:avLst/>
              </a:prstGeom>
              <a:noFill/>
              <a:ln w="9525">
                <a:solidFill>
                  <a:srgbClr val="000000"/>
                </a:solidFill>
                <a:round/>
                <a:headEnd/>
                <a:tailEnd/>
              </a:ln>
            </p:spPr>
          </p:cxnSp>
          <p:sp>
            <p:nvSpPr>
              <p:cNvPr id="36" name="Rectangle 35">
                <a:extLst>
                  <a:ext uri="{FF2B5EF4-FFF2-40B4-BE49-F238E27FC236}">
                    <a16:creationId xmlns:a16="http://schemas.microsoft.com/office/drawing/2014/main" id="{405390DF-AD58-58A9-A490-4BF7CFB166FB}"/>
                  </a:ext>
                </a:extLst>
              </p:cNvPr>
              <p:cNvSpPr/>
              <p:nvPr/>
            </p:nvSpPr>
            <p:spPr>
              <a:xfrm>
                <a:off x="3857620" y="1768412"/>
                <a:ext cx="1197438" cy="207886"/>
              </a:xfrm>
              <a:prstGeom prst="rect">
                <a:avLst/>
              </a:prstGeom>
            </p:spPr>
            <p:txBody>
              <a:bodyPr wrap="square">
                <a:spAutoFit/>
              </a:bodyPr>
              <a:lstStyle/>
              <a:p>
                <a:pPr algn="l" rtl="0"/>
                <a:r>
                  <a:rPr lang="en-US" sz="1300" dirty="0">
                    <a:latin typeface="+mj-lt"/>
                    <a:cs typeface="Times New Roman" pitchFamily="18" charset="0"/>
                  </a:rPr>
                  <a:t>+ </a:t>
                </a:r>
                <a:r>
                  <a:rPr lang="en-US" sz="1300" dirty="0" err="1">
                    <a:latin typeface="+mj-lt"/>
                    <a:cs typeface="Times New Roman" pitchFamily="18" charset="0"/>
                  </a:rPr>
                  <a:t>toString</a:t>
                </a:r>
                <a:r>
                  <a:rPr lang="en-US" sz="1300" dirty="0">
                    <a:latin typeface="+mj-lt"/>
                    <a:cs typeface="Times New Roman" pitchFamily="18" charset="0"/>
                  </a:rPr>
                  <a:t>(): String</a:t>
                </a:r>
              </a:p>
            </p:txBody>
          </p:sp>
        </p:grpSp>
        <p:cxnSp>
          <p:nvCxnSpPr>
            <p:cNvPr id="9" name="Straight Arrow Connector 8">
              <a:extLst>
                <a:ext uri="{FF2B5EF4-FFF2-40B4-BE49-F238E27FC236}">
                  <a16:creationId xmlns:a16="http://schemas.microsoft.com/office/drawing/2014/main" id="{DCFE4ED0-78E9-B7A7-8F83-EE25711C1240}"/>
                </a:ext>
              </a:extLst>
            </p:cNvPr>
            <p:cNvCxnSpPr/>
            <p:nvPr/>
          </p:nvCxnSpPr>
          <p:spPr>
            <a:xfrm rot="5400000" flipH="1" flipV="1">
              <a:off x="5107030" y="4357693"/>
              <a:ext cx="571503" cy="4"/>
            </a:xfrm>
            <a:prstGeom prst="straightConnector1">
              <a:avLst/>
            </a:prstGeom>
            <a:ln>
              <a:solidFill>
                <a:srgbClr val="0033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7A8D85E-0CA7-CECF-D8B4-67B38AF38315}"/>
                </a:ext>
              </a:extLst>
            </p:cNvPr>
            <p:cNvCxnSpPr/>
            <p:nvPr/>
          </p:nvCxnSpPr>
          <p:spPr>
            <a:xfrm rot="5400000" flipH="1" flipV="1">
              <a:off x="3142261" y="4428151"/>
              <a:ext cx="428626" cy="1960"/>
            </a:xfrm>
            <a:prstGeom prst="straightConnector1">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55">
              <a:extLst>
                <a:ext uri="{FF2B5EF4-FFF2-40B4-BE49-F238E27FC236}">
                  <a16:creationId xmlns:a16="http://schemas.microsoft.com/office/drawing/2014/main" id="{9B1117D0-304E-DC87-88D9-F4304867C3D4}"/>
                </a:ext>
              </a:extLst>
            </p:cNvPr>
            <p:cNvGrpSpPr/>
            <p:nvPr/>
          </p:nvGrpSpPr>
          <p:grpSpPr>
            <a:xfrm>
              <a:off x="4572000" y="4643446"/>
              <a:ext cx="2203940" cy="1071570"/>
              <a:chOff x="4439762" y="4643446"/>
              <a:chExt cx="2203940" cy="1071570"/>
            </a:xfrm>
          </p:grpSpPr>
          <p:grpSp>
            <p:nvGrpSpPr>
              <p:cNvPr id="28" name="Group 56">
                <a:extLst>
                  <a:ext uri="{FF2B5EF4-FFF2-40B4-BE49-F238E27FC236}">
                    <a16:creationId xmlns:a16="http://schemas.microsoft.com/office/drawing/2014/main" id="{11802939-27D8-2AA3-D22F-A4077F9CCCDC}"/>
                  </a:ext>
                </a:extLst>
              </p:cNvPr>
              <p:cNvGrpSpPr/>
              <p:nvPr/>
            </p:nvGrpSpPr>
            <p:grpSpPr>
              <a:xfrm>
                <a:off x="4439762" y="4643446"/>
                <a:ext cx="2203940" cy="1071570"/>
                <a:chOff x="2714609" y="1214422"/>
                <a:chExt cx="1360725" cy="860476"/>
              </a:xfrm>
            </p:grpSpPr>
            <p:sp>
              <p:nvSpPr>
                <p:cNvPr id="31" name="Rectangle 9">
                  <a:extLst>
                    <a:ext uri="{FF2B5EF4-FFF2-40B4-BE49-F238E27FC236}">
                      <a16:creationId xmlns:a16="http://schemas.microsoft.com/office/drawing/2014/main" id="{7765742E-A0C6-6CDA-BA6E-0CDDB97A178A}"/>
                    </a:ext>
                  </a:extLst>
                </p:cNvPr>
                <p:cNvSpPr>
                  <a:spLocks noChangeArrowheads="1"/>
                </p:cNvSpPr>
                <p:nvPr/>
              </p:nvSpPr>
              <p:spPr bwMode="auto">
                <a:xfrm>
                  <a:off x="2714609" y="1214422"/>
                  <a:ext cx="1088580" cy="86047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1300" b="1" dirty="0" err="1">
                      <a:solidFill>
                        <a:srgbClr val="C00000"/>
                      </a:solidFill>
                      <a:latin typeface="+mj-lt"/>
                      <a:ea typeface="Arial" pitchFamily="34" charset="0"/>
                      <a:cs typeface="Times New Roman" pitchFamily="18" charset="0"/>
                    </a:rPr>
                    <a:t>SEmp</a:t>
                  </a:r>
                  <a:endParaRPr lang="en-US" sz="1300" b="1" dirty="0">
                    <a:solidFill>
                      <a:srgbClr val="C00000"/>
                    </a:solidFill>
                    <a:latin typeface="+mj-lt"/>
                    <a:ea typeface="Arial" pitchFamily="34" charset="0"/>
                    <a:cs typeface="Times New Roman" pitchFamily="18" charset="0"/>
                  </a:endParaRPr>
                </a:p>
                <a:p>
                  <a:pPr algn="ctr" rtl="0" fontAlgn="base">
                    <a:spcBef>
                      <a:spcPct val="0"/>
                    </a:spcBef>
                    <a:spcAft>
                      <a:spcPts val="200"/>
                    </a:spcAft>
                  </a:pPr>
                  <a:endParaRPr lang="en-US" sz="500" b="1" dirty="0">
                    <a:solidFill>
                      <a:srgbClr val="C00000"/>
                    </a:solidFill>
                    <a:latin typeface="+mj-lt"/>
                    <a:ea typeface="Arial" pitchFamily="34" charset="0"/>
                    <a:cs typeface="Times New Roman" pitchFamily="18" charset="0"/>
                  </a:endParaRPr>
                </a:p>
                <a:p>
                  <a:pPr lvl="0" algn="l" rtl="0">
                    <a:buFontTx/>
                    <a:buChar char="-"/>
                  </a:pPr>
                  <a:r>
                    <a:rPr lang="en-US" sz="1400" dirty="0">
                      <a:latin typeface="+mj-lt"/>
                    </a:rPr>
                    <a:t> </a:t>
                  </a:r>
                  <a:r>
                    <a:rPr lang="en-US" sz="1400" dirty="0" err="1">
                      <a:latin typeface="+mj-lt"/>
                    </a:rPr>
                    <a:t>MSal</a:t>
                  </a:r>
                  <a:r>
                    <a:rPr lang="en-US" sz="1400" dirty="0">
                      <a:latin typeface="+mj-lt"/>
                    </a:rPr>
                    <a:t>: </a:t>
                  </a:r>
                  <a:r>
                    <a:rPr lang="en-US" sz="1400" dirty="0" err="1">
                      <a:latin typeface="+mj-lt"/>
                    </a:rPr>
                    <a:t>int</a:t>
                  </a:r>
                  <a:endParaRPr lang="en-US" sz="1400" dirty="0">
                    <a:latin typeface="+mj-lt"/>
                  </a:endParaRPr>
                </a:p>
                <a:p>
                  <a:pPr lvl="0" algn="l" rtl="0"/>
                  <a:endParaRPr lang="en-US" sz="1400" dirty="0">
                    <a:latin typeface="+mj-lt"/>
                  </a:endParaRPr>
                </a:p>
                <a:p>
                  <a:pPr marL="0" marR="0" lvl="0" indent="0" algn="l" defTabSz="914400" rtl="0" eaLnBrk="1" fontAlgn="base" latinLnBrk="0" hangingPunct="1">
                    <a:spcBef>
                      <a:spcPct val="0"/>
                    </a:spcBef>
                    <a:spcAft>
                      <a:spcPts val="200"/>
                    </a:spcAft>
                    <a:buClrTx/>
                    <a:buSzTx/>
                    <a:buFontTx/>
                    <a:buNone/>
                    <a:tabLst/>
                  </a:pPr>
                  <a:endParaRPr lang="en-US" sz="1200" dirty="0">
                    <a:latin typeface="+mj-lt"/>
                  </a:endParaRPr>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mj-lt"/>
                    <a:ea typeface="Arial" pitchFamily="34" charset="0"/>
                    <a:cs typeface="Arial" pitchFamily="34" charset="0"/>
                  </a:endParaRPr>
                </a:p>
              </p:txBody>
            </p:sp>
            <p:sp>
              <p:nvSpPr>
                <p:cNvPr id="32" name="Rectangle 31">
                  <a:extLst>
                    <a:ext uri="{FF2B5EF4-FFF2-40B4-BE49-F238E27FC236}">
                      <a16:creationId xmlns:a16="http://schemas.microsoft.com/office/drawing/2014/main" id="{0A55373F-73D2-B1CA-7C93-22CC6AB86B4C}"/>
                    </a:ext>
                  </a:extLst>
                </p:cNvPr>
                <p:cNvSpPr/>
                <p:nvPr/>
              </p:nvSpPr>
              <p:spPr>
                <a:xfrm>
                  <a:off x="2714610" y="1788073"/>
                  <a:ext cx="1360724" cy="237827"/>
                </a:xfrm>
                <a:prstGeom prst="rect">
                  <a:avLst/>
                </a:prstGeom>
              </p:spPr>
              <p:txBody>
                <a:bodyPr wrap="square">
                  <a:spAutoFit/>
                </a:bodyPr>
                <a:lstStyle/>
                <a:p>
                  <a:pPr algn="l" rtl="0"/>
                  <a:r>
                    <a:rPr lang="en-US" sz="1300" dirty="0">
                      <a:latin typeface="+mj-lt"/>
                      <a:cs typeface="Times New Roman" pitchFamily="18" charset="0"/>
                    </a:rPr>
                    <a:t>+ </a:t>
                  </a:r>
                  <a:r>
                    <a:rPr lang="en-US" sz="1300" dirty="0" err="1">
                      <a:latin typeface="+mj-lt"/>
                      <a:cs typeface="Times New Roman" pitchFamily="18" charset="0"/>
                    </a:rPr>
                    <a:t>toString</a:t>
                  </a:r>
                  <a:r>
                    <a:rPr lang="en-US" sz="1300" dirty="0">
                      <a:latin typeface="+mj-lt"/>
                      <a:cs typeface="Times New Roman" pitchFamily="18" charset="0"/>
                    </a:rPr>
                    <a:t>(): String</a:t>
                  </a:r>
                </a:p>
              </p:txBody>
            </p:sp>
          </p:grpSp>
          <p:cxnSp>
            <p:nvCxnSpPr>
              <p:cNvPr id="29" name="AutoShape 11">
                <a:extLst>
                  <a:ext uri="{FF2B5EF4-FFF2-40B4-BE49-F238E27FC236}">
                    <a16:creationId xmlns:a16="http://schemas.microsoft.com/office/drawing/2014/main" id="{26CC92E5-F497-23BF-233D-153FD6CCD8F1}"/>
                  </a:ext>
                </a:extLst>
              </p:cNvPr>
              <p:cNvCxnSpPr>
                <a:cxnSpLocks noChangeShapeType="1"/>
              </p:cNvCxnSpPr>
              <p:nvPr/>
            </p:nvCxnSpPr>
            <p:spPr bwMode="auto">
              <a:xfrm>
                <a:off x="4439763" y="4929198"/>
                <a:ext cx="1763152" cy="1588"/>
              </a:xfrm>
              <a:prstGeom prst="straightConnector1">
                <a:avLst/>
              </a:prstGeom>
              <a:noFill/>
              <a:ln w="9525">
                <a:solidFill>
                  <a:srgbClr val="000000"/>
                </a:solidFill>
                <a:round/>
                <a:headEnd/>
                <a:tailEnd/>
              </a:ln>
            </p:spPr>
          </p:cxnSp>
          <p:cxnSp>
            <p:nvCxnSpPr>
              <p:cNvPr id="30" name="AutoShape 11">
                <a:extLst>
                  <a:ext uri="{FF2B5EF4-FFF2-40B4-BE49-F238E27FC236}">
                    <a16:creationId xmlns:a16="http://schemas.microsoft.com/office/drawing/2014/main" id="{7415B7EA-213E-ECF8-0D07-E7E904C268AA}"/>
                  </a:ext>
                </a:extLst>
              </p:cNvPr>
              <p:cNvCxnSpPr>
                <a:cxnSpLocks noChangeShapeType="1"/>
              </p:cNvCxnSpPr>
              <p:nvPr/>
            </p:nvCxnSpPr>
            <p:spPr bwMode="auto">
              <a:xfrm>
                <a:off x="4439763" y="5286388"/>
                <a:ext cx="1763152" cy="1588"/>
              </a:xfrm>
              <a:prstGeom prst="straightConnector1">
                <a:avLst/>
              </a:prstGeom>
              <a:noFill/>
              <a:ln w="9525">
                <a:solidFill>
                  <a:srgbClr val="000000"/>
                </a:solidFill>
                <a:round/>
                <a:headEnd/>
                <a:tailEnd/>
              </a:ln>
            </p:spPr>
          </p:cxnSp>
        </p:grpSp>
        <p:grpSp>
          <p:nvGrpSpPr>
            <p:cNvPr id="12" name="Group 54">
              <a:extLst>
                <a:ext uri="{FF2B5EF4-FFF2-40B4-BE49-F238E27FC236}">
                  <a16:creationId xmlns:a16="http://schemas.microsoft.com/office/drawing/2014/main" id="{6F59EAC3-7CD5-8B93-AEC2-2322ABA2DD18}"/>
                </a:ext>
              </a:extLst>
            </p:cNvPr>
            <p:cNvGrpSpPr/>
            <p:nvPr/>
          </p:nvGrpSpPr>
          <p:grpSpPr>
            <a:xfrm>
              <a:off x="5572132" y="2357430"/>
              <a:ext cx="2071702" cy="1071570"/>
              <a:chOff x="5429256" y="2000240"/>
              <a:chExt cx="3000396" cy="1071570"/>
            </a:xfrm>
          </p:grpSpPr>
          <p:sp>
            <p:nvSpPr>
              <p:cNvPr id="24" name="Oval 5">
                <a:extLst>
                  <a:ext uri="{FF2B5EF4-FFF2-40B4-BE49-F238E27FC236}">
                    <a16:creationId xmlns:a16="http://schemas.microsoft.com/office/drawing/2014/main" id="{89B547F7-21D8-66D3-2B35-5606B7430AB7}"/>
                  </a:ext>
                </a:extLst>
              </p:cNvPr>
              <p:cNvSpPr>
                <a:spLocks noChangeArrowheads="1"/>
              </p:cNvSpPr>
              <p:nvPr/>
            </p:nvSpPr>
            <p:spPr bwMode="auto">
              <a:xfrm>
                <a:off x="5429256" y="2000240"/>
                <a:ext cx="3000396" cy="107157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25" name="TextBox 24">
                <a:extLst>
                  <a:ext uri="{FF2B5EF4-FFF2-40B4-BE49-F238E27FC236}">
                    <a16:creationId xmlns:a16="http://schemas.microsoft.com/office/drawing/2014/main" id="{CBD49D94-E144-944E-53BB-568C4C9A2EFB}"/>
                  </a:ext>
                </a:extLst>
              </p:cNvPr>
              <p:cNvSpPr txBox="1"/>
              <p:nvPr/>
            </p:nvSpPr>
            <p:spPr>
              <a:xfrm>
                <a:off x="6380347" y="2071678"/>
                <a:ext cx="1263487" cy="492443"/>
              </a:xfrm>
              <a:prstGeom prst="rect">
                <a:avLst/>
              </a:prstGeom>
              <a:noFill/>
              <a:ln>
                <a:noFill/>
              </a:ln>
            </p:spPr>
            <p:txBody>
              <a:bodyPr wrap="square" rtlCol="0">
                <a:spAutoFit/>
              </a:bodyPr>
              <a:lstStyle/>
              <a:p>
                <a:pPr algn="ctr" rtl="0"/>
                <a:r>
                  <a:rPr lang="en-GB" sz="1300" b="1" dirty="0">
                    <a:solidFill>
                      <a:srgbClr val="C00000"/>
                    </a:solidFill>
                    <a:latin typeface="+mj-lt"/>
                    <a:ea typeface="Arial" pitchFamily="34" charset="0"/>
                    <a:cs typeface="Times New Roman" pitchFamily="18" charset="0"/>
                  </a:rPr>
                  <a:t>Company</a:t>
                </a:r>
                <a:endParaRPr lang="en-US" sz="1300" b="1" dirty="0">
                  <a:solidFill>
                    <a:srgbClr val="C00000"/>
                  </a:solidFill>
                  <a:latin typeface="+mj-lt"/>
                  <a:ea typeface="Arial" pitchFamily="34" charset="0"/>
                  <a:cs typeface="Times New Roman" pitchFamily="18" charset="0"/>
                </a:endParaRPr>
              </a:p>
            </p:txBody>
          </p:sp>
          <p:cxnSp>
            <p:nvCxnSpPr>
              <p:cNvPr id="26" name="AutoShape 11">
                <a:extLst>
                  <a:ext uri="{FF2B5EF4-FFF2-40B4-BE49-F238E27FC236}">
                    <a16:creationId xmlns:a16="http://schemas.microsoft.com/office/drawing/2014/main" id="{B3F6624B-13E2-C255-4D9D-9597A2E6A145}"/>
                  </a:ext>
                </a:extLst>
              </p:cNvPr>
              <p:cNvCxnSpPr>
                <a:cxnSpLocks noChangeShapeType="1"/>
              </p:cNvCxnSpPr>
              <p:nvPr/>
            </p:nvCxnSpPr>
            <p:spPr bwMode="auto">
              <a:xfrm>
                <a:off x="5429256" y="2428868"/>
                <a:ext cx="3000396" cy="1588"/>
              </a:xfrm>
              <a:prstGeom prst="straightConnector1">
                <a:avLst/>
              </a:prstGeom>
              <a:noFill/>
              <a:ln w="9525">
                <a:solidFill>
                  <a:srgbClr val="000000"/>
                </a:solidFill>
                <a:round/>
                <a:headEnd/>
                <a:tailEnd/>
              </a:ln>
            </p:spPr>
          </p:cxnSp>
          <p:sp>
            <p:nvSpPr>
              <p:cNvPr id="27" name="Rectangle 26">
                <a:extLst>
                  <a:ext uri="{FF2B5EF4-FFF2-40B4-BE49-F238E27FC236}">
                    <a16:creationId xmlns:a16="http://schemas.microsoft.com/office/drawing/2014/main" id="{CEE6E28A-0185-9FC9-FE75-C31F88C563DE}"/>
                  </a:ext>
                </a:extLst>
              </p:cNvPr>
              <p:cNvSpPr/>
              <p:nvPr/>
            </p:nvSpPr>
            <p:spPr>
              <a:xfrm>
                <a:off x="5786447" y="2500306"/>
                <a:ext cx="2539743" cy="323165"/>
              </a:xfrm>
              <a:prstGeom prst="rect">
                <a:avLst/>
              </a:prstGeom>
            </p:spPr>
            <p:txBody>
              <a:bodyPr wrap="square">
                <a:spAutoFit/>
              </a:bodyPr>
              <a:lstStyle/>
              <a:p>
                <a:pPr algn="l" rtl="0"/>
                <a:r>
                  <a:rPr lang="en-US" sz="1300" b="1" dirty="0">
                    <a:solidFill>
                      <a:srgbClr val="000099"/>
                    </a:solidFill>
                    <a:latin typeface="+mj-lt"/>
                    <a:cs typeface="Times New Roman" pitchFamily="18" charset="0"/>
                  </a:rPr>
                  <a:t>+ </a:t>
                </a:r>
                <a:r>
                  <a:rPr lang="en-US" sz="1300" b="1" dirty="0" err="1">
                    <a:solidFill>
                      <a:srgbClr val="000099"/>
                    </a:solidFill>
                    <a:latin typeface="+mj-lt"/>
                    <a:cs typeface="Times New Roman" pitchFamily="18" charset="0"/>
                  </a:rPr>
                  <a:t>Wsal</a:t>
                </a:r>
                <a:r>
                  <a:rPr lang="en-US" sz="1300" b="1" dirty="0">
                    <a:solidFill>
                      <a:srgbClr val="000099"/>
                    </a:solidFill>
                    <a:latin typeface="+mj-lt"/>
                    <a:cs typeface="Times New Roman" pitchFamily="18" charset="0"/>
                  </a:rPr>
                  <a:t>(): double</a:t>
                </a:r>
                <a:r>
                  <a:rPr lang="en-US" sz="1500" b="1" dirty="0">
                    <a:solidFill>
                      <a:srgbClr val="000099"/>
                    </a:solidFill>
                    <a:latin typeface="+mj-lt"/>
                    <a:cs typeface="Times New Roman" pitchFamily="18" charset="0"/>
                  </a:rPr>
                  <a:t>;</a:t>
                </a:r>
                <a:endParaRPr lang="en-US" sz="1300" b="1" dirty="0">
                  <a:solidFill>
                    <a:srgbClr val="000099"/>
                  </a:solidFill>
                  <a:latin typeface="+mj-lt"/>
                  <a:cs typeface="Times New Roman" pitchFamily="18" charset="0"/>
                </a:endParaRPr>
              </a:p>
            </p:txBody>
          </p:sp>
        </p:grpSp>
        <p:cxnSp>
          <p:nvCxnSpPr>
            <p:cNvPr id="13" name="Straight Connector 12">
              <a:extLst>
                <a:ext uri="{FF2B5EF4-FFF2-40B4-BE49-F238E27FC236}">
                  <a16:creationId xmlns:a16="http://schemas.microsoft.com/office/drawing/2014/main" id="{175DCCD8-A217-719D-A5C7-C240600F3976}"/>
                </a:ext>
              </a:extLst>
            </p:cNvPr>
            <p:cNvCxnSpPr/>
            <p:nvPr/>
          </p:nvCxnSpPr>
          <p:spPr>
            <a:xfrm>
              <a:off x="4071934" y="4071942"/>
              <a:ext cx="2286016" cy="1589"/>
            </a:xfrm>
            <a:prstGeom prst="line">
              <a:avLst/>
            </a:prstGeom>
            <a:ln>
              <a:solidFill>
                <a:srgbClr val="0033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D9D96B-5F1F-675F-46EB-8AA0498A2915}"/>
                </a:ext>
              </a:extLst>
            </p:cNvPr>
            <p:cNvCxnSpPr/>
            <p:nvPr/>
          </p:nvCxnSpPr>
          <p:spPr>
            <a:xfrm>
              <a:off x="2357422" y="4213230"/>
              <a:ext cx="4572032"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CDBBC98-AFFF-DE45-E2AE-D0E6943A462E}"/>
                </a:ext>
              </a:extLst>
            </p:cNvPr>
            <p:cNvCxnSpPr/>
            <p:nvPr/>
          </p:nvCxnSpPr>
          <p:spPr>
            <a:xfrm rot="16200000" flipV="1">
              <a:off x="3786182" y="3786190"/>
              <a:ext cx="572298"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0C22D8A4-0724-B94E-5238-3E1E4D84C5BE}"/>
                </a:ext>
              </a:extLst>
            </p:cNvPr>
            <p:cNvCxnSpPr/>
            <p:nvPr/>
          </p:nvCxnSpPr>
          <p:spPr>
            <a:xfrm rot="16200000" flipV="1">
              <a:off x="6072198" y="3786190"/>
              <a:ext cx="572298"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29FA3747-44EB-E990-9AAF-EF083F08239D}"/>
                </a:ext>
              </a:extLst>
            </p:cNvPr>
            <p:cNvCxnSpPr/>
            <p:nvPr/>
          </p:nvCxnSpPr>
          <p:spPr>
            <a:xfrm rot="5400000" flipH="1" flipV="1">
              <a:off x="2035951" y="3893347"/>
              <a:ext cx="642942" cy="1588"/>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4FD2B95C-8867-0A1D-7978-E8128BE4EA0B}"/>
                </a:ext>
              </a:extLst>
            </p:cNvPr>
            <p:cNvCxnSpPr/>
            <p:nvPr/>
          </p:nvCxnSpPr>
          <p:spPr>
            <a:xfrm rot="5400000" flipH="1" flipV="1">
              <a:off x="6572264" y="3857628"/>
              <a:ext cx="714380" cy="1588"/>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19" name="Rectangle 9">
              <a:extLst>
                <a:ext uri="{FF2B5EF4-FFF2-40B4-BE49-F238E27FC236}">
                  <a16:creationId xmlns:a16="http://schemas.microsoft.com/office/drawing/2014/main" id="{FDE247CF-105E-BAEE-F6C3-9A134B8D9C25}"/>
                </a:ext>
              </a:extLst>
            </p:cNvPr>
            <p:cNvSpPr>
              <a:spLocks noChangeArrowheads="1"/>
            </p:cNvSpPr>
            <p:nvPr/>
          </p:nvSpPr>
          <p:spPr bwMode="auto">
            <a:xfrm>
              <a:off x="571472" y="4643446"/>
              <a:ext cx="1749701" cy="1071570"/>
            </a:xfrm>
            <a:prstGeom prst="rect">
              <a:avLst/>
            </a:prstGeom>
            <a:solidFill>
              <a:srgbClr val="FFFFFF"/>
            </a:solidFill>
            <a:ln w="9525">
              <a:solidFill>
                <a:srgbClr val="0000FF"/>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1300" b="1" dirty="0">
                  <a:solidFill>
                    <a:srgbClr val="C00000"/>
                  </a:solidFill>
                  <a:latin typeface="+mj-lt"/>
                  <a:ea typeface="Arial" pitchFamily="34" charset="0"/>
                  <a:cs typeface="Times New Roman" pitchFamily="18" charset="0"/>
                </a:rPr>
                <a:t>Trainee</a:t>
              </a:r>
              <a:endParaRPr lang="en-US" sz="500" b="1" dirty="0">
                <a:solidFill>
                  <a:srgbClr val="C00000"/>
                </a:solidFill>
                <a:latin typeface="+mj-lt"/>
                <a:ea typeface="Arial" pitchFamily="34" charset="0"/>
                <a:cs typeface="Times New Roman" pitchFamily="18" charset="0"/>
              </a:endParaRPr>
            </a:p>
            <a:p>
              <a:pPr lvl="0" algn="l" rtl="0">
                <a:buFontTx/>
                <a:buChar char="-"/>
              </a:pPr>
              <a:endParaRPr lang="en-US" sz="1400" dirty="0">
                <a:latin typeface="+mj-lt"/>
              </a:endParaRPr>
            </a:p>
            <a:p>
              <a:pPr lvl="0" algn="l" rtl="0">
                <a:buFontTx/>
                <a:buChar char="-"/>
              </a:pPr>
              <a:r>
                <a:rPr lang="en-US" sz="1400" dirty="0">
                  <a:latin typeface="+mj-lt"/>
                </a:rPr>
                <a:t> hours : </a:t>
              </a:r>
              <a:r>
                <a:rPr lang="en-US" sz="1400" dirty="0" err="1">
                  <a:latin typeface="+mj-lt"/>
                </a:rPr>
                <a:t>int</a:t>
              </a:r>
              <a:endParaRPr lang="en-US" sz="1400" dirty="0">
                <a:latin typeface="+mj-lt"/>
              </a:endParaRPr>
            </a:p>
            <a:p>
              <a:pPr lvl="0" algn="l" rtl="0"/>
              <a:endParaRPr lang="en-US" sz="1400" dirty="0">
                <a:latin typeface="+mj-lt"/>
              </a:endParaRPr>
            </a:p>
            <a:p>
              <a:pPr marL="0" marR="0" lvl="0" indent="0" algn="l" defTabSz="914400" rtl="0" eaLnBrk="1" fontAlgn="base" latinLnBrk="0" hangingPunct="1">
                <a:spcBef>
                  <a:spcPct val="0"/>
                </a:spcBef>
                <a:spcAft>
                  <a:spcPts val="200"/>
                </a:spcAft>
                <a:buClrTx/>
                <a:buSzTx/>
                <a:buFontTx/>
                <a:buNone/>
                <a:tabLst/>
              </a:pPr>
              <a:endParaRPr lang="en-US" sz="1200" dirty="0">
                <a:latin typeface="+mj-lt"/>
              </a:endParaRPr>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mj-lt"/>
                <a:ea typeface="Arial" pitchFamily="34" charset="0"/>
                <a:cs typeface="Arial" pitchFamily="34" charset="0"/>
              </a:endParaRPr>
            </a:p>
          </p:txBody>
        </p:sp>
        <p:cxnSp>
          <p:nvCxnSpPr>
            <p:cNvPr id="20" name="AutoShape 11">
              <a:extLst>
                <a:ext uri="{FF2B5EF4-FFF2-40B4-BE49-F238E27FC236}">
                  <a16:creationId xmlns:a16="http://schemas.microsoft.com/office/drawing/2014/main" id="{6AC15D1A-60C3-549D-F0A8-A68E097B7BCF}"/>
                </a:ext>
              </a:extLst>
            </p:cNvPr>
            <p:cNvCxnSpPr>
              <a:cxnSpLocks noChangeShapeType="1"/>
            </p:cNvCxnSpPr>
            <p:nvPr/>
          </p:nvCxnSpPr>
          <p:spPr bwMode="auto">
            <a:xfrm>
              <a:off x="584927" y="4929198"/>
              <a:ext cx="1749697" cy="12085"/>
            </a:xfrm>
            <a:prstGeom prst="straightConnector1">
              <a:avLst/>
            </a:prstGeom>
            <a:noFill/>
            <a:ln w="9525">
              <a:solidFill>
                <a:srgbClr val="000000"/>
              </a:solidFill>
              <a:round/>
              <a:headEnd/>
              <a:tailEnd/>
            </a:ln>
          </p:spPr>
        </p:cxnSp>
        <p:sp>
          <p:nvSpPr>
            <p:cNvPr id="21" name="Rectangle 20">
              <a:extLst>
                <a:ext uri="{FF2B5EF4-FFF2-40B4-BE49-F238E27FC236}">
                  <a16:creationId xmlns:a16="http://schemas.microsoft.com/office/drawing/2014/main" id="{8AE53CC0-4B3B-FE4C-60BC-B03102E745BD}"/>
                </a:ext>
              </a:extLst>
            </p:cNvPr>
            <p:cNvSpPr/>
            <p:nvPr/>
          </p:nvSpPr>
          <p:spPr>
            <a:xfrm>
              <a:off x="571472" y="5434711"/>
              <a:ext cx="1939469" cy="292389"/>
            </a:xfrm>
            <a:prstGeom prst="rect">
              <a:avLst/>
            </a:prstGeom>
          </p:spPr>
          <p:txBody>
            <a:bodyPr wrap="square">
              <a:spAutoFit/>
            </a:bodyPr>
            <a:lstStyle/>
            <a:p>
              <a:pPr algn="l" rtl="0"/>
              <a:r>
                <a:rPr lang="en-US" sz="1300" dirty="0">
                  <a:latin typeface="+mj-lt"/>
                  <a:cs typeface="Times New Roman" pitchFamily="18" charset="0"/>
                </a:rPr>
                <a:t>+ </a:t>
              </a:r>
              <a:r>
                <a:rPr lang="en-US" sz="1300" dirty="0" err="1">
                  <a:latin typeface="+mj-lt"/>
                  <a:cs typeface="Times New Roman" pitchFamily="18" charset="0"/>
                </a:rPr>
                <a:t>toString</a:t>
              </a:r>
              <a:r>
                <a:rPr lang="en-US" sz="1300" dirty="0">
                  <a:latin typeface="+mj-lt"/>
                  <a:cs typeface="Times New Roman" pitchFamily="18" charset="0"/>
                </a:rPr>
                <a:t>(): String</a:t>
              </a:r>
            </a:p>
          </p:txBody>
        </p:sp>
        <p:cxnSp>
          <p:nvCxnSpPr>
            <p:cNvPr id="22" name="AutoShape 11">
              <a:extLst>
                <a:ext uri="{FF2B5EF4-FFF2-40B4-BE49-F238E27FC236}">
                  <a16:creationId xmlns:a16="http://schemas.microsoft.com/office/drawing/2014/main" id="{A7DCCAEC-0A64-9361-C0FF-F3E335943B9D}"/>
                </a:ext>
              </a:extLst>
            </p:cNvPr>
            <p:cNvCxnSpPr>
              <a:cxnSpLocks noChangeShapeType="1"/>
            </p:cNvCxnSpPr>
            <p:nvPr/>
          </p:nvCxnSpPr>
          <p:spPr bwMode="auto">
            <a:xfrm>
              <a:off x="571472" y="5429264"/>
              <a:ext cx="1763152" cy="1588"/>
            </a:xfrm>
            <a:prstGeom prst="straightConnector1">
              <a:avLst/>
            </a:prstGeom>
            <a:noFill/>
            <a:ln w="9525">
              <a:solidFill>
                <a:srgbClr val="000000"/>
              </a:solidFill>
              <a:round/>
              <a:headEnd/>
              <a:tailEnd/>
            </a:ln>
          </p:spPr>
        </p:cxnSp>
        <p:cxnSp>
          <p:nvCxnSpPr>
            <p:cNvPr id="23" name="Straight Arrow Connector 22">
              <a:extLst>
                <a:ext uri="{FF2B5EF4-FFF2-40B4-BE49-F238E27FC236}">
                  <a16:creationId xmlns:a16="http://schemas.microsoft.com/office/drawing/2014/main" id="{E27B8C8B-ACAC-AE3A-1030-D338CFDB2D2F}"/>
                </a:ext>
              </a:extLst>
            </p:cNvPr>
            <p:cNvCxnSpPr/>
            <p:nvPr/>
          </p:nvCxnSpPr>
          <p:spPr>
            <a:xfrm rot="5400000" flipH="1" flipV="1">
              <a:off x="1214414" y="4071942"/>
              <a:ext cx="1143008" cy="1588"/>
            </a:xfrm>
            <a:prstGeom prst="straightConnector1">
              <a:avLst/>
            </a:prstGeom>
            <a:ln>
              <a:solidFill>
                <a:srgbClr val="0000FF"/>
              </a:solidFill>
              <a:tailEnd type="arrow"/>
            </a:ln>
          </p:spPr>
          <p:style>
            <a:lnRef idx="1">
              <a:schemeClr val="dk1"/>
            </a:lnRef>
            <a:fillRef idx="0">
              <a:schemeClr val="dk1"/>
            </a:fillRef>
            <a:effectRef idx="0">
              <a:schemeClr val="dk1"/>
            </a:effectRef>
            <a:fontRef idx="minor">
              <a:schemeClr val="tx1"/>
            </a:fontRef>
          </p:style>
        </p:cxnSp>
      </p:grpSp>
      <p:sp>
        <p:nvSpPr>
          <p:cNvPr id="41" name="TextBox 40">
            <a:extLst>
              <a:ext uri="{FF2B5EF4-FFF2-40B4-BE49-F238E27FC236}">
                <a16:creationId xmlns:a16="http://schemas.microsoft.com/office/drawing/2014/main" id="{89C451F4-9776-2AA1-6681-619C05DA789E}"/>
              </a:ext>
            </a:extLst>
          </p:cNvPr>
          <p:cNvSpPr txBox="1"/>
          <p:nvPr/>
        </p:nvSpPr>
        <p:spPr>
          <a:xfrm>
            <a:off x="7756901" y="3799673"/>
            <a:ext cx="1297150" cy="369332"/>
          </a:xfrm>
          <a:prstGeom prst="rect">
            <a:avLst/>
          </a:prstGeom>
          <a:noFill/>
        </p:spPr>
        <p:txBody>
          <a:bodyPr wrap="none" rtlCol="0">
            <a:spAutoFit/>
          </a:bodyPr>
          <a:lstStyle/>
          <a:p>
            <a:pPr algn="l" rtl="0"/>
            <a:r>
              <a:rPr lang="en-US" sz="1600" dirty="0">
                <a:solidFill>
                  <a:schemeClr val="bg2">
                    <a:lumMod val="75000"/>
                  </a:schemeClr>
                </a:solidFill>
                <a:latin typeface="+mj-lt"/>
                <a:cs typeface="Times New Roman" pitchFamily="18" charset="0"/>
              </a:rPr>
              <a:t>implements</a:t>
            </a:r>
            <a:r>
              <a:rPr lang="en-US" dirty="0">
                <a:solidFill>
                  <a:schemeClr val="bg2">
                    <a:lumMod val="75000"/>
                  </a:schemeClr>
                </a:solidFill>
                <a:latin typeface="+mj-lt"/>
                <a:cs typeface="Times New Roman" pitchFamily="18" charset="0"/>
              </a:rPr>
              <a:t> </a:t>
            </a:r>
          </a:p>
        </p:txBody>
      </p:sp>
      <p:sp>
        <p:nvSpPr>
          <p:cNvPr id="42" name="TextBox 41">
            <a:extLst>
              <a:ext uri="{FF2B5EF4-FFF2-40B4-BE49-F238E27FC236}">
                <a16:creationId xmlns:a16="http://schemas.microsoft.com/office/drawing/2014/main" id="{585A57A8-E5CB-FCF6-65B6-55C671EA1E2B}"/>
              </a:ext>
            </a:extLst>
          </p:cNvPr>
          <p:cNvSpPr txBox="1"/>
          <p:nvPr/>
        </p:nvSpPr>
        <p:spPr>
          <a:xfrm>
            <a:off x="4864309" y="3765684"/>
            <a:ext cx="966931" cy="369332"/>
          </a:xfrm>
          <a:prstGeom prst="rect">
            <a:avLst/>
          </a:prstGeom>
          <a:noFill/>
        </p:spPr>
        <p:txBody>
          <a:bodyPr wrap="none" rtlCol="0">
            <a:spAutoFit/>
          </a:bodyPr>
          <a:lstStyle/>
          <a:p>
            <a:pPr algn="l" rtl="0"/>
            <a:r>
              <a:rPr lang="en-US" sz="1600" dirty="0">
                <a:solidFill>
                  <a:schemeClr val="bg2">
                    <a:lumMod val="75000"/>
                  </a:schemeClr>
                </a:solidFill>
                <a:latin typeface="+mj-lt"/>
                <a:cs typeface="Times New Roman" pitchFamily="18" charset="0"/>
              </a:rPr>
              <a:t>extends</a:t>
            </a:r>
            <a:r>
              <a:rPr lang="en-US" dirty="0">
                <a:solidFill>
                  <a:schemeClr val="bg2">
                    <a:lumMod val="75000"/>
                  </a:schemeClr>
                </a:solidFill>
                <a:latin typeface="+mj-lt"/>
                <a:cs typeface="Times New Roman" pitchFamily="18" charset="0"/>
              </a:rPr>
              <a:t> </a:t>
            </a:r>
          </a:p>
        </p:txBody>
      </p:sp>
    </p:spTree>
    <p:extLst>
      <p:ext uri="{BB962C8B-B14F-4D97-AF65-F5344CB8AC3E}">
        <p14:creationId xmlns:p14="http://schemas.microsoft.com/office/powerpoint/2010/main" val="338496546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53E2-575B-61CE-EE29-7CFA253A7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60DED1-CC10-DFA7-6428-84480EF1CBF9}"/>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a:t>
            </a:r>
            <a:endParaRPr lang="en-US" dirty="0"/>
          </a:p>
        </p:txBody>
      </p:sp>
      <p:sp>
        <p:nvSpPr>
          <p:cNvPr id="4" name="Footer Placeholder 3">
            <a:extLst>
              <a:ext uri="{FF2B5EF4-FFF2-40B4-BE49-F238E27FC236}">
                <a16:creationId xmlns:a16="http://schemas.microsoft.com/office/drawing/2014/main" id="{FFB2980B-8780-684F-4A52-7B2D84FC14F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Rectangle 5">
            <a:extLst>
              <a:ext uri="{FF2B5EF4-FFF2-40B4-BE49-F238E27FC236}">
                <a16:creationId xmlns:a16="http://schemas.microsoft.com/office/drawing/2014/main" id="{F6838EE8-1E5F-69C7-70A4-0C6169BFB4ED}"/>
              </a:ext>
            </a:extLst>
          </p:cNvPr>
          <p:cNvSpPr/>
          <p:nvPr/>
        </p:nvSpPr>
        <p:spPr>
          <a:xfrm>
            <a:off x="420229" y="4008454"/>
            <a:ext cx="10717824" cy="2118529"/>
          </a:xfrm>
          <a:prstGeom prst="rect">
            <a:avLst/>
          </a:prstGeom>
        </p:spPr>
        <p:txBody>
          <a:bodyPr wrap="square">
            <a:spAutoFit/>
          </a:bodyPr>
          <a:lstStyle/>
          <a:p>
            <a:pPr algn="just" rtl="0">
              <a:lnSpc>
                <a:spcPct val="150000"/>
              </a:lnSpc>
            </a:pPr>
            <a:r>
              <a:rPr lang="en-US" b="1" u="sng" dirty="0">
                <a:solidFill>
                  <a:schemeClr val="bg2">
                    <a:lumMod val="75000"/>
                  </a:schemeClr>
                </a:solidFill>
                <a:cs typeface="Times New Roman" pitchFamily="18" charset="0"/>
              </a:rPr>
              <a:t>For example,</a:t>
            </a:r>
            <a:r>
              <a:rPr lang="en-US" u="sng" dirty="0">
                <a:solidFill>
                  <a:schemeClr val="bg2">
                    <a:lumMod val="75000"/>
                  </a:schemeClr>
                </a:solidFill>
                <a:cs typeface="Times New Roman" pitchFamily="18" charset="0"/>
              </a:rPr>
              <a:t> </a:t>
            </a:r>
            <a:r>
              <a:rPr lang="en-US" dirty="0">
                <a:cs typeface="Times New Roman" pitchFamily="18" charset="0"/>
              </a:rPr>
              <a:t>there is a method that calculates the employee's monthly salary called </a:t>
            </a:r>
            <a:r>
              <a:rPr lang="en-US" dirty="0" err="1">
                <a:cs typeface="Times New Roman" pitchFamily="18" charset="0"/>
              </a:rPr>
              <a:t>wsal</a:t>
            </a:r>
            <a:r>
              <a:rPr lang="en-US" dirty="0">
                <a:cs typeface="Times New Roman" pitchFamily="18" charset="0"/>
              </a:rPr>
              <a:t>(). If you put it in the </a:t>
            </a:r>
            <a:r>
              <a:rPr lang="en-US" dirty="0" err="1">
                <a:cs typeface="Times New Roman" pitchFamily="18" charset="0"/>
              </a:rPr>
              <a:t>superclass</a:t>
            </a:r>
            <a:r>
              <a:rPr lang="en-US" dirty="0">
                <a:cs typeface="Times New Roman" pitchFamily="18" charset="0"/>
              </a:rPr>
              <a:t> (</a:t>
            </a:r>
            <a:r>
              <a:rPr lang="en-US" b="1" dirty="0" err="1">
                <a:solidFill>
                  <a:schemeClr val="bg2">
                    <a:lumMod val="75000"/>
                  </a:schemeClr>
                </a:solidFill>
                <a:cs typeface="Times New Roman" pitchFamily="18" charset="0"/>
              </a:rPr>
              <a:t>Emp</a:t>
            </a:r>
            <a:r>
              <a:rPr lang="en-US" dirty="0">
                <a:cs typeface="Times New Roman" pitchFamily="18" charset="0"/>
              </a:rPr>
              <a:t>), then the company must pay salaries to all employees, including </a:t>
            </a:r>
            <a:r>
              <a:rPr lang="en-US" b="1" dirty="0" err="1">
                <a:solidFill>
                  <a:schemeClr val="bg2">
                    <a:lumMod val="75000"/>
                  </a:schemeClr>
                </a:solidFill>
                <a:cs typeface="Times New Roman" pitchFamily="18" charset="0"/>
              </a:rPr>
              <a:t>SEmp</a:t>
            </a:r>
            <a:r>
              <a:rPr lang="en-US" dirty="0">
                <a:solidFill>
                  <a:schemeClr val="bg2">
                    <a:lumMod val="75000"/>
                  </a:schemeClr>
                </a:solidFill>
                <a:cs typeface="Times New Roman" pitchFamily="18" charset="0"/>
              </a:rPr>
              <a:t>, </a:t>
            </a:r>
            <a:r>
              <a:rPr lang="en-US" b="1" dirty="0" err="1">
                <a:solidFill>
                  <a:schemeClr val="bg2">
                    <a:lumMod val="75000"/>
                  </a:schemeClr>
                </a:solidFill>
                <a:cs typeface="Times New Roman" pitchFamily="18" charset="0"/>
              </a:rPr>
              <a:t>HEmp</a:t>
            </a:r>
            <a:r>
              <a:rPr lang="en-US" dirty="0">
                <a:solidFill>
                  <a:schemeClr val="bg2">
                    <a:lumMod val="75000"/>
                  </a:schemeClr>
                </a:solidFill>
                <a:cs typeface="Times New Roman" pitchFamily="18" charset="0"/>
              </a:rPr>
              <a:t>, </a:t>
            </a:r>
            <a:r>
              <a:rPr lang="en-US" dirty="0">
                <a:cs typeface="Times New Roman" pitchFamily="18" charset="0"/>
              </a:rPr>
              <a:t>and </a:t>
            </a:r>
            <a:r>
              <a:rPr lang="en-US" b="1" dirty="0">
                <a:solidFill>
                  <a:schemeClr val="bg2">
                    <a:lumMod val="75000"/>
                  </a:schemeClr>
                </a:solidFill>
                <a:cs typeface="Times New Roman" pitchFamily="18" charset="0"/>
              </a:rPr>
              <a:t>Trainees</a:t>
            </a:r>
            <a:r>
              <a:rPr lang="en-US" dirty="0">
                <a:cs typeface="Times New Roman" pitchFamily="18" charset="0"/>
              </a:rPr>
              <a:t>. However, </a:t>
            </a:r>
            <a:r>
              <a:rPr lang="en-US" b="1" dirty="0">
                <a:solidFill>
                  <a:schemeClr val="bg2">
                    <a:lumMod val="75000"/>
                  </a:schemeClr>
                </a:solidFill>
                <a:cs typeface="Times New Roman" pitchFamily="18" charset="0"/>
              </a:rPr>
              <a:t>Trainees</a:t>
            </a:r>
            <a:r>
              <a:rPr lang="en-US" dirty="0">
                <a:cs typeface="Times New Roman" pitchFamily="18" charset="0"/>
              </a:rPr>
              <a:t> do not receive a salary; they only work for experience. Because of this, it is better to shift </a:t>
            </a:r>
            <a:r>
              <a:rPr lang="en-US" dirty="0" err="1">
                <a:cs typeface="Times New Roman" pitchFamily="18" charset="0"/>
              </a:rPr>
              <a:t>wsal</a:t>
            </a:r>
            <a:r>
              <a:rPr lang="en-US" dirty="0">
                <a:cs typeface="Times New Roman" pitchFamily="18" charset="0"/>
              </a:rPr>
              <a:t>() from the </a:t>
            </a:r>
            <a:r>
              <a:rPr lang="en-US" b="1" dirty="0" err="1">
                <a:solidFill>
                  <a:schemeClr val="bg2">
                    <a:lumMod val="75000"/>
                  </a:schemeClr>
                </a:solidFill>
                <a:cs typeface="Times New Roman" pitchFamily="18" charset="0"/>
              </a:rPr>
              <a:t>superclass</a:t>
            </a:r>
            <a:r>
              <a:rPr lang="en-US" dirty="0">
                <a:cs typeface="Times New Roman" pitchFamily="18" charset="0"/>
              </a:rPr>
              <a:t> to the interface and let </a:t>
            </a:r>
            <a:r>
              <a:rPr lang="en-US" b="1" dirty="0" err="1">
                <a:solidFill>
                  <a:schemeClr val="bg2">
                    <a:lumMod val="75000"/>
                  </a:schemeClr>
                </a:solidFill>
                <a:cs typeface="Times New Roman" pitchFamily="18" charset="0"/>
              </a:rPr>
              <a:t>SEmp</a:t>
            </a:r>
            <a:r>
              <a:rPr lang="en-US" dirty="0">
                <a:cs typeface="Times New Roman" pitchFamily="18" charset="0"/>
              </a:rPr>
              <a:t> and </a:t>
            </a:r>
            <a:r>
              <a:rPr lang="en-US" b="1" dirty="0" err="1">
                <a:solidFill>
                  <a:schemeClr val="bg2">
                    <a:lumMod val="75000"/>
                  </a:schemeClr>
                </a:solidFill>
                <a:cs typeface="Times New Roman" pitchFamily="18" charset="0"/>
              </a:rPr>
              <a:t>HEmp</a:t>
            </a:r>
            <a:r>
              <a:rPr lang="en-US" dirty="0">
                <a:cs typeface="Times New Roman" pitchFamily="18" charset="0"/>
              </a:rPr>
              <a:t> implement that interface, and both </a:t>
            </a:r>
            <a:r>
              <a:rPr lang="en-US" b="1" dirty="0" err="1">
                <a:solidFill>
                  <a:schemeClr val="bg2">
                    <a:lumMod val="75000"/>
                  </a:schemeClr>
                </a:solidFill>
                <a:cs typeface="Times New Roman" pitchFamily="18" charset="0"/>
              </a:rPr>
              <a:t>SEmp</a:t>
            </a:r>
            <a:r>
              <a:rPr lang="en-US" dirty="0">
                <a:cs typeface="Times New Roman" pitchFamily="18" charset="0"/>
              </a:rPr>
              <a:t> and </a:t>
            </a:r>
            <a:r>
              <a:rPr lang="en-US" b="1" dirty="0" err="1">
                <a:solidFill>
                  <a:schemeClr val="bg2">
                    <a:lumMod val="75000"/>
                  </a:schemeClr>
                </a:solidFill>
                <a:cs typeface="Times New Roman" pitchFamily="18" charset="0"/>
              </a:rPr>
              <a:t>HEmp</a:t>
            </a:r>
            <a:r>
              <a:rPr lang="en-US" dirty="0">
                <a:cs typeface="Times New Roman" pitchFamily="18" charset="0"/>
              </a:rPr>
              <a:t> should redefine </a:t>
            </a:r>
            <a:r>
              <a:rPr lang="en-US" dirty="0">
                <a:solidFill>
                  <a:schemeClr val="bg2">
                    <a:lumMod val="75000"/>
                  </a:schemeClr>
                </a:solidFill>
                <a:cs typeface="Times New Roman" pitchFamily="18" charset="0"/>
              </a:rPr>
              <a:t>(</a:t>
            </a:r>
            <a:r>
              <a:rPr lang="en-US" b="1" dirty="0">
                <a:solidFill>
                  <a:schemeClr val="bg2">
                    <a:lumMod val="75000"/>
                  </a:schemeClr>
                </a:solidFill>
                <a:cs typeface="Times New Roman" pitchFamily="18" charset="0"/>
              </a:rPr>
              <a:t>override</a:t>
            </a:r>
            <a:r>
              <a:rPr lang="en-US" dirty="0">
                <a:solidFill>
                  <a:schemeClr val="bg2">
                    <a:lumMod val="75000"/>
                  </a:schemeClr>
                </a:solidFill>
                <a:cs typeface="Times New Roman" pitchFamily="18" charset="0"/>
              </a:rPr>
              <a:t>) </a:t>
            </a:r>
            <a:r>
              <a:rPr lang="en-US" dirty="0">
                <a:cs typeface="Times New Roman" pitchFamily="18" charset="0"/>
              </a:rPr>
              <a:t>it in a way that suits them.</a:t>
            </a:r>
          </a:p>
        </p:txBody>
      </p:sp>
      <p:sp>
        <p:nvSpPr>
          <p:cNvPr id="43" name="Rectangle 42">
            <a:extLst>
              <a:ext uri="{FF2B5EF4-FFF2-40B4-BE49-F238E27FC236}">
                <a16:creationId xmlns:a16="http://schemas.microsoft.com/office/drawing/2014/main" id="{DBEC35C3-EF73-60E9-1DF2-327812827577}"/>
              </a:ext>
            </a:extLst>
          </p:cNvPr>
          <p:cNvSpPr/>
          <p:nvPr/>
        </p:nvSpPr>
        <p:spPr>
          <a:xfrm>
            <a:off x="348791" y="1924610"/>
            <a:ext cx="8001056" cy="369332"/>
          </a:xfrm>
          <a:prstGeom prst="rect">
            <a:avLst/>
          </a:prstGeom>
        </p:spPr>
        <p:txBody>
          <a:bodyPr wrap="square">
            <a:spAutoFit/>
          </a:bodyPr>
          <a:lstStyle/>
          <a:p>
            <a:pPr algn="l" rtl="0"/>
            <a:r>
              <a:rPr lang="en-US" b="1" dirty="0">
                <a:solidFill>
                  <a:schemeClr val="bg2">
                    <a:lumMod val="75000"/>
                  </a:schemeClr>
                </a:solidFill>
                <a:cs typeface="Times New Roman" pitchFamily="18" charset="0"/>
              </a:rPr>
              <a:t>When interface is preferable solution?</a:t>
            </a:r>
          </a:p>
        </p:txBody>
      </p:sp>
      <p:sp>
        <p:nvSpPr>
          <p:cNvPr id="44" name="Rectangle 43">
            <a:extLst>
              <a:ext uri="{FF2B5EF4-FFF2-40B4-BE49-F238E27FC236}">
                <a16:creationId xmlns:a16="http://schemas.microsoft.com/office/drawing/2014/main" id="{0B17F1CB-6CDE-0F24-F9CE-CA246A496B1E}"/>
              </a:ext>
            </a:extLst>
          </p:cNvPr>
          <p:cNvSpPr/>
          <p:nvPr/>
        </p:nvSpPr>
        <p:spPr>
          <a:xfrm>
            <a:off x="420229" y="2338747"/>
            <a:ext cx="7929618" cy="1703030"/>
          </a:xfrm>
          <a:prstGeom prst="rect">
            <a:avLst/>
          </a:prstGeom>
        </p:spPr>
        <p:txBody>
          <a:bodyPr wrap="square">
            <a:spAutoFit/>
          </a:bodyPr>
          <a:lstStyle/>
          <a:p>
            <a:pPr marL="352425" indent="-352425" algn="just" rtl="0">
              <a:lnSpc>
                <a:spcPct val="150000"/>
              </a:lnSpc>
              <a:buFont typeface="Wingdings" panose="05000000000000000000" pitchFamily="2" charset="2"/>
              <a:buChar char="§"/>
            </a:pPr>
            <a:r>
              <a:rPr lang="en-US" dirty="0">
                <a:cs typeface="Times New Roman" pitchFamily="18" charset="0"/>
              </a:rPr>
              <a:t>When this method is applicable to some subclasses, and no need to add this method to the super class.</a:t>
            </a:r>
          </a:p>
          <a:p>
            <a:pPr marL="352425" indent="-352425" algn="just" rtl="0">
              <a:lnSpc>
                <a:spcPct val="150000"/>
              </a:lnSpc>
              <a:buFont typeface="Wingdings" panose="05000000000000000000" pitchFamily="2" charset="2"/>
              <a:buChar char="§"/>
            </a:pPr>
            <a:r>
              <a:rPr lang="en-US" dirty="0">
                <a:cs typeface="Times New Roman" pitchFamily="18" charset="0"/>
              </a:rPr>
              <a:t>When the method is shared between many classes but they can’t be subclass from a specific class ( no sense).</a:t>
            </a:r>
          </a:p>
        </p:txBody>
      </p:sp>
    </p:spTree>
    <p:extLst>
      <p:ext uri="{BB962C8B-B14F-4D97-AF65-F5344CB8AC3E}">
        <p14:creationId xmlns:p14="http://schemas.microsoft.com/office/powerpoint/2010/main" val="146290100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F7B7-68A1-E5F1-1B0A-1719C5C33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1763C-F8FA-34EF-C099-84B80A5DA3DB}"/>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 (Design Phase)</a:t>
            </a:r>
            <a:endParaRPr lang="en-US" dirty="0"/>
          </a:p>
        </p:txBody>
      </p:sp>
      <p:sp>
        <p:nvSpPr>
          <p:cNvPr id="4" name="Footer Placeholder 3">
            <a:extLst>
              <a:ext uri="{FF2B5EF4-FFF2-40B4-BE49-F238E27FC236}">
                <a16:creationId xmlns:a16="http://schemas.microsoft.com/office/drawing/2014/main" id="{AFFF58D4-7FDF-763D-BCFD-2A650DBF32C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3" name="Rectangle 2">
            <a:extLst>
              <a:ext uri="{FF2B5EF4-FFF2-40B4-BE49-F238E27FC236}">
                <a16:creationId xmlns:a16="http://schemas.microsoft.com/office/drawing/2014/main" id="{97098435-940F-E218-9A38-808BE55BEF12}"/>
              </a:ext>
            </a:extLst>
          </p:cNvPr>
          <p:cNvSpPr/>
          <p:nvPr/>
        </p:nvSpPr>
        <p:spPr>
          <a:xfrm>
            <a:off x="5679058" y="1980172"/>
            <a:ext cx="6223726" cy="4196020"/>
          </a:xfrm>
          <a:prstGeom prst="rect">
            <a:avLst/>
          </a:prstGeom>
          <a:ln w="3175">
            <a:solidFill>
              <a:srgbClr val="C00000"/>
            </a:solidFill>
            <a:prstDash val="dash"/>
          </a:ln>
        </p:spPr>
        <p:style>
          <a:lnRef idx="2">
            <a:schemeClr val="dk1"/>
          </a:lnRef>
          <a:fillRef idx="1">
            <a:schemeClr val="lt1"/>
          </a:fillRef>
          <a:effectRef idx="0">
            <a:schemeClr val="dk1"/>
          </a:effectRef>
          <a:fontRef idx="minor">
            <a:schemeClr val="dk1"/>
          </a:fontRef>
        </p:style>
        <p:txBody>
          <a:bodyPr wrap="square">
            <a:spAutoFit/>
          </a:bodyPr>
          <a:lstStyle/>
          <a:p>
            <a:pPr marL="274638" indent="-182563" algn="just" rtl="0">
              <a:lnSpc>
                <a:spcPct val="150000"/>
              </a:lnSpc>
              <a:buFont typeface="Times New Roman" pitchFamily="18" charset="0"/>
              <a:buChar char="−"/>
            </a:pPr>
            <a:r>
              <a:rPr lang="en-US" dirty="0">
                <a:latin typeface="+mj-lt"/>
                <a:cs typeface="Times New Roman" pitchFamily="18" charset="0"/>
              </a:rPr>
              <a:t>Note that the </a:t>
            </a:r>
            <a:r>
              <a:rPr lang="en-US" b="1" dirty="0">
                <a:solidFill>
                  <a:srgbClr val="C00000"/>
                </a:solidFill>
                <a:latin typeface="+mj-lt"/>
                <a:cs typeface="Times New Roman" pitchFamily="18" charset="0"/>
              </a:rPr>
              <a:t>Company interface</a:t>
            </a:r>
            <a:r>
              <a:rPr lang="en-US" dirty="0">
                <a:latin typeface="+mj-lt"/>
                <a:cs typeface="Times New Roman" pitchFamily="18" charset="0"/>
              </a:rPr>
              <a:t> contains an abstract method </a:t>
            </a:r>
            <a:r>
              <a:rPr lang="en-US" b="1" dirty="0">
                <a:latin typeface="+mj-lt"/>
                <a:cs typeface="Times New Roman" pitchFamily="18" charset="0"/>
              </a:rPr>
              <a:t>(</a:t>
            </a:r>
            <a:r>
              <a:rPr lang="en-US" b="1" dirty="0" err="1">
                <a:latin typeface="+mj-lt"/>
                <a:cs typeface="Times New Roman" pitchFamily="18" charset="0"/>
              </a:rPr>
              <a:t>Wsal</a:t>
            </a:r>
            <a:r>
              <a:rPr lang="en-US" b="1" dirty="0">
                <a:latin typeface="+mj-lt"/>
                <a:cs typeface="Times New Roman" pitchFamily="18" charset="0"/>
              </a:rPr>
              <a:t>()).</a:t>
            </a:r>
            <a:endParaRPr lang="en-US" dirty="0">
              <a:latin typeface="+mj-lt"/>
              <a:cs typeface="Times New Roman" pitchFamily="18" charset="0"/>
            </a:endParaRPr>
          </a:p>
          <a:p>
            <a:pPr marL="274638" lvl="0" indent="-182563" algn="just" rtl="0">
              <a:lnSpc>
                <a:spcPct val="150000"/>
              </a:lnSpc>
              <a:buFont typeface="Times New Roman" pitchFamily="18" charset="0"/>
              <a:buChar char="−"/>
            </a:pPr>
            <a:r>
              <a:rPr lang="en-US" b="1" dirty="0">
                <a:latin typeface="+mj-lt"/>
                <a:cs typeface="Times New Roman" pitchFamily="18" charset="0"/>
              </a:rPr>
              <a:t>(</a:t>
            </a:r>
            <a:r>
              <a:rPr lang="en-US" b="1" dirty="0" err="1">
                <a:latin typeface="+mj-lt"/>
                <a:cs typeface="Times New Roman" pitchFamily="18" charset="0"/>
              </a:rPr>
              <a:t>Wsal</a:t>
            </a:r>
            <a:r>
              <a:rPr lang="en-US" b="1" dirty="0">
                <a:latin typeface="+mj-lt"/>
                <a:cs typeface="Times New Roman" pitchFamily="18" charset="0"/>
              </a:rPr>
              <a:t>()) is a</a:t>
            </a:r>
            <a:r>
              <a:rPr lang="en-US" dirty="0">
                <a:latin typeface="+mj-lt"/>
                <a:cs typeface="Times New Roman" pitchFamily="18" charset="0"/>
              </a:rPr>
              <a:t>n abstract  method that has only signature and without body.</a:t>
            </a:r>
          </a:p>
          <a:p>
            <a:pPr marL="274638" indent="-182563" algn="just" rtl="0">
              <a:lnSpc>
                <a:spcPct val="150000"/>
              </a:lnSpc>
              <a:buFont typeface="Times New Roman" pitchFamily="18" charset="0"/>
              <a:buChar char="−"/>
            </a:pPr>
            <a:r>
              <a:rPr lang="en-US" dirty="0">
                <a:latin typeface="+mj-lt"/>
                <a:cs typeface="Times New Roman" pitchFamily="18" charset="0"/>
              </a:rPr>
              <a:t>subclasses (</a:t>
            </a:r>
            <a:r>
              <a:rPr lang="en-US" dirty="0" err="1">
                <a:solidFill>
                  <a:srgbClr val="0000FF"/>
                </a:solidFill>
                <a:latin typeface="+mj-lt"/>
                <a:cs typeface="Times New Roman" pitchFamily="18" charset="0"/>
              </a:rPr>
              <a:t>SEmp</a:t>
            </a:r>
            <a:r>
              <a:rPr lang="en-US" dirty="0">
                <a:latin typeface="+mj-lt"/>
                <a:cs typeface="Times New Roman" pitchFamily="18" charset="0"/>
              </a:rPr>
              <a:t> and </a:t>
            </a:r>
            <a:r>
              <a:rPr lang="en-US" dirty="0" err="1">
                <a:solidFill>
                  <a:srgbClr val="0000FF"/>
                </a:solidFill>
                <a:latin typeface="+mj-lt"/>
                <a:cs typeface="Times New Roman" pitchFamily="18" charset="0"/>
              </a:rPr>
              <a:t>HEmp</a:t>
            </a:r>
            <a:r>
              <a:rPr lang="en-US" dirty="0">
                <a:latin typeface="+mj-lt"/>
                <a:cs typeface="Times New Roman" pitchFamily="18" charset="0"/>
              </a:rPr>
              <a:t>) </a:t>
            </a:r>
            <a:r>
              <a:rPr lang="en-US" u="sng" dirty="0">
                <a:solidFill>
                  <a:srgbClr val="C00000"/>
                </a:solidFill>
                <a:latin typeface="+mj-lt"/>
                <a:cs typeface="Times New Roman" pitchFamily="18" charset="0"/>
              </a:rPr>
              <a:t>must</a:t>
            </a:r>
            <a:r>
              <a:rPr lang="en-US" dirty="0">
                <a:latin typeface="+mj-lt"/>
                <a:cs typeface="Times New Roman" pitchFamily="18" charset="0"/>
              </a:rPr>
              <a:t> override the abstract methods (</a:t>
            </a:r>
            <a:r>
              <a:rPr lang="en-US" b="1" dirty="0" err="1">
                <a:latin typeface="+mj-lt"/>
                <a:cs typeface="Times New Roman" pitchFamily="18" charset="0"/>
              </a:rPr>
              <a:t>Wsal</a:t>
            </a:r>
            <a:r>
              <a:rPr lang="en-US" b="1" dirty="0">
                <a:latin typeface="+mj-lt"/>
                <a:cs typeface="Times New Roman" pitchFamily="18" charset="0"/>
              </a:rPr>
              <a:t>()</a:t>
            </a:r>
            <a:r>
              <a:rPr lang="en-US" dirty="0">
                <a:latin typeface="+mj-lt"/>
                <a:cs typeface="Times New Roman" pitchFamily="18" charset="0"/>
              </a:rPr>
              <a:t>). Otherwise, compile-time errors will appear in all the subclasses that implement from the interface.</a:t>
            </a:r>
          </a:p>
          <a:p>
            <a:pPr marL="274638" indent="-182563" algn="just" rtl="0">
              <a:lnSpc>
                <a:spcPct val="150000"/>
              </a:lnSpc>
              <a:buFont typeface="Times New Roman" pitchFamily="18" charset="0"/>
              <a:buChar char="−"/>
            </a:pPr>
            <a:r>
              <a:rPr lang="en-US" b="1" dirty="0">
                <a:solidFill>
                  <a:srgbClr val="C00000"/>
                </a:solidFill>
                <a:latin typeface="+mj-lt"/>
                <a:cs typeface="Times New Roman" pitchFamily="18" charset="0"/>
              </a:rPr>
              <a:t>Logically</a:t>
            </a:r>
            <a:r>
              <a:rPr lang="en-US" dirty="0">
                <a:latin typeface="+mj-lt"/>
                <a:cs typeface="Times New Roman" pitchFamily="18" charset="0"/>
              </a:rPr>
              <a:t>, it is not allowed for the </a:t>
            </a:r>
            <a:r>
              <a:rPr lang="en-US" dirty="0">
                <a:solidFill>
                  <a:srgbClr val="0000FF"/>
                </a:solidFill>
                <a:latin typeface="+mj-lt"/>
                <a:cs typeface="Times New Roman" pitchFamily="18" charset="0"/>
              </a:rPr>
              <a:t>Trainees</a:t>
            </a:r>
            <a:r>
              <a:rPr lang="en-US" dirty="0">
                <a:latin typeface="+mj-lt"/>
                <a:cs typeface="Times New Roman" pitchFamily="18" charset="0"/>
              </a:rPr>
              <a:t> subclass to override the </a:t>
            </a:r>
            <a:r>
              <a:rPr lang="en-US" dirty="0" err="1">
                <a:latin typeface="+mj-lt"/>
                <a:cs typeface="Times New Roman" pitchFamily="18" charset="0"/>
              </a:rPr>
              <a:t>Wsal</a:t>
            </a:r>
            <a:r>
              <a:rPr lang="en-US" dirty="0">
                <a:latin typeface="+mj-lt"/>
                <a:cs typeface="Times New Roman" pitchFamily="18" charset="0"/>
              </a:rPr>
              <a:t>() method.</a:t>
            </a:r>
          </a:p>
        </p:txBody>
      </p:sp>
      <p:pic>
        <p:nvPicPr>
          <p:cNvPr id="5" name="Picture 3" descr="I:\Untitled.png">
            <a:extLst>
              <a:ext uri="{FF2B5EF4-FFF2-40B4-BE49-F238E27FC236}">
                <a16:creationId xmlns:a16="http://schemas.microsoft.com/office/drawing/2014/main" id="{E3F2D16F-FDAB-8999-40D5-D7C3A831601A}"/>
              </a:ext>
            </a:extLst>
          </p:cNvPr>
          <p:cNvPicPr>
            <a:picLocks noChangeAspect="1" noChangeArrowheads="1"/>
          </p:cNvPicPr>
          <p:nvPr/>
        </p:nvPicPr>
        <p:blipFill>
          <a:blip r:embed="rId2"/>
          <a:srcRect/>
          <a:stretch>
            <a:fillRect/>
          </a:stretch>
        </p:blipFill>
        <p:spPr bwMode="auto">
          <a:xfrm>
            <a:off x="42208" y="1665668"/>
            <a:ext cx="5636849" cy="4387402"/>
          </a:xfrm>
          <a:prstGeom prst="rect">
            <a:avLst/>
          </a:prstGeom>
          <a:noFill/>
          <a:ln w="3175">
            <a:noFill/>
            <a:prstDash val="solid"/>
          </a:ln>
        </p:spPr>
      </p:pic>
      <p:cxnSp>
        <p:nvCxnSpPr>
          <p:cNvPr id="7" name="Straight Connector 6">
            <a:extLst>
              <a:ext uri="{FF2B5EF4-FFF2-40B4-BE49-F238E27FC236}">
                <a16:creationId xmlns:a16="http://schemas.microsoft.com/office/drawing/2014/main" id="{8409D501-3C64-4F84-B413-D4E6A088C22E}"/>
              </a:ext>
            </a:extLst>
          </p:cNvPr>
          <p:cNvCxnSpPr/>
          <p:nvPr/>
        </p:nvCxnSpPr>
        <p:spPr>
          <a:xfrm rot="5400000">
            <a:off x="3784363" y="4097778"/>
            <a:ext cx="3786214" cy="1588"/>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373BE8BD-9F69-9472-6380-0145A7140B17}"/>
              </a:ext>
            </a:extLst>
          </p:cNvPr>
          <p:cNvSpPr/>
          <p:nvPr/>
        </p:nvSpPr>
        <p:spPr>
          <a:xfrm>
            <a:off x="3685458" y="3258287"/>
            <a:ext cx="1371174" cy="341425"/>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Body)"/>
            </a:endParaRPr>
          </a:p>
        </p:txBody>
      </p:sp>
    </p:spTree>
    <p:extLst>
      <p:ext uri="{BB962C8B-B14F-4D97-AF65-F5344CB8AC3E}">
        <p14:creationId xmlns:p14="http://schemas.microsoft.com/office/powerpoint/2010/main" val="284021233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4062C-0BB3-574A-CB39-D16F56684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EFFF7-1139-738E-52A4-9532807048EC}"/>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a:t>
            </a:r>
            <a:r>
              <a:rPr lang="en-GB" altLang="en-US" sz="2000" dirty="0">
                <a:cs typeface="Courier New" panose="02070309020205020404" pitchFamily="49" charset="0"/>
              </a:rPr>
              <a:t>Syntax</a:t>
            </a:r>
            <a:r>
              <a:rPr lang="en-GB" altLang="en-US" dirty="0">
                <a:cs typeface="Courier New" panose="02070309020205020404" pitchFamily="49" charset="0"/>
              </a:rPr>
              <a:t> </a:t>
            </a:r>
            <a:endParaRPr lang="en-US" dirty="0"/>
          </a:p>
        </p:txBody>
      </p:sp>
      <p:sp>
        <p:nvSpPr>
          <p:cNvPr id="4" name="Footer Placeholder 3">
            <a:extLst>
              <a:ext uri="{FF2B5EF4-FFF2-40B4-BE49-F238E27FC236}">
                <a16:creationId xmlns:a16="http://schemas.microsoft.com/office/drawing/2014/main" id="{58F2053B-FAEC-1D19-0F0B-5ECBF570CC2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5" name="Rectangle 14">
            <a:extLst>
              <a:ext uri="{FF2B5EF4-FFF2-40B4-BE49-F238E27FC236}">
                <a16:creationId xmlns:a16="http://schemas.microsoft.com/office/drawing/2014/main" id="{3132F64C-0D4B-B05E-1671-BE0EAE8619F5}"/>
              </a:ext>
            </a:extLst>
          </p:cNvPr>
          <p:cNvSpPr/>
          <p:nvPr/>
        </p:nvSpPr>
        <p:spPr>
          <a:xfrm>
            <a:off x="348791" y="1864417"/>
            <a:ext cx="11481846" cy="457754"/>
          </a:xfrm>
          <a:prstGeom prst="rect">
            <a:avLst/>
          </a:prstGeom>
          <a:ln w="3175">
            <a:noFill/>
            <a:prstDash val="lgDash"/>
          </a:ln>
        </p:spPr>
        <p:style>
          <a:lnRef idx="2">
            <a:schemeClr val="dk1"/>
          </a:lnRef>
          <a:fillRef idx="1">
            <a:schemeClr val="lt1"/>
          </a:fillRef>
          <a:effectRef idx="0">
            <a:schemeClr val="dk1"/>
          </a:effectRef>
          <a:fontRef idx="minor">
            <a:schemeClr val="dk1"/>
          </a:fontRef>
        </p:style>
        <p:txBody>
          <a:bodyPr wrap="square">
            <a:spAutoFit/>
          </a:bodyPr>
          <a:lstStyle/>
          <a:p>
            <a:pPr algn="just" rtl="0">
              <a:lnSpc>
                <a:spcPct val="150000"/>
              </a:lnSpc>
            </a:pPr>
            <a:r>
              <a:rPr lang="en-US" dirty="0">
                <a:latin typeface="+mj-lt"/>
                <a:cs typeface="Times New Roman" pitchFamily="18" charset="0"/>
              </a:rPr>
              <a:t>To declare an </a:t>
            </a:r>
            <a:r>
              <a:rPr lang="en-US" dirty="0" err="1">
                <a:latin typeface="+mj-lt"/>
                <a:cs typeface="Times New Roman" pitchFamily="18" charset="0"/>
              </a:rPr>
              <a:t>Interfce</a:t>
            </a:r>
            <a:r>
              <a:rPr lang="en-US" dirty="0">
                <a:latin typeface="+mj-lt"/>
                <a:cs typeface="Times New Roman" pitchFamily="18" charset="0"/>
              </a:rPr>
              <a:t>, we use the access modifier first, then the “</a:t>
            </a:r>
            <a:r>
              <a:rPr lang="en-US" dirty="0">
                <a:solidFill>
                  <a:srgbClr val="0000FF"/>
                </a:solidFill>
                <a:latin typeface="+mj-lt"/>
                <a:cs typeface="Times New Roman" pitchFamily="18" charset="0"/>
              </a:rPr>
              <a:t>interface</a:t>
            </a:r>
            <a:r>
              <a:rPr lang="en-US" dirty="0">
                <a:latin typeface="+mj-lt"/>
                <a:cs typeface="Times New Roman" pitchFamily="18" charset="0"/>
              </a:rPr>
              <a:t>" keyword, and the interface name:</a:t>
            </a:r>
          </a:p>
        </p:txBody>
      </p:sp>
      <p:sp>
        <p:nvSpPr>
          <p:cNvPr id="17" name="Rectangle 16">
            <a:extLst>
              <a:ext uri="{FF2B5EF4-FFF2-40B4-BE49-F238E27FC236}">
                <a16:creationId xmlns:a16="http://schemas.microsoft.com/office/drawing/2014/main" id="{5490A4AF-60FB-FA6C-3AC5-2EECEF7BC09F}"/>
              </a:ext>
            </a:extLst>
          </p:cNvPr>
          <p:cNvSpPr/>
          <p:nvPr/>
        </p:nvSpPr>
        <p:spPr>
          <a:xfrm>
            <a:off x="348791" y="3274258"/>
            <a:ext cx="11481846" cy="1287532"/>
          </a:xfrm>
          <a:prstGeom prst="rect">
            <a:avLst/>
          </a:prstGeom>
          <a:ln w="3175">
            <a:noFill/>
            <a:prstDash val="lgDash"/>
          </a:ln>
        </p:spPr>
        <p:txBody>
          <a:bodyPr wrap="square">
            <a:spAutoFit/>
          </a:bodyPr>
          <a:lstStyle/>
          <a:p>
            <a:pPr algn="just" rtl="0">
              <a:lnSpc>
                <a:spcPct val="150000"/>
              </a:lnSpc>
            </a:pPr>
            <a:r>
              <a:rPr lang="en-US" dirty="0">
                <a:cs typeface="Times New Roman" pitchFamily="18" charset="0"/>
              </a:rPr>
              <a:t>To declare a data field, we use the access modifier first, then either with or without adding the final static, the data type, and the variable name, and finally give the value of the data field directly in the declaration statement.</a:t>
            </a:r>
          </a:p>
        </p:txBody>
      </p:sp>
      <p:sp>
        <p:nvSpPr>
          <p:cNvPr id="18" name="Rectangle 17">
            <a:extLst>
              <a:ext uri="{FF2B5EF4-FFF2-40B4-BE49-F238E27FC236}">
                <a16:creationId xmlns:a16="http://schemas.microsoft.com/office/drawing/2014/main" id="{77E258AF-5886-E566-FBCC-84E4875D9031}"/>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18773CCE-6CB0-185A-87BB-A31EFCCA07C7}"/>
              </a:ext>
            </a:extLst>
          </p:cNvPr>
          <p:cNvSpPr/>
          <p:nvPr/>
        </p:nvSpPr>
        <p:spPr>
          <a:xfrm>
            <a:off x="921667" y="4636049"/>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rtl="0">
              <a:lnSpc>
                <a:spcPct val="150000"/>
              </a:lnSpc>
            </a:pPr>
            <a:r>
              <a:rPr lang="en-US" sz="1800" b="1" dirty="0" err="1">
                <a:solidFill>
                  <a:schemeClr val="bg2">
                    <a:lumMod val="75000"/>
                  </a:schemeClr>
                </a:solidFill>
                <a:cs typeface="Sakkal Majalla" pitchFamily="2" charset="-78"/>
              </a:rPr>
              <a:t>access_modifier</a:t>
            </a:r>
            <a:r>
              <a:rPr lang="en-US" sz="1800" b="1" dirty="0">
                <a:solidFill>
                  <a:schemeClr val="bg2">
                    <a:lumMod val="75000"/>
                  </a:schemeClr>
                </a:solidFill>
                <a:cs typeface="Sakkal Majalla" pitchFamily="2" charset="-78"/>
              </a:rPr>
              <a:t> final static data type </a:t>
            </a:r>
            <a:r>
              <a:rPr lang="en-US" sz="1800" b="1" dirty="0" err="1">
                <a:solidFill>
                  <a:schemeClr val="bg2">
                    <a:lumMod val="75000"/>
                  </a:schemeClr>
                </a:solidFill>
                <a:cs typeface="Sakkal Majalla" pitchFamily="2" charset="-78"/>
              </a:rPr>
              <a:t>variableName</a:t>
            </a:r>
            <a:r>
              <a:rPr lang="en-US" sz="1800" b="1" dirty="0">
                <a:solidFill>
                  <a:schemeClr val="bg2">
                    <a:lumMod val="75000"/>
                  </a:schemeClr>
                </a:solidFill>
                <a:cs typeface="Sakkal Majalla" pitchFamily="2" charset="-78"/>
              </a:rPr>
              <a:t> = value </a:t>
            </a:r>
            <a:r>
              <a:rPr lang="en-US" sz="1800" b="1" dirty="0">
                <a:solidFill>
                  <a:schemeClr val="bg2">
                    <a:lumMod val="75000"/>
                  </a:schemeClr>
                </a:solidFill>
                <a:effectLst>
                  <a:outerShdw blurRad="38100" dist="38100" dir="2700000" algn="tl">
                    <a:srgbClr val="000000">
                      <a:alpha val="43137"/>
                    </a:srgbClr>
                  </a:outerShdw>
                </a:effectLst>
                <a:cs typeface="Sakkal Majalla" pitchFamily="2" charset="-78"/>
              </a:rPr>
              <a:t>;</a:t>
            </a:r>
            <a:endParaRPr lang="en-US" sz="1800" b="1" dirty="0">
              <a:solidFill>
                <a:schemeClr val="bg2">
                  <a:lumMod val="75000"/>
                </a:schemeClr>
              </a:solidFill>
              <a:cs typeface="Sakkal Majalla" pitchFamily="2" charset="-78"/>
            </a:endParaRPr>
          </a:p>
        </p:txBody>
      </p:sp>
      <p:sp>
        <p:nvSpPr>
          <p:cNvPr id="20" name="Rectangle 19">
            <a:extLst>
              <a:ext uri="{FF2B5EF4-FFF2-40B4-BE49-F238E27FC236}">
                <a16:creationId xmlns:a16="http://schemas.microsoft.com/office/drawing/2014/main" id="{7F5064A3-277F-BE2F-00EB-2942FB09F303}"/>
              </a:ext>
            </a:extLst>
          </p:cNvPr>
          <p:cNvSpPr/>
          <p:nvPr/>
        </p:nvSpPr>
        <p:spPr>
          <a:xfrm>
            <a:off x="921667" y="2534314"/>
            <a:ext cx="8673093" cy="785343"/>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rtl="0">
              <a:lnSpc>
                <a:spcPct val="150000"/>
              </a:lnSpc>
            </a:pPr>
            <a:r>
              <a:rPr lang="en-US" sz="2800" dirty="0" err="1">
                <a:solidFill>
                  <a:schemeClr val="bg2">
                    <a:lumMod val="75000"/>
                  </a:schemeClr>
                </a:solidFill>
                <a:cs typeface="Sakkal Majalla" pitchFamily="2" charset="-78"/>
              </a:rPr>
              <a:t>access_modifier</a:t>
            </a:r>
            <a:r>
              <a:rPr lang="en-US" sz="2800" dirty="0">
                <a:solidFill>
                  <a:schemeClr val="bg2">
                    <a:lumMod val="75000"/>
                  </a:schemeClr>
                </a:solidFill>
                <a:cs typeface="Sakkal Majalla" pitchFamily="2" charset="-78"/>
              </a:rPr>
              <a:t> interface </a:t>
            </a:r>
            <a:r>
              <a:rPr lang="en-US" sz="2800" dirty="0" err="1">
                <a:solidFill>
                  <a:schemeClr val="bg2">
                    <a:lumMod val="75000"/>
                  </a:schemeClr>
                </a:solidFill>
                <a:cs typeface="Sakkal Majalla" pitchFamily="2" charset="-78"/>
              </a:rPr>
              <a:t>interface_Name</a:t>
            </a:r>
            <a:r>
              <a:rPr lang="en-US" sz="2800" dirty="0">
                <a:solidFill>
                  <a:schemeClr val="bg2">
                    <a:lumMod val="75000"/>
                  </a:schemeClr>
                </a:solidFill>
                <a:cs typeface="Sakkal Majalla" pitchFamily="2" charset="-78"/>
              </a:rPr>
              <a:t>{ }</a:t>
            </a:r>
          </a:p>
        </p:txBody>
      </p:sp>
    </p:spTree>
    <p:extLst>
      <p:ext uri="{BB962C8B-B14F-4D97-AF65-F5344CB8AC3E}">
        <p14:creationId xmlns:p14="http://schemas.microsoft.com/office/powerpoint/2010/main" val="33368503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E3B49-EAEA-F298-28EF-5EDB39B85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9355D-DEA2-ECD3-19F7-D3117EB8C8EB}"/>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Syntax</a:t>
            </a:r>
            <a:endParaRPr lang="en-US" dirty="0"/>
          </a:p>
        </p:txBody>
      </p:sp>
      <p:sp>
        <p:nvSpPr>
          <p:cNvPr id="4" name="Footer Placeholder 3">
            <a:extLst>
              <a:ext uri="{FF2B5EF4-FFF2-40B4-BE49-F238E27FC236}">
                <a16:creationId xmlns:a16="http://schemas.microsoft.com/office/drawing/2014/main" id="{150AF9DC-6F5C-9525-C8B1-DBE7A0858F50}"/>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9600009D-896A-4A00-5355-931ECD84095C}"/>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48155805-A8AC-DD59-9231-DE5E973144EC}"/>
              </a:ext>
            </a:extLst>
          </p:cNvPr>
          <p:cNvSpPr/>
          <p:nvPr/>
        </p:nvSpPr>
        <p:spPr>
          <a:xfrm>
            <a:off x="589176" y="1876333"/>
            <a:ext cx="11481846" cy="2609176"/>
          </a:xfrm>
          <a:prstGeom prst="rect">
            <a:avLst/>
          </a:prstGeom>
          <a:ln w="3175">
            <a:noFill/>
            <a:prstDash val="lgDash"/>
          </a:ln>
        </p:spPr>
        <p:txBody>
          <a:bodyPr wrap="square">
            <a:spAutoFit/>
          </a:bodyPr>
          <a:lstStyle/>
          <a:p>
            <a:pPr marL="342900" indent="-342900" algn="just" rtl="0">
              <a:lnSpc>
                <a:spcPct val="150000"/>
              </a:lnSpc>
              <a:buFont typeface="Wingdings" panose="05000000000000000000" pitchFamily="2" charset="2"/>
              <a:buChar char="§"/>
            </a:pPr>
            <a:r>
              <a:rPr lang="en-US" sz="2400" dirty="0">
                <a:cs typeface="Times New Roman" pitchFamily="18" charset="0"/>
              </a:rPr>
              <a:t>To declare an abstract method, we use the access modifier first, then either with or without adding the “abstract” keyword, the return type, the method name, and finally a semicolon at the end of the method definition.</a:t>
            </a:r>
          </a:p>
          <a:p>
            <a:pPr algn="just" rtl="0">
              <a:lnSpc>
                <a:spcPct val="150000"/>
              </a:lnSpc>
            </a:pPr>
            <a:endParaRPr lang="en-US" sz="1600" dirty="0">
              <a:cs typeface="Times New Roman" pitchFamily="18" charset="0"/>
            </a:endParaRPr>
          </a:p>
          <a:p>
            <a:pPr algn="ctr" rtl="0">
              <a:lnSpc>
                <a:spcPct val="150000"/>
              </a:lnSpc>
            </a:pPr>
            <a:r>
              <a:rPr lang="en-US" sz="2400" dirty="0" err="1">
                <a:solidFill>
                  <a:schemeClr val="bg2">
                    <a:lumMod val="75000"/>
                  </a:schemeClr>
                </a:solidFill>
                <a:cs typeface="Sakkal Majalla" pitchFamily="2" charset="-78"/>
              </a:rPr>
              <a:t>access_modifier</a:t>
            </a:r>
            <a:r>
              <a:rPr lang="en-US" sz="2400" dirty="0">
                <a:solidFill>
                  <a:schemeClr val="bg2">
                    <a:lumMod val="75000"/>
                  </a:schemeClr>
                </a:solidFill>
                <a:cs typeface="Sakkal Majalla" pitchFamily="2" charset="-78"/>
              </a:rPr>
              <a:t> abstract </a:t>
            </a:r>
            <a:r>
              <a:rPr lang="en-US" sz="2400" dirty="0" err="1">
                <a:solidFill>
                  <a:schemeClr val="bg2">
                    <a:lumMod val="75000"/>
                  </a:schemeClr>
                </a:solidFill>
                <a:cs typeface="Sakkal Majalla" pitchFamily="2" charset="-78"/>
              </a:rPr>
              <a:t>return_type</a:t>
            </a:r>
            <a:r>
              <a:rPr lang="en-US" sz="2400" dirty="0">
                <a:solidFill>
                  <a:schemeClr val="bg2">
                    <a:lumMod val="75000"/>
                  </a:schemeClr>
                </a:solidFill>
                <a:cs typeface="Sakkal Majalla" pitchFamily="2" charset="-78"/>
              </a:rPr>
              <a:t> </a:t>
            </a:r>
            <a:r>
              <a:rPr lang="en-US" sz="2400" dirty="0" err="1">
                <a:solidFill>
                  <a:schemeClr val="bg2">
                    <a:lumMod val="75000"/>
                  </a:schemeClr>
                </a:solidFill>
                <a:cs typeface="Sakkal Majalla" pitchFamily="2" charset="-78"/>
              </a:rPr>
              <a:t>methodName</a:t>
            </a:r>
            <a:r>
              <a:rPr lang="en-US" sz="2400" dirty="0">
                <a:solidFill>
                  <a:schemeClr val="bg2">
                    <a:lumMod val="75000"/>
                  </a:schemeClr>
                </a:solidFill>
                <a:cs typeface="Sakkal Majalla" pitchFamily="2" charset="-78"/>
              </a:rPr>
              <a:t> (</a:t>
            </a:r>
            <a:r>
              <a:rPr lang="en-US" sz="2400" dirty="0" err="1">
                <a:solidFill>
                  <a:schemeClr val="bg2">
                    <a:lumMod val="75000"/>
                  </a:schemeClr>
                </a:solidFill>
                <a:cs typeface="Sakkal Majalla" pitchFamily="2" charset="-78"/>
              </a:rPr>
              <a:t>parameter_list</a:t>
            </a:r>
            <a:r>
              <a:rPr lang="en-US" sz="2400" dirty="0">
                <a:solidFill>
                  <a:schemeClr val="bg2">
                    <a:lumMod val="75000"/>
                  </a:schemeClr>
                </a:solidFill>
                <a:cs typeface="Sakkal Majalla" pitchFamily="2" charset="-78"/>
              </a:rPr>
              <a:t>);</a:t>
            </a:r>
          </a:p>
        </p:txBody>
      </p:sp>
    </p:spTree>
    <p:extLst>
      <p:ext uri="{BB962C8B-B14F-4D97-AF65-F5344CB8AC3E}">
        <p14:creationId xmlns:p14="http://schemas.microsoft.com/office/powerpoint/2010/main" val="353136762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5A9F5-D019-BE9B-D4FE-C65C2FB02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5DA51-9740-711E-F23D-2B467A1D27DE}"/>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 implementation phase</a:t>
            </a:r>
            <a:endParaRPr lang="en-US" dirty="0"/>
          </a:p>
        </p:txBody>
      </p:sp>
      <p:sp>
        <p:nvSpPr>
          <p:cNvPr id="4" name="Footer Placeholder 3">
            <a:extLst>
              <a:ext uri="{FF2B5EF4-FFF2-40B4-BE49-F238E27FC236}">
                <a16:creationId xmlns:a16="http://schemas.microsoft.com/office/drawing/2014/main" id="{6908466E-A8C9-55DE-A9F3-E992BF2CF12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42EB2206-A521-2E6E-92E9-827901CD4ED6}"/>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5" name="Group 4">
            <a:extLst>
              <a:ext uri="{FF2B5EF4-FFF2-40B4-BE49-F238E27FC236}">
                <a16:creationId xmlns:a16="http://schemas.microsoft.com/office/drawing/2014/main" id="{80ABF555-F1B9-1F1C-4A90-17FB8CD8F23A}"/>
              </a:ext>
            </a:extLst>
          </p:cNvPr>
          <p:cNvGrpSpPr/>
          <p:nvPr/>
        </p:nvGrpSpPr>
        <p:grpSpPr>
          <a:xfrm>
            <a:off x="1934101" y="2040066"/>
            <a:ext cx="2071702" cy="1071570"/>
            <a:chOff x="6000760" y="2357430"/>
            <a:chExt cx="2071702" cy="1071570"/>
          </a:xfrm>
        </p:grpSpPr>
        <p:sp>
          <p:nvSpPr>
            <p:cNvPr id="6" name="Oval 5">
              <a:extLst>
                <a:ext uri="{FF2B5EF4-FFF2-40B4-BE49-F238E27FC236}">
                  <a16:creationId xmlns:a16="http://schemas.microsoft.com/office/drawing/2014/main" id="{1078BC8E-D327-F74E-8435-630959A95319}"/>
                </a:ext>
              </a:extLst>
            </p:cNvPr>
            <p:cNvSpPr>
              <a:spLocks noChangeArrowheads="1"/>
            </p:cNvSpPr>
            <p:nvPr/>
          </p:nvSpPr>
          <p:spPr bwMode="auto">
            <a:xfrm>
              <a:off x="6000760" y="2357430"/>
              <a:ext cx="2071702" cy="107157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7E5D4256-E38D-694B-EF56-D69F3A11ED1D}"/>
                </a:ext>
              </a:extLst>
            </p:cNvPr>
            <p:cNvSpPr txBox="1"/>
            <p:nvPr/>
          </p:nvSpPr>
          <p:spPr>
            <a:xfrm>
              <a:off x="6657466" y="2428868"/>
              <a:ext cx="872408" cy="292388"/>
            </a:xfrm>
            <a:prstGeom prst="rect">
              <a:avLst/>
            </a:prstGeom>
            <a:noFill/>
            <a:ln>
              <a:noFill/>
            </a:ln>
          </p:spPr>
          <p:txBody>
            <a:bodyPr wrap="square" rtlCol="0">
              <a:spAutoFit/>
            </a:bodyPr>
            <a:lstStyle/>
            <a:p>
              <a:pPr algn="ctr" rtl="0"/>
              <a:r>
                <a:rPr lang="en-GB" sz="1300" b="1" dirty="0">
                  <a:solidFill>
                    <a:srgbClr val="C00000"/>
                  </a:solidFill>
                  <a:latin typeface="Times New Roman" pitchFamily="18" charset="0"/>
                  <a:ea typeface="Arial" pitchFamily="34" charset="0"/>
                  <a:cs typeface="Times New Roman" pitchFamily="18" charset="0"/>
                </a:rPr>
                <a:t>Company</a:t>
              </a:r>
              <a:endParaRPr lang="en-US" sz="1300" b="1" dirty="0">
                <a:solidFill>
                  <a:srgbClr val="C00000"/>
                </a:solidFill>
                <a:latin typeface="Times New Roman" pitchFamily="18" charset="0"/>
                <a:ea typeface="Arial" pitchFamily="34" charset="0"/>
                <a:cs typeface="Times New Roman" pitchFamily="18" charset="0"/>
              </a:endParaRPr>
            </a:p>
          </p:txBody>
        </p:sp>
        <p:cxnSp>
          <p:nvCxnSpPr>
            <p:cNvPr id="8" name="AutoShape 11">
              <a:extLst>
                <a:ext uri="{FF2B5EF4-FFF2-40B4-BE49-F238E27FC236}">
                  <a16:creationId xmlns:a16="http://schemas.microsoft.com/office/drawing/2014/main" id="{9103B034-C57E-D9AC-C5BD-71C3366305E6}"/>
                </a:ext>
              </a:extLst>
            </p:cNvPr>
            <p:cNvCxnSpPr>
              <a:cxnSpLocks noChangeShapeType="1"/>
            </p:cNvCxnSpPr>
            <p:nvPr/>
          </p:nvCxnSpPr>
          <p:spPr bwMode="auto">
            <a:xfrm>
              <a:off x="6000760" y="2786058"/>
              <a:ext cx="2071702" cy="1588"/>
            </a:xfrm>
            <a:prstGeom prst="straightConnector1">
              <a:avLst/>
            </a:prstGeom>
            <a:noFill/>
            <a:ln w="9525">
              <a:solidFill>
                <a:srgbClr val="000000"/>
              </a:solidFill>
              <a:round/>
              <a:headEnd/>
              <a:tailEnd/>
            </a:ln>
          </p:spPr>
        </p:cxnSp>
        <p:sp>
          <p:nvSpPr>
            <p:cNvPr id="9" name="Rectangle 8">
              <a:extLst>
                <a:ext uri="{FF2B5EF4-FFF2-40B4-BE49-F238E27FC236}">
                  <a16:creationId xmlns:a16="http://schemas.microsoft.com/office/drawing/2014/main" id="{2DFBE36D-EB41-FA8F-0508-25DA905F2029}"/>
                </a:ext>
              </a:extLst>
            </p:cNvPr>
            <p:cNvSpPr/>
            <p:nvPr/>
          </p:nvSpPr>
          <p:spPr>
            <a:xfrm>
              <a:off x="6247392" y="2857496"/>
              <a:ext cx="1753632" cy="323165"/>
            </a:xfrm>
            <a:prstGeom prst="rect">
              <a:avLst/>
            </a:prstGeom>
          </p:spPr>
          <p:txBody>
            <a:bodyPr wrap="square">
              <a:spAutoFit/>
            </a:bodyPr>
            <a:lstStyle/>
            <a:p>
              <a:pPr algn="l" rtl="0"/>
              <a:r>
                <a:rPr lang="en-US" sz="1300" b="1" dirty="0">
                  <a:solidFill>
                    <a:srgbClr val="000099"/>
                  </a:solidFill>
                  <a:latin typeface="Times New Roman" pitchFamily="18" charset="0"/>
                  <a:cs typeface="Times New Roman" pitchFamily="18" charset="0"/>
                </a:rPr>
                <a:t>+ </a:t>
              </a:r>
              <a:r>
                <a:rPr lang="en-US" sz="1300" b="1" dirty="0" err="1">
                  <a:solidFill>
                    <a:srgbClr val="000099"/>
                  </a:solidFill>
                  <a:latin typeface="Times New Roman" pitchFamily="18" charset="0"/>
                  <a:cs typeface="Times New Roman" pitchFamily="18" charset="0"/>
                </a:rPr>
                <a:t>Wsal</a:t>
              </a:r>
              <a:r>
                <a:rPr lang="en-US" sz="1300" b="1" dirty="0">
                  <a:solidFill>
                    <a:srgbClr val="000099"/>
                  </a:solidFill>
                  <a:latin typeface="Times New Roman" pitchFamily="18" charset="0"/>
                  <a:cs typeface="Times New Roman" pitchFamily="18" charset="0"/>
                </a:rPr>
                <a:t>(): double</a:t>
              </a:r>
              <a:r>
                <a:rPr lang="en-US" sz="1500" b="1" dirty="0">
                  <a:solidFill>
                    <a:srgbClr val="000099"/>
                  </a:solidFill>
                  <a:latin typeface="Times New Roman" pitchFamily="18" charset="0"/>
                  <a:cs typeface="Times New Roman" pitchFamily="18" charset="0"/>
                </a:rPr>
                <a:t>;</a:t>
              </a:r>
              <a:endParaRPr lang="en-US" sz="1300" b="1" dirty="0">
                <a:solidFill>
                  <a:srgbClr val="000099"/>
                </a:solidFill>
                <a:latin typeface="Times New Roman" pitchFamily="18" charset="0"/>
                <a:cs typeface="Times New Roman" pitchFamily="18" charset="0"/>
              </a:endParaRPr>
            </a:p>
          </p:txBody>
        </p:sp>
      </p:grpSp>
      <p:pic>
        <p:nvPicPr>
          <p:cNvPr id="10" name="Picture 3">
            <a:extLst>
              <a:ext uri="{FF2B5EF4-FFF2-40B4-BE49-F238E27FC236}">
                <a16:creationId xmlns:a16="http://schemas.microsoft.com/office/drawing/2014/main" id="{D20350F5-0820-2ECA-7BC7-D7E1B01776B7}"/>
              </a:ext>
            </a:extLst>
          </p:cNvPr>
          <p:cNvPicPr>
            <a:picLocks noChangeAspect="1" noChangeArrowheads="1"/>
          </p:cNvPicPr>
          <p:nvPr/>
        </p:nvPicPr>
        <p:blipFill>
          <a:blip r:embed="rId2"/>
          <a:srcRect/>
          <a:stretch>
            <a:fillRect/>
          </a:stretch>
        </p:blipFill>
        <p:spPr bwMode="auto">
          <a:xfrm>
            <a:off x="2005539" y="3968892"/>
            <a:ext cx="4071966" cy="1428760"/>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12" name="TextBox 11">
            <a:extLst>
              <a:ext uri="{FF2B5EF4-FFF2-40B4-BE49-F238E27FC236}">
                <a16:creationId xmlns:a16="http://schemas.microsoft.com/office/drawing/2014/main" id="{E827E6E4-53CF-1D5C-3A20-5C2D299612EB}"/>
              </a:ext>
            </a:extLst>
          </p:cNvPr>
          <p:cNvSpPr txBox="1"/>
          <p:nvPr/>
        </p:nvSpPr>
        <p:spPr>
          <a:xfrm>
            <a:off x="1934101" y="3397388"/>
            <a:ext cx="4231992" cy="323165"/>
          </a:xfrm>
          <a:prstGeom prst="rect">
            <a:avLst/>
          </a:prstGeom>
          <a:noFill/>
        </p:spPr>
        <p:txBody>
          <a:bodyPr wrap="square" rtlCol="0">
            <a:spAutoFit/>
          </a:bodyPr>
          <a:lstStyle/>
          <a:p>
            <a:pPr algn="l" rtl="0"/>
            <a:r>
              <a:rPr lang="en-US" sz="1500" b="1" dirty="0">
                <a:solidFill>
                  <a:srgbClr val="002060"/>
                </a:solidFill>
                <a:latin typeface="Times New Roman" pitchFamily="18" charset="0"/>
                <a:cs typeface="Times New Roman" pitchFamily="18" charset="0"/>
              </a:rPr>
              <a:t>Implementation (programming) Phase using java</a:t>
            </a:r>
          </a:p>
        </p:txBody>
      </p:sp>
      <p:sp>
        <p:nvSpPr>
          <p:cNvPr id="13" name="Right Brace 12">
            <a:extLst>
              <a:ext uri="{FF2B5EF4-FFF2-40B4-BE49-F238E27FC236}">
                <a16:creationId xmlns:a16="http://schemas.microsoft.com/office/drawing/2014/main" id="{687820E0-33E2-1B0C-8487-94FF655E39E4}"/>
              </a:ext>
            </a:extLst>
          </p:cNvPr>
          <p:cNvSpPr/>
          <p:nvPr/>
        </p:nvSpPr>
        <p:spPr>
          <a:xfrm>
            <a:off x="3434299" y="2540132"/>
            <a:ext cx="500066" cy="428628"/>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3DFB1BF2-B529-4951-EF12-51883C7BBFBA}"/>
              </a:ext>
            </a:extLst>
          </p:cNvPr>
          <p:cNvCxnSpPr>
            <a:cxnSpLocks/>
          </p:cNvCxnSpPr>
          <p:nvPr/>
        </p:nvCxnSpPr>
        <p:spPr>
          <a:xfrm>
            <a:off x="3862927" y="2754446"/>
            <a:ext cx="3429024" cy="1588"/>
          </a:xfrm>
          <a:prstGeom prst="straightConnector1">
            <a:avLst/>
          </a:prstGeom>
          <a:ln w="285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276F5B3-04D0-BC88-4166-BE9A5A378D50}"/>
              </a:ext>
            </a:extLst>
          </p:cNvPr>
          <p:cNvCxnSpPr>
            <a:cxnSpLocks/>
          </p:cNvCxnSpPr>
          <p:nvPr/>
        </p:nvCxnSpPr>
        <p:spPr>
          <a:xfrm rot="5400000">
            <a:off x="6113224" y="3933173"/>
            <a:ext cx="2357454" cy="1588"/>
          </a:xfrm>
          <a:prstGeom prst="line">
            <a:avLst/>
          </a:prstGeom>
          <a:ln w="285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932403B-9496-B092-2953-71A30EF4A32A}"/>
              </a:ext>
            </a:extLst>
          </p:cNvPr>
          <p:cNvCxnSpPr>
            <a:cxnSpLocks/>
          </p:cNvCxnSpPr>
          <p:nvPr/>
        </p:nvCxnSpPr>
        <p:spPr>
          <a:xfrm>
            <a:off x="7291951" y="4540396"/>
            <a:ext cx="571504" cy="1588"/>
          </a:xfrm>
          <a:prstGeom prst="line">
            <a:avLst/>
          </a:prstGeom>
          <a:ln w="28575">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8DCA221-91E3-F976-3C00-54029D4A4221}"/>
              </a:ext>
            </a:extLst>
          </p:cNvPr>
          <p:cNvSpPr/>
          <p:nvPr/>
        </p:nvSpPr>
        <p:spPr>
          <a:xfrm>
            <a:off x="7863455" y="3897454"/>
            <a:ext cx="2143140" cy="1855764"/>
          </a:xfrm>
          <a:prstGeom prst="rect">
            <a:avLst/>
          </a:prstGeom>
          <a:ln w="19050">
            <a:solidFill>
              <a:srgbClr val="0070C0"/>
            </a:solidFill>
            <a:prstDash val="dash"/>
          </a:ln>
        </p:spPr>
        <p:txBody>
          <a:bodyPr wrap="square">
            <a:spAutoFit/>
          </a:bodyPr>
          <a:lstStyle/>
          <a:p>
            <a:pPr algn="just" rtl="0">
              <a:lnSpc>
                <a:spcPct val="150000"/>
              </a:lnSpc>
            </a:pPr>
            <a:r>
              <a:rPr lang="en-US" sz="1300" b="1" dirty="0">
                <a:cs typeface="Times New Roman" pitchFamily="18" charset="0"/>
              </a:rPr>
              <a:t>interface in Java is to achieve </a:t>
            </a:r>
            <a:r>
              <a:rPr lang="en-US" sz="1300" b="1" dirty="0">
                <a:solidFill>
                  <a:srgbClr val="C00000"/>
                </a:solidFill>
                <a:cs typeface="Times New Roman" pitchFamily="18" charset="0"/>
              </a:rPr>
              <a:t>100% abstraction</a:t>
            </a:r>
            <a:r>
              <a:rPr lang="en-US" sz="1300" b="1" dirty="0">
                <a:cs typeface="Times New Roman" pitchFamily="18" charset="0"/>
              </a:rPr>
              <a:t> by hiding the actual implementation from the user</a:t>
            </a:r>
          </a:p>
        </p:txBody>
      </p:sp>
      <p:cxnSp>
        <p:nvCxnSpPr>
          <p:cNvPr id="20" name="Straight Arrow Connector 19">
            <a:extLst>
              <a:ext uri="{FF2B5EF4-FFF2-40B4-BE49-F238E27FC236}">
                <a16:creationId xmlns:a16="http://schemas.microsoft.com/office/drawing/2014/main" id="{6632172E-271F-86F8-9515-75A9ADCDEB7B}"/>
              </a:ext>
            </a:extLst>
          </p:cNvPr>
          <p:cNvCxnSpPr>
            <a:cxnSpLocks/>
          </p:cNvCxnSpPr>
          <p:nvPr/>
        </p:nvCxnSpPr>
        <p:spPr>
          <a:xfrm>
            <a:off x="5506001" y="5111900"/>
            <a:ext cx="1785950" cy="1588"/>
          </a:xfrm>
          <a:prstGeom prst="straightConnector1">
            <a:avLst/>
          </a:prstGeom>
          <a:ln w="285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Right Brace 20">
            <a:extLst>
              <a:ext uri="{FF2B5EF4-FFF2-40B4-BE49-F238E27FC236}">
                <a16:creationId xmlns:a16="http://schemas.microsoft.com/office/drawing/2014/main" id="{A2AA7ADA-816C-CC0B-EB5C-D55713FE44ED}"/>
              </a:ext>
            </a:extLst>
          </p:cNvPr>
          <p:cNvSpPr/>
          <p:nvPr/>
        </p:nvSpPr>
        <p:spPr>
          <a:xfrm>
            <a:off x="5077373" y="4897586"/>
            <a:ext cx="500066" cy="428628"/>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a:extLst>
              <a:ext uri="{FF2B5EF4-FFF2-40B4-BE49-F238E27FC236}">
                <a16:creationId xmlns:a16="http://schemas.microsoft.com/office/drawing/2014/main" id="{968D960A-8EF3-DA23-FED1-B5186051E6C8}"/>
              </a:ext>
            </a:extLst>
          </p:cNvPr>
          <p:cNvSpPr/>
          <p:nvPr/>
        </p:nvSpPr>
        <p:spPr>
          <a:xfrm>
            <a:off x="7863455" y="2683008"/>
            <a:ext cx="2071702" cy="955518"/>
          </a:xfrm>
          <a:prstGeom prst="rect">
            <a:avLst/>
          </a:prstGeom>
          <a:ln w="19050">
            <a:solidFill>
              <a:srgbClr val="FF0000"/>
            </a:solidFill>
            <a:prstDash val="dash"/>
          </a:ln>
        </p:spPr>
        <p:txBody>
          <a:bodyPr wrap="square">
            <a:spAutoFit/>
          </a:bodyPr>
          <a:lstStyle/>
          <a:p>
            <a:pPr algn="l" rtl="0">
              <a:lnSpc>
                <a:spcPct val="150000"/>
              </a:lnSpc>
            </a:pPr>
            <a:r>
              <a:rPr lang="en-US" sz="1300" b="1" dirty="0">
                <a:cs typeface="Times New Roman" pitchFamily="18" charset="0"/>
              </a:rPr>
              <a:t>This class should be saved </a:t>
            </a:r>
          </a:p>
          <a:p>
            <a:pPr algn="l" rtl="0">
              <a:lnSpc>
                <a:spcPct val="150000"/>
              </a:lnSpc>
            </a:pPr>
            <a:r>
              <a:rPr lang="en-US" sz="1300" b="1" dirty="0">
                <a:cs typeface="Times New Roman" pitchFamily="18" charset="0"/>
              </a:rPr>
              <a:t>as (Company.java).</a:t>
            </a:r>
          </a:p>
        </p:txBody>
      </p:sp>
      <p:cxnSp>
        <p:nvCxnSpPr>
          <p:cNvPr id="23" name="Straight Arrow Connector 22">
            <a:extLst>
              <a:ext uri="{FF2B5EF4-FFF2-40B4-BE49-F238E27FC236}">
                <a16:creationId xmlns:a16="http://schemas.microsoft.com/office/drawing/2014/main" id="{3F31F266-F056-0310-C913-C5B55F5B0EE2}"/>
              </a:ext>
            </a:extLst>
          </p:cNvPr>
          <p:cNvCxnSpPr>
            <a:cxnSpLocks/>
          </p:cNvCxnSpPr>
          <p:nvPr/>
        </p:nvCxnSpPr>
        <p:spPr>
          <a:xfrm>
            <a:off x="3434299" y="2254380"/>
            <a:ext cx="3429024" cy="1588"/>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367AED0-E1CF-E27F-9FF7-0EC71A38BF8F}"/>
              </a:ext>
            </a:extLst>
          </p:cNvPr>
          <p:cNvSpPr txBox="1"/>
          <p:nvPr/>
        </p:nvSpPr>
        <p:spPr>
          <a:xfrm>
            <a:off x="5308144" y="1968628"/>
            <a:ext cx="1263487" cy="292388"/>
          </a:xfrm>
          <a:prstGeom prst="rect">
            <a:avLst/>
          </a:prstGeom>
          <a:noFill/>
        </p:spPr>
        <p:txBody>
          <a:bodyPr wrap="square" rtlCol="0">
            <a:spAutoFit/>
          </a:bodyPr>
          <a:lstStyle/>
          <a:p>
            <a:r>
              <a:rPr lang="en-US" sz="1300" b="1" dirty="0">
                <a:solidFill>
                  <a:srgbClr val="003300"/>
                </a:solidFill>
                <a:latin typeface="Times New Roman" pitchFamily="18" charset="0"/>
                <a:cs typeface="Times New Roman" pitchFamily="18" charset="0"/>
              </a:rPr>
              <a:t>Interface name</a:t>
            </a:r>
          </a:p>
        </p:txBody>
      </p:sp>
      <p:cxnSp>
        <p:nvCxnSpPr>
          <p:cNvPr id="25" name="Straight Connector 24">
            <a:extLst>
              <a:ext uri="{FF2B5EF4-FFF2-40B4-BE49-F238E27FC236}">
                <a16:creationId xmlns:a16="http://schemas.microsoft.com/office/drawing/2014/main" id="{FDAF78DA-6350-7D16-23C9-E96D47DB96DC}"/>
              </a:ext>
            </a:extLst>
          </p:cNvPr>
          <p:cNvCxnSpPr>
            <a:cxnSpLocks/>
          </p:cNvCxnSpPr>
          <p:nvPr/>
        </p:nvCxnSpPr>
        <p:spPr>
          <a:xfrm rot="5400000">
            <a:off x="5899704" y="3218793"/>
            <a:ext cx="1928032" cy="79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5879F8-0DA1-8E70-3D58-665CEAE2059E}"/>
              </a:ext>
            </a:extLst>
          </p:cNvPr>
          <p:cNvCxnSpPr>
            <a:endCxn id="22" idx="1"/>
          </p:cNvCxnSpPr>
          <p:nvPr/>
        </p:nvCxnSpPr>
        <p:spPr>
          <a:xfrm flipV="1">
            <a:off x="6863323" y="2794035"/>
            <a:ext cx="1000132" cy="244575"/>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D083F85-7178-1BED-1DD2-3B2A02117AC2}"/>
              </a:ext>
            </a:extLst>
          </p:cNvPr>
          <p:cNvCxnSpPr>
            <a:cxnSpLocks/>
          </p:cNvCxnSpPr>
          <p:nvPr/>
        </p:nvCxnSpPr>
        <p:spPr>
          <a:xfrm>
            <a:off x="3720051" y="4183206"/>
            <a:ext cx="3143272" cy="1588"/>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50A6B4D-8B8B-7F58-5E6E-674069909D4A}"/>
              </a:ext>
            </a:extLst>
          </p:cNvPr>
          <p:cNvSpPr/>
          <p:nvPr/>
        </p:nvSpPr>
        <p:spPr>
          <a:xfrm>
            <a:off x="3577175" y="4683272"/>
            <a:ext cx="1071570" cy="214314"/>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199843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AA602-F1A4-F6D1-D631-9BA211748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89FAC-1613-5C41-997C-3843F6AFF20E}"/>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 implementation phase</a:t>
            </a:r>
            <a:endParaRPr lang="en-US" dirty="0"/>
          </a:p>
        </p:txBody>
      </p:sp>
      <p:sp>
        <p:nvSpPr>
          <p:cNvPr id="4" name="Footer Placeholder 3">
            <a:extLst>
              <a:ext uri="{FF2B5EF4-FFF2-40B4-BE49-F238E27FC236}">
                <a16:creationId xmlns:a16="http://schemas.microsoft.com/office/drawing/2014/main" id="{59B30325-1BFA-0F98-FAD8-E03C5E5A9E2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29" name="Picture 2">
            <a:extLst>
              <a:ext uri="{FF2B5EF4-FFF2-40B4-BE49-F238E27FC236}">
                <a16:creationId xmlns:a16="http://schemas.microsoft.com/office/drawing/2014/main" id="{E147B248-8C86-D1B6-5A5A-4580C7690015}"/>
              </a:ext>
            </a:extLst>
          </p:cNvPr>
          <p:cNvPicPr>
            <a:picLocks noChangeAspect="1" noChangeArrowheads="1"/>
          </p:cNvPicPr>
          <p:nvPr/>
        </p:nvPicPr>
        <p:blipFill>
          <a:blip r:embed="rId2"/>
          <a:srcRect/>
          <a:stretch>
            <a:fillRect/>
          </a:stretch>
        </p:blipFill>
        <p:spPr bwMode="auto">
          <a:xfrm>
            <a:off x="408022" y="1824939"/>
            <a:ext cx="11354682" cy="463484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6723603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A6E8A-5952-A5C0-B92C-9343754C4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77AC6-6679-275A-BB94-68E438BF71A0}"/>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 implementation phase</a:t>
            </a:r>
            <a:endParaRPr lang="en-US" dirty="0"/>
          </a:p>
        </p:txBody>
      </p:sp>
      <p:sp>
        <p:nvSpPr>
          <p:cNvPr id="4" name="Footer Placeholder 3">
            <a:extLst>
              <a:ext uri="{FF2B5EF4-FFF2-40B4-BE49-F238E27FC236}">
                <a16:creationId xmlns:a16="http://schemas.microsoft.com/office/drawing/2014/main" id="{212FC7DA-686E-B1A7-98C8-7A15BBE9DCE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cxnSp>
        <p:nvCxnSpPr>
          <p:cNvPr id="3" name="Straight Connector 2">
            <a:extLst>
              <a:ext uri="{FF2B5EF4-FFF2-40B4-BE49-F238E27FC236}">
                <a16:creationId xmlns:a16="http://schemas.microsoft.com/office/drawing/2014/main" id="{FB185CA7-9C92-2908-6503-0AF849C8D44B}"/>
              </a:ext>
            </a:extLst>
          </p:cNvPr>
          <p:cNvCxnSpPr/>
          <p:nvPr/>
        </p:nvCxnSpPr>
        <p:spPr>
          <a:xfrm>
            <a:off x="848857" y="1737360"/>
            <a:ext cx="800105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2">
            <a:extLst>
              <a:ext uri="{FF2B5EF4-FFF2-40B4-BE49-F238E27FC236}">
                <a16:creationId xmlns:a16="http://schemas.microsoft.com/office/drawing/2014/main" id="{3165299B-8AB8-5D3A-7ACC-F1C7C955B12F}"/>
              </a:ext>
            </a:extLst>
          </p:cNvPr>
          <p:cNvPicPr>
            <a:picLocks noChangeAspect="1" noChangeArrowheads="1"/>
          </p:cNvPicPr>
          <p:nvPr/>
        </p:nvPicPr>
        <p:blipFill>
          <a:blip r:embed="rId2"/>
          <a:srcRect/>
          <a:stretch>
            <a:fillRect/>
          </a:stretch>
        </p:blipFill>
        <p:spPr bwMode="auto">
          <a:xfrm>
            <a:off x="0" y="1912222"/>
            <a:ext cx="8072494" cy="440971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pic>
        <p:nvPicPr>
          <p:cNvPr id="7" name="Picture 7">
            <a:extLst>
              <a:ext uri="{FF2B5EF4-FFF2-40B4-BE49-F238E27FC236}">
                <a16:creationId xmlns:a16="http://schemas.microsoft.com/office/drawing/2014/main" id="{AA5D856A-0483-C403-E7D8-CAC9D99D0828}"/>
              </a:ext>
            </a:extLst>
          </p:cNvPr>
          <p:cNvPicPr>
            <a:picLocks noChangeAspect="1" noChangeArrowheads="1"/>
          </p:cNvPicPr>
          <p:nvPr/>
        </p:nvPicPr>
        <p:blipFill>
          <a:blip r:embed="rId3"/>
          <a:srcRect/>
          <a:stretch>
            <a:fillRect/>
          </a:stretch>
        </p:blipFill>
        <p:spPr bwMode="auto">
          <a:xfrm>
            <a:off x="8113689" y="1857376"/>
            <a:ext cx="4095481" cy="4464562"/>
          </a:xfrm>
          <a:prstGeom prst="rect">
            <a:avLst/>
          </a:prstGeom>
          <a:noFill/>
          <a:ln w="9525">
            <a:noFill/>
            <a:prstDash val="dash"/>
            <a:miter lim="800000"/>
            <a:headEnd/>
            <a:tailEnd/>
          </a:ln>
          <a:effectLst/>
        </p:spPr>
      </p:pic>
      <p:sp>
        <p:nvSpPr>
          <p:cNvPr id="9" name="Rectangle 8">
            <a:extLst>
              <a:ext uri="{FF2B5EF4-FFF2-40B4-BE49-F238E27FC236}">
                <a16:creationId xmlns:a16="http://schemas.microsoft.com/office/drawing/2014/main" id="{A169D4B5-10D3-F55F-4BB1-3585AC110684}"/>
              </a:ext>
            </a:extLst>
          </p:cNvPr>
          <p:cNvSpPr/>
          <p:nvPr/>
        </p:nvSpPr>
        <p:spPr>
          <a:xfrm>
            <a:off x="1867035" y="2728949"/>
            <a:ext cx="857256" cy="285752"/>
          </a:xfrm>
          <a:prstGeom prst="rect">
            <a:avLst/>
          </a:prstGeom>
          <a:solidFill>
            <a:schemeClr val="accent1">
              <a:alpha val="0"/>
            </a:schemeClr>
          </a:solidFill>
          <a:ln w="28575">
            <a:solidFill>
              <a:srgbClr val="B24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27F75C-C3B8-6749-25D3-2DAA6DAE0D98}"/>
              </a:ext>
            </a:extLst>
          </p:cNvPr>
          <p:cNvSpPr/>
          <p:nvPr/>
        </p:nvSpPr>
        <p:spPr>
          <a:xfrm>
            <a:off x="3140626" y="2729011"/>
            <a:ext cx="1143008" cy="285752"/>
          </a:xfrm>
          <a:prstGeom prst="rect">
            <a:avLst/>
          </a:prstGeom>
          <a:solidFill>
            <a:schemeClr val="accent1">
              <a:alpha val="0"/>
            </a:schemeClr>
          </a:solidFill>
          <a:ln w="28575">
            <a:solidFill>
              <a:srgbClr val="92D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4C0A53F-FEFC-A418-3C02-323ECFDCE161}"/>
              </a:ext>
            </a:extLst>
          </p:cNvPr>
          <p:cNvSpPr/>
          <p:nvPr/>
        </p:nvSpPr>
        <p:spPr>
          <a:xfrm>
            <a:off x="9491832" y="4174298"/>
            <a:ext cx="642942" cy="785818"/>
          </a:xfrm>
          <a:prstGeom prst="ellipse">
            <a:avLst/>
          </a:prstGeom>
          <a:solidFill>
            <a:schemeClr val="accent1">
              <a:alpha val="0"/>
            </a:schemeClr>
          </a:solidFill>
          <a:ln w="28575">
            <a:solidFill>
              <a:srgbClr val="B24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102B9B73-8B25-273F-241A-E2644107BD52}"/>
              </a:ext>
            </a:extLst>
          </p:cNvPr>
          <p:cNvSpPr/>
          <p:nvPr/>
        </p:nvSpPr>
        <p:spPr>
          <a:xfrm>
            <a:off x="10529030" y="3852834"/>
            <a:ext cx="642942" cy="1107282"/>
          </a:xfrm>
          <a:prstGeom prst="ellipse">
            <a:avLst/>
          </a:prstGeom>
          <a:solidFill>
            <a:schemeClr val="accent1">
              <a:alpha val="0"/>
            </a:schemeClr>
          </a:solidFill>
          <a:ln w="28575">
            <a:solidFill>
              <a:srgbClr val="92D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091782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79A4E-3E2A-3DE4-95CC-F70A72DD3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EE1CB-176F-66B7-8E32-BFD1AF64C1EE}"/>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 implementation phase</a:t>
            </a:r>
            <a:endParaRPr lang="en-US" dirty="0"/>
          </a:p>
        </p:txBody>
      </p:sp>
      <p:sp>
        <p:nvSpPr>
          <p:cNvPr id="4" name="Footer Placeholder 3">
            <a:extLst>
              <a:ext uri="{FF2B5EF4-FFF2-40B4-BE49-F238E27FC236}">
                <a16:creationId xmlns:a16="http://schemas.microsoft.com/office/drawing/2014/main" id="{025F9C2E-B33F-E59B-8E80-263EAA711AC1}"/>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ABB681BC-64DD-1F7C-8EC0-CB69E001C243}"/>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B538BC5A-0C6B-8EB3-939A-38E968C3C4AD}"/>
              </a:ext>
            </a:extLst>
          </p:cNvPr>
          <p:cNvSpPr/>
          <p:nvPr/>
        </p:nvSpPr>
        <p:spPr>
          <a:xfrm>
            <a:off x="7362212" y="1883726"/>
            <a:ext cx="4253689" cy="2118529"/>
          </a:xfrm>
          <a:prstGeom prst="rect">
            <a:avLst/>
          </a:prstGeom>
          <a:ln w="3175">
            <a:solidFill>
              <a:srgbClr val="C00000"/>
            </a:solidFill>
            <a:prstDash val="dash"/>
          </a:ln>
        </p:spPr>
        <p:style>
          <a:lnRef idx="2">
            <a:schemeClr val="dk1"/>
          </a:lnRef>
          <a:fillRef idx="1">
            <a:schemeClr val="lt1"/>
          </a:fillRef>
          <a:effectRef idx="0">
            <a:schemeClr val="dk1"/>
          </a:effectRef>
          <a:fontRef idx="minor">
            <a:schemeClr val="dk1"/>
          </a:fontRef>
        </p:style>
        <p:txBody>
          <a:bodyPr wrap="square">
            <a:spAutoFit/>
          </a:bodyPr>
          <a:lstStyle/>
          <a:p>
            <a:pPr algn="just" rtl="0">
              <a:lnSpc>
                <a:spcPct val="150000"/>
              </a:lnSpc>
            </a:pPr>
            <a:r>
              <a:rPr lang="en-US" dirty="0" err="1">
                <a:cs typeface="Times New Roman" pitchFamily="18" charset="0"/>
              </a:rPr>
              <a:t>SEmp</a:t>
            </a:r>
            <a:r>
              <a:rPr lang="en-US" dirty="0">
                <a:cs typeface="Times New Roman" pitchFamily="18" charset="0"/>
              </a:rPr>
              <a:t> overrides the abstract methods (</a:t>
            </a:r>
            <a:r>
              <a:rPr lang="en-US" dirty="0" err="1">
                <a:cs typeface="Times New Roman" pitchFamily="18" charset="0"/>
              </a:rPr>
              <a:t>Wsal</a:t>
            </a:r>
            <a:r>
              <a:rPr lang="en-US" dirty="0">
                <a:cs typeface="Times New Roman" pitchFamily="18" charset="0"/>
              </a:rPr>
              <a:t>()) to add the missing part (the body of the method), which is its own method for calculating the employee's monthly salary.</a:t>
            </a:r>
          </a:p>
        </p:txBody>
      </p:sp>
      <p:pic>
        <p:nvPicPr>
          <p:cNvPr id="5" name="Picture 3">
            <a:extLst>
              <a:ext uri="{FF2B5EF4-FFF2-40B4-BE49-F238E27FC236}">
                <a16:creationId xmlns:a16="http://schemas.microsoft.com/office/drawing/2014/main" id="{276AE36A-EABA-D07E-9548-2B92DC86B28A}"/>
              </a:ext>
            </a:extLst>
          </p:cNvPr>
          <p:cNvPicPr>
            <a:picLocks noChangeAspect="1" noChangeArrowheads="1"/>
          </p:cNvPicPr>
          <p:nvPr/>
        </p:nvPicPr>
        <p:blipFill>
          <a:blip r:embed="rId2"/>
          <a:srcRect/>
          <a:stretch>
            <a:fillRect/>
          </a:stretch>
        </p:blipFill>
        <p:spPr bwMode="auto">
          <a:xfrm>
            <a:off x="43991" y="1846286"/>
            <a:ext cx="7052268" cy="478634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grpSp>
        <p:nvGrpSpPr>
          <p:cNvPr id="6" name="Group 14">
            <a:extLst>
              <a:ext uri="{FF2B5EF4-FFF2-40B4-BE49-F238E27FC236}">
                <a16:creationId xmlns:a16="http://schemas.microsoft.com/office/drawing/2014/main" id="{B1426DA7-B928-168A-D7CE-BF30FFE4437F}"/>
              </a:ext>
            </a:extLst>
          </p:cNvPr>
          <p:cNvGrpSpPr/>
          <p:nvPr/>
        </p:nvGrpSpPr>
        <p:grpSpPr>
          <a:xfrm>
            <a:off x="4563633" y="2078731"/>
            <a:ext cx="1500198" cy="1928826"/>
            <a:chOff x="4310742" y="1252226"/>
            <a:chExt cx="2777959" cy="3257299"/>
          </a:xfrm>
        </p:grpSpPr>
        <p:cxnSp>
          <p:nvCxnSpPr>
            <p:cNvPr id="7" name="Straight Arrow Connector 6">
              <a:extLst>
                <a:ext uri="{FF2B5EF4-FFF2-40B4-BE49-F238E27FC236}">
                  <a16:creationId xmlns:a16="http://schemas.microsoft.com/office/drawing/2014/main" id="{2AB31F32-12B4-BC1E-3618-EEDE1F832536}"/>
                </a:ext>
              </a:extLst>
            </p:cNvPr>
            <p:cNvCxnSpPr/>
            <p:nvPr/>
          </p:nvCxnSpPr>
          <p:spPr>
            <a:xfrm flipV="1">
              <a:off x="4310742" y="4508509"/>
              <a:ext cx="2307661" cy="1016"/>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45E675F-1EB3-307B-DD0A-0AC8EC617787}"/>
                </a:ext>
              </a:extLst>
            </p:cNvPr>
            <p:cNvCxnSpPr/>
            <p:nvPr/>
          </p:nvCxnSpPr>
          <p:spPr>
            <a:xfrm rot="16200000" flipH="1">
              <a:off x="4984270" y="2866440"/>
              <a:ext cx="3248338" cy="19924"/>
            </a:xfrm>
            <a:prstGeom prst="line">
              <a:avLst/>
            </a:prstGeom>
            <a:ln w="285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A02DAD8-5818-26C4-9E46-E6F3420A084C}"/>
                </a:ext>
              </a:extLst>
            </p:cNvPr>
            <p:cNvCxnSpPr/>
            <p:nvPr/>
          </p:nvCxnSpPr>
          <p:spPr>
            <a:xfrm>
              <a:off x="6618401" y="1252226"/>
              <a:ext cx="470300" cy="1476"/>
            </a:xfrm>
            <a:prstGeom prst="line">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10" name="Straight Arrow Connector 9">
            <a:extLst>
              <a:ext uri="{FF2B5EF4-FFF2-40B4-BE49-F238E27FC236}">
                <a16:creationId xmlns:a16="http://schemas.microsoft.com/office/drawing/2014/main" id="{2227B428-B05B-B841-BBAE-C107615693F4}"/>
              </a:ext>
            </a:extLst>
          </p:cNvPr>
          <p:cNvCxnSpPr>
            <a:cxnSpLocks/>
          </p:cNvCxnSpPr>
          <p:nvPr/>
        </p:nvCxnSpPr>
        <p:spPr>
          <a:xfrm flipV="1">
            <a:off x="3634939" y="4007557"/>
            <a:ext cx="2000264" cy="1"/>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4121D0E-E38E-4AE9-81DC-5AC5871D3853}"/>
              </a:ext>
            </a:extLst>
          </p:cNvPr>
          <p:cNvSpPr/>
          <p:nvPr/>
        </p:nvSpPr>
        <p:spPr>
          <a:xfrm>
            <a:off x="991733" y="4007557"/>
            <a:ext cx="2643206" cy="857256"/>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606567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39C21-D218-05E2-CFB7-19DD5DF9C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6387B-3CC2-AC5C-F480-154F0DD3A38F}"/>
              </a:ext>
            </a:extLst>
          </p:cNvPr>
          <p:cNvSpPr>
            <a:spLocks noGrp="1"/>
          </p:cNvSpPr>
          <p:nvPr>
            <p:ph type="title"/>
          </p:nvPr>
        </p:nvSpPr>
        <p:spPr>
          <a:xfrm>
            <a:off x="348791" y="286603"/>
            <a:ext cx="11481847" cy="1450757"/>
          </a:xfrm>
        </p:spPr>
        <p:txBody>
          <a:bodyPr/>
          <a:lstStyle/>
          <a:p>
            <a:r>
              <a:rPr lang="en-GB" altLang="en-US" dirty="0">
                <a:cs typeface="Courier New" panose="02070309020205020404" pitchFamily="49" charset="0"/>
              </a:rPr>
              <a:t>Interfaces Example implementation phase</a:t>
            </a:r>
            <a:endParaRPr lang="en-US" dirty="0"/>
          </a:p>
        </p:txBody>
      </p:sp>
      <p:sp>
        <p:nvSpPr>
          <p:cNvPr id="4" name="Footer Placeholder 3">
            <a:extLst>
              <a:ext uri="{FF2B5EF4-FFF2-40B4-BE49-F238E27FC236}">
                <a16:creationId xmlns:a16="http://schemas.microsoft.com/office/drawing/2014/main" id="{C4A25C7B-AA62-0049-FC96-90C5723E3AF3}"/>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19CB4B4E-42C8-B5B6-4F4F-AC4009D8AA14}"/>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4" name="Picture 2">
            <a:extLst>
              <a:ext uri="{FF2B5EF4-FFF2-40B4-BE49-F238E27FC236}">
                <a16:creationId xmlns:a16="http://schemas.microsoft.com/office/drawing/2014/main" id="{B19E2EBF-7632-569B-07A9-ECD0F954251F}"/>
              </a:ext>
            </a:extLst>
          </p:cNvPr>
          <p:cNvPicPr>
            <a:picLocks noChangeAspect="1" noChangeArrowheads="1"/>
          </p:cNvPicPr>
          <p:nvPr/>
        </p:nvPicPr>
        <p:blipFill>
          <a:blip r:embed="rId2"/>
          <a:srcRect/>
          <a:stretch>
            <a:fillRect/>
          </a:stretch>
        </p:blipFill>
        <p:spPr bwMode="auto">
          <a:xfrm>
            <a:off x="65177" y="1785051"/>
            <a:ext cx="8643998" cy="478634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16" name="Rectangle 15">
            <a:extLst>
              <a:ext uri="{FF2B5EF4-FFF2-40B4-BE49-F238E27FC236}">
                <a16:creationId xmlns:a16="http://schemas.microsoft.com/office/drawing/2014/main" id="{AFAFA53C-EA3B-1BE2-BB18-961EF782C9B2}"/>
              </a:ext>
            </a:extLst>
          </p:cNvPr>
          <p:cNvSpPr/>
          <p:nvPr/>
        </p:nvSpPr>
        <p:spPr>
          <a:xfrm>
            <a:off x="1887485" y="2642761"/>
            <a:ext cx="857256" cy="285752"/>
          </a:xfrm>
          <a:prstGeom prst="rect">
            <a:avLst/>
          </a:prstGeom>
          <a:solidFill>
            <a:schemeClr val="accent1">
              <a:alpha val="0"/>
            </a:schemeClr>
          </a:solidFill>
          <a:ln w="28575">
            <a:solidFill>
              <a:srgbClr val="B24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3F3910D-173C-D355-D18A-CA9987BF7FE6}"/>
              </a:ext>
            </a:extLst>
          </p:cNvPr>
          <p:cNvSpPr/>
          <p:nvPr/>
        </p:nvSpPr>
        <p:spPr>
          <a:xfrm>
            <a:off x="3351730" y="2642761"/>
            <a:ext cx="1143008" cy="285752"/>
          </a:xfrm>
          <a:prstGeom prst="rect">
            <a:avLst/>
          </a:prstGeom>
          <a:solidFill>
            <a:schemeClr val="accent1">
              <a:alpha val="0"/>
            </a:schemeClr>
          </a:solidFill>
          <a:ln w="28575">
            <a:solidFill>
              <a:srgbClr val="92D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7">
            <a:extLst>
              <a:ext uri="{FF2B5EF4-FFF2-40B4-BE49-F238E27FC236}">
                <a16:creationId xmlns:a16="http://schemas.microsoft.com/office/drawing/2014/main" id="{F7B021BA-EC4E-476F-BB67-6E473F14F989}"/>
              </a:ext>
            </a:extLst>
          </p:cNvPr>
          <p:cNvPicPr>
            <a:picLocks noChangeAspect="1" noChangeArrowheads="1"/>
          </p:cNvPicPr>
          <p:nvPr/>
        </p:nvPicPr>
        <p:blipFill>
          <a:blip r:embed="rId3"/>
          <a:srcRect/>
          <a:stretch>
            <a:fillRect/>
          </a:stretch>
        </p:blipFill>
        <p:spPr bwMode="auto">
          <a:xfrm>
            <a:off x="8708381" y="1866291"/>
            <a:ext cx="3500789" cy="4464562"/>
          </a:xfrm>
          <a:prstGeom prst="rect">
            <a:avLst/>
          </a:prstGeom>
          <a:noFill/>
          <a:ln w="9525">
            <a:noFill/>
            <a:prstDash val="dash"/>
            <a:miter lim="800000"/>
            <a:headEnd/>
            <a:tailEnd/>
          </a:ln>
          <a:effectLst/>
        </p:spPr>
      </p:pic>
      <p:sp>
        <p:nvSpPr>
          <p:cNvPr id="29" name="Oval 28">
            <a:extLst>
              <a:ext uri="{FF2B5EF4-FFF2-40B4-BE49-F238E27FC236}">
                <a16:creationId xmlns:a16="http://schemas.microsoft.com/office/drawing/2014/main" id="{B98DD5B9-A0DF-4E21-8E29-3B758059DBEC}"/>
              </a:ext>
            </a:extLst>
          </p:cNvPr>
          <p:cNvSpPr/>
          <p:nvPr/>
        </p:nvSpPr>
        <p:spPr>
          <a:xfrm>
            <a:off x="9909193" y="4174298"/>
            <a:ext cx="549582" cy="785818"/>
          </a:xfrm>
          <a:prstGeom prst="ellipse">
            <a:avLst/>
          </a:prstGeom>
          <a:solidFill>
            <a:schemeClr val="accent1">
              <a:alpha val="0"/>
            </a:schemeClr>
          </a:solidFill>
          <a:ln w="28575">
            <a:solidFill>
              <a:srgbClr val="B24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111E827-00BD-4982-91C0-81621A98B199}"/>
              </a:ext>
            </a:extLst>
          </p:cNvPr>
          <p:cNvSpPr/>
          <p:nvPr/>
        </p:nvSpPr>
        <p:spPr>
          <a:xfrm>
            <a:off x="10784390" y="3852834"/>
            <a:ext cx="549582" cy="1107282"/>
          </a:xfrm>
          <a:prstGeom prst="ellipse">
            <a:avLst/>
          </a:prstGeom>
          <a:solidFill>
            <a:schemeClr val="accent1">
              <a:alpha val="0"/>
            </a:schemeClr>
          </a:solidFill>
          <a:ln w="28575">
            <a:solidFill>
              <a:srgbClr val="92D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12908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A3C1A-2E2A-0AE3-D094-59B7A0E44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BB50-D42A-94FF-0D9D-4392A96AB6A5}"/>
              </a:ext>
            </a:extLst>
          </p:cNvPr>
          <p:cNvSpPr>
            <a:spLocks noGrp="1"/>
          </p:cNvSpPr>
          <p:nvPr>
            <p:ph type="title"/>
          </p:nvPr>
        </p:nvSpPr>
        <p:spPr>
          <a:xfrm>
            <a:off x="348791" y="286603"/>
            <a:ext cx="11481847" cy="1450757"/>
          </a:xfrm>
        </p:spPr>
        <p:txBody>
          <a:bodyPr/>
          <a:lstStyle/>
          <a:p>
            <a:r>
              <a:rPr lang="en-GB" dirty="0"/>
              <a:t>Interfaces Example implementation phase</a:t>
            </a:r>
            <a:endParaRPr lang="en-US" dirty="0"/>
          </a:p>
        </p:txBody>
      </p:sp>
      <p:sp>
        <p:nvSpPr>
          <p:cNvPr id="4" name="Footer Placeholder 3">
            <a:extLst>
              <a:ext uri="{FF2B5EF4-FFF2-40B4-BE49-F238E27FC236}">
                <a16:creationId xmlns:a16="http://schemas.microsoft.com/office/drawing/2014/main" id="{35C8074A-8309-A440-9AD3-AF998FF0629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96B50853-A9AB-F04E-3B26-4F701DA8BF47}"/>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A67F7146-85DC-B1D5-10A2-83661E305EF1}"/>
              </a:ext>
            </a:extLst>
          </p:cNvPr>
          <p:cNvSpPr/>
          <p:nvPr/>
        </p:nvSpPr>
        <p:spPr>
          <a:xfrm>
            <a:off x="6063829" y="1930302"/>
            <a:ext cx="4556947" cy="2343655"/>
          </a:xfrm>
          <a:prstGeom prst="rect">
            <a:avLst/>
          </a:prstGeom>
          <a:ln w="3175">
            <a:solidFill>
              <a:srgbClr val="C00000"/>
            </a:solidFill>
            <a:prstDash val="dash"/>
          </a:ln>
        </p:spPr>
        <p:style>
          <a:lnRef idx="2">
            <a:schemeClr val="dk1"/>
          </a:lnRef>
          <a:fillRef idx="1">
            <a:schemeClr val="lt1"/>
          </a:fillRef>
          <a:effectRef idx="0">
            <a:schemeClr val="dk1"/>
          </a:effectRef>
          <a:fontRef idx="minor">
            <a:schemeClr val="dk1"/>
          </a:fontRef>
        </p:style>
        <p:txBody>
          <a:bodyPr wrap="square">
            <a:spAutoFit/>
          </a:bodyPr>
          <a:lstStyle/>
          <a:p>
            <a:pPr indent="-182563" algn="just" rtl="0">
              <a:lnSpc>
                <a:spcPct val="150000"/>
              </a:lnSpc>
              <a:buFont typeface="Times New Roman" pitchFamily="18" charset="0"/>
              <a:buChar char="−"/>
            </a:pPr>
            <a:r>
              <a:rPr lang="en-US" sz="2000" dirty="0" err="1">
                <a:latin typeface="+mj-lt"/>
                <a:cs typeface="Times New Roman" pitchFamily="18" charset="0"/>
              </a:rPr>
              <a:t>HEmp</a:t>
            </a:r>
            <a:r>
              <a:rPr lang="en-US" sz="2000" dirty="0">
                <a:latin typeface="+mj-lt"/>
                <a:cs typeface="Times New Roman" pitchFamily="18" charset="0"/>
              </a:rPr>
              <a:t> overrides the abstract methods (</a:t>
            </a:r>
            <a:r>
              <a:rPr lang="en-US" sz="2000" dirty="0" err="1">
                <a:latin typeface="+mj-lt"/>
                <a:cs typeface="Times New Roman" pitchFamily="18" charset="0"/>
              </a:rPr>
              <a:t>Wsal</a:t>
            </a:r>
            <a:r>
              <a:rPr lang="en-US" sz="2000" dirty="0">
                <a:latin typeface="+mj-lt"/>
                <a:cs typeface="Times New Roman" pitchFamily="18" charset="0"/>
              </a:rPr>
              <a:t>()) to add the missing part (the body of the method), which is its own method for calculating the employee's hourly salary.</a:t>
            </a:r>
          </a:p>
        </p:txBody>
      </p:sp>
      <p:pic>
        <p:nvPicPr>
          <p:cNvPr id="5" name="Picture 2">
            <a:extLst>
              <a:ext uri="{FF2B5EF4-FFF2-40B4-BE49-F238E27FC236}">
                <a16:creationId xmlns:a16="http://schemas.microsoft.com/office/drawing/2014/main" id="{52D3386B-6554-8E0E-64B9-3B9A4830F5D3}"/>
              </a:ext>
            </a:extLst>
          </p:cNvPr>
          <p:cNvPicPr>
            <a:picLocks noChangeAspect="1" noChangeArrowheads="1"/>
          </p:cNvPicPr>
          <p:nvPr/>
        </p:nvPicPr>
        <p:blipFill>
          <a:blip r:embed="rId2"/>
          <a:srcRect/>
          <a:stretch>
            <a:fillRect/>
          </a:stretch>
        </p:blipFill>
        <p:spPr bwMode="auto">
          <a:xfrm>
            <a:off x="348791" y="1930302"/>
            <a:ext cx="5357849" cy="4714908"/>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grpSp>
        <p:nvGrpSpPr>
          <p:cNvPr id="6" name="Group 14">
            <a:extLst>
              <a:ext uri="{FF2B5EF4-FFF2-40B4-BE49-F238E27FC236}">
                <a16:creationId xmlns:a16="http://schemas.microsoft.com/office/drawing/2014/main" id="{1462CB82-0C0F-95D9-76FD-05E4C7399D13}"/>
              </a:ext>
            </a:extLst>
          </p:cNvPr>
          <p:cNvGrpSpPr/>
          <p:nvPr/>
        </p:nvGrpSpPr>
        <p:grpSpPr>
          <a:xfrm>
            <a:off x="4492194" y="2144616"/>
            <a:ext cx="1571636" cy="1857388"/>
            <a:chOff x="4310742" y="1252226"/>
            <a:chExt cx="2777959" cy="3257299"/>
          </a:xfrm>
        </p:grpSpPr>
        <p:cxnSp>
          <p:nvCxnSpPr>
            <p:cNvPr id="7" name="Straight Arrow Connector 6">
              <a:extLst>
                <a:ext uri="{FF2B5EF4-FFF2-40B4-BE49-F238E27FC236}">
                  <a16:creationId xmlns:a16="http://schemas.microsoft.com/office/drawing/2014/main" id="{EFE665FE-C34E-450B-CC49-551F03642A5A}"/>
                </a:ext>
              </a:extLst>
            </p:cNvPr>
            <p:cNvCxnSpPr/>
            <p:nvPr/>
          </p:nvCxnSpPr>
          <p:spPr>
            <a:xfrm flipV="1">
              <a:off x="4310742" y="4508509"/>
              <a:ext cx="2307661" cy="1016"/>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B105D7E-92AA-FF37-FF74-04B7097FA018}"/>
                </a:ext>
              </a:extLst>
            </p:cNvPr>
            <p:cNvCxnSpPr/>
            <p:nvPr/>
          </p:nvCxnSpPr>
          <p:spPr>
            <a:xfrm rot="16200000" flipH="1">
              <a:off x="4984270" y="2866440"/>
              <a:ext cx="3248338" cy="19924"/>
            </a:xfrm>
            <a:prstGeom prst="line">
              <a:avLst/>
            </a:prstGeom>
            <a:ln w="285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124C77-AE5D-E02D-9A6C-4864FD75C678}"/>
                </a:ext>
              </a:extLst>
            </p:cNvPr>
            <p:cNvCxnSpPr/>
            <p:nvPr/>
          </p:nvCxnSpPr>
          <p:spPr>
            <a:xfrm>
              <a:off x="6618401" y="1252226"/>
              <a:ext cx="470300" cy="1476"/>
            </a:xfrm>
            <a:prstGeom prst="line">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10" name="Straight Arrow Connector 9">
            <a:extLst>
              <a:ext uri="{FF2B5EF4-FFF2-40B4-BE49-F238E27FC236}">
                <a16:creationId xmlns:a16="http://schemas.microsoft.com/office/drawing/2014/main" id="{445103C0-E1AD-060B-9641-90A58F5CFE18}"/>
              </a:ext>
            </a:extLst>
          </p:cNvPr>
          <p:cNvCxnSpPr>
            <a:cxnSpLocks/>
          </p:cNvCxnSpPr>
          <p:nvPr/>
        </p:nvCxnSpPr>
        <p:spPr>
          <a:xfrm flipV="1">
            <a:off x="3563500" y="4002004"/>
            <a:ext cx="2000264" cy="1"/>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055C835-D7CB-B743-E50F-7BF05289608C}"/>
              </a:ext>
            </a:extLst>
          </p:cNvPr>
          <p:cNvSpPr/>
          <p:nvPr/>
        </p:nvSpPr>
        <p:spPr>
          <a:xfrm>
            <a:off x="920294" y="4002004"/>
            <a:ext cx="2643206" cy="857256"/>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970960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572EE-75ED-A131-360B-9A13FAC7D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3BB36-B01A-500D-D492-BCEFB365BCFC}"/>
              </a:ext>
            </a:extLst>
          </p:cNvPr>
          <p:cNvSpPr>
            <a:spLocks noGrp="1"/>
          </p:cNvSpPr>
          <p:nvPr>
            <p:ph type="title"/>
          </p:nvPr>
        </p:nvSpPr>
        <p:spPr>
          <a:xfrm>
            <a:off x="348791" y="286603"/>
            <a:ext cx="11481847" cy="1450757"/>
          </a:xfrm>
        </p:spPr>
        <p:txBody>
          <a:bodyPr/>
          <a:lstStyle/>
          <a:p>
            <a:r>
              <a:rPr lang="en-GB" dirty="0"/>
              <a:t>Interfaces Example implementation phase</a:t>
            </a:r>
            <a:endParaRPr lang="en-US" dirty="0"/>
          </a:p>
        </p:txBody>
      </p:sp>
      <p:sp>
        <p:nvSpPr>
          <p:cNvPr id="4" name="Footer Placeholder 3">
            <a:extLst>
              <a:ext uri="{FF2B5EF4-FFF2-40B4-BE49-F238E27FC236}">
                <a16:creationId xmlns:a16="http://schemas.microsoft.com/office/drawing/2014/main" id="{50775832-D3EF-7EB5-1120-E74DC5801411}"/>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3" name="Picture 2">
            <a:extLst>
              <a:ext uri="{FF2B5EF4-FFF2-40B4-BE49-F238E27FC236}">
                <a16:creationId xmlns:a16="http://schemas.microsoft.com/office/drawing/2014/main" id="{15882590-202E-FCDA-70B7-FE83C88ACAE5}"/>
              </a:ext>
            </a:extLst>
          </p:cNvPr>
          <p:cNvPicPr>
            <a:picLocks noChangeAspect="1" noChangeArrowheads="1"/>
          </p:cNvPicPr>
          <p:nvPr/>
        </p:nvPicPr>
        <p:blipFill>
          <a:blip r:embed="rId2"/>
          <a:srcRect/>
          <a:stretch>
            <a:fillRect/>
          </a:stretch>
        </p:blipFill>
        <p:spPr bwMode="auto">
          <a:xfrm>
            <a:off x="271210" y="1753700"/>
            <a:ext cx="7429520" cy="4714908"/>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14" name="Rectangle 13">
            <a:extLst>
              <a:ext uri="{FF2B5EF4-FFF2-40B4-BE49-F238E27FC236}">
                <a16:creationId xmlns:a16="http://schemas.microsoft.com/office/drawing/2014/main" id="{011EC5A0-09C8-ABFB-ECF6-DDF18E0A8CFB}"/>
              </a:ext>
            </a:extLst>
          </p:cNvPr>
          <p:cNvSpPr/>
          <p:nvPr/>
        </p:nvSpPr>
        <p:spPr>
          <a:xfrm>
            <a:off x="3128714" y="2651962"/>
            <a:ext cx="857256" cy="285752"/>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4">
            <a:extLst>
              <a:ext uri="{FF2B5EF4-FFF2-40B4-BE49-F238E27FC236}">
                <a16:creationId xmlns:a16="http://schemas.microsoft.com/office/drawing/2014/main" id="{089B5A99-2E70-C610-CE7E-63E34451A766}"/>
              </a:ext>
            </a:extLst>
          </p:cNvPr>
          <p:cNvPicPr>
            <a:picLocks noChangeAspect="1" noChangeArrowheads="1"/>
          </p:cNvPicPr>
          <p:nvPr/>
        </p:nvPicPr>
        <p:blipFill>
          <a:blip r:embed="rId3"/>
          <a:srcRect/>
          <a:stretch>
            <a:fillRect/>
          </a:stretch>
        </p:blipFill>
        <p:spPr bwMode="auto">
          <a:xfrm>
            <a:off x="7980608" y="1594859"/>
            <a:ext cx="3583609" cy="4715299"/>
          </a:xfrm>
          <a:prstGeom prst="rect">
            <a:avLst/>
          </a:prstGeom>
          <a:noFill/>
          <a:ln w="9525">
            <a:noFill/>
            <a:miter lim="800000"/>
            <a:headEnd/>
            <a:tailEnd/>
          </a:ln>
          <a:effectLst/>
        </p:spPr>
      </p:pic>
      <p:sp>
        <p:nvSpPr>
          <p:cNvPr id="20" name="Oval 19">
            <a:extLst>
              <a:ext uri="{FF2B5EF4-FFF2-40B4-BE49-F238E27FC236}">
                <a16:creationId xmlns:a16="http://schemas.microsoft.com/office/drawing/2014/main" id="{687AD1A8-50E1-6123-359A-46EA04AD9A02}"/>
              </a:ext>
            </a:extLst>
          </p:cNvPr>
          <p:cNvSpPr/>
          <p:nvPr/>
        </p:nvSpPr>
        <p:spPr>
          <a:xfrm>
            <a:off x="9093525" y="3946795"/>
            <a:ext cx="642942" cy="1058794"/>
          </a:xfrm>
          <a:prstGeom prst="ellipse">
            <a:avLst/>
          </a:prstGeom>
          <a:solidFill>
            <a:schemeClr val="accent1">
              <a:alpha val="0"/>
            </a:schemeClr>
          </a:solidFill>
          <a:ln w="28575">
            <a:solidFill>
              <a:srgbClr val="8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7071119"/>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EA80-5874-05B8-00EE-F705A9982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A96BC-2496-890D-4208-1E959939A04E}"/>
              </a:ext>
            </a:extLst>
          </p:cNvPr>
          <p:cNvSpPr>
            <a:spLocks noGrp="1"/>
          </p:cNvSpPr>
          <p:nvPr>
            <p:ph type="title"/>
          </p:nvPr>
        </p:nvSpPr>
        <p:spPr>
          <a:xfrm>
            <a:off x="348791" y="286603"/>
            <a:ext cx="11481847" cy="1450757"/>
          </a:xfrm>
        </p:spPr>
        <p:txBody>
          <a:bodyPr/>
          <a:lstStyle/>
          <a:p>
            <a:r>
              <a:rPr lang="en-GB" dirty="0"/>
              <a:t>Interfaces Example implementation phase</a:t>
            </a:r>
            <a:endParaRPr lang="en-US" dirty="0"/>
          </a:p>
        </p:txBody>
      </p:sp>
      <p:sp>
        <p:nvSpPr>
          <p:cNvPr id="4" name="Footer Placeholder 3">
            <a:extLst>
              <a:ext uri="{FF2B5EF4-FFF2-40B4-BE49-F238E27FC236}">
                <a16:creationId xmlns:a16="http://schemas.microsoft.com/office/drawing/2014/main" id="{B71B9FA1-60B0-F4C5-FA78-07CF326B66A9}"/>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0E8F3FFD-9143-BD18-7CB1-BEA79A6B3779}"/>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Picture 2">
            <a:extLst>
              <a:ext uri="{FF2B5EF4-FFF2-40B4-BE49-F238E27FC236}">
                <a16:creationId xmlns:a16="http://schemas.microsoft.com/office/drawing/2014/main" id="{9166C8E8-1094-1422-5F82-2CC1E4736AFC}"/>
              </a:ext>
            </a:extLst>
          </p:cNvPr>
          <p:cNvPicPr>
            <a:picLocks noChangeAspect="1" noChangeArrowheads="1"/>
          </p:cNvPicPr>
          <p:nvPr/>
        </p:nvPicPr>
        <p:blipFill>
          <a:blip r:embed="rId2"/>
          <a:srcRect/>
          <a:stretch>
            <a:fillRect/>
          </a:stretch>
        </p:blipFill>
        <p:spPr bwMode="auto">
          <a:xfrm>
            <a:off x="163132" y="1936124"/>
            <a:ext cx="6448023" cy="4111864"/>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82F4B74B-A9B6-70A5-F9B6-254C91E40860}"/>
              </a:ext>
            </a:extLst>
          </p:cNvPr>
          <p:cNvSpPr/>
          <p:nvPr/>
        </p:nvSpPr>
        <p:spPr>
          <a:xfrm>
            <a:off x="6689395" y="2237430"/>
            <a:ext cx="4556086" cy="3365024"/>
          </a:xfrm>
          <a:prstGeom prst="rect">
            <a:avLst/>
          </a:prstGeom>
          <a:ln w="3175">
            <a:solidFill>
              <a:srgbClr val="C00000"/>
            </a:solidFill>
            <a:prstDash val="dash"/>
          </a:ln>
        </p:spPr>
        <p:style>
          <a:lnRef idx="2">
            <a:schemeClr val="dk1"/>
          </a:lnRef>
          <a:fillRef idx="1">
            <a:schemeClr val="lt1"/>
          </a:fillRef>
          <a:effectRef idx="0">
            <a:schemeClr val="dk1"/>
          </a:effectRef>
          <a:fontRef idx="minor">
            <a:schemeClr val="dk1"/>
          </a:fontRef>
        </p:style>
        <p:txBody>
          <a:bodyPr wrap="square">
            <a:spAutoFit/>
          </a:bodyPr>
          <a:lstStyle/>
          <a:p>
            <a:pPr indent="-182563" algn="just" rtl="0">
              <a:lnSpc>
                <a:spcPct val="150000"/>
              </a:lnSpc>
              <a:buFont typeface="Times New Roman" pitchFamily="18" charset="0"/>
              <a:buChar char="−"/>
            </a:pPr>
            <a:r>
              <a:rPr lang="en-US" b="1" dirty="0">
                <a:solidFill>
                  <a:srgbClr val="C00000"/>
                </a:solidFill>
                <a:cs typeface="Times New Roman" pitchFamily="18" charset="0"/>
              </a:rPr>
              <a:t>Logically</a:t>
            </a:r>
            <a:r>
              <a:rPr lang="en-US" dirty="0">
                <a:cs typeface="Times New Roman" pitchFamily="18" charset="0"/>
              </a:rPr>
              <a:t>, it is not allowed for the </a:t>
            </a:r>
            <a:r>
              <a:rPr lang="en-US" dirty="0">
                <a:solidFill>
                  <a:srgbClr val="0000FF"/>
                </a:solidFill>
                <a:cs typeface="Times New Roman" pitchFamily="18" charset="0"/>
              </a:rPr>
              <a:t>Trainee</a:t>
            </a:r>
            <a:r>
              <a:rPr lang="en-US" dirty="0">
                <a:cs typeface="Times New Roman" pitchFamily="18" charset="0"/>
              </a:rPr>
              <a:t> subclass to override the </a:t>
            </a:r>
            <a:r>
              <a:rPr lang="en-US" dirty="0" err="1">
                <a:cs typeface="Times New Roman" pitchFamily="18" charset="0"/>
              </a:rPr>
              <a:t>Wsal</a:t>
            </a:r>
            <a:r>
              <a:rPr lang="en-US" dirty="0">
                <a:cs typeface="Times New Roman" pitchFamily="18" charset="0"/>
              </a:rPr>
              <a:t>() method. </a:t>
            </a:r>
            <a:r>
              <a:rPr lang="en-US" b="1" dirty="0">
                <a:cs typeface="Times New Roman" pitchFamily="18" charset="0"/>
              </a:rPr>
              <a:t>But what if </a:t>
            </a:r>
            <a:r>
              <a:rPr lang="en-US" b="1" dirty="0" err="1">
                <a:cs typeface="Times New Roman" pitchFamily="18" charset="0"/>
              </a:rPr>
              <a:t>wsal</a:t>
            </a:r>
            <a:r>
              <a:rPr lang="en-US" b="1" dirty="0">
                <a:cs typeface="Times New Roman" pitchFamily="18" charset="0"/>
              </a:rPr>
              <a:t>() is defined in the trainee subclass?</a:t>
            </a:r>
            <a:r>
              <a:rPr lang="en-US" dirty="0">
                <a:cs typeface="Times New Roman" pitchFamily="18" charset="0"/>
              </a:rPr>
              <a:t> In this case, no error will appear at compile-time, and the </a:t>
            </a:r>
            <a:r>
              <a:rPr lang="en-US" dirty="0" err="1">
                <a:cs typeface="Times New Roman" pitchFamily="18" charset="0"/>
              </a:rPr>
              <a:t>wsal</a:t>
            </a:r>
            <a:r>
              <a:rPr lang="en-US" dirty="0">
                <a:cs typeface="Times New Roman" pitchFamily="18" charset="0"/>
              </a:rPr>
              <a:t>() method that will be defined in the </a:t>
            </a:r>
            <a:r>
              <a:rPr lang="en-US" dirty="0" err="1">
                <a:cs typeface="Times New Roman" pitchFamily="18" charset="0"/>
              </a:rPr>
              <a:t>Ttrainee</a:t>
            </a:r>
            <a:r>
              <a:rPr lang="en-US" dirty="0">
                <a:cs typeface="Times New Roman" pitchFamily="18" charset="0"/>
              </a:rPr>
              <a:t> subclass will be considered </a:t>
            </a:r>
            <a:r>
              <a:rPr lang="en-US" b="1" dirty="0">
                <a:cs typeface="Times New Roman" pitchFamily="18" charset="0"/>
              </a:rPr>
              <a:t>a new method</a:t>
            </a:r>
            <a:r>
              <a:rPr lang="en-US" dirty="0">
                <a:cs typeface="Times New Roman" pitchFamily="18" charset="0"/>
              </a:rPr>
              <a:t>, not an overridden method.</a:t>
            </a:r>
          </a:p>
        </p:txBody>
      </p:sp>
    </p:spTree>
    <p:extLst>
      <p:ext uri="{BB962C8B-B14F-4D97-AF65-F5344CB8AC3E}">
        <p14:creationId xmlns:p14="http://schemas.microsoft.com/office/powerpoint/2010/main" val="276757244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9AB6-D210-AFCC-4828-AC553B2E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B1E2D-7959-766B-358B-82E41B27E9D9}"/>
              </a:ext>
            </a:extLst>
          </p:cNvPr>
          <p:cNvSpPr>
            <a:spLocks noGrp="1"/>
          </p:cNvSpPr>
          <p:nvPr>
            <p:ph type="title"/>
          </p:nvPr>
        </p:nvSpPr>
        <p:spPr>
          <a:xfrm>
            <a:off x="348791" y="286603"/>
            <a:ext cx="11481847" cy="1450757"/>
          </a:xfrm>
        </p:spPr>
        <p:txBody>
          <a:bodyPr/>
          <a:lstStyle/>
          <a:p>
            <a:r>
              <a:rPr lang="en-GB" dirty="0"/>
              <a:t>Interfaces Example implementation phase</a:t>
            </a:r>
            <a:endParaRPr lang="en-US" dirty="0"/>
          </a:p>
        </p:txBody>
      </p:sp>
      <p:sp>
        <p:nvSpPr>
          <p:cNvPr id="4" name="Footer Placeholder 3">
            <a:extLst>
              <a:ext uri="{FF2B5EF4-FFF2-40B4-BE49-F238E27FC236}">
                <a16:creationId xmlns:a16="http://schemas.microsoft.com/office/drawing/2014/main" id="{0ABB699A-E9AC-CAC5-C85D-6632D5A8C537}"/>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EB6AFE39-BAED-4591-DD89-3EAF05B92356}"/>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BB7CDC3D-C3F4-EB5D-FE54-996A873F342E}"/>
              </a:ext>
            </a:extLst>
          </p:cNvPr>
          <p:cNvSpPr/>
          <p:nvPr/>
        </p:nvSpPr>
        <p:spPr>
          <a:xfrm>
            <a:off x="350135" y="3784301"/>
            <a:ext cx="8358246" cy="1287532"/>
          </a:xfrm>
          <a:prstGeom prst="rect">
            <a:avLst/>
          </a:prstGeom>
        </p:spPr>
        <p:txBody>
          <a:bodyPr wrap="square">
            <a:spAutoFit/>
          </a:bodyPr>
          <a:lstStyle/>
          <a:p>
            <a:pPr algn="just" rtl="0">
              <a:lnSpc>
                <a:spcPct val="150000"/>
              </a:lnSpc>
            </a:pPr>
            <a:r>
              <a:rPr lang="en-US" b="1" dirty="0">
                <a:cs typeface="Times New Roman" pitchFamily="18" charset="0"/>
              </a:rPr>
              <a:t>Note</a:t>
            </a:r>
            <a:r>
              <a:rPr lang="en-US" b="1" dirty="0"/>
              <a:t> </a:t>
            </a:r>
            <a:r>
              <a:rPr lang="en-US" b="1" dirty="0">
                <a:cs typeface="Times New Roman" pitchFamily="18" charset="0"/>
              </a:rPr>
              <a:t>that</a:t>
            </a:r>
            <a:r>
              <a:rPr lang="en-US" dirty="0"/>
              <a:t> the </a:t>
            </a:r>
            <a:r>
              <a:rPr lang="en-US" dirty="0">
                <a:solidFill>
                  <a:srgbClr val="000099"/>
                </a:solidFill>
                <a:cs typeface="Times New Roman" pitchFamily="18" charset="0"/>
              </a:rPr>
              <a:t>Company</a:t>
            </a:r>
            <a:r>
              <a:rPr lang="en-US" dirty="0"/>
              <a:t> </a:t>
            </a:r>
            <a:r>
              <a:rPr lang="en-US" dirty="0">
                <a:cs typeface="Times New Roman" pitchFamily="18" charset="0"/>
              </a:rPr>
              <a:t>interface cannot be instantiated (i.e., created as an object) directly as shown in line 4, but we can define a pointer as shown in line 3</a:t>
            </a:r>
            <a:r>
              <a:rPr lang="en-US" dirty="0"/>
              <a:t>; </a:t>
            </a:r>
            <a:r>
              <a:rPr lang="en-US" dirty="0">
                <a:cs typeface="Times New Roman" pitchFamily="18" charset="0"/>
              </a:rPr>
              <a:t>look at the following figure to read the error.</a:t>
            </a:r>
          </a:p>
        </p:txBody>
      </p:sp>
      <p:pic>
        <p:nvPicPr>
          <p:cNvPr id="8" name="Picture 3">
            <a:extLst>
              <a:ext uri="{FF2B5EF4-FFF2-40B4-BE49-F238E27FC236}">
                <a16:creationId xmlns:a16="http://schemas.microsoft.com/office/drawing/2014/main" id="{812A0BBD-8D6D-355A-BDA4-C8C052C8A086}"/>
              </a:ext>
            </a:extLst>
          </p:cNvPr>
          <p:cNvPicPr>
            <a:picLocks noChangeAspect="1" noChangeArrowheads="1"/>
          </p:cNvPicPr>
          <p:nvPr/>
        </p:nvPicPr>
        <p:blipFill>
          <a:blip r:embed="rId2"/>
          <a:srcRect/>
          <a:stretch>
            <a:fillRect/>
          </a:stretch>
        </p:blipFill>
        <p:spPr bwMode="auto">
          <a:xfrm>
            <a:off x="420229" y="1772992"/>
            <a:ext cx="7543208" cy="2090670"/>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pic>
        <p:nvPicPr>
          <p:cNvPr id="9" name="Picture 4">
            <a:extLst>
              <a:ext uri="{FF2B5EF4-FFF2-40B4-BE49-F238E27FC236}">
                <a16:creationId xmlns:a16="http://schemas.microsoft.com/office/drawing/2014/main" id="{DE724554-9835-991B-55D9-28392C964363}"/>
              </a:ext>
            </a:extLst>
          </p:cNvPr>
          <p:cNvPicPr>
            <a:picLocks noChangeAspect="1" noChangeArrowheads="1"/>
          </p:cNvPicPr>
          <p:nvPr/>
        </p:nvPicPr>
        <p:blipFill>
          <a:blip r:embed="rId3"/>
          <a:srcRect/>
          <a:stretch>
            <a:fillRect/>
          </a:stretch>
        </p:blipFill>
        <p:spPr bwMode="auto">
          <a:xfrm>
            <a:off x="420229" y="5246053"/>
            <a:ext cx="7607602" cy="976081"/>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650826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2AF81-4F3A-CA5D-35B3-128303E04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D0908-4AD1-F77E-7BD3-C699934BEF65}"/>
              </a:ext>
            </a:extLst>
          </p:cNvPr>
          <p:cNvSpPr>
            <a:spLocks noGrp="1"/>
          </p:cNvSpPr>
          <p:nvPr>
            <p:ph type="title"/>
          </p:nvPr>
        </p:nvSpPr>
        <p:spPr>
          <a:xfrm>
            <a:off x="348791" y="286603"/>
            <a:ext cx="11481847" cy="1450757"/>
          </a:xfrm>
        </p:spPr>
        <p:txBody>
          <a:bodyPr/>
          <a:lstStyle/>
          <a:p>
            <a:r>
              <a:rPr lang="en-GB" dirty="0"/>
              <a:t>How to implement multiple interfaces  in java?</a:t>
            </a:r>
            <a:endParaRPr lang="en-US" dirty="0"/>
          </a:p>
        </p:txBody>
      </p:sp>
      <p:sp>
        <p:nvSpPr>
          <p:cNvPr id="4" name="Footer Placeholder 3">
            <a:extLst>
              <a:ext uri="{FF2B5EF4-FFF2-40B4-BE49-F238E27FC236}">
                <a16:creationId xmlns:a16="http://schemas.microsoft.com/office/drawing/2014/main" id="{05E3A385-83B2-945D-C3C6-71A56FA24720}"/>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AF3D0E84-0D83-78AA-3495-30153D7FC60C}"/>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1C411CFB-821B-7037-F126-708806BC2717}"/>
              </a:ext>
            </a:extLst>
          </p:cNvPr>
          <p:cNvSpPr/>
          <p:nvPr/>
        </p:nvSpPr>
        <p:spPr>
          <a:xfrm>
            <a:off x="348791" y="1859340"/>
            <a:ext cx="11020616" cy="1154675"/>
          </a:xfrm>
          <a:prstGeom prst="rect">
            <a:avLst/>
          </a:prstGeom>
          <a:ln w="3175">
            <a:prstDash val="dash"/>
          </a:ln>
        </p:spPr>
        <p:style>
          <a:lnRef idx="2">
            <a:schemeClr val="dk1"/>
          </a:lnRef>
          <a:fillRef idx="1">
            <a:schemeClr val="lt1"/>
          </a:fillRef>
          <a:effectRef idx="0">
            <a:schemeClr val="dk1"/>
          </a:effectRef>
          <a:fontRef idx="minor">
            <a:schemeClr val="dk1"/>
          </a:fontRef>
        </p:style>
        <p:txBody>
          <a:bodyPr wrap="square">
            <a:spAutoFit/>
          </a:bodyPr>
          <a:lstStyle/>
          <a:p>
            <a:pPr algn="just" rtl="0">
              <a:lnSpc>
                <a:spcPct val="150000"/>
              </a:lnSpc>
            </a:pPr>
            <a:r>
              <a:rPr lang="en-US" sz="1600" b="1" dirty="0">
                <a:solidFill>
                  <a:srgbClr val="C00000"/>
                </a:solidFill>
                <a:cs typeface="Times New Roman" pitchFamily="18" charset="0"/>
              </a:rPr>
              <a:t>Simple Example</a:t>
            </a:r>
            <a:r>
              <a:rPr lang="en-US" sz="1600" dirty="0">
                <a:cs typeface="Times New Roman" pitchFamily="18" charset="0"/>
              </a:rPr>
              <a:t>: In the following, we create two interfaces (the first one is named "</a:t>
            </a:r>
            <a:r>
              <a:rPr lang="en-US" sz="1600" b="1" dirty="0">
                <a:solidFill>
                  <a:srgbClr val="000099"/>
                </a:solidFill>
                <a:cs typeface="Times New Roman" pitchFamily="18" charset="0"/>
              </a:rPr>
              <a:t>Person</a:t>
            </a:r>
            <a:r>
              <a:rPr lang="en-US" sz="1600" dirty="0">
                <a:cs typeface="Times New Roman" pitchFamily="18" charset="0"/>
              </a:rPr>
              <a:t>" and the second one is named "</a:t>
            </a:r>
            <a:r>
              <a:rPr lang="en-US" sz="1600" b="1" dirty="0">
                <a:solidFill>
                  <a:srgbClr val="000099"/>
                </a:solidFill>
                <a:cs typeface="Times New Roman" pitchFamily="18" charset="0"/>
              </a:rPr>
              <a:t>Employee</a:t>
            </a:r>
            <a:r>
              <a:rPr lang="en-US" sz="1600" dirty="0">
                <a:cs typeface="Times New Roman" pitchFamily="18" charset="0"/>
              </a:rPr>
              <a:t>") and a class named "</a:t>
            </a:r>
            <a:r>
              <a:rPr lang="en-US" sz="1600" b="1" dirty="0" err="1">
                <a:solidFill>
                  <a:srgbClr val="000099"/>
                </a:solidFill>
                <a:cs typeface="Times New Roman" pitchFamily="18" charset="0"/>
              </a:rPr>
              <a:t>InterfaceExamples</a:t>
            </a:r>
            <a:r>
              <a:rPr lang="en-US" sz="1600" dirty="0">
                <a:cs typeface="Times New Roman" pitchFamily="18" charset="0"/>
              </a:rPr>
              <a:t>“.</a:t>
            </a:r>
          </a:p>
          <a:p>
            <a:pPr algn="just" rtl="0">
              <a:lnSpc>
                <a:spcPct val="150000"/>
              </a:lnSpc>
            </a:pPr>
            <a:r>
              <a:rPr lang="en-US" sz="1600" dirty="0">
                <a:cs typeface="Times New Roman" pitchFamily="18" charset="0"/>
              </a:rPr>
              <a:t>The "</a:t>
            </a:r>
            <a:r>
              <a:rPr lang="en-US" sz="1600" b="1" dirty="0" err="1">
                <a:solidFill>
                  <a:srgbClr val="000099"/>
                </a:solidFill>
                <a:cs typeface="Times New Roman" pitchFamily="18" charset="0"/>
              </a:rPr>
              <a:t>InterfaceExamples</a:t>
            </a:r>
            <a:r>
              <a:rPr lang="en-US" sz="1600" dirty="0">
                <a:cs typeface="Times New Roman" pitchFamily="18" charset="0"/>
              </a:rPr>
              <a:t>" class implements the interface "Person" and the interface "Employee“:</a:t>
            </a:r>
          </a:p>
        </p:txBody>
      </p:sp>
      <p:sp>
        <p:nvSpPr>
          <p:cNvPr id="5" name="Rectangle 4">
            <a:extLst>
              <a:ext uri="{FF2B5EF4-FFF2-40B4-BE49-F238E27FC236}">
                <a16:creationId xmlns:a16="http://schemas.microsoft.com/office/drawing/2014/main" id="{7DEB14A0-0D53-16BA-99C2-2A94B2F1E85C}"/>
              </a:ext>
            </a:extLst>
          </p:cNvPr>
          <p:cNvSpPr/>
          <p:nvPr/>
        </p:nvSpPr>
        <p:spPr>
          <a:xfrm>
            <a:off x="348791" y="3502414"/>
            <a:ext cx="8143932" cy="3429024"/>
          </a:xfrm>
          <a:prstGeom prst="rect">
            <a:avLst/>
          </a:prstGeom>
          <a:solidFill>
            <a:schemeClr val="accent2">
              <a:lumMod val="20000"/>
              <a:lumOff val="80000"/>
              <a:alpha val="9000"/>
            </a:schemeClr>
          </a:solid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83">
            <a:extLst>
              <a:ext uri="{FF2B5EF4-FFF2-40B4-BE49-F238E27FC236}">
                <a16:creationId xmlns:a16="http://schemas.microsoft.com/office/drawing/2014/main" id="{35E4493E-C921-AB5E-F46F-323978720C28}"/>
              </a:ext>
            </a:extLst>
          </p:cNvPr>
          <p:cNvGrpSpPr/>
          <p:nvPr/>
        </p:nvGrpSpPr>
        <p:grpSpPr>
          <a:xfrm>
            <a:off x="2279677" y="3329525"/>
            <a:ext cx="6072230" cy="2786082"/>
            <a:chOff x="1285852" y="3214686"/>
            <a:chExt cx="6072230" cy="2786082"/>
          </a:xfrm>
        </p:grpSpPr>
        <p:grpSp>
          <p:nvGrpSpPr>
            <p:cNvPr id="9" name="Group 15">
              <a:extLst>
                <a:ext uri="{FF2B5EF4-FFF2-40B4-BE49-F238E27FC236}">
                  <a16:creationId xmlns:a16="http://schemas.microsoft.com/office/drawing/2014/main" id="{5D77B649-57EF-AF77-5940-0C8DCBE504EE}"/>
                </a:ext>
              </a:extLst>
            </p:cNvPr>
            <p:cNvGrpSpPr/>
            <p:nvPr/>
          </p:nvGrpSpPr>
          <p:grpSpPr>
            <a:xfrm>
              <a:off x="4857752" y="3214686"/>
              <a:ext cx="2500330" cy="1714512"/>
              <a:chOff x="5143504" y="3429000"/>
              <a:chExt cx="2905140" cy="1714512"/>
            </a:xfrm>
          </p:grpSpPr>
          <p:sp>
            <p:nvSpPr>
              <p:cNvPr id="23" name="Oval 22">
                <a:extLst>
                  <a:ext uri="{FF2B5EF4-FFF2-40B4-BE49-F238E27FC236}">
                    <a16:creationId xmlns:a16="http://schemas.microsoft.com/office/drawing/2014/main" id="{666F745B-CD02-8369-BA3C-7E74DE114325}"/>
                  </a:ext>
                </a:extLst>
              </p:cNvPr>
              <p:cNvSpPr/>
              <p:nvPr/>
            </p:nvSpPr>
            <p:spPr>
              <a:xfrm>
                <a:off x="5143504" y="3429000"/>
                <a:ext cx="2905140" cy="1714512"/>
              </a:xfrm>
              <a:prstGeom prst="ellips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4" name="TextBox 23">
                <a:extLst>
                  <a:ext uri="{FF2B5EF4-FFF2-40B4-BE49-F238E27FC236}">
                    <a16:creationId xmlns:a16="http://schemas.microsoft.com/office/drawing/2014/main" id="{AD4DF3DE-C011-1A60-A289-A4CE1851C1B0}"/>
                  </a:ext>
                </a:extLst>
              </p:cNvPr>
              <p:cNvSpPr txBox="1"/>
              <p:nvPr/>
            </p:nvSpPr>
            <p:spPr>
              <a:xfrm>
                <a:off x="5572132" y="3786190"/>
                <a:ext cx="2143140" cy="700000"/>
              </a:xfrm>
              <a:prstGeom prst="rect">
                <a:avLst/>
              </a:prstGeom>
              <a:noFill/>
            </p:spPr>
            <p:txBody>
              <a:bodyPr wrap="square" rtlCol="0">
                <a:spAutoFit/>
              </a:bodyPr>
              <a:lstStyle/>
              <a:p>
                <a:pPr algn="l" rtl="0">
                  <a:lnSpc>
                    <a:spcPct val="150000"/>
                  </a:lnSpc>
                </a:pPr>
                <a:r>
                  <a:rPr lang="en-GB" sz="1400" dirty="0">
                    <a:latin typeface="Times New Roman" pitchFamily="18" charset="0"/>
                    <a:cs typeface="Times New Roman" pitchFamily="18" charset="0"/>
                  </a:rPr>
                  <a:t> </a:t>
                </a:r>
                <a:r>
                  <a:rPr lang="en-GB" sz="1400" dirty="0" err="1">
                    <a:solidFill>
                      <a:srgbClr val="006600"/>
                    </a:solidFill>
                    <a:latin typeface="Times New Roman" pitchFamily="18" charset="0"/>
                    <a:cs typeface="Times New Roman" pitchFamily="18" charset="0"/>
                  </a:rPr>
                  <a:t>person_age</a:t>
                </a:r>
                <a:r>
                  <a:rPr lang="en-GB" sz="1400" dirty="0">
                    <a:solidFill>
                      <a:srgbClr val="006600"/>
                    </a:solidFill>
                    <a:latin typeface="Times New Roman" pitchFamily="18" charset="0"/>
                    <a:cs typeface="Times New Roman" pitchFamily="18" charset="0"/>
                  </a:rPr>
                  <a:t>: </a:t>
                </a:r>
                <a:r>
                  <a:rPr lang="en-GB" sz="1400" dirty="0" err="1">
                    <a:solidFill>
                      <a:srgbClr val="006600"/>
                    </a:solidFill>
                    <a:latin typeface="Times New Roman" pitchFamily="18" charset="0"/>
                    <a:cs typeface="Times New Roman" pitchFamily="18" charset="0"/>
                  </a:rPr>
                  <a:t>int</a:t>
                </a:r>
                <a:endParaRPr lang="en-GB" sz="1400" dirty="0">
                  <a:solidFill>
                    <a:srgbClr val="006600"/>
                  </a:solidFill>
                  <a:latin typeface="Times New Roman" pitchFamily="18" charset="0"/>
                  <a:cs typeface="Times New Roman" pitchFamily="18" charset="0"/>
                </a:endParaRPr>
              </a:p>
              <a:p>
                <a:pPr algn="l" rtl="0">
                  <a:lnSpc>
                    <a:spcPct val="150000"/>
                  </a:lnSpc>
                </a:pPr>
                <a:r>
                  <a:rPr lang="en-GB" sz="1400" dirty="0">
                    <a:solidFill>
                      <a:srgbClr val="006600"/>
                    </a:solidFill>
                    <a:latin typeface="Times New Roman" pitchFamily="18" charset="0"/>
                    <a:cs typeface="Times New Roman" pitchFamily="18" charset="0"/>
                  </a:rPr>
                  <a:t> </a:t>
                </a:r>
                <a:r>
                  <a:rPr lang="en-GB" sz="1400" dirty="0" err="1">
                    <a:solidFill>
                      <a:srgbClr val="006600"/>
                    </a:solidFill>
                    <a:latin typeface="Times New Roman" pitchFamily="18" charset="0"/>
                    <a:cs typeface="Times New Roman" pitchFamily="18" charset="0"/>
                  </a:rPr>
                  <a:t>person_name</a:t>
                </a:r>
                <a:r>
                  <a:rPr lang="en-GB" sz="1400" dirty="0">
                    <a:solidFill>
                      <a:srgbClr val="006600"/>
                    </a:solidFill>
                    <a:latin typeface="Times New Roman" pitchFamily="18" charset="0"/>
                    <a:cs typeface="Times New Roman" pitchFamily="18" charset="0"/>
                  </a:rPr>
                  <a:t>: String</a:t>
                </a:r>
              </a:p>
            </p:txBody>
          </p:sp>
          <p:sp>
            <p:nvSpPr>
              <p:cNvPr id="25" name="TextBox 24">
                <a:extLst>
                  <a:ext uri="{FF2B5EF4-FFF2-40B4-BE49-F238E27FC236}">
                    <a16:creationId xmlns:a16="http://schemas.microsoft.com/office/drawing/2014/main" id="{51B7D005-BAB8-335C-B1EC-868B9072C3FC}"/>
                  </a:ext>
                </a:extLst>
              </p:cNvPr>
              <p:cNvSpPr txBox="1"/>
              <p:nvPr/>
            </p:nvSpPr>
            <p:spPr>
              <a:xfrm>
                <a:off x="5558524" y="4643446"/>
                <a:ext cx="2143140" cy="307777"/>
              </a:xfrm>
              <a:prstGeom prst="rect">
                <a:avLst/>
              </a:prstGeom>
              <a:noFill/>
            </p:spPr>
            <p:txBody>
              <a:bodyPr wrap="square" rtlCol="0">
                <a:spAutoFit/>
              </a:bodyPr>
              <a:lstStyle/>
              <a:p>
                <a:pPr algn="l" rtl="0"/>
                <a:r>
                  <a:rPr lang="en-GB" sz="1400" dirty="0">
                    <a:solidFill>
                      <a:srgbClr val="000099"/>
                    </a:solidFill>
                    <a:latin typeface="Times New Roman" pitchFamily="18" charset="0"/>
                    <a:cs typeface="Times New Roman" pitchFamily="18" charset="0"/>
                  </a:rPr>
                  <a:t>+ </a:t>
                </a:r>
                <a:r>
                  <a:rPr lang="en-GB" sz="1400" dirty="0" err="1">
                    <a:solidFill>
                      <a:srgbClr val="000099"/>
                    </a:solidFill>
                    <a:latin typeface="Times New Roman" pitchFamily="18" charset="0"/>
                    <a:cs typeface="Times New Roman" pitchFamily="18" charset="0"/>
                  </a:rPr>
                  <a:t>personInfo</a:t>
                </a:r>
                <a:r>
                  <a:rPr lang="en-GB" sz="1400" dirty="0">
                    <a:solidFill>
                      <a:srgbClr val="000099"/>
                    </a:solidFill>
                    <a:latin typeface="Times New Roman" pitchFamily="18" charset="0"/>
                    <a:cs typeface="Times New Roman" pitchFamily="18" charset="0"/>
                  </a:rPr>
                  <a:t>(): void ;</a:t>
                </a:r>
              </a:p>
            </p:txBody>
          </p:sp>
          <p:sp>
            <p:nvSpPr>
              <p:cNvPr id="26" name="TextBox 25">
                <a:extLst>
                  <a:ext uri="{FF2B5EF4-FFF2-40B4-BE49-F238E27FC236}">
                    <a16:creationId xmlns:a16="http://schemas.microsoft.com/office/drawing/2014/main" id="{0361BA9D-4021-F7F5-0E47-02FFF07EDC38}"/>
                  </a:ext>
                </a:extLst>
              </p:cNvPr>
              <p:cNvSpPr txBox="1"/>
              <p:nvPr/>
            </p:nvSpPr>
            <p:spPr>
              <a:xfrm>
                <a:off x="6056548" y="3500438"/>
                <a:ext cx="919170" cy="307777"/>
              </a:xfrm>
              <a:prstGeom prst="rect">
                <a:avLst/>
              </a:prstGeom>
              <a:noFill/>
            </p:spPr>
            <p:txBody>
              <a:bodyPr wrap="square" rtlCol="0">
                <a:spAutoFit/>
              </a:bodyPr>
              <a:lstStyle/>
              <a:p>
                <a:pPr algn="ctr" rtl="0"/>
                <a:r>
                  <a:rPr lang="en-GB" sz="1400" b="1" dirty="0">
                    <a:solidFill>
                      <a:srgbClr val="C00000"/>
                    </a:solidFill>
                    <a:latin typeface="Times New Roman" pitchFamily="18" charset="0"/>
                    <a:cs typeface="Times New Roman" pitchFamily="18" charset="0"/>
                  </a:rPr>
                  <a:t>Person</a:t>
                </a:r>
              </a:p>
            </p:txBody>
          </p:sp>
          <p:cxnSp>
            <p:nvCxnSpPr>
              <p:cNvPr id="27" name="AutoShape 11">
                <a:extLst>
                  <a:ext uri="{FF2B5EF4-FFF2-40B4-BE49-F238E27FC236}">
                    <a16:creationId xmlns:a16="http://schemas.microsoft.com/office/drawing/2014/main" id="{9DF939CC-DD6E-7A70-14C6-527CF6A8B785}"/>
                  </a:ext>
                </a:extLst>
              </p:cNvPr>
              <p:cNvCxnSpPr>
                <a:cxnSpLocks noChangeShapeType="1"/>
              </p:cNvCxnSpPr>
              <p:nvPr/>
            </p:nvCxnSpPr>
            <p:spPr bwMode="auto">
              <a:xfrm>
                <a:off x="5392516" y="3786190"/>
                <a:ext cx="2407116" cy="1588"/>
              </a:xfrm>
              <a:prstGeom prst="straightConnector1">
                <a:avLst/>
              </a:prstGeom>
              <a:noFill/>
              <a:ln w="9525">
                <a:solidFill>
                  <a:srgbClr val="000000"/>
                </a:solidFill>
                <a:round/>
                <a:headEnd/>
                <a:tailEnd/>
              </a:ln>
            </p:spPr>
          </p:cxnSp>
          <p:cxnSp>
            <p:nvCxnSpPr>
              <p:cNvPr id="28" name="AutoShape 11">
                <a:extLst>
                  <a:ext uri="{FF2B5EF4-FFF2-40B4-BE49-F238E27FC236}">
                    <a16:creationId xmlns:a16="http://schemas.microsoft.com/office/drawing/2014/main" id="{98EF03FB-CD2E-9908-B7AD-7E7D6FB06BFF}"/>
                  </a:ext>
                </a:extLst>
              </p:cNvPr>
              <p:cNvCxnSpPr>
                <a:cxnSpLocks noChangeShapeType="1"/>
              </p:cNvCxnSpPr>
              <p:nvPr/>
            </p:nvCxnSpPr>
            <p:spPr bwMode="auto">
              <a:xfrm>
                <a:off x="5286380" y="4570420"/>
                <a:ext cx="2679260" cy="1588"/>
              </a:xfrm>
              <a:prstGeom prst="straightConnector1">
                <a:avLst/>
              </a:prstGeom>
              <a:noFill/>
              <a:ln w="9525">
                <a:solidFill>
                  <a:srgbClr val="000000"/>
                </a:solidFill>
                <a:round/>
                <a:headEnd/>
                <a:tailEnd/>
              </a:ln>
            </p:spPr>
          </p:cxnSp>
        </p:grpSp>
        <p:grpSp>
          <p:nvGrpSpPr>
            <p:cNvPr id="10" name="Group 23">
              <a:extLst>
                <a:ext uri="{FF2B5EF4-FFF2-40B4-BE49-F238E27FC236}">
                  <a16:creationId xmlns:a16="http://schemas.microsoft.com/office/drawing/2014/main" id="{2ACC6994-7119-226F-C5F5-8352758C8316}"/>
                </a:ext>
              </a:extLst>
            </p:cNvPr>
            <p:cNvGrpSpPr/>
            <p:nvPr/>
          </p:nvGrpSpPr>
          <p:grpSpPr>
            <a:xfrm>
              <a:off x="1285852" y="3500438"/>
              <a:ext cx="3486168" cy="1143008"/>
              <a:chOff x="5143504" y="3429000"/>
              <a:chExt cx="3486168" cy="1143008"/>
            </a:xfrm>
          </p:grpSpPr>
          <p:sp>
            <p:nvSpPr>
              <p:cNvPr id="19" name="Oval 18">
                <a:extLst>
                  <a:ext uri="{FF2B5EF4-FFF2-40B4-BE49-F238E27FC236}">
                    <a16:creationId xmlns:a16="http://schemas.microsoft.com/office/drawing/2014/main" id="{6C2E6CBC-0CAF-E8B2-0690-75AFF4A24134}"/>
                  </a:ext>
                </a:extLst>
              </p:cNvPr>
              <p:cNvSpPr/>
              <p:nvPr/>
            </p:nvSpPr>
            <p:spPr>
              <a:xfrm>
                <a:off x="5143504" y="3429000"/>
                <a:ext cx="3486168" cy="1143008"/>
              </a:xfrm>
              <a:prstGeom prst="ellips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0" name="TextBox 19">
                <a:extLst>
                  <a:ext uri="{FF2B5EF4-FFF2-40B4-BE49-F238E27FC236}">
                    <a16:creationId xmlns:a16="http://schemas.microsoft.com/office/drawing/2014/main" id="{7CF7F785-800D-6C5D-B830-B704C58D5702}"/>
                  </a:ext>
                </a:extLst>
              </p:cNvPr>
              <p:cNvSpPr txBox="1"/>
              <p:nvPr/>
            </p:nvSpPr>
            <p:spPr>
              <a:xfrm>
                <a:off x="5357818" y="3929066"/>
                <a:ext cx="3071834" cy="307777"/>
              </a:xfrm>
              <a:prstGeom prst="rect">
                <a:avLst/>
              </a:prstGeom>
              <a:noFill/>
            </p:spPr>
            <p:txBody>
              <a:bodyPr wrap="square" rtlCol="0">
                <a:spAutoFit/>
              </a:bodyPr>
              <a:lstStyle/>
              <a:p>
                <a:pPr algn="l" rtl="0"/>
                <a:r>
                  <a:rPr lang="en-GB" sz="1400" dirty="0">
                    <a:solidFill>
                      <a:srgbClr val="000099"/>
                    </a:solidFill>
                    <a:latin typeface="Times New Roman" pitchFamily="18" charset="0"/>
                    <a:cs typeface="Times New Roman" pitchFamily="18" charset="0"/>
                  </a:rPr>
                  <a:t>+ </a:t>
                </a:r>
                <a:r>
                  <a:rPr lang="en-US" sz="1400" dirty="0" err="1">
                    <a:solidFill>
                      <a:srgbClr val="000099"/>
                    </a:solidFill>
                    <a:latin typeface="Times New Roman" pitchFamily="18" charset="0"/>
                    <a:cs typeface="Times New Roman" pitchFamily="18" charset="0"/>
                  </a:rPr>
                  <a:t>EmployeeInfo</a:t>
                </a:r>
                <a:r>
                  <a:rPr lang="en-US" sz="1400" dirty="0">
                    <a:solidFill>
                      <a:srgbClr val="000099"/>
                    </a:solidFill>
                    <a:latin typeface="Times New Roman" pitchFamily="18" charset="0"/>
                    <a:cs typeface="Times New Roman" pitchFamily="18" charset="0"/>
                  </a:rPr>
                  <a:t> (String name) </a:t>
                </a:r>
                <a:r>
                  <a:rPr lang="en-GB" sz="1400" dirty="0">
                    <a:solidFill>
                      <a:srgbClr val="000099"/>
                    </a:solidFill>
                    <a:latin typeface="Times New Roman" pitchFamily="18" charset="0"/>
                    <a:cs typeface="Times New Roman" pitchFamily="18" charset="0"/>
                  </a:rPr>
                  <a:t>: void ;</a:t>
                </a:r>
              </a:p>
            </p:txBody>
          </p:sp>
          <p:sp>
            <p:nvSpPr>
              <p:cNvPr id="21" name="TextBox 20">
                <a:extLst>
                  <a:ext uri="{FF2B5EF4-FFF2-40B4-BE49-F238E27FC236}">
                    <a16:creationId xmlns:a16="http://schemas.microsoft.com/office/drawing/2014/main" id="{6530BDB9-A07B-3ACB-95CF-C3ED5E466581}"/>
                  </a:ext>
                </a:extLst>
              </p:cNvPr>
              <p:cNvSpPr txBox="1"/>
              <p:nvPr/>
            </p:nvSpPr>
            <p:spPr>
              <a:xfrm>
                <a:off x="6429388" y="3500438"/>
                <a:ext cx="1143008" cy="307777"/>
              </a:xfrm>
              <a:prstGeom prst="rect">
                <a:avLst/>
              </a:prstGeom>
              <a:noFill/>
            </p:spPr>
            <p:txBody>
              <a:bodyPr wrap="square" rtlCol="0">
                <a:spAutoFit/>
              </a:bodyPr>
              <a:lstStyle/>
              <a:p>
                <a:pPr algn="ctr" rtl="0"/>
                <a:r>
                  <a:rPr lang="en-US" sz="1400" b="1" dirty="0">
                    <a:solidFill>
                      <a:srgbClr val="C00000"/>
                    </a:solidFill>
                    <a:latin typeface="Times New Roman" pitchFamily="18" charset="0"/>
                    <a:cs typeface="Times New Roman" pitchFamily="18" charset="0"/>
                  </a:rPr>
                  <a:t>Employee</a:t>
                </a:r>
                <a:endParaRPr lang="en-GB" sz="1400" b="1" dirty="0">
                  <a:solidFill>
                    <a:srgbClr val="C00000"/>
                  </a:solidFill>
                  <a:latin typeface="Times New Roman" pitchFamily="18" charset="0"/>
                  <a:cs typeface="Times New Roman" pitchFamily="18" charset="0"/>
                </a:endParaRPr>
              </a:p>
            </p:txBody>
          </p:sp>
          <p:cxnSp>
            <p:nvCxnSpPr>
              <p:cNvPr id="22" name="AutoShape 11">
                <a:extLst>
                  <a:ext uri="{FF2B5EF4-FFF2-40B4-BE49-F238E27FC236}">
                    <a16:creationId xmlns:a16="http://schemas.microsoft.com/office/drawing/2014/main" id="{BBC18CE3-E96F-C7BB-2E15-8A8EAF3F3607}"/>
                  </a:ext>
                </a:extLst>
              </p:cNvPr>
              <p:cNvCxnSpPr>
                <a:cxnSpLocks noChangeShapeType="1"/>
              </p:cNvCxnSpPr>
              <p:nvPr/>
            </p:nvCxnSpPr>
            <p:spPr bwMode="auto">
              <a:xfrm>
                <a:off x="5286380" y="3786190"/>
                <a:ext cx="3214710" cy="1588"/>
              </a:xfrm>
              <a:prstGeom prst="straightConnector1">
                <a:avLst/>
              </a:prstGeom>
              <a:noFill/>
              <a:ln w="9525">
                <a:solidFill>
                  <a:srgbClr val="000000"/>
                </a:solidFill>
                <a:round/>
                <a:headEnd/>
                <a:tailEnd/>
              </a:ln>
            </p:spPr>
          </p:cxnSp>
        </p:grpSp>
        <p:grpSp>
          <p:nvGrpSpPr>
            <p:cNvPr id="11" name="Group 43">
              <a:extLst>
                <a:ext uri="{FF2B5EF4-FFF2-40B4-BE49-F238E27FC236}">
                  <a16:creationId xmlns:a16="http://schemas.microsoft.com/office/drawing/2014/main" id="{7E840AE1-E872-21CF-037D-04F310CFC0E1}"/>
                </a:ext>
              </a:extLst>
            </p:cNvPr>
            <p:cNvGrpSpPr/>
            <p:nvPr/>
          </p:nvGrpSpPr>
          <p:grpSpPr>
            <a:xfrm>
              <a:off x="3571868" y="5429264"/>
              <a:ext cx="1749701" cy="571504"/>
              <a:chOff x="3571868" y="4857760"/>
              <a:chExt cx="1749701" cy="571504"/>
            </a:xfrm>
          </p:grpSpPr>
          <p:sp>
            <p:nvSpPr>
              <p:cNvPr id="16" name="Rectangle 9">
                <a:extLst>
                  <a:ext uri="{FF2B5EF4-FFF2-40B4-BE49-F238E27FC236}">
                    <a16:creationId xmlns:a16="http://schemas.microsoft.com/office/drawing/2014/main" id="{1705D6C2-AEFE-1520-0B7E-173620937998}"/>
                  </a:ext>
                </a:extLst>
              </p:cNvPr>
              <p:cNvSpPr>
                <a:spLocks noChangeArrowheads="1"/>
              </p:cNvSpPr>
              <p:nvPr/>
            </p:nvSpPr>
            <p:spPr bwMode="auto">
              <a:xfrm>
                <a:off x="3571868" y="4857760"/>
                <a:ext cx="1749701" cy="571504"/>
              </a:xfrm>
              <a:prstGeom prst="rect">
                <a:avLst/>
              </a:prstGeom>
              <a:solidFill>
                <a:srgbClr val="FFFFFF"/>
              </a:solidFill>
              <a:ln w="9525">
                <a:solidFill>
                  <a:srgbClr val="0000FF"/>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1300" b="1" dirty="0">
                    <a:solidFill>
                      <a:srgbClr val="C00000"/>
                    </a:solidFill>
                    <a:latin typeface="Times New Roman" pitchFamily="18" charset="0"/>
                    <a:ea typeface="Arial" pitchFamily="34" charset="0"/>
                    <a:cs typeface="Times New Roman" pitchFamily="18" charset="0"/>
                  </a:rPr>
                  <a:t>Interface Examples</a:t>
                </a:r>
                <a:endParaRPr lang="en-US" sz="500" b="1" dirty="0">
                  <a:solidFill>
                    <a:srgbClr val="C00000"/>
                  </a:solidFill>
                  <a:latin typeface="Times New Roman" pitchFamily="18" charset="0"/>
                  <a:ea typeface="Arial" pitchFamily="34" charset="0"/>
                  <a:cs typeface="Times New Roman" pitchFamily="18" charset="0"/>
                </a:endParaRPr>
              </a:p>
              <a:p>
                <a:pPr lvl="0" algn="l" rtl="0">
                  <a:buFontTx/>
                  <a:buChar char="-"/>
                </a:pPr>
                <a:endParaRPr lang="en-US" sz="1400" dirty="0"/>
              </a:p>
              <a:p>
                <a:pPr lvl="0" algn="l" rtl="0"/>
                <a:endParaRPr lang="en-US" sz="1400" dirty="0"/>
              </a:p>
              <a:p>
                <a:pPr marL="0" marR="0" lvl="0" indent="0" algn="l" defTabSz="914400" rtl="0" eaLnBrk="1" fontAlgn="base" latinLnBrk="0" hangingPunct="1">
                  <a:spcBef>
                    <a:spcPct val="0"/>
                  </a:spcBef>
                  <a:spcAft>
                    <a:spcPts val="200"/>
                  </a:spcAft>
                  <a:buClrTx/>
                  <a:buSzTx/>
                  <a:buFontTx/>
                  <a:buNone/>
                  <a:tabLst/>
                </a:pPr>
                <a:endParaRPr lang="en-US" sz="1200" dirty="0"/>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17" name="AutoShape 11">
                <a:extLst>
                  <a:ext uri="{FF2B5EF4-FFF2-40B4-BE49-F238E27FC236}">
                    <a16:creationId xmlns:a16="http://schemas.microsoft.com/office/drawing/2014/main" id="{0AB66F29-69E0-9E9A-EED5-75295A1FC696}"/>
                  </a:ext>
                </a:extLst>
              </p:cNvPr>
              <p:cNvCxnSpPr>
                <a:cxnSpLocks noChangeShapeType="1"/>
              </p:cNvCxnSpPr>
              <p:nvPr/>
            </p:nvCxnSpPr>
            <p:spPr bwMode="auto">
              <a:xfrm>
                <a:off x="3571868" y="5143512"/>
                <a:ext cx="1749600" cy="1588"/>
              </a:xfrm>
              <a:prstGeom prst="straightConnector1">
                <a:avLst/>
              </a:prstGeom>
              <a:noFill/>
              <a:ln w="9525">
                <a:solidFill>
                  <a:srgbClr val="0000FF"/>
                </a:solidFill>
                <a:round/>
                <a:headEnd/>
                <a:tailEnd/>
              </a:ln>
            </p:spPr>
          </p:cxnSp>
        </p:grpSp>
        <p:cxnSp>
          <p:nvCxnSpPr>
            <p:cNvPr id="12" name="Straight Arrow Connector 11">
              <a:extLst>
                <a:ext uri="{FF2B5EF4-FFF2-40B4-BE49-F238E27FC236}">
                  <a16:creationId xmlns:a16="http://schemas.microsoft.com/office/drawing/2014/main" id="{618EDBCB-A9D3-4057-53C9-C11C500BB584}"/>
                </a:ext>
              </a:extLst>
            </p:cNvPr>
            <p:cNvCxnSpPr/>
            <p:nvPr/>
          </p:nvCxnSpPr>
          <p:spPr>
            <a:xfrm rot="5400000" flipH="1" flipV="1">
              <a:off x="4357686" y="5286387"/>
              <a:ext cx="285753" cy="2"/>
            </a:xfrm>
            <a:prstGeom prst="straightConnector1">
              <a:avLst/>
            </a:prstGeom>
            <a:ln>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D3394C-CCB4-C1F7-BD08-149C1E1CAB21}"/>
                </a:ext>
              </a:extLst>
            </p:cNvPr>
            <p:cNvCxnSpPr/>
            <p:nvPr/>
          </p:nvCxnSpPr>
          <p:spPr>
            <a:xfrm>
              <a:off x="3357554" y="5143512"/>
              <a:ext cx="2286016" cy="1589"/>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D3F1B51-4CCA-4CD2-619A-27AE4ACD6FB3}"/>
                </a:ext>
              </a:extLst>
            </p:cNvPr>
            <p:cNvCxnSpPr/>
            <p:nvPr/>
          </p:nvCxnSpPr>
          <p:spPr>
            <a:xfrm rot="16200000" flipV="1">
              <a:off x="5500694" y="5000636"/>
              <a:ext cx="286546" cy="794"/>
            </a:xfrm>
            <a:prstGeom prst="straightConnector1">
              <a:avLst/>
            </a:prstGeom>
            <a:ln>
              <a:solidFill>
                <a:srgbClr val="0000FF"/>
              </a:solidFill>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A4492408-AC6C-B0D5-CFE5-AF91326CD921}"/>
                </a:ext>
              </a:extLst>
            </p:cNvPr>
            <p:cNvCxnSpPr/>
            <p:nvPr/>
          </p:nvCxnSpPr>
          <p:spPr>
            <a:xfrm rot="16200000" flipV="1">
              <a:off x="3143240" y="4929198"/>
              <a:ext cx="429422" cy="794"/>
            </a:xfrm>
            <a:prstGeom prst="straightConnector1">
              <a:avLst/>
            </a:prstGeom>
            <a:ln>
              <a:solidFill>
                <a:srgbClr val="0000FF"/>
              </a:solidFill>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59285331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6869-1427-5708-EDC0-193D28A02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1DF9C-431B-8F6C-BBE2-A4D77B5D0513}"/>
              </a:ext>
            </a:extLst>
          </p:cNvPr>
          <p:cNvSpPr>
            <a:spLocks noGrp="1"/>
          </p:cNvSpPr>
          <p:nvPr>
            <p:ph type="title"/>
          </p:nvPr>
        </p:nvSpPr>
        <p:spPr>
          <a:xfrm>
            <a:off x="348791" y="286603"/>
            <a:ext cx="11481847" cy="1450757"/>
          </a:xfrm>
        </p:spPr>
        <p:txBody>
          <a:bodyPr/>
          <a:lstStyle/>
          <a:p>
            <a:r>
              <a:rPr lang="en-GB" dirty="0"/>
              <a:t>How to implement multiple interfaces  in java?</a:t>
            </a:r>
            <a:endParaRPr lang="en-US" dirty="0"/>
          </a:p>
        </p:txBody>
      </p:sp>
      <p:sp>
        <p:nvSpPr>
          <p:cNvPr id="4" name="Footer Placeholder 3">
            <a:extLst>
              <a:ext uri="{FF2B5EF4-FFF2-40B4-BE49-F238E27FC236}">
                <a16:creationId xmlns:a16="http://schemas.microsoft.com/office/drawing/2014/main" id="{B610E880-F06A-CCA3-EFFB-8784EA32412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592F9FAB-AEA7-EE93-5953-FE47A006BAAB}"/>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672DAE58-42E4-2C66-41B5-F93E828D36D9}"/>
              </a:ext>
            </a:extLst>
          </p:cNvPr>
          <p:cNvSpPr/>
          <p:nvPr/>
        </p:nvSpPr>
        <p:spPr>
          <a:xfrm>
            <a:off x="362121" y="3228806"/>
            <a:ext cx="8143932" cy="3429024"/>
          </a:xfrm>
          <a:prstGeom prst="rect">
            <a:avLst/>
          </a:prstGeom>
          <a:solidFill>
            <a:schemeClr val="accent2">
              <a:lumMod val="20000"/>
              <a:lumOff val="80000"/>
              <a:alpha val="9000"/>
            </a:schemeClr>
          </a:solid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15">
            <a:extLst>
              <a:ext uri="{FF2B5EF4-FFF2-40B4-BE49-F238E27FC236}">
                <a16:creationId xmlns:a16="http://schemas.microsoft.com/office/drawing/2014/main" id="{FD4B0FC6-7988-FE1F-B9BF-1A30CB23DA68}"/>
              </a:ext>
            </a:extLst>
          </p:cNvPr>
          <p:cNvGrpSpPr/>
          <p:nvPr/>
        </p:nvGrpSpPr>
        <p:grpSpPr>
          <a:xfrm>
            <a:off x="6404764" y="1767331"/>
            <a:ext cx="2500330" cy="1714512"/>
            <a:chOff x="5143504" y="3429000"/>
            <a:chExt cx="2905140" cy="1714512"/>
          </a:xfrm>
        </p:grpSpPr>
        <p:sp>
          <p:nvSpPr>
            <p:cNvPr id="7" name="Oval 6">
              <a:extLst>
                <a:ext uri="{FF2B5EF4-FFF2-40B4-BE49-F238E27FC236}">
                  <a16:creationId xmlns:a16="http://schemas.microsoft.com/office/drawing/2014/main" id="{1D114919-A8F4-890B-055D-39EC18ACDEB1}"/>
                </a:ext>
              </a:extLst>
            </p:cNvPr>
            <p:cNvSpPr/>
            <p:nvPr/>
          </p:nvSpPr>
          <p:spPr>
            <a:xfrm>
              <a:off x="5143504" y="3429000"/>
              <a:ext cx="2905140" cy="1714512"/>
            </a:xfrm>
            <a:prstGeom prst="ellips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9" name="TextBox 28">
              <a:extLst>
                <a:ext uri="{FF2B5EF4-FFF2-40B4-BE49-F238E27FC236}">
                  <a16:creationId xmlns:a16="http://schemas.microsoft.com/office/drawing/2014/main" id="{D2D0B90D-F562-20F7-2701-72870E72BB55}"/>
                </a:ext>
              </a:extLst>
            </p:cNvPr>
            <p:cNvSpPr txBox="1"/>
            <p:nvPr/>
          </p:nvSpPr>
          <p:spPr>
            <a:xfrm>
              <a:off x="5572132" y="3786190"/>
              <a:ext cx="2143140" cy="700000"/>
            </a:xfrm>
            <a:prstGeom prst="rect">
              <a:avLst/>
            </a:prstGeom>
            <a:noFill/>
          </p:spPr>
          <p:txBody>
            <a:bodyPr wrap="square" rtlCol="0">
              <a:spAutoFit/>
            </a:bodyPr>
            <a:lstStyle/>
            <a:p>
              <a:pPr algn="l" rtl="0">
                <a:lnSpc>
                  <a:spcPct val="150000"/>
                </a:lnSpc>
              </a:pPr>
              <a:r>
                <a:rPr lang="en-GB" sz="1400" dirty="0">
                  <a:latin typeface="Times New Roman" pitchFamily="18" charset="0"/>
                  <a:cs typeface="Times New Roman" pitchFamily="18" charset="0"/>
                </a:rPr>
                <a:t> </a:t>
              </a:r>
              <a:r>
                <a:rPr lang="en-GB" sz="1400" dirty="0" err="1">
                  <a:solidFill>
                    <a:srgbClr val="006600"/>
                  </a:solidFill>
                  <a:latin typeface="Times New Roman" pitchFamily="18" charset="0"/>
                  <a:cs typeface="Times New Roman" pitchFamily="18" charset="0"/>
                </a:rPr>
                <a:t>person_age</a:t>
              </a:r>
              <a:r>
                <a:rPr lang="en-GB" sz="1400" dirty="0">
                  <a:solidFill>
                    <a:srgbClr val="006600"/>
                  </a:solidFill>
                  <a:latin typeface="Times New Roman" pitchFamily="18" charset="0"/>
                  <a:cs typeface="Times New Roman" pitchFamily="18" charset="0"/>
                </a:rPr>
                <a:t>: </a:t>
              </a:r>
              <a:r>
                <a:rPr lang="en-GB" sz="1400" dirty="0" err="1">
                  <a:solidFill>
                    <a:srgbClr val="006600"/>
                  </a:solidFill>
                  <a:latin typeface="Times New Roman" pitchFamily="18" charset="0"/>
                  <a:cs typeface="Times New Roman" pitchFamily="18" charset="0"/>
                </a:rPr>
                <a:t>int</a:t>
              </a:r>
              <a:endParaRPr lang="en-GB" sz="1400" dirty="0">
                <a:solidFill>
                  <a:srgbClr val="006600"/>
                </a:solidFill>
                <a:latin typeface="Times New Roman" pitchFamily="18" charset="0"/>
                <a:cs typeface="Times New Roman" pitchFamily="18" charset="0"/>
              </a:endParaRPr>
            </a:p>
            <a:p>
              <a:pPr algn="l" rtl="0">
                <a:lnSpc>
                  <a:spcPct val="150000"/>
                </a:lnSpc>
              </a:pPr>
              <a:r>
                <a:rPr lang="en-GB" sz="1400" dirty="0">
                  <a:solidFill>
                    <a:srgbClr val="006600"/>
                  </a:solidFill>
                  <a:latin typeface="Times New Roman" pitchFamily="18" charset="0"/>
                  <a:cs typeface="Times New Roman" pitchFamily="18" charset="0"/>
                </a:rPr>
                <a:t> </a:t>
              </a:r>
              <a:r>
                <a:rPr lang="en-GB" sz="1400" dirty="0" err="1">
                  <a:solidFill>
                    <a:srgbClr val="006600"/>
                  </a:solidFill>
                  <a:latin typeface="Times New Roman" pitchFamily="18" charset="0"/>
                  <a:cs typeface="Times New Roman" pitchFamily="18" charset="0"/>
                </a:rPr>
                <a:t>person_name</a:t>
              </a:r>
              <a:r>
                <a:rPr lang="en-GB" sz="1400" dirty="0">
                  <a:solidFill>
                    <a:srgbClr val="006600"/>
                  </a:solidFill>
                  <a:latin typeface="Times New Roman" pitchFamily="18" charset="0"/>
                  <a:cs typeface="Times New Roman" pitchFamily="18" charset="0"/>
                </a:rPr>
                <a:t>: String</a:t>
              </a:r>
            </a:p>
          </p:txBody>
        </p:sp>
        <p:sp>
          <p:nvSpPr>
            <p:cNvPr id="30" name="TextBox 29">
              <a:extLst>
                <a:ext uri="{FF2B5EF4-FFF2-40B4-BE49-F238E27FC236}">
                  <a16:creationId xmlns:a16="http://schemas.microsoft.com/office/drawing/2014/main" id="{70C5089B-212D-8F58-A86C-9E970BD454FE}"/>
                </a:ext>
              </a:extLst>
            </p:cNvPr>
            <p:cNvSpPr txBox="1"/>
            <p:nvPr/>
          </p:nvSpPr>
          <p:spPr>
            <a:xfrm>
              <a:off x="5558524" y="4643446"/>
              <a:ext cx="2143140" cy="307777"/>
            </a:xfrm>
            <a:prstGeom prst="rect">
              <a:avLst/>
            </a:prstGeom>
            <a:noFill/>
          </p:spPr>
          <p:txBody>
            <a:bodyPr wrap="square" rtlCol="0">
              <a:spAutoFit/>
            </a:bodyPr>
            <a:lstStyle/>
            <a:p>
              <a:pPr algn="l" rtl="0"/>
              <a:r>
                <a:rPr lang="en-GB" sz="1400" dirty="0">
                  <a:solidFill>
                    <a:srgbClr val="000099"/>
                  </a:solidFill>
                  <a:latin typeface="Times New Roman" pitchFamily="18" charset="0"/>
                  <a:cs typeface="Times New Roman" pitchFamily="18" charset="0"/>
                </a:rPr>
                <a:t>+ </a:t>
              </a:r>
              <a:r>
                <a:rPr lang="en-GB" sz="1400" dirty="0" err="1">
                  <a:solidFill>
                    <a:srgbClr val="000099"/>
                  </a:solidFill>
                  <a:latin typeface="Times New Roman" pitchFamily="18" charset="0"/>
                  <a:cs typeface="Times New Roman" pitchFamily="18" charset="0"/>
                </a:rPr>
                <a:t>personInfo</a:t>
              </a:r>
              <a:r>
                <a:rPr lang="en-GB" sz="1400" dirty="0">
                  <a:solidFill>
                    <a:srgbClr val="000099"/>
                  </a:solidFill>
                  <a:latin typeface="Times New Roman" pitchFamily="18" charset="0"/>
                  <a:cs typeface="Times New Roman" pitchFamily="18" charset="0"/>
                </a:rPr>
                <a:t>(): void ;</a:t>
              </a:r>
            </a:p>
          </p:txBody>
        </p:sp>
        <p:sp>
          <p:nvSpPr>
            <p:cNvPr id="31" name="TextBox 30">
              <a:extLst>
                <a:ext uri="{FF2B5EF4-FFF2-40B4-BE49-F238E27FC236}">
                  <a16:creationId xmlns:a16="http://schemas.microsoft.com/office/drawing/2014/main" id="{84F52E63-9A00-FA4A-DF6E-421AB41CEA42}"/>
                </a:ext>
              </a:extLst>
            </p:cNvPr>
            <p:cNvSpPr txBox="1"/>
            <p:nvPr/>
          </p:nvSpPr>
          <p:spPr>
            <a:xfrm>
              <a:off x="6056548" y="3500438"/>
              <a:ext cx="919170" cy="307777"/>
            </a:xfrm>
            <a:prstGeom prst="rect">
              <a:avLst/>
            </a:prstGeom>
            <a:noFill/>
          </p:spPr>
          <p:txBody>
            <a:bodyPr wrap="square" rtlCol="0">
              <a:spAutoFit/>
            </a:bodyPr>
            <a:lstStyle/>
            <a:p>
              <a:pPr algn="ctr" rtl="0"/>
              <a:r>
                <a:rPr lang="en-GB" sz="1400" b="1" dirty="0">
                  <a:solidFill>
                    <a:srgbClr val="C00000"/>
                  </a:solidFill>
                  <a:latin typeface="Times New Roman" pitchFamily="18" charset="0"/>
                  <a:cs typeface="Times New Roman" pitchFamily="18" charset="0"/>
                </a:rPr>
                <a:t>Person</a:t>
              </a:r>
            </a:p>
          </p:txBody>
        </p:sp>
        <p:cxnSp>
          <p:nvCxnSpPr>
            <p:cNvPr id="32" name="AutoShape 11">
              <a:extLst>
                <a:ext uri="{FF2B5EF4-FFF2-40B4-BE49-F238E27FC236}">
                  <a16:creationId xmlns:a16="http://schemas.microsoft.com/office/drawing/2014/main" id="{268EEAD7-F627-7716-1E9C-AE3C34E561E6}"/>
                </a:ext>
              </a:extLst>
            </p:cNvPr>
            <p:cNvCxnSpPr>
              <a:cxnSpLocks noChangeShapeType="1"/>
            </p:cNvCxnSpPr>
            <p:nvPr/>
          </p:nvCxnSpPr>
          <p:spPr bwMode="auto">
            <a:xfrm>
              <a:off x="5392516" y="3786190"/>
              <a:ext cx="2407116" cy="1588"/>
            </a:xfrm>
            <a:prstGeom prst="straightConnector1">
              <a:avLst/>
            </a:prstGeom>
            <a:noFill/>
            <a:ln w="9525">
              <a:solidFill>
                <a:srgbClr val="000000"/>
              </a:solidFill>
              <a:round/>
              <a:headEnd/>
              <a:tailEnd/>
            </a:ln>
          </p:spPr>
        </p:cxnSp>
        <p:cxnSp>
          <p:nvCxnSpPr>
            <p:cNvPr id="33" name="AutoShape 11">
              <a:extLst>
                <a:ext uri="{FF2B5EF4-FFF2-40B4-BE49-F238E27FC236}">
                  <a16:creationId xmlns:a16="http://schemas.microsoft.com/office/drawing/2014/main" id="{8F19674A-01DA-E1FB-48DC-1AB331BEC62D}"/>
                </a:ext>
              </a:extLst>
            </p:cNvPr>
            <p:cNvCxnSpPr>
              <a:cxnSpLocks noChangeShapeType="1"/>
            </p:cNvCxnSpPr>
            <p:nvPr/>
          </p:nvCxnSpPr>
          <p:spPr bwMode="auto">
            <a:xfrm>
              <a:off x="5286380" y="4570420"/>
              <a:ext cx="2679260" cy="1588"/>
            </a:xfrm>
            <a:prstGeom prst="straightConnector1">
              <a:avLst/>
            </a:prstGeom>
            <a:noFill/>
            <a:ln w="9525">
              <a:solidFill>
                <a:srgbClr val="000000"/>
              </a:solidFill>
              <a:round/>
              <a:headEnd/>
              <a:tailEnd/>
            </a:ln>
          </p:spPr>
        </p:cxnSp>
      </p:grpSp>
      <p:grpSp>
        <p:nvGrpSpPr>
          <p:cNvPr id="34" name="Group 23">
            <a:extLst>
              <a:ext uri="{FF2B5EF4-FFF2-40B4-BE49-F238E27FC236}">
                <a16:creationId xmlns:a16="http://schemas.microsoft.com/office/drawing/2014/main" id="{CCA20698-4B4D-0033-FDE0-E839B00F4354}"/>
              </a:ext>
            </a:extLst>
          </p:cNvPr>
          <p:cNvGrpSpPr/>
          <p:nvPr/>
        </p:nvGrpSpPr>
        <p:grpSpPr>
          <a:xfrm>
            <a:off x="1324244" y="2041505"/>
            <a:ext cx="3486168" cy="1143008"/>
            <a:chOff x="5143504" y="3429000"/>
            <a:chExt cx="3486168" cy="1143008"/>
          </a:xfrm>
        </p:grpSpPr>
        <p:sp>
          <p:nvSpPr>
            <p:cNvPr id="35" name="Oval 34">
              <a:extLst>
                <a:ext uri="{FF2B5EF4-FFF2-40B4-BE49-F238E27FC236}">
                  <a16:creationId xmlns:a16="http://schemas.microsoft.com/office/drawing/2014/main" id="{5D5DA38D-2120-8EA0-9E41-C5F49C48EA6F}"/>
                </a:ext>
              </a:extLst>
            </p:cNvPr>
            <p:cNvSpPr/>
            <p:nvPr/>
          </p:nvSpPr>
          <p:spPr>
            <a:xfrm>
              <a:off x="5143504" y="3429000"/>
              <a:ext cx="3486168" cy="1143008"/>
            </a:xfrm>
            <a:prstGeom prst="ellips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6" name="TextBox 35">
              <a:extLst>
                <a:ext uri="{FF2B5EF4-FFF2-40B4-BE49-F238E27FC236}">
                  <a16:creationId xmlns:a16="http://schemas.microsoft.com/office/drawing/2014/main" id="{8BBA3CF0-F092-F114-4443-62E473D8D17A}"/>
                </a:ext>
              </a:extLst>
            </p:cNvPr>
            <p:cNvSpPr txBox="1"/>
            <p:nvPr/>
          </p:nvSpPr>
          <p:spPr>
            <a:xfrm>
              <a:off x="5357818" y="3929066"/>
              <a:ext cx="3071834" cy="307777"/>
            </a:xfrm>
            <a:prstGeom prst="rect">
              <a:avLst/>
            </a:prstGeom>
            <a:noFill/>
          </p:spPr>
          <p:txBody>
            <a:bodyPr wrap="square" rtlCol="0">
              <a:spAutoFit/>
            </a:bodyPr>
            <a:lstStyle/>
            <a:p>
              <a:pPr algn="l" rtl="0"/>
              <a:r>
                <a:rPr lang="en-GB" sz="1400" dirty="0">
                  <a:solidFill>
                    <a:srgbClr val="000099"/>
                  </a:solidFill>
                  <a:latin typeface="Times New Roman" pitchFamily="18" charset="0"/>
                  <a:cs typeface="Times New Roman" pitchFamily="18" charset="0"/>
                </a:rPr>
                <a:t>+ </a:t>
              </a:r>
              <a:r>
                <a:rPr lang="en-US" sz="1400" dirty="0" err="1">
                  <a:solidFill>
                    <a:srgbClr val="000099"/>
                  </a:solidFill>
                  <a:latin typeface="Times New Roman" pitchFamily="18" charset="0"/>
                  <a:cs typeface="Times New Roman" pitchFamily="18" charset="0"/>
                </a:rPr>
                <a:t>EmployeeInfo</a:t>
              </a:r>
              <a:r>
                <a:rPr lang="en-US" sz="1400" dirty="0">
                  <a:solidFill>
                    <a:srgbClr val="000099"/>
                  </a:solidFill>
                  <a:latin typeface="Times New Roman" pitchFamily="18" charset="0"/>
                  <a:cs typeface="Times New Roman" pitchFamily="18" charset="0"/>
                </a:rPr>
                <a:t> (String name) </a:t>
              </a:r>
              <a:r>
                <a:rPr lang="en-GB" sz="1400" dirty="0">
                  <a:solidFill>
                    <a:srgbClr val="000099"/>
                  </a:solidFill>
                  <a:latin typeface="Times New Roman" pitchFamily="18" charset="0"/>
                  <a:cs typeface="Times New Roman" pitchFamily="18" charset="0"/>
                </a:rPr>
                <a:t>: void ;</a:t>
              </a:r>
            </a:p>
          </p:txBody>
        </p:sp>
        <p:sp>
          <p:nvSpPr>
            <p:cNvPr id="37" name="TextBox 36">
              <a:extLst>
                <a:ext uri="{FF2B5EF4-FFF2-40B4-BE49-F238E27FC236}">
                  <a16:creationId xmlns:a16="http://schemas.microsoft.com/office/drawing/2014/main" id="{9439BD93-6B52-57FD-0666-1107D6BBE594}"/>
                </a:ext>
              </a:extLst>
            </p:cNvPr>
            <p:cNvSpPr txBox="1"/>
            <p:nvPr/>
          </p:nvSpPr>
          <p:spPr>
            <a:xfrm>
              <a:off x="6429388" y="3500438"/>
              <a:ext cx="1143008" cy="307777"/>
            </a:xfrm>
            <a:prstGeom prst="rect">
              <a:avLst/>
            </a:prstGeom>
            <a:noFill/>
          </p:spPr>
          <p:txBody>
            <a:bodyPr wrap="square" rtlCol="0">
              <a:spAutoFit/>
            </a:bodyPr>
            <a:lstStyle/>
            <a:p>
              <a:pPr algn="ctr" rtl="0"/>
              <a:r>
                <a:rPr lang="en-US" sz="1400" b="1" dirty="0">
                  <a:solidFill>
                    <a:srgbClr val="C00000"/>
                  </a:solidFill>
                  <a:latin typeface="Times New Roman" pitchFamily="18" charset="0"/>
                  <a:cs typeface="Times New Roman" pitchFamily="18" charset="0"/>
                </a:rPr>
                <a:t>Employee</a:t>
              </a:r>
              <a:endParaRPr lang="en-GB" sz="1400" b="1" dirty="0">
                <a:solidFill>
                  <a:srgbClr val="C00000"/>
                </a:solidFill>
                <a:latin typeface="Times New Roman" pitchFamily="18" charset="0"/>
                <a:cs typeface="Times New Roman" pitchFamily="18" charset="0"/>
              </a:endParaRPr>
            </a:p>
          </p:txBody>
        </p:sp>
        <p:cxnSp>
          <p:nvCxnSpPr>
            <p:cNvPr id="38" name="AutoShape 11">
              <a:extLst>
                <a:ext uri="{FF2B5EF4-FFF2-40B4-BE49-F238E27FC236}">
                  <a16:creationId xmlns:a16="http://schemas.microsoft.com/office/drawing/2014/main" id="{F2A6EB0E-AA07-7056-5A3C-0D236213B412}"/>
                </a:ext>
              </a:extLst>
            </p:cNvPr>
            <p:cNvCxnSpPr>
              <a:cxnSpLocks noChangeShapeType="1"/>
            </p:cNvCxnSpPr>
            <p:nvPr/>
          </p:nvCxnSpPr>
          <p:spPr bwMode="auto">
            <a:xfrm>
              <a:off x="5286380" y="3786190"/>
              <a:ext cx="3214710" cy="1588"/>
            </a:xfrm>
            <a:prstGeom prst="straightConnector1">
              <a:avLst/>
            </a:prstGeom>
            <a:noFill/>
            <a:ln w="9525">
              <a:solidFill>
                <a:srgbClr val="000000"/>
              </a:solidFill>
              <a:round/>
              <a:headEnd/>
              <a:tailEnd/>
            </a:ln>
          </p:spPr>
        </p:cxnSp>
      </p:grpSp>
      <p:cxnSp>
        <p:nvCxnSpPr>
          <p:cNvPr id="39" name="Straight Connector 38">
            <a:extLst>
              <a:ext uri="{FF2B5EF4-FFF2-40B4-BE49-F238E27FC236}">
                <a16:creationId xmlns:a16="http://schemas.microsoft.com/office/drawing/2014/main" id="{8E1D0A50-42A4-64AC-D7E9-4EAB960046E2}"/>
              </a:ext>
            </a:extLst>
          </p:cNvPr>
          <p:cNvCxnSpPr/>
          <p:nvPr/>
        </p:nvCxnSpPr>
        <p:spPr>
          <a:xfrm rot="5400000">
            <a:off x="2941212" y="4160107"/>
            <a:ext cx="4499800" cy="158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0" name="Picture 3">
            <a:extLst>
              <a:ext uri="{FF2B5EF4-FFF2-40B4-BE49-F238E27FC236}">
                <a16:creationId xmlns:a16="http://schemas.microsoft.com/office/drawing/2014/main" id="{18E91CA6-808D-752D-A735-D7DD0EE95C0E}"/>
              </a:ext>
            </a:extLst>
          </p:cNvPr>
          <p:cNvPicPr>
            <a:picLocks noChangeAspect="1" noChangeArrowheads="1"/>
          </p:cNvPicPr>
          <p:nvPr/>
        </p:nvPicPr>
        <p:blipFill>
          <a:blip r:embed="rId2"/>
          <a:srcRect/>
          <a:stretch>
            <a:fillRect/>
          </a:stretch>
        </p:blipFill>
        <p:spPr bwMode="auto">
          <a:xfrm>
            <a:off x="5333194" y="3591392"/>
            <a:ext cx="3009900" cy="1533525"/>
          </a:xfrm>
          <a:prstGeom prst="rect">
            <a:avLst/>
          </a:prstGeom>
          <a:solidFill>
            <a:schemeClr val="accent2">
              <a:lumMod val="20000"/>
              <a:lumOff val="80000"/>
              <a:alpha val="9000"/>
            </a:schemeClr>
          </a:solidFill>
          <a:ln w="6350">
            <a:solidFill>
              <a:schemeClr val="tx1"/>
            </a:solidFill>
            <a:prstDash val="dash"/>
          </a:ln>
        </p:spPr>
      </p:pic>
      <p:cxnSp>
        <p:nvCxnSpPr>
          <p:cNvPr id="41" name="Straight Arrow Connector 40">
            <a:extLst>
              <a:ext uri="{FF2B5EF4-FFF2-40B4-BE49-F238E27FC236}">
                <a16:creationId xmlns:a16="http://schemas.microsoft.com/office/drawing/2014/main" id="{7AFFD59D-1DB9-45CC-0B67-17E602D5D158}"/>
              </a:ext>
            </a:extLst>
          </p:cNvPr>
          <p:cNvCxnSpPr/>
          <p:nvPr/>
        </p:nvCxnSpPr>
        <p:spPr>
          <a:xfrm rot="10800000">
            <a:off x="8405029" y="4146810"/>
            <a:ext cx="285752"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A2CB6531-09FE-687E-ED13-64E86DA531A1}"/>
              </a:ext>
            </a:extLst>
          </p:cNvPr>
          <p:cNvSpPr txBox="1"/>
          <p:nvPr/>
        </p:nvSpPr>
        <p:spPr>
          <a:xfrm>
            <a:off x="8762218" y="3981909"/>
            <a:ext cx="1456115" cy="523220"/>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l" rtl="0"/>
            <a:r>
              <a:rPr lang="en-GB" sz="1400" b="1" dirty="0">
                <a:solidFill>
                  <a:srgbClr val="000099"/>
                </a:solidFill>
                <a:cs typeface="Times New Roman" pitchFamily="18" charset="0"/>
              </a:rPr>
              <a:t>Constant Fields</a:t>
            </a:r>
          </a:p>
        </p:txBody>
      </p:sp>
      <p:cxnSp>
        <p:nvCxnSpPr>
          <p:cNvPr id="43" name="Straight Arrow Connector 42">
            <a:extLst>
              <a:ext uri="{FF2B5EF4-FFF2-40B4-BE49-F238E27FC236}">
                <a16:creationId xmlns:a16="http://schemas.microsoft.com/office/drawing/2014/main" id="{88359172-55BA-B880-60A8-3045778C1877}"/>
              </a:ext>
            </a:extLst>
          </p:cNvPr>
          <p:cNvCxnSpPr/>
          <p:nvPr/>
        </p:nvCxnSpPr>
        <p:spPr>
          <a:xfrm rot="10800000">
            <a:off x="8405029" y="4789752"/>
            <a:ext cx="285752"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44775942-B239-EC4B-CE6B-E4228DC4679C}"/>
              </a:ext>
            </a:extLst>
          </p:cNvPr>
          <p:cNvSpPr txBox="1"/>
          <p:nvPr/>
        </p:nvSpPr>
        <p:spPr>
          <a:xfrm>
            <a:off x="8762218" y="4552284"/>
            <a:ext cx="1456115" cy="523220"/>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ctr" rtl="0"/>
            <a:r>
              <a:rPr lang="en-GB" sz="1400" b="1" dirty="0">
                <a:solidFill>
                  <a:srgbClr val="000099"/>
                </a:solidFill>
                <a:cs typeface="Times New Roman" pitchFamily="18" charset="0"/>
              </a:rPr>
              <a:t>Method Declaration</a:t>
            </a:r>
          </a:p>
        </p:txBody>
      </p:sp>
      <p:pic>
        <p:nvPicPr>
          <p:cNvPr id="45" name="Picture 5">
            <a:extLst>
              <a:ext uri="{FF2B5EF4-FFF2-40B4-BE49-F238E27FC236}">
                <a16:creationId xmlns:a16="http://schemas.microsoft.com/office/drawing/2014/main" id="{234B6858-6092-8726-22AE-3413F52DE1C6}"/>
              </a:ext>
            </a:extLst>
          </p:cNvPr>
          <p:cNvPicPr>
            <a:picLocks noChangeAspect="1" noChangeArrowheads="1"/>
          </p:cNvPicPr>
          <p:nvPr/>
        </p:nvPicPr>
        <p:blipFill>
          <a:blip r:embed="rId3"/>
          <a:srcRect/>
          <a:stretch>
            <a:fillRect/>
          </a:stretch>
        </p:blipFill>
        <p:spPr bwMode="auto">
          <a:xfrm>
            <a:off x="1351742" y="3624719"/>
            <a:ext cx="3695700" cy="866775"/>
          </a:xfrm>
          <a:prstGeom prst="rect">
            <a:avLst/>
          </a:prstGeom>
          <a:solidFill>
            <a:schemeClr val="accent2">
              <a:lumMod val="20000"/>
              <a:lumOff val="80000"/>
              <a:alpha val="9000"/>
            </a:schemeClr>
          </a:solidFill>
          <a:ln w="6350">
            <a:solidFill>
              <a:schemeClr val="tx1"/>
            </a:solidFill>
            <a:prstDash val="dash"/>
          </a:ln>
        </p:spPr>
      </p:pic>
      <p:sp>
        <p:nvSpPr>
          <p:cNvPr id="46" name="TextBox 45">
            <a:extLst>
              <a:ext uri="{FF2B5EF4-FFF2-40B4-BE49-F238E27FC236}">
                <a16:creationId xmlns:a16="http://schemas.microsoft.com/office/drawing/2014/main" id="{72B30ED4-682F-3C18-A02D-E88A9DBA3FA3}"/>
              </a:ext>
            </a:extLst>
          </p:cNvPr>
          <p:cNvSpPr txBox="1"/>
          <p:nvPr/>
        </p:nvSpPr>
        <p:spPr>
          <a:xfrm>
            <a:off x="2547112" y="4602826"/>
            <a:ext cx="1857388" cy="307777"/>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ctr" rtl="0"/>
            <a:r>
              <a:rPr lang="en-GB" sz="1400" b="1" dirty="0">
                <a:solidFill>
                  <a:srgbClr val="000099"/>
                </a:solidFill>
                <a:cs typeface="Times New Roman" pitchFamily="18" charset="0"/>
              </a:rPr>
              <a:t>Method Declaration</a:t>
            </a:r>
          </a:p>
        </p:txBody>
      </p:sp>
      <p:cxnSp>
        <p:nvCxnSpPr>
          <p:cNvPr id="47" name="Straight Arrow Connector 46">
            <a:extLst>
              <a:ext uri="{FF2B5EF4-FFF2-40B4-BE49-F238E27FC236}">
                <a16:creationId xmlns:a16="http://schemas.microsoft.com/office/drawing/2014/main" id="{99F2430C-D299-AA02-86CE-BB2839AE99A6}"/>
              </a:ext>
            </a:extLst>
          </p:cNvPr>
          <p:cNvCxnSpPr/>
          <p:nvPr/>
        </p:nvCxnSpPr>
        <p:spPr>
          <a:xfrm rot="5400000" flipH="1" flipV="1">
            <a:off x="3286428" y="4411860"/>
            <a:ext cx="380344"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48" name="Rectangle 47">
            <a:extLst>
              <a:ext uri="{FF2B5EF4-FFF2-40B4-BE49-F238E27FC236}">
                <a16:creationId xmlns:a16="http://schemas.microsoft.com/office/drawing/2014/main" id="{73B4CAB0-5E2A-8E2D-B3E1-33D92B8706E6}"/>
              </a:ext>
            </a:extLst>
          </p:cNvPr>
          <p:cNvSpPr/>
          <p:nvPr/>
        </p:nvSpPr>
        <p:spPr>
          <a:xfrm>
            <a:off x="5289111" y="5163222"/>
            <a:ext cx="4929222" cy="1089594"/>
          </a:xfrm>
          <a:prstGeom prst="rect">
            <a:avLst/>
          </a:prstGeom>
          <a:ln w="3175">
            <a:prstDash val="dash"/>
          </a:ln>
        </p:spPr>
        <p:style>
          <a:lnRef idx="2">
            <a:schemeClr val="dk1"/>
          </a:lnRef>
          <a:fillRef idx="1">
            <a:schemeClr val="lt1"/>
          </a:fillRef>
          <a:effectRef idx="0">
            <a:schemeClr val="dk1"/>
          </a:effectRef>
          <a:fontRef idx="minor">
            <a:schemeClr val="dk1"/>
          </a:fontRef>
        </p:style>
        <p:txBody>
          <a:bodyPr wrap="square">
            <a:spAutoFit/>
          </a:bodyPr>
          <a:lstStyle/>
          <a:p>
            <a:pPr algn="just" rtl="0">
              <a:lnSpc>
                <a:spcPct val="150000"/>
              </a:lnSpc>
            </a:pPr>
            <a:r>
              <a:rPr lang="en-US" sz="1500" dirty="0">
                <a:cs typeface="Times New Roman" pitchFamily="18" charset="0"/>
              </a:rPr>
              <a:t>The Person interface declares two constants Fields and a method called "</a:t>
            </a:r>
            <a:r>
              <a:rPr lang="en-US" sz="1500" b="1" dirty="0" err="1">
                <a:cs typeface="Times New Roman" pitchFamily="18" charset="0"/>
              </a:rPr>
              <a:t>PersonInfo</a:t>
            </a:r>
            <a:r>
              <a:rPr lang="en-US" sz="1500" dirty="0">
                <a:cs typeface="Times New Roman" pitchFamily="18" charset="0"/>
              </a:rPr>
              <a:t>() “.</a:t>
            </a:r>
          </a:p>
          <a:p>
            <a:pPr algn="just" rtl="0">
              <a:lnSpc>
                <a:spcPct val="150000"/>
              </a:lnSpc>
            </a:pPr>
            <a:endParaRPr lang="en-US" sz="1500" dirty="0">
              <a:latin typeface="Times New Roman" pitchFamily="18" charset="0"/>
              <a:cs typeface="Times New Roman" pitchFamily="18" charset="0"/>
            </a:endParaRPr>
          </a:p>
        </p:txBody>
      </p:sp>
      <p:sp>
        <p:nvSpPr>
          <p:cNvPr id="49" name="Rectangle 48">
            <a:extLst>
              <a:ext uri="{FF2B5EF4-FFF2-40B4-BE49-F238E27FC236}">
                <a16:creationId xmlns:a16="http://schemas.microsoft.com/office/drawing/2014/main" id="{B6B91C83-D75F-2AD2-F898-AECD087D896B}"/>
              </a:ext>
            </a:extLst>
          </p:cNvPr>
          <p:cNvSpPr/>
          <p:nvPr/>
        </p:nvSpPr>
        <p:spPr>
          <a:xfrm>
            <a:off x="1189822" y="5139875"/>
            <a:ext cx="3857620" cy="1089594"/>
          </a:xfrm>
          <a:prstGeom prst="rect">
            <a:avLst/>
          </a:prstGeom>
          <a:ln w="3175">
            <a:prstDash val="dash"/>
          </a:ln>
        </p:spPr>
        <p:style>
          <a:lnRef idx="2">
            <a:schemeClr val="dk1"/>
          </a:lnRef>
          <a:fillRef idx="1">
            <a:schemeClr val="lt1"/>
          </a:fillRef>
          <a:effectRef idx="0">
            <a:schemeClr val="dk1"/>
          </a:effectRef>
          <a:fontRef idx="minor">
            <a:schemeClr val="dk1"/>
          </a:fontRef>
        </p:style>
        <p:txBody>
          <a:bodyPr wrap="square">
            <a:spAutoFit/>
          </a:bodyPr>
          <a:lstStyle/>
          <a:p>
            <a:pPr algn="just" rtl="0">
              <a:lnSpc>
                <a:spcPct val="150000"/>
              </a:lnSpc>
            </a:pPr>
            <a:r>
              <a:rPr lang="en-US" sz="1500" dirty="0">
                <a:cs typeface="Times New Roman" pitchFamily="18" charset="0"/>
              </a:rPr>
              <a:t>The employee interface declares a method called "</a:t>
            </a:r>
            <a:r>
              <a:rPr lang="en-US" sz="1500" b="1" dirty="0" err="1">
                <a:cs typeface="Times New Roman" pitchFamily="18" charset="0"/>
              </a:rPr>
              <a:t>EmployeeInfo</a:t>
            </a:r>
            <a:r>
              <a:rPr lang="en-US" sz="1500" b="1" dirty="0">
                <a:cs typeface="Times New Roman" pitchFamily="18" charset="0"/>
              </a:rPr>
              <a:t>()</a:t>
            </a:r>
            <a:r>
              <a:rPr lang="en-US" sz="1500" dirty="0">
                <a:cs typeface="Times New Roman" pitchFamily="18" charset="0"/>
              </a:rPr>
              <a:t>", which takes a parameter.</a:t>
            </a:r>
          </a:p>
        </p:txBody>
      </p:sp>
    </p:spTree>
    <p:extLst>
      <p:ext uri="{BB962C8B-B14F-4D97-AF65-F5344CB8AC3E}">
        <p14:creationId xmlns:p14="http://schemas.microsoft.com/office/powerpoint/2010/main" val="289256949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B395B-F0B1-B823-5503-8F5B630E8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896DE-D2F6-87A7-3E68-AA3CF9BA3F75}"/>
              </a:ext>
            </a:extLst>
          </p:cNvPr>
          <p:cNvSpPr>
            <a:spLocks noGrp="1"/>
          </p:cNvSpPr>
          <p:nvPr>
            <p:ph type="title"/>
          </p:nvPr>
        </p:nvSpPr>
        <p:spPr>
          <a:xfrm>
            <a:off x="348791" y="286603"/>
            <a:ext cx="11481847" cy="1450757"/>
          </a:xfrm>
        </p:spPr>
        <p:txBody>
          <a:bodyPr/>
          <a:lstStyle/>
          <a:p>
            <a:r>
              <a:rPr lang="en-GB" dirty="0"/>
              <a:t>How to implement multiple interfaces  in java?</a:t>
            </a:r>
            <a:endParaRPr lang="en-US" dirty="0"/>
          </a:p>
        </p:txBody>
      </p:sp>
      <p:sp>
        <p:nvSpPr>
          <p:cNvPr id="4" name="Footer Placeholder 3">
            <a:extLst>
              <a:ext uri="{FF2B5EF4-FFF2-40B4-BE49-F238E27FC236}">
                <a16:creationId xmlns:a16="http://schemas.microsoft.com/office/drawing/2014/main" id="{69AB2DF7-9208-B6A4-AAD3-F3DB0BDEB6E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8" name="Rectangle 17">
            <a:extLst>
              <a:ext uri="{FF2B5EF4-FFF2-40B4-BE49-F238E27FC236}">
                <a16:creationId xmlns:a16="http://schemas.microsoft.com/office/drawing/2014/main" id="{E4D08884-45F0-2A45-D856-BB913103A085}"/>
              </a:ext>
            </a:extLst>
          </p:cNvPr>
          <p:cNvSpPr/>
          <p:nvPr/>
        </p:nvSpPr>
        <p:spPr>
          <a:xfrm>
            <a:off x="348791" y="6222135"/>
            <a:ext cx="8359590" cy="428628"/>
          </a:xfrm>
          <a:prstGeom prst="rect">
            <a:avLst/>
          </a:prstGeom>
          <a:solidFill>
            <a:schemeClr val="lt1">
              <a:alpha val="10000"/>
            </a:schemeClr>
          </a:solidFill>
          <a:ln w="3175">
            <a:solidFill>
              <a:srgbClr val="800000"/>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 name="Picture 2">
            <a:extLst>
              <a:ext uri="{FF2B5EF4-FFF2-40B4-BE49-F238E27FC236}">
                <a16:creationId xmlns:a16="http://schemas.microsoft.com/office/drawing/2014/main" id="{776EFFEC-687B-0CC7-96B0-28E157D4BC3F}"/>
              </a:ext>
            </a:extLst>
          </p:cNvPr>
          <p:cNvPicPr>
            <a:picLocks noChangeAspect="1" noChangeArrowheads="1"/>
          </p:cNvPicPr>
          <p:nvPr/>
        </p:nvPicPr>
        <p:blipFill>
          <a:blip r:embed="rId2"/>
          <a:srcRect/>
          <a:stretch>
            <a:fillRect/>
          </a:stretch>
        </p:blipFill>
        <p:spPr bwMode="auto">
          <a:xfrm>
            <a:off x="420229" y="2180494"/>
            <a:ext cx="6572296" cy="4357718"/>
          </a:xfrm>
          <a:prstGeom prst="rect">
            <a:avLst/>
          </a:prstGeom>
          <a:solidFill>
            <a:schemeClr val="accent2">
              <a:lumMod val="20000"/>
              <a:lumOff val="80000"/>
              <a:alpha val="9000"/>
            </a:schemeClr>
          </a:solidFill>
          <a:ln w="6350">
            <a:solidFill>
              <a:schemeClr val="tx1"/>
            </a:solidFill>
            <a:prstDash val="dash"/>
          </a:ln>
        </p:spPr>
      </p:pic>
      <p:cxnSp>
        <p:nvCxnSpPr>
          <p:cNvPr id="5" name="Straight Arrow Connector 4">
            <a:extLst>
              <a:ext uri="{FF2B5EF4-FFF2-40B4-BE49-F238E27FC236}">
                <a16:creationId xmlns:a16="http://schemas.microsoft.com/office/drawing/2014/main" id="{33DE0DAB-4491-A977-A607-D536132F2110}"/>
              </a:ext>
            </a:extLst>
          </p:cNvPr>
          <p:cNvCxnSpPr/>
          <p:nvPr/>
        </p:nvCxnSpPr>
        <p:spPr>
          <a:xfrm rot="10800000">
            <a:off x="6706774" y="2416833"/>
            <a:ext cx="285752"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1D5EA8E7-4897-653F-6EF4-DD8511E0AB50}"/>
              </a:ext>
            </a:extLst>
          </p:cNvPr>
          <p:cNvSpPr txBox="1"/>
          <p:nvPr/>
        </p:nvSpPr>
        <p:spPr>
          <a:xfrm>
            <a:off x="6992525" y="2180494"/>
            <a:ext cx="1857356" cy="523220"/>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l" rtl="0"/>
            <a:r>
              <a:rPr lang="en-GB" sz="1400" b="1" dirty="0">
                <a:solidFill>
                  <a:srgbClr val="000099"/>
                </a:solidFill>
                <a:cs typeface="Times New Roman" pitchFamily="18" charset="0"/>
              </a:rPr>
              <a:t>Class implements Multiple Interfaces </a:t>
            </a:r>
          </a:p>
        </p:txBody>
      </p:sp>
      <p:cxnSp>
        <p:nvCxnSpPr>
          <p:cNvPr id="9" name="Straight Arrow Connector 8">
            <a:extLst>
              <a:ext uri="{FF2B5EF4-FFF2-40B4-BE49-F238E27FC236}">
                <a16:creationId xmlns:a16="http://schemas.microsoft.com/office/drawing/2014/main" id="{12953AA6-3B2E-BE7D-F7DF-5AB18EA930FB}"/>
              </a:ext>
            </a:extLst>
          </p:cNvPr>
          <p:cNvCxnSpPr/>
          <p:nvPr/>
        </p:nvCxnSpPr>
        <p:spPr>
          <a:xfrm rot="10800000">
            <a:off x="6706773" y="3036621"/>
            <a:ext cx="285752"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806DCC1E-89A2-472C-E562-049390B18BE7}"/>
              </a:ext>
            </a:extLst>
          </p:cNvPr>
          <p:cNvSpPr txBox="1"/>
          <p:nvPr/>
        </p:nvSpPr>
        <p:spPr>
          <a:xfrm>
            <a:off x="6992524" y="2800282"/>
            <a:ext cx="1857356" cy="523220"/>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l" rtl="0"/>
            <a:r>
              <a:rPr lang="en-GB" sz="1400" b="1" dirty="0">
                <a:solidFill>
                  <a:srgbClr val="000099"/>
                </a:solidFill>
                <a:cs typeface="Times New Roman" pitchFamily="18" charset="0"/>
              </a:rPr>
              <a:t>Method Definition of Person Interface</a:t>
            </a:r>
          </a:p>
        </p:txBody>
      </p:sp>
      <p:cxnSp>
        <p:nvCxnSpPr>
          <p:cNvPr id="11" name="Straight Arrow Connector 10">
            <a:extLst>
              <a:ext uri="{FF2B5EF4-FFF2-40B4-BE49-F238E27FC236}">
                <a16:creationId xmlns:a16="http://schemas.microsoft.com/office/drawing/2014/main" id="{00B45E39-381F-15F3-2A3E-7A63B62546C2}"/>
              </a:ext>
            </a:extLst>
          </p:cNvPr>
          <p:cNvCxnSpPr/>
          <p:nvPr/>
        </p:nvCxnSpPr>
        <p:spPr>
          <a:xfrm rot="10800000">
            <a:off x="6349583" y="4109320"/>
            <a:ext cx="642910"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7B3B55F5-8FB1-65B7-DFB6-221B73EB09C3}"/>
              </a:ext>
            </a:extLst>
          </p:cNvPr>
          <p:cNvSpPr txBox="1"/>
          <p:nvPr/>
        </p:nvSpPr>
        <p:spPr>
          <a:xfrm>
            <a:off x="6992557" y="3871852"/>
            <a:ext cx="1857356" cy="738664"/>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l" rtl="0"/>
            <a:r>
              <a:rPr lang="en-GB" sz="1400" b="1" dirty="0">
                <a:solidFill>
                  <a:srgbClr val="000099"/>
                </a:solidFill>
                <a:cs typeface="Times New Roman" pitchFamily="18" charset="0"/>
              </a:rPr>
              <a:t>Method Definition of Employee Interface</a:t>
            </a:r>
          </a:p>
        </p:txBody>
      </p:sp>
      <p:cxnSp>
        <p:nvCxnSpPr>
          <p:cNvPr id="13" name="Straight Arrow Connector 12">
            <a:extLst>
              <a:ext uri="{FF2B5EF4-FFF2-40B4-BE49-F238E27FC236}">
                <a16:creationId xmlns:a16="http://schemas.microsoft.com/office/drawing/2014/main" id="{B60523C4-F9A7-DE50-29A7-DCD454717DE9}"/>
              </a:ext>
            </a:extLst>
          </p:cNvPr>
          <p:cNvCxnSpPr/>
          <p:nvPr/>
        </p:nvCxnSpPr>
        <p:spPr>
          <a:xfrm rot="10800000">
            <a:off x="6635336" y="5252328"/>
            <a:ext cx="357161"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F0705497-2A90-E1AB-03D7-7B53B9FF38E6}"/>
              </a:ext>
            </a:extLst>
          </p:cNvPr>
          <p:cNvSpPr txBox="1"/>
          <p:nvPr/>
        </p:nvSpPr>
        <p:spPr>
          <a:xfrm>
            <a:off x="6992525" y="5109452"/>
            <a:ext cx="1857356" cy="307777"/>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l" rtl="0"/>
            <a:r>
              <a:rPr lang="en-GB" sz="1400" b="1" dirty="0">
                <a:solidFill>
                  <a:srgbClr val="000099"/>
                </a:solidFill>
                <a:cs typeface="Times New Roman" pitchFamily="18" charset="0"/>
              </a:rPr>
              <a:t>Object creation</a:t>
            </a:r>
          </a:p>
        </p:txBody>
      </p:sp>
      <p:cxnSp>
        <p:nvCxnSpPr>
          <p:cNvPr id="15" name="Straight Arrow Connector 14">
            <a:extLst>
              <a:ext uri="{FF2B5EF4-FFF2-40B4-BE49-F238E27FC236}">
                <a16:creationId xmlns:a16="http://schemas.microsoft.com/office/drawing/2014/main" id="{2E3FFD92-7E72-B9DC-158E-3B04DBC441E3}"/>
              </a:ext>
            </a:extLst>
          </p:cNvPr>
          <p:cNvCxnSpPr/>
          <p:nvPr/>
        </p:nvCxnSpPr>
        <p:spPr>
          <a:xfrm rot="10800000">
            <a:off x="4563633" y="5822243"/>
            <a:ext cx="2428860" cy="1588"/>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FD939D38-3B3C-9530-D0C8-25961029288F}"/>
              </a:ext>
            </a:extLst>
          </p:cNvPr>
          <p:cNvSpPr txBox="1"/>
          <p:nvPr/>
        </p:nvSpPr>
        <p:spPr>
          <a:xfrm>
            <a:off x="6992558" y="5538080"/>
            <a:ext cx="1857356" cy="523220"/>
          </a:xfrm>
          <a:prstGeom prst="rect">
            <a:avLst/>
          </a:prstGeom>
          <a:ln w="3175">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pPr algn="l" rtl="0"/>
            <a:r>
              <a:rPr lang="en-GB" sz="1400" b="1" dirty="0">
                <a:solidFill>
                  <a:srgbClr val="000099"/>
                </a:solidFill>
                <a:cs typeface="Times New Roman" pitchFamily="18" charset="0"/>
              </a:rPr>
              <a:t>Method Calling with object of class</a:t>
            </a:r>
          </a:p>
        </p:txBody>
      </p:sp>
      <p:sp>
        <p:nvSpPr>
          <p:cNvPr id="17" name="Rectangle 16">
            <a:extLst>
              <a:ext uri="{FF2B5EF4-FFF2-40B4-BE49-F238E27FC236}">
                <a16:creationId xmlns:a16="http://schemas.microsoft.com/office/drawing/2014/main" id="{5F599FDF-A4E2-CD2A-35D5-CC56DAF6A7F5}"/>
              </a:ext>
            </a:extLst>
          </p:cNvPr>
          <p:cNvSpPr/>
          <p:nvPr/>
        </p:nvSpPr>
        <p:spPr>
          <a:xfrm>
            <a:off x="348791" y="1658933"/>
            <a:ext cx="8072494" cy="450123"/>
          </a:xfrm>
          <a:prstGeom prst="rect">
            <a:avLst/>
          </a:prstGeom>
        </p:spPr>
        <p:txBody>
          <a:bodyPr wrap="square">
            <a:spAutoFit/>
          </a:bodyPr>
          <a:lstStyle/>
          <a:p>
            <a:pPr lvl="0" algn="just" rtl="0" fontAlgn="t">
              <a:lnSpc>
                <a:spcPct val="150000"/>
              </a:lnSpc>
            </a:pPr>
            <a:r>
              <a:rPr lang="en-US" sz="1550" b="1" dirty="0">
                <a:solidFill>
                  <a:schemeClr val="bg2">
                    <a:lumMod val="75000"/>
                  </a:schemeClr>
                </a:solidFill>
                <a:cs typeface="Times New Roman" panose="02020603050405020304" pitchFamily="18" charset="0"/>
              </a:rPr>
              <a:t>The below-given screenshot provides the complete code along with the output:</a:t>
            </a:r>
            <a:endParaRPr lang="en-US" sz="1550" dirty="0">
              <a:solidFill>
                <a:schemeClr val="bg2">
                  <a:lumMod val="75000"/>
                </a:schemeClr>
              </a:solidFill>
              <a:cs typeface="Times New Roman" panose="02020603050405020304" pitchFamily="18" charset="0"/>
            </a:endParaRPr>
          </a:p>
        </p:txBody>
      </p:sp>
    </p:spTree>
    <p:extLst>
      <p:ext uri="{BB962C8B-B14F-4D97-AF65-F5344CB8AC3E}">
        <p14:creationId xmlns:p14="http://schemas.microsoft.com/office/powerpoint/2010/main" val="336717312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D11F-C383-334B-BD90-915428D3F0A4}"/>
              </a:ext>
            </a:extLst>
          </p:cNvPr>
          <p:cNvSpPr>
            <a:spLocks noGrp="1"/>
          </p:cNvSpPr>
          <p:nvPr>
            <p:ph type="title"/>
          </p:nvPr>
        </p:nvSpPr>
        <p:spPr/>
        <p:txBody>
          <a:bodyPr/>
          <a:lstStyle/>
          <a:p>
            <a:r>
              <a:rPr lang="en-US" altLang="en-US" dirty="0"/>
              <a:t>Omitting Modifiers in Interfaces</a:t>
            </a:r>
            <a:endParaRPr lang="ar-JO" dirty="0"/>
          </a:p>
        </p:txBody>
      </p:sp>
      <p:sp>
        <p:nvSpPr>
          <p:cNvPr id="3" name="Content Placeholder 2">
            <a:extLst>
              <a:ext uri="{FF2B5EF4-FFF2-40B4-BE49-F238E27FC236}">
                <a16:creationId xmlns:a16="http://schemas.microsoft.com/office/drawing/2014/main" id="{38BD4880-047E-FF84-3ACC-DA854808C6C5}"/>
              </a:ext>
            </a:extLst>
          </p:cNvPr>
          <p:cNvSpPr>
            <a:spLocks noGrp="1"/>
          </p:cNvSpPr>
          <p:nvPr>
            <p:ph idx="1"/>
          </p:nvPr>
        </p:nvSpPr>
        <p:spPr/>
        <p:txBody>
          <a:bodyPr/>
          <a:lstStyle/>
          <a:p>
            <a:r>
              <a:rPr lang="en-US" altLang="en-US" sz="2400" dirty="0">
                <a:cs typeface="Times New Roman" panose="02020603050405020304" pitchFamily="18" charset="0"/>
              </a:rPr>
              <a:t>All data fields are </a:t>
            </a:r>
            <a:r>
              <a:rPr lang="en-US" altLang="en-US" sz="2400" b="1" i="1" dirty="0">
                <a:cs typeface="Times New Roman" panose="02020603050405020304" pitchFamily="18" charset="0"/>
              </a:rPr>
              <a:t>public final static</a:t>
            </a:r>
            <a:r>
              <a:rPr lang="en-US" altLang="en-US" sz="2400" b="1" dirty="0">
                <a:cs typeface="Times New Roman" panose="02020603050405020304" pitchFamily="18" charset="0"/>
              </a:rPr>
              <a:t> </a:t>
            </a:r>
            <a:r>
              <a:rPr lang="en-US" altLang="en-US" sz="2400" dirty="0">
                <a:cs typeface="Times New Roman" panose="02020603050405020304" pitchFamily="18" charset="0"/>
              </a:rPr>
              <a:t>and all methods are </a:t>
            </a:r>
            <a:r>
              <a:rPr lang="en-US" altLang="en-US" sz="2400" b="1" i="1" dirty="0">
                <a:cs typeface="Times New Roman" panose="02020603050405020304" pitchFamily="18" charset="0"/>
              </a:rPr>
              <a:t>public abstract </a:t>
            </a:r>
            <a:r>
              <a:rPr lang="en-US" altLang="en-US" sz="2400" dirty="0">
                <a:cs typeface="Times New Roman" panose="02020603050405020304" pitchFamily="18" charset="0"/>
              </a:rPr>
              <a:t>in an interface. For this reason, these modifiers can be omitted, as shown below:</a:t>
            </a:r>
          </a:p>
          <a:p>
            <a:endParaRPr lang="en-GB" dirty="0"/>
          </a:p>
          <a:p>
            <a:endParaRPr lang="en-GB" dirty="0"/>
          </a:p>
          <a:p>
            <a:endParaRPr lang="en-US" altLang="en-US" sz="1800" dirty="0">
              <a:cs typeface="Times New Roman" panose="02020603050405020304" pitchFamily="18" charset="0"/>
            </a:endParaRPr>
          </a:p>
          <a:p>
            <a:endParaRPr lang="en-US" altLang="en-US" sz="1800" dirty="0">
              <a:cs typeface="Times New Roman" panose="02020603050405020304" pitchFamily="18" charset="0"/>
            </a:endParaRPr>
          </a:p>
          <a:p>
            <a:endParaRPr lang="en-US" altLang="en-US" sz="1800" dirty="0">
              <a:cs typeface="Times New Roman" panose="02020603050405020304" pitchFamily="18" charset="0"/>
            </a:endParaRPr>
          </a:p>
          <a:p>
            <a:r>
              <a:rPr lang="en-US" altLang="en-US" sz="1800" dirty="0">
                <a:cs typeface="Times New Roman" panose="02020603050405020304" pitchFamily="18" charset="0"/>
              </a:rPr>
              <a:t>A constant defined in an interface can be accessed using syntax </a:t>
            </a:r>
            <a:r>
              <a:rPr lang="en-US" altLang="en-US" sz="1800" b="1" i="1" dirty="0" err="1">
                <a:cs typeface="Times New Roman" panose="02020603050405020304" pitchFamily="18" charset="0"/>
              </a:rPr>
              <a:t>InterfaceName.CONSTANT_NAME</a:t>
            </a:r>
            <a:r>
              <a:rPr lang="en-US" altLang="en-US" sz="1800" b="1" i="1" dirty="0">
                <a:cs typeface="Times New Roman" panose="02020603050405020304" pitchFamily="18" charset="0"/>
              </a:rPr>
              <a:t> </a:t>
            </a:r>
            <a:r>
              <a:rPr lang="en-US" altLang="en-US" sz="1800" dirty="0">
                <a:cs typeface="Times New Roman" panose="02020603050405020304" pitchFamily="18" charset="0"/>
              </a:rPr>
              <a:t>(e.g., </a:t>
            </a:r>
            <a:r>
              <a:rPr lang="en-US" altLang="en-US" sz="1800" b="1" i="1" dirty="0">
                <a:cs typeface="Times New Roman" panose="02020603050405020304" pitchFamily="18" charset="0"/>
              </a:rPr>
              <a:t>T1.K</a:t>
            </a:r>
            <a:r>
              <a:rPr lang="en-US" altLang="en-US" sz="1800" dirty="0">
                <a:cs typeface="Times New Roman" panose="02020603050405020304" pitchFamily="18" charset="0"/>
              </a:rPr>
              <a:t>). </a:t>
            </a:r>
          </a:p>
          <a:p>
            <a:endParaRPr lang="ar-JO" dirty="0"/>
          </a:p>
        </p:txBody>
      </p:sp>
      <p:sp>
        <p:nvSpPr>
          <p:cNvPr id="4" name="Footer Placeholder 3">
            <a:extLst>
              <a:ext uri="{FF2B5EF4-FFF2-40B4-BE49-F238E27FC236}">
                <a16:creationId xmlns:a16="http://schemas.microsoft.com/office/drawing/2014/main" id="{F3A5F3EA-11BC-65DE-4701-1197454D3FE8}"/>
              </a:ext>
            </a:extLst>
          </p:cNvPr>
          <p:cNvSpPr>
            <a:spLocks noGrp="1"/>
          </p:cNvSpPr>
          <p:nvPr>
            <p:ph type="ftr" sz="quarter" idx="11"/>
          </p:nvPr>
        </p:nvSpPr>
        <p:spPr/>
        <p:txBody>
          <a:bodyPr/>
          <a:lstStyle/>
          <a:p>
            <a:r>
              <a:rPr lang="en-US"/>
              <a:t>Edited and Reviewed By: I. Bara' Qadomi &amp; I. Bara' Hamadah (FIT, Applied Science Private University)</a:t>
            </a:r>
          </a:p>
        </p:txBody>
      </p:sp>
      <p:graphicFrame>
        <p:nvGraphicFramePr>
          <p:cNvPr id="5" name="Object 4">
            <a:extLst>
              <a:ext uri="{FF2B5EF4-FFF2-40B4-BE49-F238E27FC236}">
                <a16:creationId xmlns:a16="http://schemas.microsoft.com/office/drawing/2014/main" id="{9C62C381-73C1-D4C7-96A2-004462DBDFEA}"/>
              </a:ext>
            </a:extLst>
          </p:cNvPr>
          <p:cNvGraphicFramePr>
            <a:graphicFrameLocks noChangeAspect="1"/>
          </p:cNvGraphicFramePr>
          <p:nvPr>
            <p:extLst>
              <p:ext uri="{D42A27DB-BD31-4B8C-83A1-F6EECF244321}">
                <p14:modId xmlns:p14="http://schemas.microsoft.com/office/powerpoint/2010/main" val="382782024"/>
              </p:ext>
            </p:extLst>
          </p:nvPr>
        </p:nvGraphicFramePr>
        <p:xfrm>
          <a:off x="716365" y="2925732"/>
          <a:ext cx="10827705" cy="1942481"/>
        </p:xfrm>
        <a:graphic>
          <a:graphicData uri="http://schemas.openxmlformats.org/presentationml/2006/ole">
            <mc:AlternateContent xmlns:mc="http://schemas.openxmlformats.org/markup-compatibility/2006">
              <mc:Choice xmlns:v="urn:schemas-microsoft-com:vml" Requires="v">
                <p:oleObj name="Picture" r:id="rId2" imgW="4225682" imgH="753393" progId="Word.Picture.8">
                  <p:embed/>
                </p:oleObj>
              </mc:Choice>
              <mc:Fallback>
                <p:oleObj name="Picture" r:id="rId2" imgW="4225682" imgH="753393" progId="Word.Picture.8">
                  <p:embed/>
                  <p:pic>
                    <p:nvPicPr>
                      <p:cNvPr id="5" name="Object 4">
                        <a:extLst>
                          <a:ext uri="{FF2B5EF4-FFF2-40B4-BE49-F238E27FC236}">
                            <a16:creationId xmlns:a16="http://schemas.microsoft.com/office/drawing/2014/main" id="{C9E56DFD-4D8D-90F9-5338-FFB6C5A3E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365" y="2925732"/>
                        <a:ext cx="10827705" cy="194248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25689238"/>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3A65-B7F4-78B9-D6A8-A0856F2ADF95}"/>
              </a:ext>
            </a:extLst>
          </p:cNvPr>
          <p:cNvSpPr>
            <a:spLocks noGrp="1"/>
          </p:cNvSpPr>
          <p:nvPr>
            <p:ph type="title"/>
          </p:nvPr>
        </p:nvSpPr>
        <p:spPr/>
        <p:txBody>
          <a:bodyPr/>
          <a:lstStyle/>
          <a:p>
            <a:r>
              <a:rPr lang="en-US" dirty="0"/>
              <a:t>Abstract Class Vs Interface </a:t>
            </a:r>
            <a:endParaRPr lang="ar-JO" dirty="0"/>
          </a:p>
        </p:txBody>
      </p:sp>
      <p:sp>
        <p:nvSpPr>
          <p:cNvPr id="4" name="Footer Placeholder 3">
            <a:extLst>
              <a:ext uri="{FF2B5EF4-FFF2-40B4-BE49-F238E27FC236}">
                <a16:creationId xmlns:a16="http://schemas.microsoft.com/office/drawing/2014/main" id="{C9CF1A01-2BD7-F454-827A-5E828C0718F0}"/>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D231EFEC-299A-4FB0-94E1-7F97453AB0C2}"/>
              </a:ext>
            </a:extLst>
          </p:cNvPr>
          <p:cNvSpPr/>
          <p:nvPr/>
        </p:nvSpPr>
        <p:spPr>
          <a:xfrm>
            <a:off x="538420" y="1890367"/>
            <a:ext cx="10387157" cy="496996"/>
          </a:xfrm>
          <a:prstGeom prst="rect">
            <a:avLst/>
          </a:prstGeom>
        </p:spPr>
        <p:txBody>
          <a:bodyPr wrap="square">
            <a:spAutoFit/>
          </a:bodyPr>
          <a:lstStyle/>
          <a:p>
            <a:pPr marL="274638" indent="-274638" algn="just" rtl="0">
              <a:lnSpc>
                <a:spcPct val="150000"/>
              </a:lnSpc>
            </a:pPr>
            <a:r>
              <a:rPr lang="en-US" sz="2000" b="1" dirty="0">
                <a:solidFill>
                  <a:schemeClr val="bg2">
                    <a:lumMod val="75000"/>
                  </a:schemeClr>
                </a:solidFill>
                <a:cs typeface="Times New Roman" pitchFamily="18" charset="0"/>
              </a:rPr>
              <a:t>The following table shows a comparison between interface and abstract class.</a:t>
            </a:r>
          </a:p>
        </p:txBody>
      </p:sp>
      <p:graphicFrame>
        <p:nvGraphicFramePr>
          <p:cNvPr id="6" name="Table 5">
            <a:extLst>
              <a:ext uri="{FF2B5EF4-FFF2-40B4-BE49-F238E27FC236}">
                <a16:creationId xmlns:a16="http://schemas.microsoft.com/office/drawing/2014/main" id="{803B76E4-70C4-B87C-BBBC-EB52C13CFCF3}"/>
              </a:ext>
            </a:extLst>
          </p:cNvPr>
          <p:cNvGraphicFramePr>
            <a:graphicFrameLocks noGrp="1"/>
          </p:cNvGraphicFramePr>
          <p:nvPr>
            <p:extLst>
              <p:ext uri="{D42A27DB-BD31-4B8C-83A1-F6EECF244321}">
                <p14:modId xmlns:p14="http://schemas.microsoft.com/office/powerpoint/2010/main" val="174848635"/>
              </p:ext>
            </p:extLst>
          </p:nvPr>
        </p:nvGraphicFramePr>
        <p:xfrm>
          <a:off x="2233989" y="2800632"/>
          <a:ext cx="7429552" cy="3082989"/>
        </p:xfrm>
        <a:graphic>
          <a:graphicData uri="http://schemas.openxmlformats.org/drawingml/2006/table">
            <a:tbl>
              <a:tblPr firstRow="1" bandRow="1">
                <a:tableStyleId>{5FD0F851-EC5A-4D38-B0AD-8093EC10F338}</a:tableStyleId>
              </a:tblPr>
              <a:tblGrid>
                <a:gridCol w="3214710">
                  <a:extLst>
                    <a:ext uri="{9D8B030D-6E8A-4147-A177-3AD203B41FA5}">
                      <a16:colId xmlns:a16="http://schemas.microsoft.com/office/drawing/2014/main" val="20000"/>
                    </a:ext>
                  </a:extLst>
                </a:gridCol>
                <a:gridCol w="4214842">
                  <a:extLst>
                    <a:ext uri="{9D8B030D-6E8A-4147-A177-3AD203B41FA5}">
                      <a16:colId xmlns:a16="http://schemas.microsoft.com/office/drawing/2014/main" val="20001"/>
                    </a:ext>
                  </a:extLst>
                </a:gridCol>
              </a:tblGrid>
              <a:tr h="370840">
                <a:tc>
                  <a:txBody>
                    <a:bodyPr/>
                    <a:lstStyle/>
                    <a:p>
                      <a:pPr algn="ctr" rtl="0">
                        <a:lnSpc>
                          <a:spcPct val="150000"/>
                        </a:lnSpc>
                        <a:spcAft>
                          <a:spcPts val="0"/>
                        </a:spcAft>
                      </a:pPr>
                      <a:r>
                        <a:rPr lang="en-US" sz="2000" dirty="0">
                          <a:latin typeface="+mj-lt"/>
                          <a:cs typeface="Times New Roman" pitchFamily="18" charset="0"/>
                        </a:rPr>
                        <a:t>Abstract class</a:t>
                      </a:r>
                      <a:endParaRPr lang="en-US" sz="2000" dirty="0">
                        <a:latin typeface="+mj-lt"/>
                        <a:ea typeface="Times New Roman"/>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kumimoji="0" lang="en-US" sz="2000" kern="1200" dirty="0">
                          <a:latin typeface="+mj-lt"/>
                          <a:cs typeface="Times New Roman" pitchFamily="18" charset="0"/>
                        </a:rPr>
                        <a:t>Interface</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rtl="0"/>
                      <a:r>
                        <a:rPr kumimoji="0" lang="en-US" sz="2000" kern="1200" dirty="0">
                          <a:latin typeface="+mj-lt"/>
                          <a:cs typeface="Times New Roman" pitchFamily="18" charset="0"/>
                        </a:rPr>
                        <a:t>Abstract class …. { }</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kumimoji="0" lang="en-US" sz="2000" kern="1200" dirty="0">
                          <a:latin typeface="+mj-lt"/>
                          <a:cs typeface="Times New Roman" pitchFamily="18" charset="0"/>
                        </a:rPr>
                        <a:t>Interface ….. { }</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0"/>
                      <a:r>
                        <a:rPr kumimoji="0" lang="en-US" sz="2000" kern="1200" dirty="0">
                          <a:latin typeface="+mj-lt"/>
                          <a:cs typeface="Times New Roman" pitchFamily="18" charset="0"/>
                        </a:rPr>
                        <a:t>May contain abstract method</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kumimoji="0" lang="en-US" sz="2000" kern="1200" dirty="0">
                          <a:latin typeface="+mj-lt"/>
                          <a:cs typeface="Times New Roman" pitchFamily="18" charset="0"/>
                        </a:rPr>
                        <a:t>All methods are abstract without saying that</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0"/>
                      <a:r>
                        <a:rPr kumimoji="0" lang="en-US" sz="2000" kern="1200" dirty="0">
                          <a:latin typeface="+mj-lt"/>
                          <a:cs typeface="Times New Roman" pitchFamily="18" charset="0"/>
                        </a:rPr>
                        <a:t>extends</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kumimoji="0" lang="en-US" sz="2000" kern="1200" dirty="0">
                          <a:latin typeface="+mj-lt"/>
                          <a:cs typeface="Times New Roman" pitchFamily="18" charset="0"/>
                        </a:rPr>
                        <a:t>implements</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0"/>
                      <a:r>
                        <a:rPr kumimoji="0" lang="en-US" sz="2000" kern="1200" dirty="0">
                          <a:latin typeface="+mj-lt"/>
                          <a:cs typeface="Times New Roman" pitchFamily="18" charset="0"/>
                        </a:rPr>
                        <a:t>All type fields</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kumimoji="0" lang="en-US" sz="2000" kern="1200" dirty="0">
                          <a:latin typeface="+mj-lt"/>
                          <a:cs typeface="Times New Roman" pitchFamily="18" charset="0"/>
                        </a:rPr>
                        <a:t>Static final fields</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gridSpan="2">
                  <a:txBody>
                    <a:bodyPr/>
                    <a:lstStyle/>
                    <a:p>
                      <a:pPr algn="ctr" rtl="0"/>
                      <a:r>
                        <a:rPr kumimoji="0" lang="en-US" sz="2000" kern="1200" dirty="0">
                          <a:latin typeface="+mj-lt"/>
                          <a:cs typeface="Times New Roman" pitchFamily="18" charset="0"/>
                        </a:rPr>
                        <a:t>Can</a:t>
                      </a:r>
                      <a:r>
                        <a:rPr kumimoji="0" lang="en-US" sz="2000" kern="1200" baseline="0" dirty="0">
                          <a:latin typeface="+mj-lt"/>
                          <a:cs typeface="Times New Roman" pitchFamily="18" charset="0"/>
                        </a:rPr>
                        <a:t> not</a:t>
                      </a:r>
                      <a:r>
                        <a:rPr kumimoji="0" lang="en-US" sz="2000" kern="1200" dirty="0">
                          <a:latin typeface="+mj-lt"/>
                          <a:cs typeface="Times New Roman" pitchFamily="18" charset="0"/>
                        </a:rPr>
                        <a:t> be instantiated</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a:endParaRPr lang="en-US"/>
                    </a:p>
                  </a:txBody>
                  <a:tcPr/>
                </a:tc>
                <a:extLst>
                  <a:ext uri="{0D108BD9-81ED-4DB2-BD59-A6C34878D82A}">
                    <a16:rowId xmlns:a16="http://schemas.microsoft.com/office/drawing/2014/main" val="10005"/>
                  </a:ext>
                </a:extLst>
              </a:tr>
              <a:tr h="370840">
                <a:tc gridSpan="2">
                  <a:txBody>
                    <a:bodyPr/>
                    <a:lstStyle/>
                    <a:p>
                      <a:pPr algn="ctr" rtl="0"/>
                      <a:r>
                        <a:rPr kumimoji="0" lang="en-US" sz="2000" kern="1200" dirty="0">
                          <a:latin typeface="+mj-lt"/>
                          <a:cs typeface="Times New Roman" pitchFamily="18" charset="0"/>
                        </a:rPr>
                        <a:t>All sub classes must override all abstract method</a:t>
                      </a:r>
                      <a:endParaRPr lang="en-US" sz="2000" dirty="0">
                        <a:latin typeface="+mj-lt"/>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0123512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[1] Introduction to Java Programming, Comprehensive Version, Student Value Edition, Daniel Liang, 12th Edition, Pearson 2019</a:t>
            </a:r>
          </a:p>
          <a:p>
            <a:r>
              <a:rPr lang="en-US" altLang="en-US" dirty="0"/>
              <a:t>lecture Notes :edugate.asu.edu.jo.</a:t>
            </a:r>
          </a:p>
          <a:p>
            <a:r>
              <a:rPr lang="en-US" altLang="en-US" dirty="0"/>
              <a:t>lecture  Videos : YouTube channel.</a:t>
            </a:r>
          </a:p>
          <a:p>
            <a:r>
              <a:rPr lang="en-US" altLang="en-US" dirty="0"/>
              <a:t>Lab manual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27438597"/>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D21629-8556-4260-8D0A-66F958DBEB56}">
  <ds:schemaRefs>
    <ds:schemaRef ds:uri="http://schemas.microsoft.com/sharepoint/v3/contenttype/forms"/>
  </ds:schemaRefs>
</ds:datastoreItem>
</file>

<file path=customXml/itemProps2.xml><?xml version="1.0" encoding="utf-8"?>
<ds:datastoreItem xmlns:ds="http://schemas.openxmlformats.org/officeDocument/2006/customXml" ds:itemID="{CF76007E-BA90-41D1-9EE0-7FD667F6EC5A}"/>
</file>

<file path=customXml/itemProps3.xml><?xml version="1.0" encoding="utf-8"?>
<ds:datastoreItem xmlns:ds="http://schemas.openxmlformats.org/officeDocument/2006/customXml" ds:itemID="{0E53023F-D92C-427B-8DED-E3357D01DBEE}">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docProps/app.xml><?xml version="1.0" encoding="utf-8"?>
<Properties xmlns="http://schemas.openxmlformats.org/officeDocument/2006/extended-properties" xmlns:vt="http://schemas.openxmlformats.org/officeDocument/2006/docPropsVTypes">
  <Template>Retrospect</Template>
  <TotalTime>3812</TotalTime>
  <Words>2478</Words>
  <Application>Microsoft Office PowerPoint</Application>
  <PresentationFormat>Widescreen</PresentationFormat>
  <Paragraphs>231</Paragraphs>
  <Slides>30</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0" baseType="lpstr">
      <vt:lpstr>PMingLiU</vt:lpstr>
      <vt:lpstr>Arial</vt:lpstr>
      <vt:lpstr>Arial (Body)</vt:lpstr>
      <vt:lpstr>Calibri</vt:lpstr>
      <vt:lpstr>Courier New</vt:lpstr>
      <vt:lpstr>Sakkal Majalla</vt:lpstr>
      <vt:lpstr>Times New Roman</vt:lpstr>
      <vt:lpstr>Wingdings</vt:lpstr>
      <vt:lpstr>Retrospect</vt:lpstr>
      <vt:lpstr>Picture</vt:lpstr>
      <vt:lpstr>Fundamental Programming Structures in JAVA</vt:lpstr>
      <vt:lpstr>Objectives</vt:lpstr>
      <vt:lpstr>Interface</vt:lpstr>
      <vt:lpstr>Interface</vt:lpstr>
      <vt:lpstr>Benefits of Interface</vt:lpstr>
      <vt:lpstr>How to use Java interfaces?</vt:lpstr>
      <vt:lpstr>Define a Java interfaces</vt:lpstr>
      <vt:lpstr>Interface Template </vt:lpstr>
      <vt:lpstr>Interface Template </vt:lpstr>
      <vt:lpstr>Interfaces Example</vt:lpstr>
      <vt:lpstr>Interfaces Example (Design Phase)</vt:lpstr>
      <vt:lpstr>Interfaces Example</vt:lpstr>
      <vt:lpstr>Interfaces Example (Design Phase)</vt:lpstr>
      <vt:lpstr>Interfaces Syntax </vt:lpstr>
      <vt:lpstr>Interfaces Syntax</vt:lpstr>
      <vt:lpstr>Interfaces Example implementation phase</vt:lpstr>
      <vt:lpstr>Interfaces Example implementation phase</vt:lpstr>
      <vt:lpstr>Interfaces Example implementation phase</vt:lpstr>
      <vt:lpstr>Interfaces Example implementation phase</vt:lpstr>
      <vt:lpstr>Interfaces Example implementation phase</vt:lpstr>
      <vt:lpstr>Interfaces Example implementation phase</vt:lpstr>
      <vt:lpstr>Interfaces Example implementation phase</vt:lpstr>
      <vt:lpstr>Interfaces Example implementation phase</vt:lpstr>
      <vt:lpstr>Interfaces Example implementation phase</vt:lpstr>
      <vt:lpstr>How to implement multiple interfaces  in java?</vt:lpstr>
      <vt:lpstr>How to implement multiple interfaces  in java?</vt:lpstr>
      <vt:lpstr>How to implement multiple interfaces  in java?</vt:lpstr>
      <vt:lpstr>Omitting Modifiers in Interfaces</vt:lpstr>
      <vt:lpstr>Abstract Class Vs Interface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Baraa Qaddoumi</cp:lastModifiedBy>
  <cp:revision>43</cp:revision>
  <dcterms:created xsi:type="dcterms:W3CDTF">2023-12-21T19:04:58Z</dcterms:created>
  <dcterms:modified xsi:type="dcterms:W3CDTF">2024-02-26T07:32:46Z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