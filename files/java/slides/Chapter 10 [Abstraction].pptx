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1"/>
  </p:notesMasterIdLst>
  <p:sldIdLst>
    <p:sldId id="256" r:id="rId5"/>
    <p:sldId id="257" r:id="rId6"/>
    <p:sldId id="258" r:id="rId7"/>
    <p:sldId id="707" r:id="rId8"/>
    <p:sldId id="706" r:id="rId9"/>
    <p:sldId id="743" r:id="rId10"/>
    <p:sldId id="744" r:id="rId11"/>
    <p:sldId id="709" r:id="rId12"/>
    <p:sldId id="745" r:id="rId13"/>
    <p:sldId id="746" r:id="rId14"/>
    <p:sldId id="710" r:id="rId15"/>
    <p:sldId id="783" r:id="rId16"/>
    <p:sldId id="747" r:id="rId17"/>
    <p:sldId id="748" r:id="rId18"/>
    <p:sldId id="749" r:id="rId19"/>
    <p:sldId id="716" r:id="rId20"/>
    <p:sldId id="750" r:id="rId21"/>
    <p:sldId id="784" r:id="rId22"/>
    <p:sldId id="386" r:id="rId23"/>
    <p:sldId id="751" r:id="rId24"/>
    <p:sldId id="752" r:id="rId25"/>
    <p:sldId id="755" r:id="rId26"/>
    <p:sldId id="785" r:id="rId27"/>
    <p:sldId id="787" r:id="rId28"/>
    <p:sldId id="788" r:id="rId29"/>
    <p:sldId id="3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00000"/>
    <a:srgbClr val="ADBADA"/>
    <a:srgbClr val="D9A0FF"/>
    <a:srgbClr val="E8ECF5"/>
    <a:srgbClr val="B240FF"/>
    <a:srgbClr val="FF8080"/>
    <a:srgbClr val="FF0000"/>
    <a:srgbClr val="CDD4E8"/>
    <a:srgbClr val="FF8C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CEA735-1AA5-4934-3170-3E21A4E7C4E2}" v="42" dt="2024-02-25T23:01:50.6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3220" autoAdjust="0"/>
  </p:normalViewPr>
  <p:slideViewPr>
    <p:cSldViewPr snapToGrid="0">
      <p:cViewPr varScale="1">
        <p:scale>
          <a:sx n="87" d="100"/>
          <a:sy n="87" d="100"/>
        </p:scale>
        <p:origin x="4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CACEA735-1AA5-4934-3170-3E21A4E7C4E2}"/>
    <pc:docChg chg="mod modSld modMainMaster">
      <pc:chgData name="Bara Hamadeh" userId="S::b_hamadeh@asu.edu.jo::ba91a99f-f3ba-46e6-ad5d-582794b375a9" providerId="AD" clId="Web-{CACEA735-1AA5-4934-3170-3E21A4E7C4E2}" dt="2024-02-25T23:01:50.644" v="41"/>
      <pc:docMkLst>
        <pc:docMk/>
      </pc:docMkLst>
      <pc:sldChg chg="delSp modTransition">
        <pc:chgData name="Bara Hamadeh" userId="S::b_hamadeh@asu.edu.jo::ba91a99f-f3ba-46e6-ad5d-582794b375a9" providerId="AD" clId="Web-{CACEA735-1AA5-4934-3170-3E21A4E7C4E2}" dt="2024-02-25T23:01:47.581" v="40"/>
        <pc:sldMkLst>
          <pc:docMk/>
          <pc:sldMk cId="98556299" sldId="256"/>
        </pc:sldMkLst>
        <pc:spChg chg="del">
          <ac:chgData name="Bara Hamadeh" userId="S::b_hamadeh@asu.edu.jo::ba91a99f-f3ba-46e6-ad5d-582794b375a9" providerId="AD" clId="Web-{CACEA735-1AA5-4934-3170-3E21A4E7C4E2}" dt="2024-02-25T23:01:47.581" v="40"/>
          <ac:spMkLst>
            <pc:docMk/>
            <pc:sldMk cId="98556299" sldId="256"/>
            <ac:spMk id="4" creationId="{3E2AE632-31A0-217D-FD10-0A342181E0D1}"/>
          </ac:spMkLst>
        </pc:spChg>
      </pc:sldChg>
      <pc:sldChg chg="modTransition">
        <pc:chgData name="Bara Hamadeh" userId="S::b_hamadeh@asu.edu.jo::ba91a99f-f3ba-46e6-ad5d-582794b375a9" providerId="AD" clId="Web-{CACEA735-1AA5-4934-3170-3E21A4E7C4E2}" dt="2024-02-25T23:01:36.627" v="38"/>
        <pc:sldMkLst>
          <pc:docMk/>
          <pc:sldMk cId="1327438597" sldId="384"/>
        </pc:sldMkLst>
      </pc:sldChg>
      <pc:sldChg chg="modTransition">
        <pc:chgData name="Bara Hamadeh" userId="S::b_hamadeh@asu.edu.jo::ba91a99f-f3ba-46e6-ad5d-582794b375a9" providerId="AD" clId="Web-{CACEA735-1AA5-4934-3170-3E21A4E7C4E2}" dt="2024-02-25T23:01:36.580" v="6"/>
        <pc:sldMkLst>
          <pc:docMk/>
          <pc:sldMk cId="94669334" sldId="386"/>
        </pc:sldMkLst>
      </pc:sldChg>
      <pc:sldChg chg="modTransition">
        <pc:chgData name="Bara Hamadeh" userId="S::b_hamadeh@asu.edu.jo::ba91a99f-f3ba-46e6-ad5d-582794b375a9" providerId="AD" clId="Web-{CACEA735-1AA5-4934-3170-3E21A4E7C4E2}" dt="2024-02-25T23:01:36.580" v="3"/>
        <pc:sldMkLst>
          <pc:docMk/>
          <pc:sldMk cId="3761256613" sldId="716"/>
        </pc:sldMkLst>
      </pc:sldChg>
      <pc:sldChg chg="modTransition">
        <pc:chgData name="Bara Hamadeh" userId="S::b_hamadeh@asu.edu.jo::ba91a99f-f3ba-46e6-ad5d-582794b375a9" providerId="AD" clId="Web-{CACEA735-1AA5-4934-3170-3E21A4E7C4E2}" dt="2024-02-25T23:01:36.580" v="1"/>
        <pc:sldMkLst>
          <pc:docMk/>
          <pc:sldMk cId="3423251588" sldId="748"/>
        </pc:sldMkLst>
      </pc:sldChg>
      <pc:sldChg chg="modTransition">
        <pc:chgData name="Bara Hamadeh" userId="S::b_hamadeh@asu.edu.jo::ba91a99f-f3ba-46e6-ad5d-582794b375a9" providerId="AD" clId="Web-{CACEA735-1AA5-4934-3170-3E21A4E7C4E2}" dt="2024-02-25T23:01:36.580" v="2"/>
        <pc:sldMkLst>
          <pc:docMk/>
          <pc:sldMk cId="2817469933" sldId="749"/>
        </pc:sldMkLst>
      </pc:sldChg>
      <pc:sldChg chg="modTransition">
        <pc:chgData name="Bara Hamadeh" userId="S::b_hamadeh@asu.edu.jo::ba91a99f-f3ba-46e6-ad5d-582794b375a9" providerId="AD" clId="Web-{CACEA735-1AA5-4934-3170-3E21A4E7C4E2}" dt="2024-02-25T23:01:36.580" v="4"/>
        <pc:sldMkLst>
          <pc:docMk/>
          <pc:sldMk cId="2330656818" sldId="750"/>
        </pc:sldMkLst>
      </pc:sldChg>
      <pc:sldChg chg="modTransition">
        <pc:chgData name="Bara Hamadeh" userId="S::b_hamadeh@asu.edu.jo::ba91a99f-f3ba-46e6-ad5d-582794b375a9" providerId="AD" clId="Web-{CACEA735-1AA5-4934-3170-3E21A4E7C4E2}" dt="2024-02-25T23:01:36.580" v="7"/>
        <pc:sldMkLst>
          <pc:docMk/>
          <pc:sldMk cId="2302155861" sldId="751"/>
        </pc:sldMkLst>
      </pc:sldChg>
      <pc:sldChg chg="modTransition">
        <pc:chgData name="Bara Hamadeh" userId="S::b_hamadeh@asu.edu.jo::ba91a99f-f3ba-46e6-ad5d-582794b375a9" providerId="AD" clId="Web-{CACEA735-1AA5-4934-3170-3E21A4E7C4E2}" dt="2024-02-25T23:01:36.580" v="8"/>
        <pc:sldMkLst>
          <pc:docMk/>
          <pc:sldMk cId="2155933140" sldId="752"/>
        </pc:sldMkLst>
      </pc:sldChg>
      <pc:sldChg chg="modTransition">
        <pc:chgData name="Bara Hamadeh" userId="S::b_hamadeh@asu.edu.jo::ba91a99f-f3ba-46e6-ad5d-582794b375a9" providerId="AD" clId="Web-{CACEA735-1AA5-4934-3170-3E21A4E7C4E2}" dt="2024-02-25T23:01:36.580" v="9"/>
        <pc:sldMkLst>
          <pc:docMk/>
          <pc:sldMk cId="3902988038" sldId="755"/>
        </pc:sldMkLst>
      </pc:sldChg>
      <pc:sldChg chg="modTransition">
        <pc:chgData name="Bara Hamadeh" userId="S::b_hamadeh@asu.edu.jo::ba91a99f-f3ba-46e6-ad5d-582794b375a9" providerId="AD" clId="Web-{CACEA735-1AA5-4934-3170-3E21A4E7C4E2}" dt="2024-02-25T23:01:36.596" v="13"/>
        <pc:sldMkLst>
          <pc:docMk/>
          <pc:sldMk cId="680220244" sldId="756"/>
        </pc:sldMkLst>
      </pc:sldChg>
      <pc:sldChg chg="modTransition">
        <pc:chgData name="Bara Hamadeh" userId="S::b_hamadeh@asu.edu.jo::ba91a99f-f3ba-46e6-ad5d-582794b375a9" providerId="AD" clId="Web-{CACEA735-1AA5-4934-3170-3E21A4E7C4E2}" dt="2024-02-25T23:01:36.596" v="14"/>
        <pc:sldMkLst>
          <pc:docMk/>
          <pc:sldMk cId="1255574244" sldId="757"/>
        </pc:sldMkLst>
      </pc:sldChg>
      <pc:sldChg chg="modTransition">
        <pc:chgData name="Bara Hamadeh" userId="S::b_hamadeh@asu.edu.jo::ba91a99f-f3ba-46e6-ad5d-582794b375a9" providerId="AD" clId="Web-{CACEA735-1AA5-4934-3170-3E21A4E7C4E2}" dt="2024-02-25T23:01:36.596" v="15"/>
        <pc:sldMkLst>
          <pc:docMk/>
          <pc:sldMk cId="1975782957" sldId="758"/>
        </pc:sldMkLst>
      </pc:sldChg>
      <pc:sldChg chg="modTransition">
        <pc:chgData name="Bara Hamadeh" userId="S::b_hamadeh@asu.edu.jo::ba91a99f-f3ba-46e6-ad5d-582794b375a9" providerId="AD" clId="Web-{CACEA735-1AA5-4934-3170-3E21A4E7C4E2}" dt="2024-02-25T23:01:36.596" v="16"/>
        <pc:sldMkLst>
          <pc:docMk/>
          <pc:sldMk cId="227996064" sldId="759"/>
        </pc:sldMkLst>
      </pc:sldChg>
      <pc:sldChg chg="modTransition">
        <pc:chgData name="Bara Hamadeh" userId="S::b_hamadeh@asu.edu.jo::ba91a99f-f3ba-46e6-ad5d-582794b375a9" providerId="AD" clId="Web-{CACEA735-1AA5-4934-3170-3E21A4E7C4E2}" dt="2024-02-25T23:01:36.596" v="17"/>
        <pc:sldMkLst>
          <pc:docMk/>
          <pc:sldMk cId="1805347492" sldId="760"/>
        </pc:sldMkLst>
      </pc:sldChg>
      <pc:sldChg chg="modTransition">
        <pc:chgData name="Bara Hamadeh" userId="S::b_hamadeh@asu.edu.jo::ba91a99f-f3ba-46e6-ad5d-582794b375a9" providerId="AD" clId="Web-{CACEA735-1AA5-4934-3170-3E21A4E7C4E2}" dt="2024-02-25T23:01:36.596" v="18"/>
        <pc:sldMkLst>
          <pc:docMk/>
          <pc:sldMk cId="3677284140" sldId="761"/>
        </pc:sldMkLst>
      </pc:sldChg>
      <pc:sldChg chg="modTransition">
        <pc:chgData name="Bara Hamadeh" userId="S::b_hamadeh@asu.edu.jo::ba91a99f-f3ba-46e6-ad5d-582794b375a9" providerId="AD" clId="Web-{CACEA735-1AA5-4934-3170-3E21A4E7C4E2}" dt="2024-02-25T23:01:36.596" v="19"/>
        <pc:sldMkLst>
          <pc:docMk/>
          <pc:sldMk cId="2226807426" sldId="763"/>
        </pc:sldMkLst>
      </pc:sldChg>
      <pc:sldChg chg="modTransition">
        <pc:chgData name="Bara Hamadeh" userId="S::b_hamadeh@asu.edu.jo::ba91a99f-f3ba-46e6-ad5d-582794b375a9" providerId="AD" clId="Web-{CACEA735-1AA5-4934-3170-3E21A4E7C4E2}" dt="2024-02-25T23:01:36.596" v="20"/>
        <pc:sldMkLst>
          <pc:docMk/>
          <pc:sldMk cId="3237801343" sldId="765"/>
        </pc:sldMkLst>
      </pc:sldChg>
      <pc:sldChg chg="modTransition">
        <pc:chgData name="Bara Hamadeh" userId="S::b_hamadeh@asu.edu.jo::ba91a99f-f3ba-46e6-ad5d-582794b375a9" providerId="AD" clId="Web-{CACEA735-1AA5-4934-3170-3E21A4E7C4E2}" dt="2024-02-25T23:01:36.612" v="21"/>
        <pc:sldMkLst>
          <pc:docMk/>
          <pc:sldMk cId="3384965462" sldId="766"/>
        </pc:sldMkLst>
      </pc:sldChg>
      <pc:sldChg chg="modTransition">
        <pc:chgData name="Bara Hamadeh" userId="S::b_hamadeh@asu.edu.jo::ba91a99f-f3ba-46e6-ad5d-582794b375a9" providerId="AD" clId="Web-{CACEA735-1AA5-4934-3170-3E21A4E7C4E2}" dt="2024-02-25T23:01:36.612" v="22"/>
        <pc:sldMkLst>
          <pc:docMk/>
          <pc:sldMk cId="1462901002" sldId="767"/>
        </pc:sldMkLst>
      </pc:sldChg>
      <pc:sldChg chg="modTransition">
        <pc:chgData name="Bara Hamadeh" userId="S::b_hamadeh@asu.edu.jo::ba91a99f-f3ba-46e6-ad5d-582794b375a9" providerId="AD" clId="Web-{CACEA735-1AA5-4934-3170-3E21A4E7C4E2}" dt="2024-02-25T23:01:36.612" v="23"/>
        <pc:sldMkLst>
          <pc:docMk/>
          <pc:sldMk cId="388777930" sldId="768"/>
        </pc:sldMkLst>
      </pc:sldChg>
      <pc:sldChg chg="modTransition">
        <pc:chgData name="Bara Hamadeh" userId="S::b_hamadeh@asu.edu.jo::ba91a99f-f3ba-46e6-ad5d-582794b375a9" providerId="AD" clId="Web-{CACEA735-1AA5-4934-3170-3E21A4E7C4E2}" dt="2024-02-25T23:01:36.612" v="24"/>
        <pc:sldMkLst>
          <pc:docMk/>
          <pc:sldMk cId="2840212330" sldId="769"/>
        </pc:sldMkLst>
      </pc:sldChg>
      <pc:sldChg chg="modTransition">
        <pc:chgData name="Bara Hamadeh" userId="S::b_hamadeh@asu.edu.jo::ba91a99f-f3ba-46e6-ad5d-582794b375a9" providerId="AD" clId="Web-{CACEA735-1AA5-4934-3170-3E21A4E7C4E2}" dt="2024-02-25T23:01:36.612" v="25"/>
        <pc:sldMkLst>
          <pc:docMk/>
          <pc:sldMk cId="333685036" sldId="770"/>
        </pc:sldMkLst>
      </pc:sldChg>
      <pc:sldChg chg="modTransition">
        <pc:chgData name="Bara Hamadeh" userId="S::b_hamadeh@asu.edu.jo::ba91a99f-f3ba-46e6-ad5d-582794b375a9" providerId="AD" clId="Web-{CACEA735-1AA5-4934-3170-3E21A4E7C4E2}" dt="2024-02-25T23:01:36.612" v="26"/>
        <pc:sldMkLst>
          <pc:docMk/>
          <pc:sldMk cId="3531367622" sldId="771"/>
        </pc:sldMkLst>
      </pc:sldChg>
      <pc:sldChg chg="modTransition">
        <pc:chgData name="Bara Hamadeh" userId="S::b_hamadeh@asu.edu.jo::ba91a99f-f3ba-46e6-ad5d-582794b375a9" providerId="AD" clId="Web-{CACEA735-1AA5-4934-3170-3E21A4E7C4E2}" dt="2024-02-25T23:01:36.612" v="27"/>
        <pc:sldMkLst>
          <pc:docMk/>
          <pc:sldMk cId="2511998431" sldId="772"/>
        </pc:sldMkLst>
      </pc:sldChg>
      <pc:sldChg chg="modTransition">
        <pc:chgData name="Bara Hamadeh" userId="S::b_hamadeh@asu.edu.jo::ba91a99f-f3ba-46e6-ad5d-582794b375a9" providerId="AD" clId="Web-{CACEA735-1AA5-4934-3170-3E21A4E7C4E2}" dt="2024-02-25T23:01:36.612" v="28"/>
        <pc:sldMkLst>
          <pc:docMk/>
          <pc:sldMk cId="3167236036" sldId="773"/>
        </pc:sldMkLst>
      </pc:sldChg>
      <pc:sldChg chg="modTransition">
        <pc:chgData name="Bara Hamadeh" userId="S::b_hamadeh@asu.edu.jo::ba91a99f-f3ba-46e6-ad5d-582794b375a9" providerId="AD" clId="Web-{CACEA735-1AA5-4934-3170-3E21A4E7C4E2}" dt="2024-02-25T23:01:36.612" v="29"/>
        <pc:sldMkLst>
          <pc:docMk/>
          <pc:sldMk cId="3200917820" sldId="774"/>
        </pc:sldMkLst>
      </pc:sldChg>
      <pc:sldChg chg="modTransition">
        <pc:chgData name="Bara Hamadeh" userId="S::b_hamadeh@asu.edu.jo::ba91a99f-f3ba-46e6-ad5d-582794b375a9" providerId="AD" clId="Web-{CACEA735-1AA5-4934-3170-3E21A4E7C4E2}" dt="2024-02-25T23:01:36.612" v="30"/>
        <pc:sldMkLst>
          <pc:docMk/>
          <pc:sldMk cId="3766065679" sldId="775"/>
        </pc:sldMkLst>
      </pc:sldChg>
      <pc:sldChg chg="modTransition">
        <pc:chgData name="Bara Hamadeh" userId="S::b_hamadeh@asu.edu.jo::ba91a99f-f3ba-46e6-ad5d-582794b375a9" providerId="AD" clId="Web-{CACEA735-1AA5-4934-3170-3E21A4E7C4E2}" dt="2024-02-25T23:01:36.627" v="31"/>
        <pc:sldMkLst>
          <pc:docMk/>
          <pc:sldMk cId="418129087" sldId="776"/>
        </pc:sldMkLst>
      </pc:sldChg>
      <pc:sldChg chg="modTransition">
        <pc:chgData name="Bara Hamadeh" userId="S::b_hamadeh@asu.edu.jo::ba91a99f-f3ba-46e6-ad5d-582794b375a9" providerId="AD" clId="Web-{CACEA735-1AA5-4934-3170-3E21A4E7C4E2}" dt="2024-02-25T23:01:36.627" v="32"/>
        <pc:sldMkLst>
          <pc:docMk/>
          <pc:sldMk cId="559709603" sldId="777"/>
        </pc:sldMkLst>
      </pc:sldChg>
      <pc:sldChg chg="modTransition">
        <pc:chgData name="Bara Hamadeh" userId="S::b_hamadeh@asu.edu.jo::ba91a99f-f3ba-46e6-ad5d-582794b375a9" providerId="AD" clId="Web-{CACEA735-1AA5-4934-3170-3E21A4E7C4E2}" dt="2024-02-25T23:01:36.627" v="33"/>
        <pc:sldMkLst>
          <pc:docMk/>
          <pc:sldMk cId="4237071119" sldId="778"/>
        </pc:sldMkLst>
      </pc:sldChg>
      <pc:sldChg chg="modTransition">
        <pc:chgData name="Bara Hamadeh" userId="S::b_hamadeh@asu.edu.jo::ba91a99f-f3ba-46e6-ad5d-582794b375a9" providerId="AD" clId="Web-{CACEA735-1AA5-4934-3170-3E21A4E7C4E2}" dt="2024-02-25T23:01:36.627" v="34"/>
        <pc:sldMkLst>
          <pc:docMk/>
          <pc:sldMk cId="2767572442" sldId="779"/>
        </pc:sldMkLst>
      </pc:sldChg>
      <pc:sldChg chg="modTransition">
        <pc:chgData name="Bara Hamadeh" userId="S::b_hamadeh@asu.edu.jo::ba91a99f-f3ba-46e6-ad5d-582794b375a9" providerId="AD" clId="Web-{CACEA735-1AA5-4934-3170-3E21A4E7C4E2}" dt="2024-02-25T23:01:36.627" v="35"/>
        <pc:sldMkLst>
          <pc:docMk/>
          <pc:sldMk cId="426508262" sldId="780"/>
        </pc:sldMkLst>
      </pc:sldChg>
      <pc:sldChg chg="modTransition">
        <pc:chgData name="Bara Hamadeh" userId="S::b_hamadeh@asu.edu.jo::ba91a99f-f3ba-46e6-ad5d-582794b375a9" providerId="AD" clId="Web-{CACEA735-1AA5-4934-3170-3E21A4E7C4E2}" dt="2024-02-25T23:01:36.627" v="37"/>
        <pc:sldMkLst>
          <pc:docMk/>
          <pc:sldMk cId="3001235128" sldId="781"/>
        </pc:sldMkLst>
      </pc:sldChg>
      <pc:sldChg chg="modTransition">
        <pc:chgData name="Bara Hamadeh" userId="S::b_hamadeh@asu.edu.jo::ba91a99f-f3ba-46e6-ad5d-582794b375a9" providerId="AD" clId="Web-{CACEA735-1AA5-4934-3170-3E21A4E7C4E2}" dt="2024-02-25T23:01:36.627" v="36"/>
        <pc:sldMkLst>
          <pc:docMk/>
          <pc:sldMk cId="3825689238" sldId="782"/>
        </pc:sldMkLst>
      </pc:sldChg>
      <pc:sldChg chg="modTransition">
        <pc:chgData name="Bara Hamadeh" userId="S::b_hamadeh@asu.edu.jo::ba91a99f-f3ba-46e6-ad5d-582794b375a9" providerId="AD" clId="Web-{CACEA735-1AA5-4934-3170-3E21A4E7C4E2}" dt="2024-02-25T23:01:36.580" v="5"/>
        <pc:sldMkLst>
          <pc:docMk/>
          <pc:sldMk cId="2977656760" sldId="784"/>
        </pc:sldMkLst>
      </pc:sldChg>
      <pc:sldChg chg="modTransition">
        <pc:chgData name="Bara Hamadeh" userId="S::b_hamadeh@asu.edu.jo::ba91a99f-f3ba-46e6-ad5d-582794b375a9" providerId="AD" clId="Web-{CACEA735-1AA5-4934-3170-3E21A4E7C4E2}" dt="2024-02-25T23:01:36.580" v="10"/>
        <pc:sldMkLst>
          <pc:docMk/>
          <pc:sldMk cId="1768103494" sldId="785"/>
        </pc:sldMkLst>
      </pc:sldChg>
      <pc:sldChg chg="modTransition">
        <pc:chgData name="Bara Hamadeh" userId="S::b_hamadeh@asu.edu.jo::ba91a99f-f3ba-46e6-ad5d-582794b375a9" providerId="AD" clId="Web-{CACEA735-1AA5-4934-3170-3E21A4E7C4E2}" dt="2024-02-25T23:01:36.596" v="11"/>
        <pc:sldMkLst>
          <pc:docMk/>
          <pc:sldMk cId="1080628949" sldId="787"/>
        </pc:sldMkLst>
      </pc:sldChg>
      <pc:sldChg chg="modTransition">
        <pc:chgData name="Bara Hamadeh" userId="S::b_hamadeh@asu.edu.jo::ba91a99f-f3ba-46e6-ad5d-582794b375a9" providerId="AD" clId="Web-{CACEA735-1AA5-4934-3170-3E21A4E7C4E2}" dt="2024-02-25T23:01:36.596" v="12"/>
        <pc:sldMkLst>
          <pc:docMk/>
          <pc:sldMk cId="3009370680" sldId="788"/>
        </pc:sldMkLst>
      </pc:sldChg>
      <pc:sldMasterChg chg="mod modSldLayout">
        <pc:chgData name="Bara Hamadeh" userId="S::b_hamadeh@asu.edu.jo::ba91a99f-f3ba-46e6-ad5d-582794b375a9" providerId="AD" clId="Web-{CACEA735-1AA5-4934-3170-3E21A4E7C4E2}" dt="2024-02-25T23:01:50.644" v="41"/>
        <pc:sldMasterMkLst>
          <pc:docMk/>
          <pc:sldMasterMk cId="1719295273" sldId="2147483672"/>
        </pc:sldMasterMkLst>
        <pc:sldLayoutChg chg="mod">
          <pc:chgData name="Bara Hamadeh" userId="S::b_hamadeh@asu.edu.jo::ba91a99f-f3ba-46e6-ad5d-582794b375a9" providerId="AD" clId="Web-{CACEA735-1AA5-4934-3170-3E21A4E7C4E2}" dt="2024-02-25T23:01:50.644" v="41"/>
          <pc:sldLayoutMkLst>
            <pc:docMk/>
            <pc:sldMasterMk cId="1719295273" sldId="2147483672"/>
            <pc:sldLayoutMk cId="1136942225" sldId="2147483673"/>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543625086" sldId="2147483674"/>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695053800" sldId="2147483675"/>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1555795183" sldId="2147483676"/>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3154714844" sldId="2147483677"/>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1943265441" sldId="2147483678"/>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1103728720" sldId="2147483679"/>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3199667561" sldId="2147483680"/>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1593807278" sldId="2147483681"/>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4052592978" sldId="2147483682"/>
          </pc:sldLayoutMkLst>
        </pc:sldLayoutChg>
        <pc:sldLayoutChg chg="mod">
          <pc:chgData name="Bara Hamadeh" userId="S::b_hamadeh@asu.edu.jo::ba91a99f-f3ba-46e6-ad5d-582794b375a9" providerId="AD" clId="Web-{CACEA735-1AA5-4934-3170-3E21A4E7C4E2}" dt="2024-02-25T23:01:50.644" v="41"/>
          <pc:sldLayoutMkLst>
            <pc:docMk/>
            <pc:sldMasterMk cId="1719295273" sldId="2147483672"/>
            <pc:sldLayoutMk cId="2606264647"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632330-5922-4CC5-BEFF-658645468D8F}"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D3A932-787B-4AC5-9E57-E8EFAD98A2DB}"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B6B07E-09E3-4040-96F1-1299E93086F4}"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F19497-1530-4A19-AEEA-FBDB62AB1E81}"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3D9543-1672-46FF-A0EC-73CF0DD827B1}" type="datetime1">
              <a:rPr lang="en-US" smtClean="0"/>
              <a:t>2/26/2024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F233A5-A20B-4069-B4BD-E1E2DEBDEE40}" type="datetime1">
              <a:rPr lang="en-US" smtClean="0"/>
              <a:t>2/26/2024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4C71FC5-4E2B-4EED-9998-13782BB8C582}" type="datetime1">
              <a:rPr lang="en-US" smtClean="0"/>
              <a:t>2/26/2024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B6EDB12-56B3-40FE-A214-179BFD7E256E}" type="datetime1">
              <a:rPr lang="en-US" smtClean="0"/>
              <a:t>2/26/2024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E1AE9A-7C5F-479C-9EC8-E929B721C266}" type="datetime1">
              <a:rPr lang="en-US" smtClean="0"/>
              <a:t>2/26/2024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093421-EA8A-4BD4-8CE1-E324A3B9F7CE}"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BB0AB1-F0AD-49B3-B08C-FE15BA4A5A3E}" type="datetime1">
              <a:rPr lang="en-US" smtClean="0"/>
              <a:t>2/26/2024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21916AAC-EA72-4CCF-AF4E-2800D9FF357B}" type="datetime1">
              <a:rPr lang="en-US" smtClean="0"/>
              <a:t>2/26/2024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Edited and Reviewed By: I. Bara' Qadomi &amp; I. Bara' Hamadah (FIT, Applied Science Private University)</a:t>
            </a:r>
            <a:endParaRPr lang="en-US" dirty="0"/>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t>Fundamental Programming Structures in JAVA</a:t>
            </a:r>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a:lstStyle/>
          <a:p>
            <a:r>
              <a:rPr lang="en-US" altLang="ar-SA"/>
              <a:t>Abstract Class</a:t>
            </a:r>
            <a:endParaRPr lang="en-US" altLang="ar-SA" dirty="0"/>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pPr marL="460375" lvl="2" indent="-457200">
              <a:buFont typeface="Wingdings" panose="05000000000000000000" pitchFamily="2" charset="2"/>
              <a:buChar char="§"/>
            </a:pPr>
            <a:endParaRPr lang="en-US" altLang="en-US" sz="2400" dirty="0">
              <a:cs typeface="Arial" panose="020B0604020202020204" pitchFamily="34" charset="0"/>
            </a:endParaRPr>
          </a:p>
          <a:p>
            <a:pPr marL="460375" lvl="2" indent="-457200">
              <a:buFont typeface="Wingdings" panose="05000000000000000000" pitchFamily="2" charset="2"/>
              <a:buChar char="§"/>
            </a:pPr>
            <a:r>
              <a:rPr lang="en-US" altLang="en-US" sz="2400" dirty="0">
                <a:cs typeface="Arial" panose="020B0604020202020204" pitchFamily="34" charset="0"/>
              </a:rPr>
              <a:t>To </a:t>
            </a:r>
            <a:r>
              <a:rPr lang="en-US" altLang="en-US" sz="2400" dirty="0"/>
              <a:t>introduce the Abstraction</a:t>
            </a:r>
            <a:r>
              <a:rPr lang="en-US" altLang="en-US" sz="2400" dirty="0">
                <a:cs typeface="Arial" panose="020B0604020202020204" pitchFamily="34" charset="0"/>
              </a:rPr>
              <a:t>.</a:t>
            </a:r>
          </a:p>
          <a:p>
            <a:pPr marL="460375" lvl="2" indent="-457200">
              <a:buFont typeface="Wingdings" panose="05000000000000000000" pitchFamily="2" charset="2"/>
              <a:buChar char="§"/>
            </a:pPr>
            <a:r>
              <a:rPr lang="en-US" altLang="en-US" sz="2400" dirty="0"/>
              <a:t>To design and use abstract classes.</a:t>
            </a:r>
          </a:p>
          <a:p>
            <a:pPr marL="460375" lvl="2" indent="-457200">
              <a:buFont typeface="Wingdings" panose="05000000000000000000" pitchFamily="2" charset="2"/>
              <a:buChar char="§"/>
            </a:pPr>
            <a:r>
              <a:rPr lang="en-US" altLang="en-US" sz="2400" dirty="0"/>
              <a:t>To define abstract methods.</a:t>
            </a:r>
          </a:p>
          <a:p>
            <a:pPr marL="460375" lvl="2" indent="-457200">
              <a:buFont typeface="Wingdings" panose="05000000000000000000" pitchFamily="2" charset="2"/>
              <a:buChar char="§"/>
            </a:pPr>
            <a:endParaRPr lang="en-US" altLang="en-US" sz="2400" dirty="0"/>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Abstraction in Real Life</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90608272-F01A-C1FC-2656-16D8F568BEC2}"/>
              </a:ext>
            </a:extLst>
          </p:cNvPr>
          <p:cNvSpPr>
            <a:spLocks noGrp="1"/>
          </p:cNvSpPr>
          <p:nvPr>
            <p:ph idx="1"/>
          </p:nvPr>
        </p:nvSpPr>
        <p:spPr/>
        <p:txBody>
          <a:bodyPr>
            <a:normAutofit/>
          </a:bodyPr>
          <a:lstStyle/>
          <a:p>
            <a:pPr marL="706438" indent="-342900" algn="just"/>
            <a:r>
              <a:rPr lang="en-US" altLang="ar-SA" sz="2400" dirty="0"/>
              <a:t>A man driving a car. The man only knows that pressing the accelerators will increase the speed of the car or applying brakes will stop the car.</a:t>
            </a:r>
          </a:p>
          <a:p>
            <a:pPr marL="706438" indent="-342900" algn="just"/>
            <a:r>
              <a:rPr lang="en-US" altLang="ar-SA" sz="2400" dirty="0"/>
              <a:t>But the man does not know about the inner mechanism of the car or the implementation of accelerator, brakes.. </a:t>
            </a:r>
            <a:r>
              <a:rPr lang="en-US" altLang="ar-SA" sz="2400" dirty="0" err="1"/>
              <a:t>etc</a:t>
            </a:r>
            <a:r>
              <a:rPr lang="en-US" altLang="ar-SA" sz="2400" dirty="0"/>
              <a:t> in the car.</a:t>
            </a:r>
            <a:endParaRPr lang="ar-SA" altLang="ar-SA" sz="2400" dirty="0"/>
          </a:p>
        </p:txBody>
      </p:sp>
      <p:pic>
        <p:nvPicPr>
          <p:cNvPr id="5" name="Picture 2" descr="Cartoon man driving luxury convertible car, vector illustration 2959110  Vector Art at Vecteezy">
            <a:extLst>
              <a:ext uri="{FF2B5EF4-FFF2-40B4-BE49-F238E27FC236}">
                <a16:creationId xmlns:a16="http://schemas.microsoft.com/office/drawing/2014/main" id="{0C6F82E2-BEFF-1D0D-8A68-643C4F056D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5342" y="3862623"/>
            <a:ext cx="4741316" cy="20064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21967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9DEE6-8D13-30F4-74E8-5580D8A44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4DBA5-B011-211A-9E57-553051915634}"/>
              </a:ext>
            </a:extLst>
          </p:cNvPr>
          <p:cNvSpPr>
            <a:spLocks noGrp="1"/>
          </p:cNvSpPr>
          <p:nvPr>
            <p:ph type="title"/>
          </p:nvPr>
        </p:nvSpPr>
        <p:spPr>
          <a:xfrm>
            <a:off x="348791" y="286603"/>
            <a:ext cx="11481847" cy="1450757"/>
          </a:xfrm>
        </p:spPr>
        <p:txBody>
          <a:bodyPr/>
          <a:lstStyle/>
          <a:p>
            <a:r>
              <a:rPr lang="en-US" altLang="ar-SA" dirty="0"/>
              <a:t>Abstraction in OOP</a:t>
            </a:r>
            <a:endParaRPr lang="en-US" dirty="0"/>
          </a:p>
        </p:txBody>
      </p:sp>
      <p:sp>
        <p:nvSpPr>
          <p:cNvPr id="4" name="Footer Placeholder 3">
            <a:extLst>
              <a:ext uri="{FF2B5EF4-FFF2-40B4-BE49-F238E27FC236}">
                <a16:creationId xmlns:a16="http://schemas.microsoft.com/office/drawing/2014/main" id="{605F7906-CBDB-F2DA-A15C-6475E80D03D1}"/>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FDE9734B-67EE-90BA-F482-3F2B536365FF}"/>
              </a:ext>
            </a:extLst>
          </p:cNvPr>
          <p:cNvSpPr>
            <a:spLocks noGrp="1"/>
          </p:cNvSpPr>
          <p:nvPr>
            <p:ph idx="1"/>
          </p:nvPr>
        </p:nvSpPr>
        <p:spPr>
          <a:xfrm>
            <a:off x="348791" y="1845733"/>
            <a:ext cx="11481847" cy="4443449"/>
          </a:xfrm>
        </p:spPr>
        <p:txBody>
          <a:bodyPr>
            <a:noAutofit/>
          </a:bodyPr>
          <a:lstStyle/>
          <a:p>
            <a:r>
              <a:rPr lang="en-US" dirty="0">
                <a:latin typeface="+mj-lt"/>
              </a:rPr>
              <a:t>Objects are the building blocks of Object-Oriented Programming. </a:t>
            </a:r>
          </a:p>
          <a:p>
            <a:r>
              <a:rPr lang="en-US" dirty="0">
                <a:latin typeface="+mj-lt"/>
              </a:rPr>
              <a:t>An object contains some properties and methods.</a:t>
            </a:r>
          </a:p>
          <a:p>
            <a:r>
              <a:rPr lang="en-US" dirty="0">
                <a:latin typeface="+mj-lt"/>
              </a:rPr>
              <a:t>In OOP can hide properties and methods from the outer world through access modifiers.</a:t>
            </a:r>
          </a:p>
          <a:p>
            <a:r>
              <a:rPr lang="en-US" dirty="0">
                <a:latin typeface="+mj-lt"/>
              </a:rPr>
              <a:t>OOP can provide access only for required methods and properties to the other programs. </a:t>
            </a:r>
          </a:p>
          <a:p>
            <a:r>
              <a:rPr lang="en-US" dirty="0">
                <a:latin typeface="+mj-lt"/>
              </a:rPr>
              <a:t>This is the general procedure to implement abstraction in OOPS.</a:t>
            </a:r>
          </a:p>
          <a:p>
            <a:r>
              <a:rPr lang="en-US" dirty="0">
                <a:latin typeface="+mj-lt"/>
              </a:rPr>
              <a:t>There are two types of Abstraction: </a:t>
            </a:r>
            <a:r>
              <a:rPr lang="en-US" b="1" dirty="0">
                <a:latin typeface="+mj-lt"/>
              </a:rPr>
              <a:t>Data Abstraction </a:t>
            </a:r>
            <a:r>
              <a:rPr lang="en-US" dirty="0">
                <a:latin typeface="+mj-lt"/>
              </a:rPr>
              <a:t>and </a:t>
            </a:r>
            <a:r>
              <a:rPr lang="en-US" b="1" dirty="0">
                <a:latin typeface="+mj-lt"/>
              </a:rPr>
              <a:t>Process (Method) Abstraction</a:t>
            </a:r>
            <a:r>
              <a:rPr lang="en-US" dirty="0">
                <a:latin typeface="+mj-lt"/>
              </a:rPr>
              <a:t>.</a:t>
            </a:r>
            <a:endParaRPr lang="en-US" dirty="0">
              <a:effectLst/>
              <a:latin typeface="+mj-lt"/>
              <a:ea typeface="Times New Roman" panose="02020603050405020304" pitchFamily="18" charset="0"/>
            </a:endParaRPr>
          </a:p>
        </p:txBody>
      </p:sp>
    </p:spTree>
    <p:extLst>
      <p:ext uri="{BB962C8B-B14F-4D97-AF65-F5344CB8AC3E}">
        <p14:creationId xmlns:p14="http://schemas.microsoft.com/office/powerpoint/2010/main" val="251815467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E93CC-5F13-F8BB-4DD2-6CFB0E6BA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087C6-D26E-C7C4-0D56-752ED80162B3}"/>
              </a:ext>
            </a:extLst>
          </p:cNvPr>
          <p:cNvSpPr>
            <a:spLocks noGrp="1"/>
          </p:cNvSpPr>
          <p:nvPr>
            <p:ph type="title"/>
          </p:nvPr>
        </p:nvSpPr>
        <p:spPr>
          <a:xfrm>
            <a:off x="348791" y="286603"/>
            <a:ext cx="11481847" cy="1450757"/>
          </a:xfrm>
        </p:spPr>
        <p:txBody>
          <a:bodyPr/>
          <a:lstStyle/>
          <a:p>
            <a:r>
              <a:rPr lang="en-US" dirty="0"/>
              <a:t>Data Abstraction</a:t>
            </a:r>
          </a:p>
        </p:txBody>
      </p:sp>
      <p:sp>
        <p:nvSpPr>
          <p:cNvPr id="4" name="Footer Placeholder 3">
            <a:extLst>
              <a:ext uri="{FF2B5EF4-FFF2-40B4-BE49-F238E27FC236}">
                <a16:creationId xmlns:a16="http://schemas.microsoft.com/office/drawing/2014/main" id="{232ED022-9C48-11BB-6814-6733DE65CE59}"/>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F37ED92B-0349-F235-D092-1811F040B2D1}"/>
              </a:ext>
            </a:extLst>
          </p:cNvPr>
          <p:cNvSpPr>
            <a:spLocks noGrp="1"/>
          </p:cNvSpPr>
          <p:nvPr>
            <p:ph idx="1"/>
          </p:nvPr>
        </p:nvSpPr>
        <p:spPr/>
        <p:txBody>
          <a:bodyPr>
            <a:normAutofit/>
          </a:bodyPr>
          <a:lstStyle/>
          <a:p>
            <a:pPr marL="342900" indent="-342900" algn="just"/>
            <a:r>
              <a:rPr lang="en-US" sz="2400" dirty="0"/>
              <a:t>When the object data is not visible to the outer world, it creates data abstraction. If needed, access to the Objects’ data is provided through some methods (such as setters and getters).</a:t>
            </a:r>
            <a:endParaRPr lang="ar-SA" sz="2400" dirty="0"/>
          </a:p>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3" name="Picture 2">
            <a:extLst>
              <a:ext uri="{FF2B5EF4-FFF2-40B4-BE49-F238E27FC236}">
                <a16:creationId xmlns:a16="http://schemas.microsoft.com/office/drawing/2014/main" id="{BE04983D-DC57-DC0B-1395-DF8A0AAEE384}"/>
              </a:ext>
            </a:extLst>
          </p:cNvPr>
          <p:cNvPicPr>
            <a:picLocks noChangeAspect="1"/>
          </p:cNvPicPr>
          <p:nvPr/>
        </p:nvPicPr>
        <p:blipFill>
          <a:blip r:embed="rId2"/>
          <a:stretch>
            <a:fillRect/>
          </a:stretch>
        </p:blipFill>
        <p:spPr>
          <a:xfrm>
            <a:off x="4064480" y="2916766"/>
            <a:ext cx="6214954" cy="3213577"/>
          </a:xfrm>
          <a:prstGeom prst="rect">
            <a:avLst/>
          </a:prstGeom>
        </p:spPr>
      </p:pic>
    </p:spTree>
    <p:extLst>
      <p:ext uri="{BB962C8B-B14F-4D97-AF65-F5344CB8AC3E}">
        <p14:creationId xmlns:p14="http://schemas.microsoft.com/office/powerpoint/2010/main" val="411988208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D79EE-CBD6-058B-734A-404F4FB0E3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96611-D3BC-A7C0-469D-2FA5610BF9FD}"/>
              </a:ext>
            </a:extLst>
          </p:cNvPr>
          <p:cNvSpPr>
            <a:spLocks noGrp="1"/>
          </p:cNvSpPr>
          <p:nvPr>
            <p:ph type="title"/>
          </p:nvPr>
        </p:nvSpPr>
        <p:spPr>
          <a:xfrm>
            <a:off x="348791" y="286603"/>
            <a:ext cx="11481847" cy="1450757"/>
          </a:xfrm>
        </p:spPr>
        <p:txBody>
          <a:bodyPr/>
          <a:lstStyle/>
          <a:p>
            <a:r>
              <a:rPr lang="en-US" dirty="0"/>
              <a:t>Process Abstraction</a:t>
            </a:r>
          </a:p>
        </p:txBody>
      </p:sp>
      <p:sp>
        <p:nvSpPr>
          <p:cNvPr id="4" name="Footer Placeholder 3">
            <a:extLst>
              <a:ext uri="{FF2B5EF4-FFF2-40B4-BE49-F238E27FC236}">
                <a16:creationId xmlns:a16="http://schemas.microsoft.com/office/drawing/2014/main" id="{791ED417-16EE-48B0-7417-DB7DC4F2E15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F3EB9180-352B-004C-A8B0-58E1E331CC5A}"/>
              </a:ext>
            </a:extLst>
          </p:cNvPr>
          <p:cNvSpPr>
            <a:spLocks noGrp="1"/>
          </p:cNvSpPr>
          <p:nvPr>
            <p:ph idx="1"/>
          </p:nvPr>
        </p:nvSpPr>
        <p:spPr/>
        <p:txBody>
          <a:bodyPr>
            <a:normAutofit/>
          </a:bodyPr>
          <a:lstStyle/>
          <a:p>
            <a:pPr marL="342900" indent="-342900" algn="just"/>
            <a:r>
              <a:rPr lang="en-US" dirty="0"/>
              <a:t>We don’t need to provide details about all the functions of an object. When we hide the internal implementation of the different functions involved in a user operation, it creates process abstraction.</a:t>
            </a:r>
            <a:endParaRPr lang="en-US" sz="20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95F2279B-C34A-1C80-FD0D-51B948DB22FD}"/>
              </a:ext>
            </a:extLst>
          </p:cNvPr>
          <p:cNvPicPr>
            <a:picLocks noChangeAspect="1"/>
          </p:cNvPicPr>
          <p:nvPr/>
        </p:nvPicPr>
        <p:blipFill>
          <a:blip r:embed="rId2"/>
          <a:stretch>
            <a:fillRect/>
          </a:stretch>
        </p:blipFill>
        <p:spPr>
          <a:xfrm>
            <a:off x="4762205" y="3286032"/>
            <a:ext cx="6217920" cy="2878407"/>
          </a:xfrm>
          <a:prstGeom prst="rect">
            <a:avLst/>
          </a:prstGeom>
        </p:spPr>
      </p:pic>
    </p:spTree>
    <p:extLst>
      <p:ext uri="{BB962C8B-B14F-4D97-AF65-F5344CB8AC3E}">
        <p14:creationId xmlns:p14="http://schemas.microsoft.com/office/powerpoint/2010/main" val="235882408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031A9-1F8A-4F95-79F2-DF102321E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260003-2727-975C-661D-2B7F66384003}"/>
              </a:ext>
            </a:extLst>
          </p:cNvPr>
          <p:cNvSpPr>
            <a:spLocks noGrp="1"/>
          </p:cNvSpPr>
          <p:nvPr>
            <p:ph type="title"/>
          </p:nvPr>
        </p:nvSpPr>
        <p:spPr>
          <a:xfrm>
            <a:off x="348791" y="286603"/>
            <a:ext cx="11481847" cy="1450757"/>
          </a:xfrm>
        </p:spPr>
        <p:txBody>
          <a:bodyPr/>
          <a:lstStyle/>
          <a:p>
            <a:r>
              <a:rPr lang="en-US" dirty="0"/>
              <a:t>Abstraction in Java</a:t>
            </a:r>
          </a:p>
        </p:txBody>
      </p:sp>
      <p:sp>
        <p:nvSpPr>
          <p:cNvPr id="4" name="Footer Placeholder 3">
            <a:extLst>
              <a:ext uri="{FF2B5EF4-FFF2-40B4-BE49-F238E27FC236}">
                <a16:creationId xmlns:a16="http://schemas.microsoft.com/office/drawing/2014/main" id="{97FE4CBD-22ED-23DE-A0B1-0CB1794C077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BB809D63-7D3D-AED3-4136-8086EC2DF138}"/>
              </a:ext>
            </a:extLst>
          </p:cNvPr>
          <p:cNvSpPr>
            <a:spLocks noGrp="1"/>
          </p:cNvSpPr>
          <p:nvPr>
            <p:ph idx="1"/>
          </p:nvPr>
        </p:nvSpPr>
        <p:spPr/>
        <p:txBody>
          <a:bodyPr>
            <a:normAutofit/>
          </a:bodyPr>
          <a:lstStyle/>
          <a:p>
            <a:r>
              <a:rPr lang="en-US" dirty="0"/>
              <a:t>Abstraction lets you focus on what the object does instead of how it does it.</a:t>
            </a:r>
          </a:p>
          <a:p>
            <a:r>
              <a:rPr lang="en-US" dirty="0"/>
              <a:t>Abstraction in Java is implemented through </a:t>
            </a:r>
            <a:r>
              <a:rPr lang="en-US" b="1" dirty="0">
                <a:solidFill>
                  <a:schemeClr val="bg2">
                    <a:lumMod val="75000"/>
                  </a:schemeClr>
                </a:solidFill>
              </a:rPr>
              <a:t>abstract classes</a:t>
            </a:r>
            <a:r>
              <a:rPr lang="en-US" dirty="0">
                <a:solidFill>
                  <a:schemeClr val="bg2">
                    <a:lumMod val="75000"/>
                  </a:schemeClr>
                </a:solidFill>
              </a:rPr>
              <a:t> </a:t>
            </a:r>
            <a:r>
              <a:rPr lang="en-US" dirty="0"/>
              <a:t>and </a:t>
            </a:r>
            <a:r>
              <a:rPr lang="en-US" b="1" dirty="0">
                <a:solidFill>
                  <a:schemeClr val="bg2">
                    <a:lumMod val="75000"/>
                  </a:schemeClr>
                </a:solidFill>
              </a:rPr>
              <a:t>interfaces</a:t>
            </a:r>
            <a:r>
              <a:rPr lang="en-US" dirty="0"/>
              <a:t>. They are used to create a base implementation or contract for the actual implementation classes.</a:t>
            </a:r>
            <a:endParaRPr lang="ar-SA" dirty="0"/>
          </a:p>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0194699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54EE7-0E37-9946-42DF-0FA3AE4A5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AE8F4-316D-38C3-42E4-6D3B2AC2A9DB}"/>
              </a:ext>
            </a:extLst>
          </p:cNvPr>
          <p:cNvSpPr>
            <a:spLocks noGrp="1"/>
          </p:cNvSpPr>
          <p:nvPr>
            <p:ph type="title"/>
          </p:nvPr>
        </p:nvSpPr>
        <p:spPr>
          <a:xfrm>
            <a:off x="348791" y="286603"/>
            <a:ext cx="11481847" cy="1450757"/>
          </a:xfrm>
        </p:spPr>
        <p:txBody>
          <a:bodyPr/>
          <a:lstStyle/>
          <a:p>
            <a:r>
              <a:rPr lang="en-US" altLang="ar-SA" dirty="0"/>
              <a:t>Abstract Classes</a:t>
            </a:r>
            <a:endParaRPr lang="en-US" dirty="0"/>
          </a:p>
        </p:txBody>
      </p:sp>
      <p:sp>
        <p:nvSpPr>
          <p:cNvPr id="4" name="Footer Placeholder 3">
            <a:extLst>
              <a:ext uri="{FF2B5EF4-FFF2-40B4-BE49-F238E27FC236}">
                <a16:creationId xmlns:a16="http://schemas.microsoft.com/office/drawing/2014/main" id="{80D1F534-CDA8-5AEA-4735-1A495D2C6066}"/>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3858C91C-7536-D931-3591-90385838EDAC}"/>
              </a:ext>
            </a:extLst>
          </p:cNvPr>
          <p:cNvSpPr>
            <a:spLocks noGrp="1"/>
          </p:cNvSpPr>
          <p:nvPr>
            <p:ph idx="1"/>
          </p:nvPr>
        </p:nvSpPr>
        <p:spPr/>
        <p:txBody>
          <a:bodyPr>
            <a:normAutofit/>
          </a:bodyPr>
          <a:lstStyle/>
          <a:p>
            <a:pPr marL="0" indent="0">
              <a:lnSpc>
                <a:spcPct val="150000"/>
              </a:lnSpc>
              <a:buNone/>
            </a:pPr>
            <a:r>
              <a:rPr lang="en-US" altLang="ar-SA" b="1" dirty="0">
                <a:solidFill>
                  <a:schemeClr val="bg2">
                    <a:lumMod val="75000"/>
                  </a:schemeClr>
                </a:solidFill>
                <a:latin typeface="Courier New" panose="02070309020205020404" pitchFamily="49" charset="0"/>
                <a:cs typeface="Courier New" panose="02070309020205020404" pitchFamily="49" charset="0"/>
              </a:rPr>
              <a:t>public </a:t>
            </a:r>
            <a:r>
              <a:rPr lang="en-US" altLang="ar-SA" b="1" i="1" dirty="0">
                <a:solidFill>
                  <a:schemeClr val="bg2">
                    <a:lumMod val="75000"/>
                  </a:schemeClr>
                </a:solidFill>
                <a:latin typeface="Courier New" panose="02070309020205020404" pitchFamily="49" charset="0"/>
                <a:cs typeface="Courier New" panose="02070309020205020404" pitchFamily="49" charset="0"/>
              </a:rPr>
              <a:t>abstract</a:t>
            </a:r>
            <a:r>
              <a:rPr lang="en-US" altLang="ar-SA" b="1" dirty="0">
                <a:solidFill>
                  <a:schemeClr val="bg2">
                    <a:lumMod val="75000"/>
                  </a:schemeClr>
                </a:solidFill>
                <a:latin typeface="Courier New" panose="02070309020205020404" pitchFamily="49" charset="0"/>
                <a:cs typeface="Courier New" panose="02070309020205020404" pitchFamily="49" charset="0"/>
              </a:rPr>
              <a:t> class </a:t>
            </a:r>
            <a:r>
              <a:rPr lang="en-US" altLang="ar-SA" b="1" dirty="0" err="1">
                <a:solidFill>
                  <a:schemeClr val="bg2">
                    <a:lumMod val="75000"/>
                  </a:schemeClr>
                </a:solidFill>
                <a:latin typeface="Courier New" panose="02070309020205020404" pitchFamily="49" charset="0"/>
                <a:cs typeface="Courier New" panose="02070309020205020404" pitchFamily="49" charset="0"/>
              </a:rPr>
              <a:t>ClassName</a:t>
            </a:r>
            <a:r>
              <a:rPr lang="en-US" altLang="ar-SA" b="1" dirty="0">
                <a:solidFill>
                  <a:schemeClr val="bg2">
                    <a:lumMod val="75000"/>
                  </a:schemeClr>
                </a:solidFill>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pPr eaLnBrk="1" hangingPunct="1"/>
            <a:r>
              <a:rPr lang="en-US" altLang="ar-SA" dirty="0"/>
              <a:t>An abstract class </a:t>
            </a:r>
            <a:r>
              <a:rPr lang="en-US" altLang="ar-SA" b="1" dirty="0"/>
              <a:t>cannot be instantiated </a:t>
            </a:r>
            <a:r>
              <a:rPr lang="en-US" altLang="ar-SA" dirty="0"/>
              <a:t>(cannot be used to create object), but other classes are derived (inherited) from it.</a:t>
            </a:r>
          </a:p>
          <a:p>
            <a:pPr eaLnBrk="1" hangingPunct="1"/>
            <a:r>
              <a:rPr lang="en-US" altLang="ar-SA" dirty="0"/>
              <a:t>An </a:t>
            </a:r>
            <a:r>
              <a:rPr lang="en-US" altLang="ar-SA" b="1" i="1" dirty="0"/>
              <a:t>Abstract class</a:t>
            </a:r>
            <a:r>
              <a:rPr lang="en-US" altLang="ar-SA" i="1" dirty="0"/>
              <a:t> </a:t>
            </a:r>
            <a:r>
              <a:rPr lang="en-US" altLang="ar-SA" dirty="0"/>
              <a:t>serves as a superclass for other classes.</a:t>
            </a:r>
          </a:p>
          <a:p>
            <a:pPr eaLnBrk="1" hangingPunct="1"/>
            <a:r>
              <a:rPr lang="en-US" altLang="ar-SA" dirty="0"/>
              <a:t>The abstract class represents the generic or abstract form of all the classes that are derived from it.</a:t>
            </a:r>
          </a:p>
          <a:p>
            <a:pPr eaLnBrk="1" hangingPunct="1"/>
            <a:r>
              <a:rPr lang="en-US" altLang="ar-SA" dirty="0"/>
              <a:t>A class becomes abstract when you place the abstract key word in the class definition.</a:t>
            </a: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5548433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800EA-CC5F-A8BF-ED89-47A11D40D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F2431-DFC5-7E06-4811-78A7FFFCFA5A}"/>
              </a:ext>
            </a:extLst>
          </p:cNvPr>
          <p:cNvSpPr>
            <a:spLocks noGrp="1"/>
          </p:cNvSpPr>
          <p:nvPr>
            <p:ph type="title"/>
          </p:nvPr>
        </p:nvSpPr>
        <p:spPr>
          <a:xfrm>
            <a:off x="348791" y="286603"/>
            <a:ext cx="11481847" cy="1450757"/>
          </a:xfrm>
        </p:spPr>
        <p:txBody>
          <a:bodyPr/>
          <a:lstStyle/>
          <a:p>
            <a:r>
              <a:rPr lang="en-US" altLang="ar-SA" dirty="0"/>
              <a:t>Abstract Classes</a:t>
            </a:r>
            <a:endParaRPr lang="en-US" dirty="0"/>
          </a:p>
        </p:txBody>
      </p:sp>
      <p:sp>
        <p:nvSpPr>
          <p:cNvPr id="4" name="Footer Placeholder 3">
            <a:extLst>
              <a:ext uri="{FF2B5EF4-FFF2-40B4-BE49-F238E27FC236}">
                <a16:creationId xmlns:a16="http://schemas.microsoft.com/office/drawing/2014/main" id="{96F4A0F9-81E9-94B0-04BB-4FD7BFCD921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92486F1F-F80F-7736-09F3-516A0383BAE9}"/>
              </a:ext>
            </a:extLst>
          </p:cNvPr>
          <p:cNvSpPr>
            <a:spLocks noGrp="1"/>
          </p:cNvSpPr>
          <p:nvPr>
            <p:ph idx="1"/>
          </p:nvPr>
        </p:nvSpPr>
        <p:spPr/>
        <p:txBody>
          <a:bodyPr>
            <a:normAutofit/>
          </a:bodyPr>
          <a:lstStyle/>
          <a:p>
            <a:pPr eaLnBrk="1" hangingPunct="1"/>
            <a:r>
              <a:rPr lang="en-US" altLang="en-US" dirty="0">
                <a:cs typeface="Times New Roman" panose="02020603050405020304" pitchFamily="18" charset="0"/>
              </a:rPr>
              <a:t>A class that contains abstract methods must be abstract. </a:t>
            </a:r>
          </a:p>
          <a:p>
            <a:pPr eaLnBrk="1" hangingPunct="1"/>
            <a:r>
              <a:rPr lang="en-US" altLang="ar-SA" dirty="0"/>
              <a:t>An abstract class can have abstract and no abstract methods.</a:t>
            </a:r>
          </a:p>
          <a:p>
            <a:pPr eaLnBrk="1" hangingPunct="1"/>
            <a:r>
              <a:rPr lang="en-US" altLang="en-US" dirty="0"/>
              <a:t>It </a:t>
            </a:r>
            <a:r>
              <a:rPr lang="en-US" altLang="en-US" dirty="0">
                <a:cs typeface="Times New Roman" panose="02020603050405020304" pitchFamily="18" charset="0"/>
              </a:rPr>
              <a:t>is possible to define an abstract class that contains no abstract methods.</a:t>
            </a:r>
            <a:r>
              <a:rPr lang="en-US" altLang="ar-SA" dirty="0"/>
              <a:t> </a:t>
            </a:r>
          </a:p>
          <a:p>
            <a:pPr eaLnBrk="1" hangingPunct="1"/>
            <a:r>
              <a:rPr lang="en-US" altLang="ar-SA" dirty="0"/>
              <a:t>It can have constructors and static methods.</a:t>
            </a:r>
          </a:p>
          <a:p>
            <a:pPr eaLnBrk="1" hangingPunct="1"/>
            <a:r>
              <a:rPr lang="en-US" altLang="ar-SA" dirty="0"/>
              <a:t>It can have final method.</a:t>
            </a: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24766914"/>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C283-D1C3-FB79-FD54-4775F1D12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EDB98-2CB1-184C-6031-3319B0A664EA}"/>
              </a:ext>
            </a:extLst>
          </p:cNvPr>
          <p:cNvSpPr>
            <a:spLocks noGrp="1"/>
          </p:cNvSpPr>
          <p:nvPr>
            <p:ph type="title"/>
          </p:nvPr>
        </p:nvSpPr>
        <p:spPr>
          <a:xfrm>
            <a:off x="348791" y="286603"/>
            <a:ext cx="11481847" cy="1450757"/>
          </a:xfrm>
        </p:spPr>
        <p:txBody>
          <a:bodyPr/>
          <a:lstStyle/>
          <a:p>
            <a:r>
              <a:rPr lang="en-US" altLang="ar-SA" dirty="0"/>
              <a:t>Abstract Classes</a:t>
            </a:r>
            <a:endParaRPr lang="en-US" dirty="0"/>
          </a:p>
        </p:txBody>
      </p:sp>
      <p:sp>
        <p:nvSpPr>
          <p:cNvPr id="4" name="Footer Placeholder 3">
            <a:extLst>
              <a:ext uri="{FF2B5EF4-FFF2-40B4-BE49-F238E27FC236}">
                <a16:creationId xmlns:a16="http://schemas.microsoft.com/office/drawing/2014/main" id="{7C2C2597-AF14-2C47-2574-6F0A8271457B}"/>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83361994-0172-5BF3-B7DB-48C68A9E2709}"/>
              </a:ext>
            </a:extLst>
          </p:cNvPr>
          <p:cNvSpPr>
            <a:spLocks noGrp="1"/>
          </p:cNvSpPr>
          <p:nvPr>
            <p:ph idx="1"/>
          </p:nvPr>
        </p:nvSpPr>
        <p:spPr/>
        <p:txBody>
          <a:bodyPr>
            <a:normAutofit/>
          </a:bodyPr>
          <a:lstStyle/>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5" name="Picture 4">
            <a:extLst>
              <a:ext uri="{FF2B5EF4-FFF2-40B4-BE49-F238E27FC236}">
                <a16:creationId xmlns:a16="http://schemas.microsoft.com/office/drawing/2014/main" id="{92A94864-4A68-4658-9E89-F72D4FFDCCE0}"/>
              </a:ext>
            </a:extLst>
          </p:cNvPr>
          <p:cNvPicPr>
            <a:picLocks noChangeAspect="1"/>
          </p:cNvPicPr>
          <p:nvPr/>
        </p:nvPicPr>
        <p:blipFill>
          <a:blip r:embed="rId2"/>
          <a:stretch>
            <a:fillRect/>
          </a:stretch>
        </p:blipFill>
        <p:spPr>
          <a:xfrm>
            <a:off x="1381673" y="1792518"/>
            <a:ext cx="9416082" cy="4371921"/>
          </a:xfrm>
          <a:prstGeom prst="rect">
            <a:avLst/>
          </a:prstGeom>
        </p:spPr>
      </p:pic>
    </p:spTree>
    <p:extLst>
      <p:ext uri="{BB962C8B-B14F-4D97-AF65-F5344CB8AC3E}">
        <p14:creationId xmlns:p14="http://schemas.microsoft.com/office/powerpoint/2010/main" val="196359825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B29EE-1024-1C9A-8A2E-D0D7970F2A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AD20D-7E32-A5DA-A2DD-249900130056}"/>
              </a:ext>
            </a:extLst>
          </p:cNvPr>
          <p:cNvSpPr>
            <a:spLocks noGrp="1"/>
          </p:cNvSpPr>
          <p:nvPr>
            <p:ph type="title"/>
          </p:nvPr>
        </p:nvSpPr>
        <p:spPr>
          <a:xfrm>
            <a:off x="348791" y="286603"/>
            <a:ext cx="11481847" cy="1450757"/>
          </a:xfrm>
        </p:spPr>
        <p:txBody>
          <a:bodyPr/>
          <a:lstStyle/>
          <a:p>
            <a:r>
              <a:rPr lang="en-US" altLang="ar-SA" dirty="0"/>
              <a:t>Abstract Classes Features </a:t>
            </a:r>
            <a:endParaRPr lang="en-US" dirty="0"/>
          </a:p>
        </p:txBody>
      </p:sp>
      <p:sp>
        <p:nvSpPr>
          <p:cNvPr id="4" name="Footer Placeholder 3">
            <a:extLst>
              <a:ext uri="{FF2B5EF4-FFF2-40B4-BE49-F238E27FC236}">
                <a16:creationId xmlns:a16="http://schemas.microsoft.com/office/drawing/2014/main" id="{1BB469AE-5428-BD7C-B764-C1600185DE1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43B6E7DB-41C2-8772-D19F-C6C9C5977764}"/>
              </a:ext>
            </a:extLst>
          </p:cNvPr>
          <p:cNvSpPr>
            <a:spLocks noGrp="1"/>
          </p:cNvSpPr>
          <p:nvPr>
            <p:ph idx="1"/>
          </p:nvPr>
        </p:nvSpPr>
        <p:spPr/>
        <p:txBody>
          <a:bodyPr>
            <a:normAutofit/>
          </a:bodyPr>
          <a:lstStyle/>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pic>
        <p:nvPicPr>
          <p:cNvPr id="3" name="Picture 3" descr="I:\1-Java2_ Preparing Material\img\Untitled.png">
            <a:extLst>
              <a:ext uri="{FF2B5EF4-FFF2-40B4-BE49-F238E27FC236}">
                <a16:creationId xmlns:a16="http://schemas.microsoft.com/office/drawing/2014/main" id="{AC4A3E11-FA8B-C192-BB2F-9F9FCBA8EB81}"/>
              </a:ext>
            </a:extLst>
          </p:cNvPr>
          <p:cNvPicPr>
            <a:picLocks noChangeAspect="1" noChangeArrowheads="1"/>
          </p:cNvPicPr>
          <p:nvPr/>
        </p:nvPicPr>
        <p:blipFill>
          <a:blip r:embed="rId2"/>
          <a:srcRect/>
          <a:stretch>
            <a:fillRect/>
          </a:stretch>
        </p:blipFill>
        <p:spPr bwMode="auto">
          <a:xfrm>
            <a:off x="1950310" y="2057338"/>
            <a:ext cx="7920263" cy="3920130"/>
          </a:xfrm>
          <a:prstGeom prst="rect">
            <a:avLst/>
          </a:prstGeom>
          <a:ln>
            <a:solidFill>
              <a:srgbClr val="C00000"/>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5890651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D38EE-51D7-4549-9E45-4DC3D7C7F45B}"/>
              </a:ext>
            </a:extLst>
          </p:cNvPr>
          <p:cNvSpPr>
            <a:spLocks noGrp="1"/>
          </p:cNvSpPr>
          <p:nvPr>
            <p:ph type="title"/>
          </p:nvPr>
        </p:nvSpPr>
        <p:spPr/>
        <p:txBody>
          <a:bodyPr/>
          <a:lstStyle/>
          <a:p>
            <a:r>
              <a:rPr lang="en-US" dirty="0"/>
              <a:t>Abstract Classes Features </a:t>
            </a:r>
          </a:p>
        </p:txBody>
      </p:sp>
      <p:sp>
        <p:nvSpPr>
          <p:cNvPr id="3" name="Content Placeholder 2">
            <a:extLst>
              <a:ext uri="{FF2B5EF4-FFF2-40B4-BE49-F238E27FC236}">
                <a16:creationId xmlns:a16="http://schemas.microsoft.com/office/drawing/2014/main" id="{644582FD-73DB-48FC-8CCF-263BE639A36E}"/>
              </a:ext>
            </a:extLst>
          </p:cNvPr>
          <p:cNvSpPr>
            <a:spLocks noGrp="1"/>
          </p:cNvSpPr>
          <p:nvPr>
            <p:ph idx="1"/>
          </p:nvPr>
        </p:nvSpPr>
        <p:spPr>
          <a:xfrm>
            <a:off x="348791" y="1845734"/>
            <a:ext cx="11481847" cy="4439156"/>
          </a:xfrm>
        </p:spPr>
        <p:txBody>
          <a:bodyPr>
            <a:normAutofit/>
          </a:bodyPr>
          <a:lstStyle/>
          <a:p>
            <a:r>
              <a:rPr lang="en-US" b="1" dirty="0"/>
              <a:t>Loose Coupling</a:t>
            </a:r>
            <a:r>
              <a:rPr lang="en-US" dirty="0"/>
              <a:t>: Data abstraction in Java enables loose coupling, by reducing the dependencies at an exponential level.</a:t>
            </a:r>
          </a:p>
          <a:p>
            <a:r>
              <a:rPr lang="en-US" b="1" dirty="0"/>
              <a:t>Code Reusability</a:t>
            </a:r>
            <a:r>
              <a:rPr lang="en-US" dirty="0"/>
              <a:t>: Using an abstract class in the code saves time. We can call the abstract method wherever the method is necessary. Abstract class avoids the process of writing the same code again.</a:t>
            </a:r>
          </a:p>
          <a:p>
            <a:r>
              <a:rPr lang="en-US" b="1" dirty="0"/>
              <a:t>Abstraction</a:t>
            </a:r>
            <a:r>
              <a:rPr lang="en-US" dirty="0"/>
              <a:t>: Data abstraction in Java helps the developers hide the code complications from the end-user by reducing the project's complete characteristics to only the necessary components.</a:t>
            </a:r>
          </a:p>
          <a:p>
            <a:r>
              <a:rPr lang="en-US" b="1" dirty="0"/>
              <a:t>Dynamic Resolution</a:t>
            </a:r>
            <a:r>
              <a:rPr lang="en-US" dirty="0"/>
              <a:t>: Using the support of dynamic method resolution, developers can solve multiple problems with the help of one abstract method.</a:t>
            </a:r>
          </a:p>
          <a:p>
            <a:endParaRPr lang="en-US" dirty="0"/>
          </a:p>
        </p:txBody>
      </p:sp>
      <p:sp>
        <p:nvSpPr>
          <p:cNvPr id="4" name="Footer Placeholder 3">
            <a:extLst>
              <a:ext uri="{FF2B5EF4-FFF2-40B4-BE49-F238E27FC236}">
                <a16:creationId xmlns:a16="http://schemas.microsoft.com/office/drawing/2014/main" id="{7E2E8929-D37C-4D68-A467-48C6888BE700}"/>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76618194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95EF5-98FD-2258-5D54-16E4C084A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C658C8-04E4-70A9-81DC-DF50B9D4990A}"/>
              </a:ext>
            </a:extLst>
          </p:cNvPr>
          <p:cNvSpPr>
            <a:spLocks noGrp="1"/>
          </p:cNvSpPr>
          <p:nvPr>
            <p:ph type="title"/>
          </p:nvPr>
        </p:nvSpPr>
        <p:spPr>
          <a:xfrm>
            <a:off x="348791" y="286603"/>
            <a:ext cx="11481847" cy="1450757"/>
          </a:xfrm>
        </p:spPr>
        <p:txBody>
          <a:bodyPr/>
          <a:lstStyle/>
          <a:p>
            <a:r>
              <a:rPr lang="en-US" altLang="ar-SA" dirty="0"/>
              <a:t>Abstract Methods</a:t>
            </a:r>
            <a:endParaRPr lang="en-US" dirty="0"/>
          </a:p>
        </p:txBody>
      </p:sp>
      <p:sp>
        <p:nvSpPr>
          <p:cNvPr id="4" name="Footer Placeholder 3">
            <a:extLst>
              <a:ext uri="{FF2B5EF4-FFF2-40B4-BE49-F238E27FC236}">
                <a16:creationId xmlns:a16="http://schemas.microsoft.com/office/drawing/2014/main" id="{44AF2842-1FC1-26C7-9B8B-B93F12131AF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5EAADB54-9086-6D28-B451-184E63D848BE}"/>
              </a:ext>
            </a:extLst>
          </p:cNvPr>
          <p:cNvSpPr>
            <a:spLocks noGrp="1"/>
          </p:cNvSpPr>
          <p:nvPr>
            <p:ph idx="1"/>
          </p:nvPr>
        </p:nvSpPr>
        <p:spPr>
          <a:xfrm>
            <a:off x="348790" y="1737360"/>
            <a:ext cx="11481847" cy="4023360"/>
          </a:xfrm>
        </p:spPr>
        <p:txBody>
          <a:bodyPr>
            <a:normAutofit/>
          </a:bodyPr>
          <a:lstStyle/>
          <a:p>
            <a:pPr eaLnBrk="1" hangingPunct="1"/>
            <a:r>
              <a:rPr lang="en-US" altLang="ar-SA" dirty="0"/>
              <a:t>An abstract method has no body and must be overridden in a subclass.</a:t>
            </a:r>
          </a:p>
          <a:p>
            <a:pPr eaLnBrk="1" hangingPunct="1"/>
            <a:r>
              <a:rPr lang="en-US" altLang="en-US" dirty="0">
                <a:cs typeface="Times New Roman" panose="02020603050405020304" pitchFamily="18" charset="0"/>
              </a:rPr>
              <a:t>An abstract method cannot be contained in a no abstract (concrete) class. </a:t>
            </a:r>
          </a:p>
          <a:p>
            <a:pPr eaLnBrk="1" hangingPunct="1"/>
            <a:r>
              <a:rPr lang="en-US" altLang="ar-SA" dirty="0"/>
              <a:t>An abstract method is a method that appears in a super class, but expects to be overridden in a subclass.</a:t>
            </a:r>
          </a:p>
          <a:p>
            <a:pPr eaLnBrk="1" hangingPunct="1"/>
            <a:r>
              <a:rPr lang="en-US" altLang="ar-SA" dirty="0"/>
              <a:t>An abstract method has only a header and no body.</a:t>
            </a:r>
          </a:p>
          <a:p>
            <a:pPr marL="0" indent="0" algn="just" rtl="0">
              <a:lnSpc>
                <a:spcPct val="150000"/>
              </a:lnSpc>
              <a:buNone/>
            </a:pPr>
            <a:endParaRPr lang="en-US" sz="2000" dirty="0">
              <a:cs typeface="Times New Roman" pitchFamily="18" charset="0"/>
            </a:endParaRPr>
          </a:p>
          <a:p>
            <a:pPr algn="just" rtl="0">
              <a:lnSpc>
                <a:spcPct val="150000"/>
              </a:lnSpc>
            </a:pPr>
            <a:endParaRPr lang="en-US" sz="2000" dirty="0">
              <a:cs typeface="Times New Roman" pitchFamily="18" charset="0"/>
            </a:endParaRPr>
          </a:p>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1697275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AB1AB-E907-B977-E631-74862C2BF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78CDF-87BE-AD35-49FD-81EA5D798E0C}"/>
              </a:ext>
            </a:extLst>
          </p:cNvPr>
          <p:cNvSpPr>
            <a:spLocks noGrp="1"/>
          </p:cNvSpPr>
          <p:nvPr>
            <p:ph type="title"/>
          </p:nvPr>
        </p:nvSpPr>
        <p:spPr>
          <a:xfrm>
            <a:off x="348791" y="286603"/>
            <a:ext cx="11481847" cy="1450757"/>
          </a:xfrm>
        </p:spPr>
        <p:txBody>
          <a:bodyPr/>
          <a:lstStyle/>
          <a:p>
            <a:r>
              <a:rPr lang="en-US" altLang="ar-SA" dirty="0"/>
              <a:t>Abstract Methods</a:t>
            </a:r>
            <a:endParaRPr lang="en-US" dirty="0"/>
          </a:p>
        </p:txBody>
      </p:sp>
      <p:sp>
        <p:nvSpPr>
          <p:cNvPr id="4" name="Footer Placeholder 3">
            <a:extLst>
              <a:ext uri="{FF2B5EF4-FFF2-40B4-BE49-F238E27FC236}">
                <a16:creationId xmlns:a16="http://schemas.microsoft.com/office/drawing/2014/main" id="{389005B0-4A1B-2399-E9C0-5D9A4D348DE2}"/>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D69C666E-E929-7383-9DA6-F6CB49D26935}"/>
              </a:ext>
            </a:extLst>
          </p:cNvPr>
          <p:cNvSpPr>
            <a:spLocks noGrp="1"/>
          </p:cNvSpPr>
          <p:nvPr>
            <p:ph idx="1"/>
          </p:nvPr>
        </p:nvSpPr>
        <p:spPr>
          <a:xfrm>
            <a:off x="348790" y="1737359"/>
            <a:ext cx="11481847" cy="4496015"/>
          </a:xfrm>
        </p:spPr>
        <p:txBody>
          <a:bodyPr>
            <a:normAutofit/>
          </a:bodyPr>
          <a:lstStyle/>
          <a:p>
            <a:pPr eaLnBrk="1" hangingPunct="1"/>
            <a:r>
              <a:rPr lang="en-US" altLang="ar-SA" dirty="0"/>
              <a:t>Notice that the key word </a:t>
            </a:r>
            <a:r>
              <a:rPr lang="en-US" altLang="ar-SA" b="1" dirty="0">
                <a:solidFill>
                  <a:schemeClr val="bg2">
                    <a:lumMod val="75000"/>
                  </a:schemeClr>
                </a:solidFill>
                <a:latin typeface="Courier New" panose="02070309020205020404" pitchFamily="49" charset="0"/>
              </a:rPr>
              <a:t>abstract</a:t>
            </a:r>
            <a:r>
              <a:rPr lang="en-US" altLang="ar-SA" dirty="0"/>
              <a:t> appears in the header, and that the header ends with a semicolon.</a:t>
            </a:r>
            <a:br>
              <a:rPr lang="en-US" altLang="ar-SA" dirty="0"/>
            </a:br>
            <a:br>
              <a:rPr lang="en-US" altLang="ar-SA" dirty="0"/>
            </a:br>
            <a:r>
              <a:rPr lang="en-US" altLang="ar-SA" sz="2000" b="1" dirty="0">
                <a:solidFill>
                  <a:schemeClr val="bg2">
                    <a:lumMod val="75000"/>
                  </a:schemeClr>
                </a:solidFill>
                <a:latin typeface="Courier New" panose="02070309020205020404" pitchFamily="49" charset="0"/>
              </a:rPr>
              <a:t>public abstract void </a:t>
            </a:r>
            <a:r>
              <a:rPr lang="en-US" altLang="ar-SA" sz="2000" b="1" dirty="0" err="1">
                <a:solidFill>
                  <a:schemeClr val="bg2">
                    <a:lumMod val="75000"/>
                  </a:schemeClr>
                </a:solidFill>
                <a:latin typeface="Courier New" panose="02070309020205020404" pitchFamily="49" charset="0"/>
              </a:rPr>
              <a:t>setValue</a:t>
            </a:r>
            <a:r>
              <a:rPr lang="en-US" altLang="ar-SA" sz="2000" b="1" dirty="0">
                <a:solidFill>
                  <a:schemeClr val="bg2">
                    <a:lumMod val="75000"/>
                  </a:schemeClr>
                </a:solidFill>
                <a:latin typeface="Courier New" panose="02070309020205020404" pitchFamily="49" charset="0"/>
              </a:rPr>
              <a:t>(int value);</a:t>
            </a:r>
            <a:br>
              <a:rPr lang="en-US" altLang="ar-SA" sz="2400" b="1" dirty="0">
                <a:latin typeface="Courier New" panose="02070309020205020404" pitchFamily="49" charset="0"/>
              </a:rPr>
            </a:br>
            <a:endParaRPr lang="en-US" altLang="ar-SA" sz="600" b="1" dirty="0">
              <a:latin typeface="Courier New" panose="02070309020205020404" pitchFamily="49" charset="0"/>
            </a:endParaRPr>
          </a:p>
          <a:p>
            <a:pPr eaLnBrk="1" hangingPunct="1"/>
            <a:r>
              <a:rPr lang="en-US" altLang="ar-SA" dirty="0"/>
              <a:t>Any class that contains an abstract method is automatically abstract.</a:t>
            </a:r>
          </a:p>
          <a:p>
            <a:pPr eaLnBrk="1" hangingPunct="1"/>
            <a:r>
              <a:rPr lang="en-US" altLang="ar-SA" dirty="0"/>
              <a:t>If a subclass fails to override an abstract method, a compiler error will result.</a:t>
            </a:r>
          </a:p>
          <a:p>
            <a:pPr eaLnBrk="1" hangingPunct="1"/>
            <a:r>
              <a:rPr lang="en-US" altLang="ar-SA" dirty="0"/>
              <a:t>Abstract methods are used to ensure that a subclass implements the method.</a:t>
            </a:r>
          </a:p>
          <a:p>
            <a:r>
              <a:rPr lang="en-US" altLang="en-US" sz="2400" dirty="0">
                <a:cs typeface="Times New Roman" panose="02020603050405020304" pitchFamily="18" charset="0"/>
              </a:rPr>
              <a:t>A subclass can be abstract even if its superclass is concrete. For example, the Object class is concrete, but its subclasses, such as </a:t>
            </a:r>
            <a:r>
              <a:rPr lang="en-US" altLang="en-US" sz="2400" b="1" dirty="0">
                <a:latin typeface="Courier New" panose="02070309020205020404" pitchFamily="49" charset="0"/>
                <a:ea typeface="SimSun" panose="02010600030101010101" pitchFamily="2" charset="-122"/>
                <a:cs typeface="Courier New" panose="02070309020205020404" pitchFamily="49" charset="0"/>
              </a:rPr>
              <a:t>Vehicle</a:t>
            </a:r>
            <a:r>
              <a:rPr lang="en-US" altLang="en-US" sz="2400" dirty="0">
                <a:cs typeface="Times New Roman" panose="02020603050405020304" pitchFamily="18" charset="0"/>
              </a:rPr>
              <a:t> , may be abstract.</a:t>
            </a:r>
          </a:p>
          <a:p>
            <a:pPr eaLnBrk="1" hangingPunct="1"/>
            <a:endParaRPr lang="en-US" altLang="ar-SA" dirty="0"/>
          </a:p>
          <a:p>
            <a:pPr marL="0" indent="0" algn="just" rtl="0">
              <a:lnSpc>
                <a:spcPct val="150000"/>
              </a:lnSpc>
              <a:buNone/>
            </a:pPr>
            <a:endParaRPr lang="en-US" sz="2000" dirty="0">
              <a:cs typeface="Times New Roman" pitchFamily="18" charset="0"/>
            </a:endParaRPr>
          </a:p>
          <a:p>
            <a:pPr algn="just" rtl="0">
              <a:lnSpc>
                <a:spcPct val="150000"/>
              </a:lnSpc>
            </a:pPr>
            <a:endParaRPr lang="en-US" sz="2000" dirty="0">
              <a:cs typeface="Times New Roman" pitchFamily="18" charset="0"/>
            </a:endParaRPr>
          </a:p>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2325158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10E12-D376-74EF-258B-25D88DE37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FB7C5-9C27-20A4-4A28-4795553A6003}"/>
              </a:ext>
            </a:extLst>
          </p:cNvPr>
          <p:cNvSpPr>
            <a:spLocks noGrp="1"/>
          </p:cNvSpPr>
          <p:nvPr>
            <p:ph type="title"/>
          </p:nvPr>
        </p:nvSpPr>
        <p:spPr>
          <a:xfrm>
            <a:off x="348791" y="286603"/>
            <a:ext cx="11481847" cy="1450757"/>
          </a:xfrm>
        </p:spPr>
        <p:txBody>
          <a:bodyPr/>
          <a:lstStyle/>
          <a:p>
            <a:r>
              <a:rPr lang="en-US" altLang="ar-SA" dirty="0"/>
              <a:t>Abstract class and abstract methods </a:t>
            </a:r>
            <a:endParaRPr lang="en-US" dirty="0"/>
          </a:p>
        </p:txBody>
      </p:sp>
      <p:sp>
        <p:nvSpPr>
          <p:cNvPr id="4" name="Footer Placeholder 3">
            <a:extLst>
              <a:ext uri="{FF2B5EF4-FFF2-40B4-BE49-F238E27FC236}">
                <a16:creationId xmlns:a16="http://schemas.microsoft.com/office/drawing/2014/main" id="{68FBD804-53BC-07B4-A2FD-CD32AC92E3FF}"/>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B76E3446-F935-7C4A-1B10-F1E9B43A96F3}"/>
              </a:ext>
            </a:extLst>
          </p:cNvPr>
          <p:cNvSpPr>
            <a:spLocks noGrp="1"/>
          </p:cNvSpPr>
          <p:nvPr>
            <p:ph idx="1"/>
          </p:nvPr>
        </p:nvSpPr>
        <p:spPr>
          <a:xfrm>
            <a:off x="348790" y="1737360"/>
            <a:ext cx="11481847" cy="4023360"/>
          </a:xfrm>
        </p:spPr>
        <p:txBody>
          <a:bodyPr>
            <a:normAutofit/>
          </a:bodyPr>
          <a:lstStyle/>
          <a:p>
            <a:pPr eaLnBrk="1" hangingPunct="1"/>
            <a:endParaRPr lang="en-US" altLang="ar-SA" dirty="0"/>
          </a:p>
          <a:p>
            <a:pPr marL="0" indent="0" algn="just" rtl="0">
              <a:lnSpc>
                <a:spcPct val="150000"/>
              </a:lnSpc>
              <a:buNone/>
            </a:pPr>
            <a:endParaRPr lang="en-US" sz="2000" dirty="0">
              <a:cs typeface="Times New Roman" pitchFamily="18" charset="0"/>
            </a:endParaRPr>
          </a:p>
          <a:p>
            <a:pPr algn="just" rtl="0">
              <a:lnSpc>
                <a:spcPct val="150000"/>
              </a:lnSpc>
            </a:pPr>
            <a:endParaRPr lang="en-US" sz="2000" dirty="0">
              <a:cs typeface="Times New Roman" pitchFamily="18" charset="0"/>
            </a:endParaRPr>
          </a:p>
          <a:p>
            <a:pPr marL="342900" indent="-342900" algn="just">
              <a:lnSpc>
                <a:spcPct val="150000"/>
              </a:lnSpc>
            </a:pPr>
            <a:endParaRPr lang="en-US" sz="20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grpSp>
        <p:nvGrpSpPr>
          <p:cNvPr id="29" name="Group 30">
            <a:extLst>
              <a:ext uri="{FF2B5EF4-FFF2-40B4-BE49-F238E27FC236}">
                <a16:creationId xmlns:a16="http://schemas.microsoft.com/office/drawing/2014/main" id="{B1F26D30-67E6-D830-A425-6153FF580EEF}"/>
              </a:ext>
            </a:extLst>
          </p:cNvPr>
          <p:cNvGrpSpPr/>
          <p:nvPr/>
        </p:nvGrpSpPr>
        <p:grpSpPr>
          <a:xfrm>
            <a:off x="27663" y="2217511"/>
            <a:ext cx="7506318" cy="3811664"/>
            <a:chOff x="-26692" y="3000372"/>
            <a:chExt cx="4878092" cy="2928958"/>
          </a:xfrm>
        </p:grpSpPr>
        <p:grpSp>
          <p:nvGrpSpPr>
            <p:cNvPr id="30" name="Group 32">
              <a:extLst>
                <a:ext uri="{FF2B5EF4-FFF2-40B4-BE49-F238E27FC236}">
                  <a16:creationId xmlns:a16="http://schemas.microsoft.com/office/drawing/2014/main" id="{77A55616-BC5B-0E6B-A8DC-C25F302A4F35}"/>
                </a:ext>
              </a:extLst>
            </p:cNvPr>
            <p:cNvGrpSpPr/>
            <p:nvPr/>
          </p:nvGrpSpPr>
          <p:grpSpPr>
            <a:xfrm>
              <a:off x="-26692" y="3000372"/>
              <a:ext cx="4878092" cy="2928958"/>
              <a:chOff x="259060" y="2714620"/>
              <a:chExt cx="4878092" cy="2928958"/>
            </a:xfrm>
          </p:grpSpPr>
          <p:grpSp>
            <p:nvGrpSpPr>
              <p:cNvPr id="32" name="Group 20">
                <a:extLst>
                  <a:ext uri="{FF2B5EF4-FFF2-40B4-BE49-F238E27FC236}">
                    <a16:creationId xmlns:a16="http://schemas.microsoft.com/office/drawing/2014/main" id="{2BDB7FE8-CA4F-284D-5BBE-94005F7D8D69}"/>
                  </a:ext>
                </a:extLst>
              </p:cNvPr>
              <p:cNvGrpSpPr/>
              <p:nvPr/>
            </p:nvGrpSpPr>
            <p:grpSpPr>
              <a:xfrm>
                <a:off x="259060" y="2714620"/>
                <a:ext cx="4878092" cy="2928958"/>
                <a:chOff x="-312444" y="2626866"/>
                <a:chExt cx="4878092" cy="2928958"/>
              </a:xfrm>
            </p:grpSpPr>
            <p:sp>
              <p:nvSpPr>
                <p:cNvPr id="37" name="Rectangle 9">
                  <a:extLst>
                    <a:ext uri="{FF2B5EF4-FFF2-40B4-BE49-F238E27FC236}">
                      <a16:creationId xmlns:a16="http://schemas.microsoft.com/office/drawing/2014/main" id="{7B6FB1BD-DDD7-F499-D12F-0394321B4EC0}"/>
                    </a:ext>
                  </a:extLst>
                </p:cNvPr>
                <p:cNvSpPr>
                  <a:spLocks noChangeArrowheads="1"/>
                </p:cNvSpPr>
                <p:nvPr/>
              </p:nvSpPr>
              <p:spPr bwMode="auto">
                <a:xfrm>
                  <a:off x="858812" y="2626866"/>
                  <a:ext cx="3284528" cy="2857520"/>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spcBef>
                      <a:spcPct val="0"/>
                    </a:spcBef>
                    <a:spcAft>
                      <a:spcPts val="200"/>
                    </a:spcAft>
                    <a:buClrTx/>
                    <a:buSzTx/>
                    <a:buFontTx/>
                    <a:buNone/>
                    <a:tabLst/>
                  </a:pPr>
                  <a:r>
                    <a:rPr kumimoji="0" lang="en-US" sz="2000" b="1" i="0" u="none" strike="noStrike" cap="none" normalizeH="0" baseline="0" dirty="0">
                      <a:ln>
                        <a:noFill/>
                      </a:ln>
                      <a:solidFill>
                        <a:srgbClr val="C00000"/>
                      </a:solidFill>
                      <a:effectLst/>
                      <a:latin typeface="Times New Roman" pitchFamily="18" charset="0"/>
                      <a:ea typeface="Arial" pitchFamily="34" charset="0"/>
                      <a:cs typeface="Times New Roman" pitchFamily="18" charset="0"/>
                    </a:rPr>
                    <a:t>Class Name</a:t>
                  </a:r>
                </a:p>
                <a:p>
                  <a:pPr marL="0" marR="0" lvl="0" indent="0" algn="l" defTabSz="914400" rtl="0" eaLnBrk="1" fontAlgn="base" latinLnBrk="0" hangingPunct="1">
                    <a:spcBef>
                      <a:spcPct val="0"/>
                    </a:spcBef>
                    <a:spcAft>
                      <a:spcPts val="200"/>
                    </a:spcAft>
                    <a:buClrTx/>
                    <a:buSzTx/>
                    <a:buFontTx/>
                    <a:buNone/>
                    <a:tabLst/>
                  </a:pPr>
                  <a:endParaRPr lang="en-US" sz="2000" b="1" dirty="0">
                    <a:latin typeface="Times New Roman" pitchFamily="18" charset="0"/>
                    <a:cs typeface="Times New Roman" pitchFamily="18" charset="0"/>
                  </a:endParaRPr>
                </a:p>
                <a:p>
                  <a:pPr marL="0" marR="0" lvl="0" indent="0" algn="l" defTabSz="914400" rtl="0" eaLnBrk="1" fontAlgn="base" latinLnBrk="0" hangingPunct="1">
                    <a:spcBef>
                      <a:spcPct val="0"/>
                    </a:spcBef>
                    <a:spcAft>
                      <a:spcPts val="200"/>
                    </a:spcAft>
                    <a:buClrTx/>
                    <a:buSzTx/>
                    <a:buFontTx/>
                    <a:buNone/>
                    <a:tabLst/>
                  </a:pPr>
                  <a:r>
                    <a:rPr lang="en-US" sz="2000" b="1" dirty="0">
                      <a:latin typeface="Times New Roman" pitchFamily="18" charset="0"/>
                      <a:cs typeface="Times New Roman" pitchFamily="18" charset="0"/>
                    </a:rPr>
                    <a:t>List of Attributes …..</a:t>
                  </a:r>
                </a:p>
                <a:p>
                  <a:pPr marL="0" marR="0" lvl="0" indent="0" algn="l" defTabSz="914400" rtl="0" eaLnBrk="1" fontAlgn="base" latinLnBrk="0" hangingPunct="1">
                    <a:spcBef>
                      <a:spcPct val="0"/>
                    </a:spcBef>
                    <a:spcAft>
                      <a:spcPts val="200"/>
                    </a:spcAft>
                    <a:buClrTx/>
                    <a:buSzTx/>
                    <a:buFontTx/>
                    <a:buNone/>
                    <a:tabLst/>
                  </a:pPr>
                  <a:endParaRPr lang="en-US" sz="2000" b="1" dirty="0">
                    <a:latin typeface="Times New Roman" pitchFamily="18" charset="0"/>
                    <a:cs typeface="Times New Roman" pitchFamily="18" charset="0"/>
                  </a:endParaRPr>
                </a:p>
                <a:p>
                  <a:pPr marL="0" marR="0" lvl="0" indent="0" algn="l" defTabSz="914400" rtl="0" eaLnBrk="1" fontAlgn="base" latinLnBrk="0" hangingPunct="1">
                    <a:spcBef>
                      <a:spcPct val="0"/>
                    </a:spcBef>
                    <a:spcAft>
                      <a:spcPts val="200"/>
                    </a:spcAft>
                    <a:buClrTx/>
                    <a:buSzTx/>
                    <a:buFontTx/>
                    <a:buNone/>
                    <a:tabLst/>
                  </a:pPr>
                  <a:endParaRPr lang="en-US" sz="2000" dirty="0"/>
                </a:p>
                <a:p>
                  <a:pPr marL="0" marR="0" lvl="0" indent="0" algn="l" defTabSz="914400" rtl="0" eaLnBrk="1" fontAlgn="base" latinLnBrk="0" hangingPunct="1">
                    <a:spcBef>
                      <a:spcPct val="0"/>
                    </a:spcBef>
                    <a:spcAft>
                      <a:spcPts val="200"/>
                    </a:spcAft>
                    <a:buClrTx/>
                    <a:buSzTx/>
                    <a:buFontTx/>
                    <a:buNone/>
                    <a:tabLst/>
                  </a:pPr>
                  <a:endPar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38" name="AutoShape 11">
                  <a:extLst>
                    <a:ext uri="{FF2B5EF4-FFF2-40B4-BE49-F238E27FC236}">
                      <a16:creationId xmlns:a16="http://schemas.microsoft.com/office/drawing/2014/main" id="{919C7275-8505-6066-4230-04E4F839DD17}"/>
                    </a:ext>
                  </a:extLst>
                </p:cNvPr>
                <p:cNvCxnSpPr>
                  <a:cxnSpLocks noChangeShapeType="1"/>
                </p:cNvCxnSpPr>
                <p:nvPr/>
              </p:nvCxnSpPr>
              <p:spPr bwMode="auto">
                <a:xfrm>
                  <a:off x="858812" y="3769874"/>
                  <a:ext cx="3257423" cy="1588"/>
                </a:xfrm>
                <a:prstGeom prst="straightConnector1">
                  <a:avLst/>
                </a:prstGeom>
                <a:noFill/>
                <a:ln w="9525">
                  <a:solidFill>
                    <a:srgbClr val="000000"/>
                  </a:solidFill>
                  <a:round/>
                  <a:headEnd/>
                  <a:tailEnd/>
                </a:ln>
              </p:spPr>
            </p:cxnSp>
            <p:sp>
              <p:nvSpPr>
                <p:cNvPr id="39" name="Rectangle 38">
                  <a:extLst>
                    <a:ext uri="{FF2B5EF4-FFF2-40B4-BE49-F238E27FC236}">
                      <a16:creationId xmlns:a16="http://schemas.microsoft.com/office/drawing/2014/main" id="{06ABC730-3D91-8273-D9F4-046A88D631D1}"/>
                    </a:ext>
                  </a:extLst>
                </p:cNvPr>
                <p:cNvSpPr/>
                <p:nvPr/>
              </p:nvSpPr>
              <p:spPr>
                <a:xfrm>
                  <a:off x="785754" y="3841312"/>
                  <a:ext cx="3779894" cy="324019"/>
                </a:xfrm>
                <a:prstGeom prst="rect">
                  <a:avLst/>
                </a:prstGeom>
              </p:spPr>
              <p:txBody>
                <a:bodyPr wrap="squar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1</a:t>
                  </a:r>
                  <a:r>
                    <a:rPr lang="en-US" sz="2000" b="1" dirty="0">
                      <a:solidFill>
                        <a:srgbClr val="006600"/>
                      </a:solidFill>
                      <a:latin typeface="Times New Roman" pitchFamily="18" charset="0"/>
                      <a:cs typeface="Times New Roman" pitchFamily="18" charset="0"/>
                    </a:rPr>
                    <a:t> name (): return data type or void</a:t>
                  </a:r>
                </a:p>
              </p:txBody>
            </p:sp>
            <p:sp>
              <p:nvSpPr>
                <p:cNvPr id="40" name="Left Brace 39">
                  <a:extLst>
                    <a:ext uri="{FF2B5EF4-FFF2-40B4-BE49-F238E27FC236}">
                      <a16:creationId xmlns:a16="http://schemas.microsoft.com/office/drawing/2014/main" id="{56DAD7D3-1BFF-23FC-C319-82AF3B34910E}"/>
                    </a:ext>
                  </a:extLst>
                </p:cNvPr>
                <p:cNvSpPr/>
                <p:nvPr/>
              </p:nvSpPr>
              <p:spPr>
                <a:xfrm>
                  <a:off x="500002" y="2626866"/>
                  <a:ext cx="357190" cy="2928958"/>
                </a:xfrm>
                <a:prstGeom prst="leftBrace">
                  <a:avLst/>
                </a:prstGeom>
                <a:ln w="19050">
                  <a:solidFill>
                    <a:srgbClr val="8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C00000"/>
                    </a:solidFill>
                  </a:endParaRPr>
                </a:p>
              </p:txBody>
            </p:sp>
            <p:sp>
              <p:nvSpPr>
                <p:cNvPr id="41" name="Rectangle 40">
                  <a:extLst>
                    <a:ext uri="{FF2B5EF4-FFF2-40B4-BE49-F238E27FC236}">
                      <a16:creationId xmlns:a16="http://schemas.microsoft.com/office/drawing/2014/main" id="{942B74A0-71E2-150B-A528-62CC3EA10466}"/>
                    </a:ext>
                  </a:extLst>
                </p:cNvPr>
                <p:cNvSpPr/>
                <p:nvPr/>
              </p:nvSpPr>
              <p:spPr>
                <a:xfrm>
                  <a:off x="-312444" y="3769874"/>
                  <a:ext cx="884767" cy="642496"/>
                </a:xfrm>
                <a:prstGeom prst="rect">
                  <a:avLst/>
                </a:prstGeom>
              </p:spPr>
              <p:txBody>
                <a:bodyPr wrap="none">
                  <a:spAutoFit/>
                </a:bodyPr>
                <a:lstStyle/>
                <a:p>
                  <a:pPr lvl="0" algn="ctr" rtl="0" fontAlgn="base">
                    <a:spcBef>
                      <a:spcPct val="0"/>
                    </a:spcBef>
                    <a:spcAft>
                      <a:spcPts val="1000"/>
                    </a:spcAft>
                  </a:pPr>
                  <a:r>
                    <a:rPr lang="en-US" sz="2000" b="1" dirty="0">
                      <a:solidFill>
                        <a:srgbClr val="0070C0"/>
                      </a:solidFill>
                      <a:latin typeface="+mj-lt"/>
                      <a:cs typeface="Times New Roman" pitchFamily="18" charset="0"/>
                    </a:rPr>
                    <a:t>A class</a:t>
                  </a:r>
                </a:p>
                <a:p>
                  <a:pPr lvl="0" algn="ctr" rtl="0" fontAlgn="base">
                    <a:spcBef>
                      <a:spcPct val="0"/>
                    </a:spcBef>
                    <a:spcAft>
                      <a:spcPts val="1000"/>
                    </a:spcAft>
                  </a:pPr>
                  <a:r>
                    <a:rPr lang="en-US" sz="2000" b="1" dirty="0">
                      <a:solidFill>
                        <a:srgbClr val="0070C0"/>
                      </a:solidFill>
                      <a:latin typeface="+mj-lt"/>
                      <a:cs typeface="Times New Roman" pitchFamily="18" charset="0"/>
                    </a:rPr>
                    <a:t> Template</a:t>
                  </a:r>
                </a:p>
              </p:txBody>
            </p:sp>
          </p:grpSp>
          <p:sp>
            <p:nvSpPr>
              <p:cNvPr id="33" name="Rectangle 32">
                <a:extLst>
                  <a:ext uri="{FF2B5EF4-FFF2-40B4-BE49-F238E27FC236}">
                    <a16:creationId xmlns:a16="http://schemas.microsoft.com/office/drawing/2014/main" id="{C662951D-4689-8E47-35D0-FF5EC0CEEF8E}"/>
                  </a:ext>
                </a:extLst>
              </p:cNvPr>
              <p:cNvSpPr/>
              <p:nvPr/>
            </p:nvSpPr>
            <p:spPr>
              <a:xfrm>
                <a:off x="1358878" y="4208182"/>
                <a:ext cx="3267518" cy="324019"/>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2</a:t>
                </a:r>
                <a:r>
                  <a:rPr lang="en-US" sz="2000" b="1" dirty="0">
                    <a:solidFill>
                      <a:srgbClr val="006600"/>
                    </a:solidFill>
                    <a:latin typeface="Times New Roman" pitchFamily="18" charset="0"/>
                    <a:cs typeface="Times New Roman" pitchFamily="18" charset="0"/>
                  </a:rPr>
                  <a:t> name (): return data type or void</a:t>
                </a:r>
              </a:p>
            </p:txBody>
          </p:sp>
          <p:sp>
            <p:nvSpPr>
              <p:cNvPr id="34" name="Rectangle 33">
                <a:extLst>
                  <a:ext uri="{FF2B5EF4-FFF2-40B4-BE49-F238E27FC236}">
                    <a16:creationId xmlns:a16="http://schemas.microsoft.com/office/drawing/2014/main" id="{24E28A70-DEF7-9D4A-4ACF-2413A031CAA1}"/>
                  </a:ext>
                </a:extLst>
              </p:cNvPr>
              <p:cNvSpPr/>
              <p:nvPr/>
            </p:nvSpPr>
            <p:spPr>
              <a:xfrm>
                <a:off x="1358878" y="4493934"/>
                <a:ext cx="3267518" cy="324019"/>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Method</a:t>
                </a:r>
                <a:r>
                  <a:rPr lang="en-US" sz="2000" b="1" baseline="-25000" dirty="0">
                    <a:solidFill>
                      <a:srgbClr val="006600"/>
                    </a:solidFill>
                    <a:latin typeface="Times New Roman" pitchFamily="18" charset="0"/>
                    <a:cs typeface="Times New Roman" pitchFamily="18" charset="0"/>
                  </a:rPr>
                  <a:t>3</a:t>
                </a:r>
                <a:r>
                  <a:rPr lang="en-US" sz="2000" b="1" dirty="0">
                    <a:solidFill>
                      <a:srgbClr val="006600"/>
                    </a:solidFill>
                    <a:latin typeface="Times New Roman" pitchFamily="18" charset="0"/>
                    <a:cs typeface="Times New Roman" pitchFamily="18" charset="0"/>
                  </a:rPr>
                  <a:t> name (): return data type or void</a:t>
                </a:r>
              </a:p>
            </p:txBody>
          </p:sp>
          <p:sp>
            <p:nvSpPr>
              <p:cNvPr id="35" name="Rectangle 34">
                <a:extLst>
                  <a:ext uri="{FF2B5EF4-FFF2-40B4-BE49-F238E27FC236}">
                    <a16:creationId xmlns:a16="http://schemas.microsoft.com/office/drawing/2014/main" id="{1239B30D-ECC0-C504-A4BF-79ED7056DC68}"/>
                  </a:ext>
                </a:extLst>
              </p:cNvPr>
              <p:cNvSpPr/>
              <p:nvPr/>
            </p:nvSpPr>
            <p:spPr>
              <a:xfrm>
                <a:off x="1463248" y="5279752"/>
                <a:ext cx="3463103" cy="307452"/>
              </a:xfrm>
              <a:prstGeom prst="rect">
                <a:avLst/>
              </a:prstGeom>
            </p:spPr>
            <p:txBody>
              <a:bodyPr wrap="none">
                <a:spAutoFit/>
              </a:bodyPr>
              <a:lstStyle/>
              <a:p>
                <a:pPr algn="l" rtl="0"/>
                <a:r>
                  <a:rPr lang="en-US" sz="2000" b="1" dirty="0" err="1">
                    <a:solidFill>
                      <a:schemeClr val="bg2">
                        <a:lumMod val="75000"/>
                      </a:schemeClr>
                    </a:solidFill>
                    <a:latin typeface="Times New Roman" pitchFamily="18" charset="0"/>
                    <a:cs typeface="Times New Roman" pitchFamily="18" charset="0"/>
                  </a:rPr>
                  <a:t>Method</a:t>
                </a:r>
                <a:r>
                  <a:rPr lang="en-US" sz="2000" b="1" baseline="-25000" dirty="0" err="1">
                    <a:solidFill>
                      <a:schemeClr val="bg2">
                        <a:lumMod val="75000"/>
                      </a:schemeClr>
                    </a:solidFill>
                    <a:latin typeface="Times New Roman" pitchFamily="18" charset="0"/>
                    <a:cs typeface="Times New Roman" pitchFamily="18" charset="0"/>
                  </a:rPr>
                  <a:t>n</a:t>
                </a:r>
                <a:r>
                  <a:rPr lang="en-US" sz="2000" b="1" dirty="0">
                    <a:solidFill>
                      <a:schemeClr val="bg2">
                        <a:lumMod val="75000"/>
                      </a:schemeClr>
                    </a:solidFill>
                    <a:latin typeface="Times New Roman" pitchFamily="18" charset="0"/>
                    <a:cs typeface="Times New Roman" pitchFamily="18" charset="0"/>
                  </a:rPr>
                  <a:t> name (): return data type or void   </a:t>
                </a:r>
                <a:r>
                  <a:rPr lang="en-US" sz="2000" b="1" dirty="0">
                    <a:solidFill>
                      <a:srgbClr val="000099"/>
                    </a:solidFill>
                    <a:latin typeface="Times New Roman" pitchFamily="18" charset="0"/>
                    <a:cs typeface="Times New Roman" pitchFamily="18" charset="0"/>
                  </a:rPr>
                  <a:t>;</a:t>
                </a:r>
              </a:p>
            </p:txBody>
          </p:sp>
          <p:sp>
            <p:nvSpPr>
              <p:cNvPr id="36" name="Rectangle 35">
                <a:extLst>
                  <a:ext uri="{FF2B5EF4-FFF2-40B4-BE49-F238E27FC236}">
                    <a16:creationId xmlns:a16="http://schemas.microsoft.com/office/drawing/2014/main" id="{77E64601-82F1-32F4-C5E0-AE1473A4BF19}"/>
                  </a:ext>
                </a:extLst>
              </p:cNvPr>
              <p:cNvSpPr/>
              <p:nvPr/>
            </p:nvSpPr>
            <p:spPr>
              <a:xfrm>
                <a:off x="2573324" y="4714884"/>
                <a:ext cx="169580" cy="822508"/>
              </a:xfrm>
              <a:prstGeom prst="rect">
                <a:avLst/>
              </a:prstGeom>
            </p:spPr>
            <p:txBody>
              <a:bodyPr wrap="none">
                <a:spAutoFit/>
              </a:bodyPr>
              <a:lstStyle/>
              <a:p>
                <a:r>
                  <a:rPr lang="en-US" sz="2000" b="1" dirty="0">
                    <a:solidFill>
                      <a:srgbClr val="006600"/>
                    </a:solidFill>
                    <a:latin typeface="Times New Roman" pitchFamily="18" charset="0"/>
                    <a:cs typeface="Times New Roman" pitchFamily="18" charset="0"/>
                  </a:rPr>
                  <a:t>.</a:t>
                </a:r>
              </a:p>
              <a:p>
                <a:r>
                  <a:rPr lang="en-GB" sz="2000" b="1" dirty="0">
                    <a:solidFill>
                      <a:srgbClr val="006600"/>
                    </a:solidFill>
                    <a:latin typeface="Times New Roman" pitchFamily="18" charset="0"/>
                    <a:cs typeface="Times New Roman" pitchFamily="18" charset="0"/>
                  </a:rPr>
                  <a:t>.</a:t>
                </a:r>
              </a:p>
              <a:p>
                <a:r>
                  <a:rPr lang="en-GB" sz="2000" b="1" dirty="0">
                    <a:solidFill>
                      <a:srgbClr val="006600"/>
                    </a:solidFill>
                    <a:latin typeface="Times New Roman" pitchFamily="18" charset="0"/>
                    <a:cs typeface="Times New Roman" pitchFamily="18" charset="0"/>
                  </a:rPr>
                  <a:t>.</a:t>
                </a:r>
                <a:endParaRPr lang="en-US" sz="2000" b="1" dirty="0">
                  <a:solidFill>
                    <a:srgbClr val="006600"/>
                  </a:solidFill>
                  <a:latin typeface="Times New Roman" pitchFamily="18" charset="0"/>
                  <a:cs typeface="Times New Roman" pitchFamily="18" charset="0"/>
                </a:endParaRPr>
              </a:p>
            </p:txBody>
          </p:sp>
        </p:grpSp>
        <p:cxnSp>
          <p:nvCxnSpPr>
            <p:cNvPr id="31" name="AutoShape 11">
              <a:extLst>
                <a:ext uri="{FF2B5EF4-FFF2-40B4-BE49-F238E27FC236}">
                  <a16:creationId xmlns:a16="http://schemas.microsoft.com/office/drawing/2014/main" id="{19D5432D-881C-4514-6DEB-CB3EF03A5925}"/>
                </a:ext>
              </a:extLst>
            </p:cNvPr>
            <p:cNvCxnSpPr>
              <a:cxnSpLocks noChangeShapeType="1"/>
            </p:cNvCxnSpPr>
            <p:nvPr/>
          </p:nvCxnSpPr>
          <p:spPr bwMode="auto">
            <a:xfrm>
              <a:off x="1144564" y="3355974"/>
              <a:ext cx="3254096" cy="1588"/>
            </a:xfrm>
            <a:prstGeom prst="straightConnector1">
              <a:avLst/>
            </a:prstGeom>
            <a:noFill/>
            <a:ln w="9525">
              <a:solidFill>
                <a:srgbClr val="000000"/>
              </a:solidFill>
              <a:round/>
              <a:headEnd/>
              <a:tailEnd/>
            </a:ln>
          </p:spPr>
        </p:cxnSp>
      </p:grpSp>
      <p:sp>
        <p:nvSpPr>
          <p:cNvPr id="42" name="Oval 41">
            <a:extLst>
              <a:ext uri="{FF2B5EF4-FFF2-40B4-BE49-F238E27FC236}">
                <a16:creationId xmlns:a16="http://schemas.microsoft.com/office/drawing/2014/main" id="{5F56D2D8-E52B-EFDD-DCCB-8143EDD07030}"/>
              </a:ext>
            </a:extLst>
          </p:cNvPr>
          <p:cNvSpPr/>
          <p:nvPr/>
        </p:nvSpPr>
        <p:spPr>
          <a:xfrm>
            <a:off x="6609161" y="5592164"/>
            <a:ext cx="366895" cy="333841"/>
          </a:xfrm>
          <a:prstGeom prst="ellipse">
            <a:avLst/>
          </a:prstGeom>
          <a:solidFill>
            <a:schemeClr val="lt1">
              <a:alpha val="0"/>
            </a:schemeClr>
          </a:solidFill>
          <a:ln>
            <a:solidFill>
              <a:srgbClr val="C00000"/>
            </a:solidFill>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80FA1379-152A-4E6D-A475-A6EF0A0983A9}"/>
              </a:ext>
            </a:extLst>
          </p:cNvPr>
          <p:cNvSpPr txBox="1"/>
          <p:nvPr/>
        </p:nvSpPr>
        <p:spPr>
          <a:xfrm>
            <a:off x="7340501" y="2390601"/>
            <a:ext cx="4683617" cy="3170099"/>
          </a:xfrm>
          <a:prstGeom prst="rect">
            <a:avLst/>
          </a:prstGeom>
          <a:noFill/>
        </p:spPr>
        <p:txBody>
          <a:bodyPr wrap="square" rtlCol="0">
            <a:spAutoFit/>
          </a:bodyPr>
          <a:lstStyle/>
          <a:p>
            <a:pPr marL="285750" indent="-285750">
              <a:buFont typeface="Wingdings" panose="05000000000000000000" pitchFamily="2" charset="2"/>
              <a:buChar char="§"/>
            </a:pPr>
            <a:r>
              <a:rPr lang="en-US" sz="2000" dirty="0"/>
              <a:t>The special thing about the abstract class is that it </a:t>
            </a:r>
            <a:r>
              <a:rPr lang="en-US" sz="2000" b="1" dirty="0"/>
              <a:t>could</a:t>
            </a:r>
            <a:r>
              <a:rPr lang="en-US" sz="2000" dirty="0"/>
              <a:t> have </a:t>
            </a:r>
            <a:r>
              <a:rPr lang="en-US" sz="2000" dirty="0">
                <a:solidFill>
                  <a:srgbClr val="FF0000"/>
                </a:solidFill>
              </a:rPr>
              <a:t>abstract methods</a:t>
            </a:r>
            <a:r>
              <a:rPr lang="en-US" sz="2000" dirty="0"/>
              <a:t>; You can distinguish this by having a semicolon at the end of the method definition.</a:t>
            </a:r>
          </a:p>
          <a:p>
            <a:pPr marL="285750" indent="-285750">
              <a:buFont typeface="Wingdings" panose="05000000000000000000" pitchFamily="2" charset="2"/>
              <a:buChar char="§"/>
            </a:pPr>
            <a:endParaRPr lang="en-US" sz="2000" dirty="0"/>
          </a:p>
          <a:p>
            <a:r>
              <a:rPr lang="en-US" sz="2000" b="1" dirty="0"/>
              <a:t>Note</a:t>
            </a:r>
            <a:r>
              <a:rPr lang="en-US" sz="2000" dirty="0"/>
              <a:t>: an abstract method cannot be written in a non-abstract class. While an abstract class can have a non-abstract method.</a:t>
            </a:r>
          </a:p>
        </p:txBody>
      </p:sp>
      <p:cxnSp>
        <p:nvCxnSpPr>
          <p:cNvPr id="12" name="Connector: Elbow 11">
            <a:extLst>
              <a:ext uri="{FF2B5EF4-FFF2-40B4-BE49-F238E27FC236}">
                <a16:creationId xmlns:a16="http://schemas.microsoft.com/office/drawing/2014/main" id="{5B85D3ED-3E75-4CDF-A3A8-32BD8C6AF364}"/>
              </a:ext>
            </a:extLst>
          </p:cNvPr>
          <p:cNvCxnSpPr>
            <a:cxnSpLocks/>
            <a:stCxn id="42" idx="7"/>
          </p:cNvCxnSpPr>
          <p:nvPr/>
        </p:nvCxnSpPr>
        <p:spPr>
          <a:xfrm rot="5400000" flipH="1" flipV="1">
            <a:off x="5848509" y="3967272"/>
            <a:ext cx="2747598" cy="599967"/>
          </a:xfrm>
          <a:prstGeom prst="bentConnector3">
            <a:avLst>
              <a:gd name="adj1" fmla="val 100154"/>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746993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8F68-7088-DE60-70DF-1F84B2312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7730A-46D3-C1E5-BB23-63E867B2910F}"/>
              </a:ext>
            </a:extLst>
          </p:cNvPr>
          <p:cNvSpPr>
            <a:spLocks noGrp="1"/>
          </p:cNvSpPr>
          <p:nvPr>
            <p:ph type="title"/>
          </p:nvPr>
        </p:nvSpPr>
        <p:spPr>
          <a:xfrm>
            <a:off x="348791" y="286603"/>
            <a:ext cx="11481847" cy="1450757"/>
          </a:xfrm>
        </p:spPr>
        <p:txBody>
          <a:bodyPr/>
          <a:lstStyle/>
          <a:p>
            <a:r>
              <a:rPr lang="en-US" altLang="ar-SA" dirty="0"/>
              <a:t>Abstract Class and Abstract Methods Example</a:t>
            </a:r>
            <a:endParaRPr lang="en-US" sz="2400" dirty="0"/>
          </a:p>
        </p:txBody>
      </p:sp>
      <p:sp>
        <p:nvSpPr>
          <p:cNvPr id="4" name="Footer Placeholder 3">
            <a:extLst>
              <a:ext uri="{FF2B5EF4-FFF2-40B4-BE49-F238E27FC236}">
                <a16:creationId xmlns:a16="http://schemas.microsoft.com/office/drawing/2014/main" id="{BDD3E2E0-B079-C0CD-92AC-E773062743BF}"/>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36D4FE5D-CBEC-0B9F-8EFD-E8616F6AE235}"/>
              </a:ext>
            </a:extLst>
          </p:cNvPr>
          <p:cNvSpPr>
            <a:spLocks noGrp="1"/>
          </p:cNvSpPr>
          <p:nvPr>
            <p:ph idx="1"/>
          </p:nvPr>
        </p:nvSpPr>
        <p:spPr>
          <a:xfrm>
            <a:off x="94445" y="1803042"/>
            <a:ext cx="11985938" cy="4529071"/>
          </a:xfrm>
        </p:spPr>
        <p:txBody>
          <a:bodyPr>
            <a:noAutofit/>
          </a:bodyPr>
          <a:lstStyle/>
          <a:p>
            <a:pPr marL="285750" indent="-285750" algn="just">
              <a:lnSpc>
                <a:spcPct val="150000"/>
              </a:lnSpc>
            </a:pPr>
            <a:r>
              <a:rPr lang="en-US" b="1" dirty="0">
                <a:solidFill>
                  <a:schemeClr val="bg2">
                    <a:lumMod val="75000"/>
                  </a:schemeClr>
                </a:solidFill>
                <a:cs typeface="Times New Roman" pitchFamily="18" charset="0"/>
              </a:rPr>
              <a:t>Example</a:t>
            </a:r>
            <a:r>
              <a:rPr lang="en-US" b="1" dirty="0">
                <a:cs typeface="Times New Roman" pitchFamily="18" charset="0"/>
              </a:rPr>
              <a:t>: </a:t>
            </a:r>
            <a:r>
              <a:rPr lang="en-US" dirty="0">
                <a:cs typeface="Times New Roman" pitchFamily="18" charset="0"/>
              </a:rPr>
              <a:t>A company has two types of employees. One type gets a monthly salary (</a:t>
            </a:r>
            <a:r>
              <a:rPr lang="en-US" b="1" dirty="0">
                <a:solidFill>
                  <a:schemeClr val="bg2">
                    <a:lumMod val="75000"/>
                  </a:schemeClr>
                </a:solidFill>
                <a:cs typeface="Times New Roman" pitchFamily="18" charset="0"/>
              </a:rPr>
              <a:t>SEmp</a:t>
            </a:r>
            <a:r>
              <a:rPr lang="en-US" dirty="0">
                <a:cs typeface="Times New Roman" pitchFamily="18" charset="0"/>
              </a:rPr>
              <a:t>), and the other gets an hourly-based salary (</a:t>
            </a:r>
            <a:r>
              <a:rPr lang="en-US" b="1" dirty="0" err="1">
                <a:solidFill>
                  <a:schemeClr val="bg2">
                    <a:lumMod val="75000"/>
                  </a:schemeClr>
                </a:solidFill>
                <a:cs typeface="Times New Roman" pitchFamily="18" charset="0"/>
              </a:rPr>
              <a:t>HEmp</a:t>
            </a:r>
            <a:r>
              <a:rPr lang="en-US" dirty="0">
                <a:cs typeface="Times New Roman" pitchFamily="18" charset="0"/>
              </a:rPr>
              <a:t>). The company keeps the following information for each employee (Name, job, and start year) Also, keep tracking the (salary for a salary-based employee, the number of hours worked, and the hourly rate for an hourly employee). They would like to have an automated way to calculate their salary and how many years they have been in service. Moreover, they would like to store all employees in one place and calculate the total amount of money that the company will pay them based on their reports.</a:t>
            </a:r>
            <a:endParaRPr lang="en-US"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6125661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D4379-55F9-F0EF-B62A-70C57D3429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17DD6-6D39-77DA-6C93-10E1291432D9}"/>
              </a:ext>
            </a:extLst>
          </p:cNvPr>
          <p:cNvSpPr>
            <a:spLocks noGrp="1"/>
          </p:cNvSpPr>
          <p:nvPr>
            <p:ph type="title"/>
          </p:nvPr>
        </p:nvSpPr>
        <p:spPr>
          <a:xfrm>
            <a:off x="348791" y="286603"/>
            <a:ext cx="11481847" cy="1450757"/>
          </a:xfrm>
        </p:spPr>
        <p:txBody>
          <a:bodyPr/>
          <a:lstStyle/>
          <a:p>
            <a:r>
              <a:rPr lang="en-US" altLang="ar-SA" dirty="0"/>
              <a:t>Abstract Class and Abstract Methods Example (Design Phase)</a:t>
            </a:r>
            <a:endParaRPr lang="en-US" sz="2400" dirty="0"/>
          </a:p>
        </p:txBody>
      </p:sp>
      <p:sp>
        <p:nvSpPr>
          <p:cNvPr id="4" name="Footer Placeholder 3">
            <a:extLst>
              <a:ext uri="{FF2B5EF4-FFF2-40B4-BE49-F238E27FC236}">
                <a16:creationId xmlns:a16="http://schemas.microsoft.com/office/drawing/2014/main" id="{DED32B3C-2DA8-4B38-209D-3669A7458B4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5">
            <a:extLst>
              <a:ext uri="{FF2B5EF4-FFF2-40B4-BE49-F238E27FC236}">
                <a16:creationId xmlns:a16="http://schemas.microsoft.com/office/drawing/2014/main" id="{D8362FD4-D5DA-6DE6-79E2-427728F96A15}"/>
              </a:ext>
            </a:extLst>
          </p:cNvPr>
          <p:cNvSpPr>
            <a:spLocks noGrp="1"/>
          </p:cNvSpPr>
          <p:nvPr>
            <p:ph idx="1"/>
          </p:nvPr>
        </p:nvSpPr>
        <p:spPr>
          <a:xfrm>
            <a:off x="348791" y="2346592"/>
            <a:ext cx="11481847" cy="3522501"/>
          </a:xfrm>
        </p:spPr>
        <p:txBody>
          <a:bodyPr>
            <a:normAutofit/>
          </a:bodyPr>
          <a:lstStyle/>
          <a:p>
            <a:pPr marL="285750" indent="-28575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342900" indent="-342900" algn="just">
              <a:lnSpc>
                <a:spcPct val="150000"/>
              </a:lnSpc>
            </a:pPr>
            <a:endParaRPr lang="en-US" sz="1800" dirty="0">
              <a:latin typeface="Times New Roman" pitchFamily="18" charset="0"/>
              <a:cs typeface="Times New Roman" pitchFamily="18" charset="0"/>
            </a:endParaRPr>
          </a:p>
          <a:p>
            <a:pPr marL="0" marR="0" indent="0">
              <a:lnSpc>
                <a:spcPct val="115000"/>
              </a:lnSpc>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p:txBody>
      </p:sp>
      <p:grpSp>
        <p:nvGrpSpPr>
          <p:cNvPr id="8" name="Group 30">
            <a:extLst>
              <a:ext uri="{FF2B5EF4-FFF2-40B4-BE49-F238E27FC236}">
                <a16:creationId xmlns:a16="http://schemas.microsoft.com/office/drawing/2014/main" id="{BB677AD1-02BB-035A-0421-1164457797BC}"/>
              </a:ext>
            </a:extLst>
          </p:cNvPr>
          <p:cNvGrpSpPr/>
          <p:nvPr/>
        </p:nvGrpSpPr>
        <p:grpSpPr>
          <a:xfrm>
            <a:off x="2357667" y="1991451"/>
            <a:ext cx="7605502" cy="4132239"/>
            <a:chOff x="171557" y="1178702"/>
            <a:chExt cx="3343088" cy="3592722"/>
          </a:xfrm>
        </p:grpSpPr>
        <p:grpSp>
          <p:nvGrpSpPr>
            <p:cNvPr id="9" name="Group 12">
              <a:extLst>
                <a:ext uri="{FF2B5EF4-FFF2-40B4-BE49-F238E27FC236}">
                  <a16:creationId xmlns:a16="http://schemas.microsoft.com/office/drawing/2014/main" id="{B3BB1C77-7B24-F38E-7EC0-E31937CE8745}"/>
                </a:ext>
              </a:extLst>
            </p:cNvPr>
            <p:cNvGrpSpPr/>
            <p:nvPr/>
          </p:nvGrpSpPr>
          <p:grpSpPr>
            <a:xfrm>
              <a:off x="171557" y="1178702"/>
              <a:ext cx="3343088" cy="3592722"/>
              <a:chOff x="385864" y="678636"/>
              <a:chExt cx="3343088" cy="3592722"/>
            </a:xfrm>
          </p:grpSpPr>
          <p:grpSp>
            <p:nvGrpSpPr>
              <p:cNvPr id="12" name="Group 56">
                <a:extLst>
                  <a:ext uri="{FF2B5EF4-FFF2-40B4-BE49-F238E27FC236}">
                    <a16:creationId xmlns:a16="http://schemas.microsoft.com/office/drawing/2014/main" id="{897A5FC8-7271-7529-2FC2-B4F836EBB29A}"/>
                  </a:ext>
                </a:extLst>
              </p:cNvPr>
              <p:cNvGrpSpPr/>
              <p:nvPr/>
            </p:nvGrpSpPr>
            <p:grpSpPr>
              <a:xfrm>
                <a:off x="425478" y="678636"/>
                <a:ext cx="3003507" cy="1955773"/>
                <a:chOff x="2331236" y="884274"/>
                <a:chExt cx="2288388" cy="1390541"/>
              </a:xfrm>
            </p:grpSpPr>
            <p:sp>
              <p:nvSpPr>
                <p:cNvPr id="23" name="Rectangle 9">
                  <a:extLst>
                    <a:ext uri="{FF2B5EF4-FFF2-40B4-BE49-F238E27FC236}">
                      <a16:creationId xmlns:a16="http://schemas.microsoft.com/office/drawing/2014/main" id="{94728D6A-5C9A-1B90-EA62-EFD4282EABEB}"/>
                    </a:ext>
                  </a:extLst>
                </p:cNvPr>
                <p:cNvSpPr>
                  <a:spLocks noChangeArrowheads="1"/>
                </p:cNvSpPr>
                <p:nvPr/>
              </p:nvSpPr>
              <p:spPr bwMode="auto">
                <a:xfrm>
                  <a:off x="2331236" y="884274"/>
                  <a:ext cx="2206272" cy="1365393"/>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2000" b="1" dirty="0">
                      <a:solidFill>
                        <a:srgbClr val="C00000"/>
                      </a:solidFill>
                      <a:latin typeface="Times New Roman" pitchFamily="18" charset="0"/>
                      <a:ea typeface="Arial" pitchFamily="34" charset="0"/>
                      <a:cs typeface="Times New Roman" pitchFamily="18" charset="0"/>
                    </a:rPr>
                    <a:t>Emp</a:t>
                  </a:r>
                </a:p>
                <a:p>
                  <a:pPr lvl="0" algn="l" rtl="0"/>
                  <a:r>
                    <a:rPr lang="en-US" sz="2000" dirty="0"/>
                    <a:t>+ name: String </a:t>
                  </a:r>
                </a:p>
                <a:p>
                  <a:pPr lvl="0" algn="l" rtl="0"/>
                  <a:r>
                    <a:rPr lang="en-US" sz="2000" dirty="0"/>
                    <a:t>+ job: String</a:t>
                  </a:r>
                </a:p>
                <a:p>
                  <a:pPr lvl="0" algn="l" rtl="0"/>
                  <a:r>
                    <a:rPr lang="en-GB" sz="2000" dirty="0"/>
                    <a:t>+ </a:t>
                  </a:r>
                  <a:r>
                    <a:rPr lang="en-US" sz="2000" dirty="0" err="1"/>
                    <a:t>startYear</a:t>
                  </a:r>
                  <a:r>
                    <a:rPr lang="en-US" sz="2000" dirty="0"/>
                    <a:t>: </a:t>
                  </a:r>
                  <a:r>
                    <a:rPr lang="en-US" sz="2000" dirty="0" err="1"/>
                    <a:t>int</a:t>
                  </a:r>
                  <a:endParaRPr lang="en-US" sz="2000" dirty="0"/>
                </a:p>
                <a:p>
                  <a:pPr lvl="0" algn="l" rtl="0"/>
                  <a:endParaRPr lang="en-US" sz="2000" dirty="0"/>
                </a:p>
                <a:p>
                  <a:pPr marL="0" marR="0" lvl="0" indent="0" algn="l" defTabSz="914400" rtl="0" eaLnBrk="1" fontAlgn="base" latinLnBrk="0" hangingPunct="1">
                    <a:spcBef>
                      <a:spcPct val="0"/>
                    </a:spcBef>
                    <a:spcAft>
                      <a:spcPts val="200"/>
                    </a:spcAft>
                    <a:buClrTx/>
                    <a:buSzTx/>
                    <a:buFontTx/>
                    <a:buNone/>
                    <a:tabLst/>
                  </a:pPr>
                  <a:endParaRPr lang="en-US" sz="2000" dirty="0"/>
                </a:p>
                <a:p>
                  <a:pPr marL="0" marR="0" lvl="0" indent="0" algn="l" defTabSz="914400" rtl="0" eaLnBrk="1" fontAlgn="base" latinLnBrk="0" hangingPunct="1">
                    <a:spcBef>
                      <a:spcPct val="0"/>
                    </a:spcBef>
                    <a:spcAft>
                      <a:spcPts val="200"/>
                    </a:spcAft>
                    <a:buClrTx/>
                    <a:buSzTx/>
                    <a:buFontTx/>
                    <a:buNone/>
                    <a:tabLst/>
                  </a:pPr>
                  <a:endPar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24" name="AutoShape 11">
                  <a:extLst>
                    <a:ext uri="{FF2B5EF4-FFF2-40B4-BE49-F238E27FC236}">
                      <a16:creationId xmlns:a16="http://schemas.microsoft.com/office/drawing/2014/main" id="{757E10C5-1662-8BBE-EA1C-5A2BF541A854}"/>
                    </a:ext>
                  </a:extLst>
                </p:cNvPr>
                <p:cNvCxnSpPr>
                  <a:cxnSpLocks noChangeShapeType="1"/>
                </p:cNvCxnSpPr>
                <p:nvPr/>
              </p:nvCxnSpPr>
              <p:spPr bwMode="auto">
                <a:xfrm>
                  <a:off x="2331236" y="1127801"/>
                  <a:ext cx="2206272" cy="1588"/>
                </a:xfrm>
                <a:prstGeom prst="straightConnector1">
                  <a:avLst/>
                </a:prstGeom>
                <a:noFill/>
                <a:ln w="9525">
                  <a:solidFill>
                    <a:srgbClr val="000000"/>
                  </a:solidFill>
                  <a:round/>
                  <a:headEnd/>
                  <a:tailEnd/>
                </a:ln>
              </p:spPr>
            </p:cxnSp>
            <p:cxnSp>
              <p:nvCxnSpPr>
                <p:cNvPr id="25" name="AutoShape 11">
                  <a:extLst>
                    <a:ext uri="{FF2B5EF4-FFF2-40B4-BE49-F238E27FC236}">
                      <a16:creationId xmlns:a16="http://schemas.microsoft.com/office/drawing/2014/main" id="{CC2362C0-167D-BBC8-C89E-408B3FDF405E}"/>
                    </a:ext>
                  </a:extLst>
                </p:cNvPr>
                <p:cNvCxnSpPr>
                  <a:cxnSpLocks noChangeShapeType="1"/>
                </p:cNvCxnSpPr>
                <p:nvPr/>
              </p:nvCxnSpPr>
              <p:spPr bwMode="auto">
                <a:xfrm>
                  <a:off x="2331236" y="1690870"/>
                  <a:ext cx="2214578" cy="1588"/>
                </a:xfrm>
                <a:prstGeom prst="straightConnector1">
                  <a:avLst/>
                </a:prstGeom>
                <a:noFill/>
                <a:ln w="9525">
                  <a:solidFill>
                    <a:srgbClr val="000000"/>
                  </a:solidFill>
                  <a:round/>
                  <a:headEnd/>
                  <a:tailEnd/>
                </a:ln>
              </p:spPr>
            </p:cxnSp>
            <p:sp>
              <p:nvSpPr>
                <p:cNvPr id="26" name="Rectangle 25">
                  <a:extLst>
                    <a:ext uri="{FF2B5EF4-FFF2-40B4-BE49-F238E27FC236}">
                      <a16:creationId xmlns:a16="http://schemas.microsoft.com/office/drawing/2014/main" id="{0AF36D49-1970-CE10-F4CB-0743FF5A2282}"/>
                    </a:ext>
                  </a:extLst>
                </p:cNvPr>
                <p:cNvSpPr/>
                <p:nvPr/>
              </p:nvSpPr>
              <p:spPr>
                <a:xfrm>
                  <a:off x="2333607" y="1646969"/>
                  <a:ext cx="2286017" cy="627846"/>
                </a:xfrm>
                <a:prstGeom prst="rect">
                  <a:avLst/>
                </a:prstGeom>
              </p:spPr>
              <p:txBody>
                <a:bodyPr wrap="square">
                  <a:spAutoFit/>
                </a:bodyPr>
                <a:lstStyle/>
                <a:p>
                  <a:pPr algn="l" rtl="0"/>
                  <a:r>
                    <a:rPr lang="en-US" sz="2000" dirty="0">
                      <a:latin typeface="+mj-lt"/>
                      <a:cs typeface="Times New Roman" pitchFamily="18" charset="0"/>
                    </a:rPr>
                    <a:t>+ </a:t>
                  </a:r>
                  <a:r>
                    <a:rPr lang="en-US" sz="2000" dirty="0" err="1">
                      <a:latin typeface="+mj-lt"/>
                      <a:cs typeface="Times New Roman" pitchFamily="18" charset="0"/>
                    </a:rPr>
                    <a:t>calYearServices</a:t>
                  </a:r>
                  <a:r>
                    <a:rPr lang="en-US" sz="2000" dirty="0">
                      <a:latin typeface="+mj-lt"/>
                      <a:cs typeface="Times New Roman" pitchFamily="18" charset="0"/>
                    </a:rPr>
                    <a:t> (</a:t>
                  </a:r>
                  <a:r>
                    <a:rPr lang="en-US" sz="2000" dirty="0" err="1">
                      <a:latin typeface="+mj-lt"/>
                      <a:cs typeface="Times New Roman" pitchFamily="18" charset="0"/>
                    </a:rPr>
                    <a:t>int</a:t>
                  </a:r>
                  <a:r>
                    <a:rPr lang="en-US" sz="2000" dirty="0">
                      <a:latin typeface="+mj-lt"/>
                      <a:cs typeface="Times New Roman" pitchFamily="18" charset="0"/>
                    </a:rPr>
                    <a:t> </a:t>
                  </a:r>
                  <a:r>
                    <a:rPr lang="en-US" sz="2000" dirty="0" err="1">
                      <a:latin typeface="+mj-lt"/>
                      <a:cs typeface="Times New Roman" pitchFamily="18" charset="0"/>
                    </a:rPr>
                    <a:t>currentYear</a:t>
                  </a:r>
                  <a:r>
                    <a:rPr lang="en-US" sz="2000" dirty="0">
                      <a:latin typeface="+mj-lt"/>
                      <a:cs typeface="Times New Roman" pitchFamily="18" charset="0"/>
                    </a:rPr>
                    <a:t>): </a:t>
                  </a:r>
                  <a:r>
                    <a:rPr lang="en-US" sz="2000" dirty="0" err="1">
                      <a:latin typeface="+mj-lt"/>
                      <a:cs typeface="Times New Roman" pitchFamily="18" charset="0"/>
                    </a:rPr>
                    <a:t>int</a:t>
                  </a:r>
                  <a:endParaRPr lang="en-US" sz="2000" dirty="0">
                    <a:latin typeface="+mj-lt"/>
                    <a:cs typeface="Times New Roman" pitchFamily="18" charset="0"/>
                  </a:endParaRPr>
                </a:p>
                <a:p>
                  <a:pPr algn="l" rtl="0"/>
                  <a:r>
                    <a:rPr lang="en-US" sz="2000" dirty="0">
                      <a:latin typeface="+mj-lt"/>
                      <a:cs typeface="Times New Roman" pitchFamily="18" charset="0"/>
                    </a:rPr>
                    <a:t>+ </a:t>
                  </a:r>
                  <a:r>
                    <a:rPr lang="en-US" sz="2000" dirty="0" err="1">
                      <a:latin typeface="+mj-lt"/>
                      <a:cs typeface="Times New Roman" pitchFamily="18" charset="0"/>
                    </a:rPr>
                    <a:t>toString</a:t>
                  </a:r>
                  <a:r>
                    <a:rPr lang="en-US" sz="2000" dirty="0">
                      <a:latin typeface="+mj-lt"/>
                      <a:cs typeface="Times New Roman" pitchFamily="18" charset="0"/>
                    </a:rPr>
                    <a:t>(): String</a:t>
                  </a:r>
                </a:p>
                <a:p>
                  <a:pPr algn="l" rtl="0"/>
                  <a:r>
                    <a:rPr lang="en-US" sz="2000" dirty="0">
                      <a:solidFill>
                        <a:srgbClr val="000000"/>
                      </a:solidFill>
                      <a:latin typeface="+mj-lt"/>
                      <a:cs typeface="Times New Roman" pitchFamily="18" charset="0"/>
                    </a:rPr>
                    <a:t>+ </a:t>
                  </a:r>
                  <a:r>
                    <a:rPr lang="en-US" sz="2000" dirty="0" err="1">
                      <a:solidFill>
                        <a:srgbClr val="000000"/>
                      </a:solidFill>
                      <a:latin typeface="+mj-lt"/>
                      <a:cs typeface="Times New Roman" pitchFamily="18" charset="0"/>
                    </a:rPr>
                    <a:t>Wsal</a:t>
                  </a:r>
                  <a:r>
                    <a:rPr lang="en-US" sz="2000" dirty="0">
                      <a:solidFill>
                        <a:srgbClr val="000000"/>
                      </a:solidFill>
                      <a:latin typeface="+mj-lt"/>
                      <a:cs typeface="Times New Roman" pitchFamily="18" charset="0"/>
                    </a:rPr>
                    <a:t>(): double;</a:t>
                  </a:r>
                </a:p>
              </p:txBody>
            </p:sp>
          </p:grpSp>
          <p:grpSp>
            <p:nvGrpSpPr>
              <p:cNvPr id="13" name="Group 56">
                <a:extLst>
                  <a:ext uri="{FF2B5EF4-FFF2-40B4-BE49-F238E27FC236}">
                    <a16:creationId xmlns:a16="http://schemas.microsoft.com/office/drawing/2014/main" id="{339202B2-7630-7F01-45CD-86AD6A0C259E}"/>
                  </a:ext>
                </a:extLst>
              </p:cNvPr>
              <p:cNvGrpSpPr/>
              <p:nvPr/>
            </p:nvGrpSpPr>
            <p:grpSpPr>
              <a:xfrm>
                <a:off x="385864" y="3023878"/>
                <a:ext cx="1571636" cy="1247480"/>
                <a:chOff x="3770637" y="875589"/>
                <a:chExt cx="1197438" cy="886948"/>
              </a:xfrm>
            </p:grpSpPr>
            <p:sp>
              <p:nvSpPr>
                <p:cNvPr id="19" name="Rectangle 9">
                  <a:extLst>
                    <a:ext uri="{FF2B5EF4-FFF2-40B4-BE49-F238E27FC236}">
                      <a16:creationId xmlns:a16="http://schemas.microsoft.com/office/drawing/2014/main" id="{6C53F9FF-92BC-68C2-E096-A11BDBF4CC78}"/>
                    </a:ext>
                  </a:extLst>
                </p:cNvPr>
                <p:cNvSpPr>
                  <a:spLocks noChangeArrowheads="1"/>
                </p:cNvSpPr>
                <p:nvPr/>
              </p:nvSpPr>
              <p:spPr bwMode="auto">
                <a:xfrm>
                  <a:off x="3800819" y="875589"/>
                  <a:ext cx="1080274" cy="886948"/>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2000" b="1" dirty="0" err="1">
                      <a:solidFill>
                        <a:srgbClr val="C00000"/>
                      </a:solidFill>
                      <a:latin typeface="+mj-lt"/>
                      <a:ea typeface="Arial" pitchFamily="34" charset="0"/>
                      <a:cs typeface="Times New Roman" pitchFamily="18" charset="0"/>
                    </a:rPr>
                    <a:t>HEmp</a:t>
                  </a:r>
                  <a:endParaRPr lang="en-US" sz="2000" b="1" dirty="0">
                    <a:solidFill>
                      <a:srgbClr val="C00000"/>
                    </a:solidFill>
                    <a:latin typeface="+mj-lt"/>
                    <a:ea typeface="Arial" pitchFamily="34" charset="0"/>
                    <a:cs typeface="Times New Roman" pitchFamily="18" charset="0"/>
                  </a:endParaRPr>
                </a:p>
                <a:p>
                  <a:pPr lvl="0" algn="l" rtl="0">
                    <a:buFontTx/>
                    <a:buChar char="-"/>
                  </a:pPr>
                  <a:r>
                    <a:rPr lang="en-US" sz="2000" dirty="0"/>
                    <a:t> hours : </a:t>
                  </a:r>
                  <a:r>
                    <a:rPr lang="en-US" sz="2000" dirty="0" err="1"/>
                    <a:t>int</a:t>
                  </a:r>
                  <a:endParaRPr lang="en-US" sz="2000" dirty="0"/>
                </a:p>
                <a:p>
                  <a:pPr lvl="0" algn="l" rtl="0">
                    <a:buFontTx/>
                    <a:buChar char="-"/>
                  </a:pPr>
                  <a:r>
                    <a:rPr lang="en-US" sz="2000" dirty="0"/>
                    <a:t> rate: double </a:t>
                  </a:r>
                </a:p>
                <a:p>
                  <a:pPr lvl="0" algn="l" rtl="0"/>
                  <a:endParaRPr lang="en-US" sz="2000" dirty="0"/>
                </a:p>
                <a:p>
                  <a:pPr marL="0" marR="0" lvl="0" indent="0" algn="l" defTabSz="914400" rtl="0" eaLnBrk="1" fontAlgn="base" latinLnBrk="0" hangingPunct="1">
                    <a:spcBef>
                      <a:spcPct val="0"/>
                    </a:spcBef>
                    <a:spcAft>
                      <a:spcPts val="200"/>
                    </a:spcAft>
                    <a:buClrTx/>
                    <a:buSzTx/>
                    <a:buFontTx/>
                    <a:buNone/>
                    <a:tabLst/>
                  </a:pPr>
                  <a:endParaRPr lang="en-US" sz="2000" dirty="0"/>
                </a:p>
                <a:p>
                  <a:pPr marL="0" marR="0" lvl="0" indent="0" algn="l" defTabSz="914400" rtl="0" eaLnBrk="1" fontAlgn="base" latinLnBrk="0" hangingPunct="1">
                    <a:spcBef>
                      <a:spcPct val="0"/>
                    </a:spcBef>
                    <a:spcAft>
                      <a:spcPts val="200"/>
                    </a:spcAft>
                    <a:buClrTx/>
                    <a:buSzTx/>
                    <a:buFontTx/>
                    <a:buNone/>
                    <a:tabLst/>
                  </a:pPr>
                  <a:endPar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cxnSp>
              <p:nvCxnSpPr>
                <p:cNvPr id="20" name="AutoShape 11">
                  <a:extLst>
                    <a:ext uri="{FF2B5EF4-FFF2-40B4-BE49-F238E27FC236}">
                      <a16:creationId xmlns:a16="http://schemas.microsoft.com/office/drawing/2014/main" id="{2C7DC519-0AB4-F2CB-8020-E05215E4CF46}"/>
                    </a:ext>
                  </a:extLst>
                </p:cNvPr>
                <p:cNvCxnSpPr>
                  <a:cxnSpLocks noChangeShapeType="1"/>
                </p:cNvCxnSpPr>
                <p:nvPr/>
              </p:nvCxnSpPr>
              <p:spPr bwMode="auto">
                <a:xfrm>
                  <a:off x="3803191" y="1122225"/>
                  <a:ext cx="1080272" cy="8592"/>
                </a:xfrm>
                <a:prstGeom prst="straightConnector1">
                  <a:avLst/>
                </a:prstGeom>
                <a:noFill/>
                <a:ln w="9525">
                  <a:solidFill>
                    <a:srgbClr val="000000"/>
                  </a:solidFill>
                  <a:round/>
                  <a:headEnd/>
                  <a:tailEnd/>
                </a:ln>
              </p:spPr>
            </p:cxnSp>
            <p:cxnSp>
              <p:nvCxnSpPr>
                <p:cNvPr id="21" name="AutoShape 11">
                  <a:extLst>
                    <a:ext uri="{FF2B5EF4-FFF2-40B4-BE49-F238E27FC236}">
                      <a16:creationId xmlns:a16="http://schemas.microsoft.com/office/drawing/2014/main" id="{580ED955-3E38-B2E2-CF27-3771684D5DDF}"/>
                    </a:ext>
                  </a:extLst>
                </p:cNvPr>
                <p:cNvCxnSpPr>
                  <a:cxnSpLocks noChangeShapeType="1"/>
                </p:cNvCxnSpPr>
                <p:nvPr/>
              </p:nvCxnSpPr>
              <p:spPr bwMode="auto">
                <a:xfrm flipV="1">
                  <a:off x="3802088" y="1507421"/>
                  <a:ext cx="1088580" cy="1"/>
                </a:xfrm>
                <a:prstGeom prst="straightConnector1">
                  <a:avLst/>
                </a:prstGeom>
                <a:noFill/>
                <a:ln w="9525">
                  <a:solidFill>
                    <a:srgbClr val="000000"/>
                  </a:solidFill>
                  <a:round/>
                  <a:headEnd/>
                  <a:tailEnd/>
                </a:ln>
              </p:spPr>
            </p:cxnSp>
            <p:sp>
              <p:nvSpPr>
                <p:cNvPr id="22" name="Rectangle 21">
                  <a:extLst>
                    <a:ext uri="{FF2B5EF4-FFF2-40B4-BE49-F238E27FC236}">
                      <a16:creationId xmlns:a16="http://schemas.microsoft.com/office/drawing/2014/main" id="{6E8CA793-4B35-BC21-103A-F90002FE49C1}"/>
                    </a:ext>
                  </a:extLst>
                </p:cNvPr>
                <p:cNvSpPr/>
                <p:nvPr/>
              </p:nvSpPr>
              <p:spPr>
                <a:xfrm>
                  <a:off x="3770637" y="1476999"/>
                  <a:ext cx="1197438" cy="247333"/>
                </a:xfrm>
                <a:prstGeom prst="rect">
                  <a:avLst/>
                </a:prstGeom>
              </p:spPr>
              <p:txBody>
                <a:bodyPr wrap="square">
                  <a:spAutoFit/>
                </a:bodyPr>
                <a:lstStyle/>
                <a:p>
                  <a:pPr algn="l" rtl="0"/>
                  <a:r>
                    <a:rPr lang="en-US" sz="2000" dirty="0">
                      <a:latin typeface="+mj-lt"/>
                      <a:cs typeface="Times New Roman" pitchFamily="18" charset="0"/>
                    </a:rPr>
                    <a:t> + </a:t>
                  </a:r>
                  <a:r>
                    <a:rPr lang="en-US" sz="2000" dirty="0" err="1">
                      <a:latin typeface="+mj-lt"/>
                      <a:cs typeface="Times New Roman" pitchFamily="18" charset="0"/>
                    </a:rPr>
                    <a:t>toString</a:t>
                  </a:r>
                  <a:r>
                    <a:rPr lang="en-US" sz="2000" dirty="0">
                      <a:latin typeface="+mj-lt"/>
                      <a:cs typeface="Times New Roman" pitchFamily="18" charset="0"/>
                    </a:rPr>
                    <a:t>(): String</a:t>
                  </a:r>
                </a:p>
              </p:txBody>
            </p:sp>
          </p:grpSp>
          <p:grpSp>
            <p:nvGrpSpPr>
              <p:cNvPr id="14" name="Group 56">
                <a:extLst>
                  <a:ext uri="{FF2B5EF4-FFF2-40B4-BE49-F238E27FC236}">
                    <a16:creationId xmlns:a16="http://schemas.microsoft.com/office/drawing/2014/main" id="{E369FF4D-094B-A692-9768-2DF966AEB1FE}"/>
                  </a:ext>
                </a:extLst>
              </p:cNvPr>
              <p:cNvGrpSpPr/>
              <p:nvPr/>
            </p:nvGrpSpPr>
            <p:grpSpPr>
              <a:xfrm>
                <a:off x="1943003" y="3022149"/>
                <a:ext cx="1785949" cy="1071570"/>
                <a:chOff x="2616582" y="830354"/>
                <a:chExt cx="1360724" cy="860476"/>
              </a:xfrm>
            </p:grpSpPr>
            <p:sp>
              <p:nvSpPr>
                <p:cNvPr id="17" name="Rectangle 9">
                  <a:extLst>
                    <a:ext uri="{FF2B5EF4-FFF2-40B4-BE49-F238E27FC236}">
                      <a16:creationId xmlns:a16="http://schemas.microsoft.com/office/drawing/2014/main" id="{CD5637F7-13DF-EA35-A576-7ABFC0C5A83E}"/>
                    </a:ext>
                  </a:extLst>
                </p:cNvPr>
                <p:cNvSpPr>
                  <a:spLocks noChangeArrowheads="1"/>
                </p:cNvSpPr>
                <p:nvPr/>
              </p:nvSpPr>
              <p:spPr bwMode="auto">
                <a:xfrm>
                  <a:off x="2626157" y="830354"/>
                  <a:ext cx="1088580" cy="86047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ctr" rtl="0" fontAlgn="base">
                    <a:spcBef>
                      <a:spcPct val="0"/>
                    </a:spcBef>
                    <a:spcAft>
                      <a:spcPts val="200"/>
                    </a:spcAft>
                  </a:pPr>
                  <a:r>
                    <a:rPr lang="en-US" sz="2000" b="1" dirty="0">
                      <a:solidFill>
                        <a:srgbClr val="C00000"/>
                      </a:solidFill>
                      <a:latin typeface="+mj-lt"/>
                      <a:ea typeface="Arial" pitchFamily="34" charset="0"/>
                      <a:cs typeface="Times New Roman" pitchFamily="18" charset="0"/>
                    </a:rPr>
                    <a:t>SEmp</a:t>
                  </a:r>
                </a:p>
                <a:p>
                  <a:pPr lvl="0" algn="l" rtl="0">
                    <a:buFontTx/>
                    <a:buChar char="-"/>
                  </a:pPr>
                  <a:r>
                    <a:rPr lang="en-US" sz="2000" dirty="0"/>
                    <a:t> </a:t>
                  </a:r>
                  <a:r>
                    <a:rPr lang="en-US" sz="2000" dirty="0" err="1"/>
                    <a:t>MSal</a:t>
                  </a:r>
                  <a:r>
                    <a:rPr lang="en-US" sz="2000" dirty="0"/>
                    <a:t>: </a:t>
                  </a:r>
                  <a:r>
                    <a:rPr lang="en-US" sz="2000" dirty="0" err="1"/>
                    <a:t>int</a:t>
                  </a:r>
                  <a:endParaRPr lang="en-US" sz="2000" dirty="0"/>
                </a:p>
                <a:p>
                  <a:pPr lvl="0" algn="l" rtl="0"/>
                  <a:endParaRPr lang="en-US" sz="2000" dirty="0"/>
                </a:p>
                <a:p>
                  <a:pPr marL="0" marR="0" lvl="0" indent="0" algn="l" defTabSz="914400" rtl="0" eaLnBrk="1" fontAlgn="base" latinLnBrk="0" hangingPunct="1">
                    <a:spcBef>
                      <a:spcPct val="0"/>
                    </a:spcBef>
                    <a:spcAft>
                      <a:spcPts val="200"/>
                    </a:spcAft>
                    <a:buClrTx/>
                    <a:buSzTx/>
                    <a:buFontTx/>
                    <a:buNone/>
                    <a:tabLst/>
                  </a:pPr>
                  <a:endParaRPr lang="en-US" sz="2000" dirty="0"/>
                </a:p>
                <a:p>
                  <a:pPr marL="0" marR="0" lvl="0" indent="0" algn="l" defTabSz="914400" rtl="0" eaLnBrk="1" fontAlgn="base" latinLnBrk="0" hangingPunct="1">
                    <a:spcBef>
                      <a:spcPct val="0"/>
                    </a:spcBef>
                    <a:spcAft>
                      <a:spcPts val="200"/>
                    </a:spcAft>
                    <a:buClrTx/>
                    <a:buSzTx/>
                    <a:buFontTx/>
                    <a:buNone/>
                    <a:tabLst/>
                  </a:pPr>
                  <a:endParaRPr kumimoji="0" lang="en-US" sz="2000" b="0" i="0" u="none" strike="noStrike" cap="none" normalizeH="0" baseline="0" dirty="0">
                    <a:ln>
                      <a:noFill/>
                    </a:ln>
                    <a:solidFill>
                      <a:schemeClr val="tx1"/>
                    </a:solidFill>
                    <a:effectLst/>
                    <a:latin typeface="Calibri" pitchFamily="34" charset="0"/>
                    <a:ea typeface="Arial" pitchFamily="34" charset="0"/>
                    <a:cs typeface="Arial" pitchFamily="34" charset="0"/>
                  </a:endParaRPr>
                </a:p>
              </p:txBody>
            </p:sp>
            <p:sp>
              <p:nvSpPr>
                <p:cNvPr id="18" name="Rectangle 17">
                  <a:extLst>
                    <a:ext uri="{FF2B5EF4-FFF2-40B4-BE49-F238E27FC236}">
                      <a16:creationId xmlns:a16="http://schemas.microsoft.com/office/drawing/2014/main" id="{0E8FBD5B-22CD-0AF2-520A-6CD2DBCE8F70}"/>
                    </a:ext>
                  </a:extLst>
                </p:cNvPr>
                <p:cNvSpPr/>
                <p:nvPr/>
              </p:nvSpPr>
              <p:spPr>
                <a:xfrm>
                  <a:off x="2616582" y="1344254"/>
                  <a:ext cx="1360724" cy="279342"/>
                </a:xfrm>
                <a:prstGeom prst="rect">
                  <a:avLst/>
                </a:prstGeom>
              </p:spPr>
              <p:txBody>
                <a:bodyPr wrap="square">
                  <a:spAutoFit/>
                </a:bodyPr>
                <a:lstStyle/>
                <a:p>
                  <a:pPr algn="l" rtl="0"/>
                  <a:r>
                    <a:rPr lang="en-US" sz="2000" dirty="0">
                      <a:latin typeface="+mj-lt"/>
                      <a:cs typeface="Times New Roman" pitchFamily="18" charset="0"/>
                    </a:rPr>
                    <a:t>+ </a:t>
                  </a:r>
                  <a:r>
                    <a:rPr lang="en-US" sz="2000" dirty="0" err="1">
                      <a:latin typeface="+mj-lt"/>
                      <a:cs typeface="Times New Roman" pitchFamily="18" charset="0"/>
                    </a:rPr>
                    <a:t>toString</a:t>
                  </a:r>
                  <a:r>
                    <a:rPr lang="en-US" sz="2000" dirty="0">
                      <a:latin typeface="+mj-lt"/>
                      <a:cs typeface="Times New Roman" pitchFamily="18" charset="0"/>
                    </a:rPr>
                    <a:t>(): String</a:t>
                  </a:r>
                </a:p>
              </p:txBody>
            </p:sp>
          </p:grpSp>
          <p:cxnSp>
            <p:nvCxnSpPr>
              <p:cNvPr id="15" name="Straight Arrow Connector 14">
                <a:extLst>
                  <a:ext uri="{FF2B5EF4-FFF2-40B4-BE49-F238E27FC236}">
                    <a16:creationId xmlns:a16="http://schemas.microsoft.com/office/drawing/2014/main" id="{079F1E60-05F5-79A7-A439-32D99223CF60}"/>
                  </a:ext>
                </a:extLst>
              </p:cNvPr>
              <p:cNvCxnSpPr>
                <a:cxnSpLocks/>
                <a:stCxn id="17" idx="0"/>
              </p:cNvCxnSpPr>
              <p:nvPr/>
            </p:nvCxnSpPr>
            <p:spPr>
              <a:xfrm flipH="1" flipV="1">
                <a:off x="2648295" y="2570073"/>
                <a:ext cx="21654" cy="452076"/>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EE9031A-80A9-D6A9-CE8A-96EF05ACDF4F}"/>
                  </a:ext>
                </a:extLst>
              </p:cNvPr>
              <p:cNvCxnSpPr>
                <a:cxnSpLocks/>
              </p:cNvCxnSpPr>
              <p:nvPr/>
            </p:nvCxnSpPr>
            <p:spPr>
              <a:xfrm flipV="1">
                <a:off x="1132818" y="2599038"/>
                <a:ext cx="1" cy="440928"/>
              </a:xfrm>
              <a:prstGeom prst="straightConnector1">
                <a:avLst/>
              </a:prstGeom>
              <a:ln>
                <a:solidFill>
                  <a:srgbClr val="80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10" name="AutoShape 11">
              <a:extLst>
                <a:ext uri="{FF2B5EF4-FFF2-40B4-BE49-F238E27FC236}">
                  <a16:creationId xmlns:a16="http://schemas.microsoft.com/office/drawing/2014/main" id="{13C2EAFD-AE75-DE48-F6B9-84B91C94F778}"/>
                </a:ext>
              </a:extLst>
            </p:cNvPr>
            <p:cNvCxnSpPr>
              <a:cxnSpLocks noChangeShapeType="1"/>
            </p:cNvCxnSpPr>
            <p:nvPr/>
          </p:nvCxnSpPr>
          <p:spPr bwMode="auto">
            <a:xfrm>
              <a:off x="1728695" y="3867684"/>
              <a:ext cx="1441327" cy="0"/>
            </a:xfrm>
            <a:prstGeom prst="straightConnector1">
              <a:avLst/>
            </a:prstGeom>
            <a:noFill/>
            <a:ln w="9525">
              <a:solidFill>
                <a:srgbClr val="000000"/>
              </a:solidFill>
              <a:round/>
              <a:headEnd/>
              <a:tailEnd/>
            </a:ln>
          </p:spPr>
        </p:cxnSp>
        <p:cxnSp>
          <p:nvCxnSpPr>
            <p:cNvPr id="11" name="AutoShape 11">
              <a:extLst>
                <a:ext uri="{FF2B5EF4-FFF2-40B4-BE49-F238E27FC236}">
                  <a16:creationId xmlns:a16="http://schemas.microsoft.com/office/drawing/2014/main" id="{3B533298-28D8-0F27-6424-D40A8823D5F9}"/>
                </a:ext>
              </a:extLst>
            </p:cNvPr>
            <p:cNvCxnSpPr>
              <a:cxnSpLocks noChangeShapeType="1"/>
            </p:cNvCxnSpPr>
            <p:nvPr/>
          </p:nvCxnSpPr>
          <p:spPr bwMode="auto">
            <a:xfrm>
              <a:off x="1733144" y="4120531"/>
              <a:ext cx="1428760" cy="1588"/>
            </a:xfrm>
            <a:prstGeom prst="straightConnector1">
              <a:avLst/>
            </a:prstGeom>
            <a:noFill/>
            <a:ln w="9525">
              <a:solidFill>
                <a:srgbClr val="000000"/>
              </a:solidFill>
              <a:round/>
              <a:headEnd/>
              <a:tailEnd/>
            </a:ln>
          </p:spPr>
        </p:cxnSp>
      </p:grpSp>
    </p:spTree>
    <p:extLst>
      <p:ext uri="{BB962C8B-B14F-4D97-AF65-F5344CB8AC3E}">
        <p14:creationId xmlns:p14="http://schemas.microsoft.com/office/powerpoint/2010/main" val="2330656818"/>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3D7E-1FB3-4416-8B94-10F6A27DAA64}"/>
              </a:ext>
            </a:extLst>
          </p:cNvPr>
          <p:cNvSpPr>
            <a:spLocks noGrp="1"/>
          </p:cNvSpPr>
          <p:nvPr>
            <p:ph type="title"/>
          </p:nvPr>
        </p:nvSpPr>
        <p:spPr/>
        <p:txBody>
          <a:bodyPr/>
          <a:lstStyle/>
          <a:p>
            <a:r>
              <a:rPr lang="en-US" altLang="ar-SA" dirty="0"/>
              <a:t>Abstract Class and Abstract Methods Example</a:t>
            </a:r>
            <a:endParaRPr lang="en-US" dirty="0"/>
          </a:p>
        </p:txBody>
      </p:sp>
      <p:sp>
        <p:nvSpPr>
          <p:cNvPr id="3" name="Content Placeholder 2">
            <a:extLst>
              <a:ext uri="{FF2B5EF4-FFF2-40B4-BE49-F238E27FC236}">
                <a16:creationId xmlns:a16="http://schemas.microsoft.com/office/drawing/2014/main" id="{75AFEFF7-6387-45DA-B6BF-6539A3DF83D5}"/>
              </a:ext>
            </a:extLst>
          </p:cNvPr>
          <p:cNvSpPr>
            <a:spLocks noGrp="1"/>
          </p:cNvSpPr>
          <p:nvPr>
            <p:ph idx="1"/>
          </p:nvPr>
        </p:nvSpPr>
        <p:spPr>
          <a:xfrm>
            <a:off x="60102" y="1841679"/>
            <a:ext cx="12101848" cy="4537656"/>
          </a:xfrm>
        </p:spPr>
        <p:txBody>
          <a:bodyPr>
            <a:normAutofit/>
          </a:bodyPr>
          <a:lstStyle/>
          <a:p>
            <a:r>
              <a:rPr lang="en-US" dirty="0"/>
              <a:t>When can we define a method as an abstract method?</a:t>
            </a:r>
            <a:br>
              <a:rPr lang="en-US" dirty="0"/>
            </a:br>
            <a:r>
              <a:rPr lang="en-US" dirty="0"/>
              <a:t>Abstract method is a method that is applicable to all </a:t>
            </a:r>
            <a:r>
              <a:rPr lang="en-US" dirty="0">
                <a:solidFill>
                  <a:srgbClr val="0070C0"/>
                </a:solidFill>
              </a:rPr>
              <a:t>subclasses</a:t>
            </a:r>
            <a:r>
              <a:rPr lang="en-US" dirty="0"/>
              <a:t> but </a:t>
            </a:r>
            <a:r>
              <a:rPr lang="en-US" b="1" dirty="0"/>
              <a:t>with different behaviors</a:t>
            </a:r>
            <a:r>
              <a:rPr lang="en-US" dirty="0"/>
              <a:t> and this method has no meaning (i.e. no body)  in the </a:t>
            </a:r>
            <a:r>
              <a:rPr lang="en-US" dirty="0">
                <a:solidFill>
                  <a:srgbClr val="FF0000"/>
                </a:solidFill>
              </a:rPr>
              <a:t>superclass</a:t>
            </a:r>
            <a:r>
              <a:rPr lang="en-US" dirty="0"/>
              <a:t>.</a:t>
            </a:r>
          </a:p>
          <a:p>
            <a:r>
              <a:rPr lang="en-US" dirty="0">
                <a:solidFill>
                  <a:srgbClr val="0070C0"/>
                </a:solidFill>
              </a:rPr>
              <a:t>Emp class </a:t>
            </a:r>
            <a:r>
              <a:rPr lang="en-US" dirty="0"/>
              <a:t>includes an abstract method called </a:t>
            </a:r>
            <a:r>
              <a:rPr lang="en-US" b="1" dirty="0" err="1"/>
              <a:t>Wsal</a:t>
            </a:r>
            <a:r>
              <a:rPr lang="en-US" b="1" dirty="0"/>
              <a:t>()</a:t>
            </a:r>
            <a:r>
              <a:rPr lang="en-US" dirty="0"/>
              <a:t>, which </a:t>
            </a:r>
            <a:r>
              <a:rPr lang="en-US" b="1" dirty="0"/>
              <a:t>necessitates</a:t>
            </a:r>
            <a:r>
              <a:rPr lang="en-US" dirty="0"/>
              <a:t> definition within an </a:t>
            </a:r>
            <a:r>
              <a:rPr lang="en-US" dirty="0">
                <a:solidFill>
                  <a:srgbClr val="C00000"/>
                </a:solidFill>
              </a:rPr>
              <a:t>abstract class</a:t>
            </a:r>
            <a:r>
              <a:rPr lang="en-US" dirty="0"/>
              <a:t>.</a:t>
            </a:r>
          </a:p>
          <a:p>
            <a:r>
              <a:rPr lang="en-US" b="1" dirty="0" err="1"/>
              <a:t>Wsal</a:t>
            </a:r>
            <a:r>
              <a:rPr lang="en-US" b="1" dirty="0"/>
              <a:t>()</a:t>
            </a:r>
            <a:r>
              <a:rPr lang="en-US" dirty="0"/>
              <a:t> is an abstract method that has only a header </a:t>
            </a:r>
            <a:r>
              <a:rPr lang="en-US" b="1" dirty="0"/>
              <a:t>without</a:t>
            </a:r>
            <a:r>
              <a:rPr lang="en-US" dirty="0"/>
              <a:t> body.</a:t>
            </a:r>
          </a:p>
          <a:p>
            <a:r>
              <a:rPr lang="en-US" dirty="0"/>
              <a:t>The benefit of defining an abstract method is </a:t>
            </a:r>
            <a:r>
              <a:rPr lang="en-US" b="1" dirty="0"/>
              <a:t>to force all the subclasses implementing this method.</a:t>
            </a:r>
          </a:p>
          <a:p>
            <a:r>
              <a:rPr lang="en-US" dirty="0"/>
              <a:t>All subclasses (</a:t>
            </a:r>
            <a:r>
              <a:rPr lang="en-US" dirty="0">
                <a:solidFill>
                  <a:srgbClr val="0070C0"/>
                </a:solidFill>
              </a:rPr>
              <a:t>SEmp and </a:t>
            </a:r>
            <a:r>
              <a:rPr lang="en-US" dirty="0" err="1">
                <a:solidFill>
                  <a:srgbClr val="0070C0"/>
                </a:solidFill>
              </a:rPr>
              <a:t>HEmp</a:t>
            </a:r>
            <a:r>
              <a:rPr lang="en-US" dirty="0"/>
              <a:t>) </a:t>
            </a:r>
            <a:r>
              <a:rPr lang="en-US" b="1" dirty="0"/>
              <a:t>must</a:t>
            </a:r>
            <a:r>
              <a:rPr lang="en-US" dirty="0"/>
              <a:t> override all </a:t>
            </a:r>
            <a:r>
              <a:rPr lang="en-US" dirty="0">
                <a:solidFill>
                  <a:srgbClr val="C00000"/>
                </a:solidFill>
              </a:rPr>
              <a:t>abstract</a:t>
            </a:r>
            <a:r>
              <a:rPr lang="en-US" dirty="0"/>
              <a:t> methods. Otherwise, compile-time errors will appear in all the subclasses that inherit from the abstract class.</a:t>
            </a:r>
          </a:p>
          <a:p>
            <a:endParaRPr lang="en-US" dirty="0"/>
          </a:p>
          <a:p>
            <a:endParaRPr lang="en-US" dirty="0"/>
          </a:p>
        </p:txBody>
      </p:sp>
      <p:sp>
        <p:nvSpPr>
          <p:cNvPr id="4" name="Footer Placeholder 3">
            <a:extLst>
              <a:ext uri="{FF2B5EF4-FFF2-40B4-BE49-F238E27FC236}">
                <a16:creationId xmlns:a16="http://schemas.microsoft.com/office/drawing/2014/main" id="{09428C9D-EEE5-4C1F-AE00-498ED4B92B53}"/>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977656760"/>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2467D-D1F4-9450-98BA-EFA922110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7B396-416F-CD29-7D42-732F348CF59A}"/>
              </a:ext>
            </a:extLst>
          </p:cNvPr>
          <p:cNvSpPr>
            <a:spLocks noGrp="1"/>
          </p:cNvSpPr>
          <p:nvPr>
            <p:ph type="title"/>
          </p:nvPr>
        </p:nvSpPr>
        <p:spPr>
          <a:xfrm>
            <a:off x="348791" y="286603"/>
            <a:ext cx="11481847" cy="1450757"/>
          </a:xfrm>
        </p:spPr>
        <p:txBody>
          <a:bodyPr/>
          <a:lstStyle/>
          <a:p>
            <a:r>
              <a:rPr lang="en-US" dirty="0"/>
              <a:t>Abstract Class and Abstract Methods Example (implementation phase)</a:t>
            </a:r>
          </a:p>
        </p:txBody>
      </p:sp>
      <p:sp>
        <p:nvSpPr>
          <p:cNvPr id="4" name="Footer Placeholder 3">
            <a:extLst>
              <a:ext uri="{FF2B5EF4-FFF2-40B4-BE49-F238E27FC236}">
                <a16:creationId xmlns:a16="http://schemas.microsoft.com/office/drawing/2014/main" id="{93E7041A-E3F7-0C69-230F-6A8C43920F90}"/>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9" name="Picture 2">
            <a:extLst>
              <a:ext uri="{FF2B5EF4-FFF2-40B4-BE49-F238E27FC236}">
                <a16:creationId xmlns:a16="http://schemas.microsoft.com/office/drawing/2014/main" id="{C8465558-FF4B-5F59-5065-511BB146D32B}"/>
              </a:ext>
            </a:extLst>
          </p:cNvPr>
          <p:cNvPicPr>
            <a:picLocks noChangeAspect="1" noChangeArrowheads="1"/>
          </p:cNvPicPr>
          <p:nvPr/>
        </p:nvPicPr>
        <p:blipFill>
          <a:blip r:embed="rId2"/>
          <a:srcRect/>
          <a:stretch>
            <a:fillRect/>
          </a:stretch>
        </p:blipFill>
        <p:spPr bwMode="auto">
          <a:xfrm>
            <a:off x="42930" y="1715648"/>
            <a:ext cx="7791718" cy="5109261"/>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20" name="Rectangle 19">
            <a:extLst>
              <a:ext uri="{FF2B5EF4-FFF2-40B4-BE49-F238E27FC236}">
                <a16:creationId xmlns:a16="http://schemas.microsoft.com/office/drawing/2014/main" id="{424B0ECB-05D3-A937-1D69-B52AC9A9E240}"/>
              </a:ext>
            </a:extLst>
          </p:cNvPr>
          <p:cNvSpPr/>
          <p:nvPr/>
        </p:nvSpPr>
        <p:spPr>
          <a:xfrm>
            <a:off x="391721" y="6277253"/>
            <a:ext cx="3197192" cy="442263"/>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F41F0571-15EF-49E8-1443-B3A7EBBCDCF7}"/>
              </a:ext>
            </a:extLst>
          </p:cNvPr>
          <p:cNvGrpSpPr/>
          <p:nvPr/>
        </p:nvGrpSpPr>
        <p:grpSpPr>
          <a:xfrm>
            <a:off x="3627551" y="3592136"/>
            <a:ext cx="4619222" cy="2949525"/>
            <a:chOff x="857224" y="1872244"/>
            <a:chExt cx="6231479" cy="2636265"/>
          </a:xfrm>
        </p:grpSpPr>
        <p:cxnSp>
          <p:nvCxnSpPr>
            <p:cNvPr id="22" name="Straight Arrow Connector 21">
              <a:extLst>
                <a:ext uri="{FF2B5EF4-FFF2-40B4-BE49-F238E27FC236}">
                  <a16:creationId xmlns:a16="http://schemas.microsoft.com/office/drawing/2014/main" id="{53F5C897-529D-C536-62B9-657CA9F937A0}"/>
                </a:ext>
              </a:extLst>
            </p:cNvPr>
            <p:cNvCxnSpPr/>
            <p:nvPr/>
          </p:nvCxnSpPr>
          <p:spPr>
            <a:xfrm>
              <a:off x="857224" y="4507466"/>
              <a:ext cx="5761179" cy="1043"/>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2BC1953-A0DE-7545-E71D-30346BF915C0}"/>
                </a:ext>
              </a:extLst>
            </p:cNvPr>
            <p:cNvCxnSpPr/>
            <p:nvPr/>
          </p:nvCxnSpPr>
          <p:spPr>
            <a:xfrm rot="16200000" flipH="1">
              <a:off x="5304979" y="3187144"/>
              <a:ext cx="2626850" cy="2"/>
            </a:xfrm>
            <a:prstGeom prst="line">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0B92CC6-1014-FBFC-9E26-0A83789361DC}"/>
                </a:ext>
              </a:extLst>
            </p:cNvPr>
            <p:cNvCxnSpPr/>
            <p:nvPr/>
          </p:nvCxnSpPr>
          <p:spPr>
            <a:xfrm>
              <a:off x="6618403" y="1872244"/>
              <a:ext cx="470300" cy="1476"/>
            </a:xfrm>
            <a:prstGeom prst="line">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25" name="Rectangle 24">
            <a:extLst>
              <a:ext uri="{FF2B5EF4-FFF2-40B4-BE49-F238E27FC236}">
                <a16:creationId xmlns:a16="http://schemas.microsoft.com/office/drawing/2014/main" id="{64643CA1-1AD0-FCA8-A783-92DF04D97135}"/>
              </a:ext>
            </a:extLst>
          </p:cNvPr>
          <p:cNvSpPr/>
          <p:nvPr/>
        </p:nvSpPr>
        <p:spPr>
          <a:xfrm>
            <a:off x="55442" y="1763973"/>
            <a:ext cx="833199" cy="265165"/>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A2AE1BA4-B382-FA23-3446-EC69FE1E147C}"/>
              </a:ext>
            </a:extLst>
          </p:cNvPr>
          <p:cNvCxnSpPr>
            <a:cxnSpLocks/>
          </p:cNvCxnSpPr>
          <p:nvPr/>
        </p:nvCxnSpPr>
        <p:spPr>
          <a:xfrm>
            <a:off x="888641" y="2029138"/>
            <a:ext cx="7010402" cy="2124"/>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5C86502-05E4-4400-837B-FCCCFADCFBBC}"/>
              </a:ext>
            </a:extLst>
          </p:cNvPr>
          <p:cNvCxnSpPr>
            <a:cxnSpLocks/>
          </p:cNvCxnSpPr>
          <p:nvPr/>
        </p:nvCxnSpPr>
        <p:spPr>
          <a:xfrm flipV="1">
            <a:off x="7899043" y="2029138"/>
            <a:ext cx="0" cy="1575607"/>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E4EFCD7-3CE7-439A-8FFE-F4BE1A9DC4AE}"/>
              </a:ext>
            </a:extLst>
          </p:cNvPr>
          <p:cNvSpPr txBox="1"/>
          <p:nvPr/>
        </p:nvSpPr>
        <p:spPr>
          <a:xfrm>
            <a:off x="8267348" y="2223753"/>
            <a:ext cx="3400001" cy="3170099"/>
          </a:xfrm>
          <a:prstGeom prst="rect">
            <a:avLst/>
          </a:prstGeom>
          <a:noFill/>
          <a:ln w="28575">
            <a:solidFill>
              <a:schemeClr val="accent1"/>
            </a:solidFill>
            <a:prstDash val="dash"/>
          </a:ln>
        </p:spPr>
        <p:txBody>
          <a:bodyPr wrap="square" rtlCol="0">
            <a:spAutoFit/>
          </a:bodyPr>
          <a:lstStyle/>
          <a:p>
            <a:r>
              <a:rPr lang="en-US" sz="2000" b="1" dirty="0" err="1"/>
              <a:t>Wsal</a:t>
            </a:r>
            <a:r>
              <a:rPr lang="en-US" sz="2000" b="1" dirty="0"/>
              <a:t>() </a:t>
            </a:r>
            <a:r>
              <a:rPr lang="en-US" sz="2000" dirty="0"/>
              <a:t>is applicable to </a:t>
            </a:r>
            <a:r>
              <a:rPr lang="en-US" sz="2000" dirty="0">
                <a:solidFill>
                  <a:srgbClr val="0070C0"/>
                </a:solidFill>
              </a:rPr>
              <a:t>SEmp and Hemp </a:t>
            </a:r>
            <a:r>
              <a:rPr lang="en-US" sz="2000" dirty="0"/>
              <a:t>and has no </a:t>
            </a:r>
            <a:r>
              <a:rPr lang="en-US" sz="2000" dirty="0" err="1"/>
              <a:t>behaviour</a:t>
            </a:r>
            <a:r>
              <a:rPr lang="en-US" sz="2000" dirty="0"/>
              <a:t> (i.e. no body) in the </a:t>
            </a:r>
            <a:r>
              <a:rPr lang="en-US" sz="2000" dirty="0">
                <a:solidFill>
                  <a:srgbClr val="0070C0"/>
                </a:solidFill>
              </a:rPr>
              <a:t>Emp class</a:t>
            </a:r>
            <a:r>
              <a:rPr lang="en-US" sz="2000" dirty="0"/>
              <a:t>, simply because it has a different behavior (implementation) in each of the </a:t>
            </a:r>
            <a:r>
              <a:rPr lang="en-US" sz="2000" b="1" dirty="0">
                <a:solidFill>
                  <a:srgbClr val="0070C0"/>
                </a:solidFill>
              </a:rPr>
              <a:t>subclasses</a:t>
            </a:r>
            <a:r>
              <a:rPr lang="en-US" sz="2000" dirty="0"/>
              <a:t>. This will simplify the code and bypass compilation-time errors as shown.</a:t>
            </a:r>
          </a:p>
        </p:txBody>
      </p:sp>
    </p:spTree>
    <p:extLst>
      <p:ext uri="{BB962C8B-B14F-4D97-AF65-F5344CB8AC3E}">
        <p14:creationId xmlns:p14="http://schemas.microsoft.com/office/powerpoint/2010/main" val="9466933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8ECF0-F22F-E607-0064-6B6C4DFD6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183BF-0D5A-F868-3B51-F7C2C1959D56}"/>
              </a:ext>
            </a:extLst>
          </p:cNvPr>
          <p:cNvSpPr>
            <a:spLocks noGrp="1"/>
          </p:cNvSpPr>
          <p:nvPr>
            <p:ph type="title"/>
          </p:nvPr>
        </p:nvSpPr>
        <p:spPr>
          <a:xfrm>
            <a:off x="348791" y="286603"/>
            <a:ext cx="11481847" cy="1450757"/>
          </a:xfrm>
        </p:spPr>
        <p:txBody>
          <a:bodyPr/>
          <a:lstStyle/>
          <a:p>
            <a:r>
              <a:rPr lang="en-US" dirty="0"/>
              <a:t>Abstract Class and Abstract Methods Example (implementation phase)</a:t>
            </a:r>
          </a:p>
        </p:txBody>
      </p:sp>
      <p:sp>
        <p:nvSpPr>
          <p:cNvPr id="4" name="Footer Placeholder 3">
            <a:extLst>
              <a:ext uri="{FF2B5EF4-FFF2-40B4-BE49-F238E27FC236}">
                <a16:creationId xmlns:a16="http://schemas.microsoft.com/office/drawing/2014/main" id="{616A17F6-B245-FDBC-07BB-6B049921FBFA}"/>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5" name="Picture 2">
            <a:extLst>
              <a:ext uri="{FF2B5EF4-FFF2-40B4-BE49-F238E27FC236}">
                <a16:creationId xmlns:a16="http://schemas.microsoft.com/office/drawing/2014/main" id="{7DEAFDB0-8A16-3AF7-D940-80CE3543C786}"/>
              </a:ext>
            </a:extLst>
          </p:cNvPr>
          <p:cNvPicPr>
            <a:picLocks noChangeAspect="1" noChangeArrowheads="1"/>
          </p:cNvPicPr>
          <p:nvPr/>
        </p:nvPicPr>
        <p:blipFill>
          <a:blip r:embed="rId2"/>
          <a:srcRect/>
          <a:stretch>
            <a:fillRect/>
          </a:stretch>
        </p:blipFill>
        <p:spPr bwMode="auto">
          <a:xfrm>
            <a:off x="46251" y="1754514"/>
            <a:ext cx="6843946" cy="506835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6" name="Rectangle 5">
            <a:extLst>
              <a:ext uri="{FF2B5EF4-FFF2-40B4-BE49-F238E27FC236}">
                <a16:creationId xmlns:a16="http://schemas.microsoft.com/office/drawing/2014/main" id="{E1B11162-7B1A-EFD7-6719-ACAFFCC60687}"/>
              </a:ext>
            </a:extLst>
          </p:cNvPr>
          <p:cNvSpPr/>
          <p:nvPr/>
        </p:nvSpPr>
        <p:spPr>
          <a:xfrm>
            <a:off x="348791" y="3730978"/>
            <a:ext cx="3051232" cy="1185845"/>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B20ED3B-A898-1825-CE1B-FAC4621709C2}"/>
              </a:ext>
            </a:extLst>
          </p:cNvPr>
          <p:cNvSpPr/>
          <p:nvPr/>
        </p:nvSpPr>
        <p:spPr>
          <a:xfrm>
            <a:off x="1178746" y="1843256"/>
            <a:ext cx="800307" cy="372694"/>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14">
            <a:extLst>
              <a:ext uri="{FF2B5EF4-FFF2-40B4-BE49-F238E27FC236}">
                <a16:creationId xmlns:a16="http://schemas.microsoft.com/office/drawing/2014/main" id="{96F20691-B60A-83A2-33A5-59960A1F00C5}"/>
              </a:ext>
            </a:extLst>
          </p:cNvPr>
          <p:cNvGrpSpPr/>
          <p:nvPr/>
        </p:nvGrpSpPr>
        <p:grpSpPr>
          <a:xfrm>
            <a:off x="3468223" y="2996485"/>
            <a:ext cx="3834097" cy="1333327"/>
            <a:chOff x="4310742" y="1252226"/>
            <a:chExt cx="2777959" cy="3257299"/>
          </a:xfrm>
        </p:grpSpPr>
        <p:cxnSp>
          <p:nvCxnSpPr>
            <p:cNvPr id="12" name="Straight Arrow Connector 11">
              <a:extLst>
                <a:ext uri="{FF2B5EF4-FFF2-40B4-BE49-F238E27FC236}">
                  <a16:creationId xmlns:a16="http://schemas.microsoft.com/office/drawing/2014/main" id="{FB900F21-0D70-5E85-AD26-32FAA6C267D2}"/>
                </a:ext>
              </a:extLst>
            </p:cNvPr>
            <p:cNvCxnSpPr/>
            <p:nvPr/>
          </p:nvCxnSpPr>
          <p:spPr>
            <a:xfrm flipV="1">
              <a:off x="4310742" y="4508509"/>
              <a:ext cx="2307661" cy="101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D5B0918-4BF9-360D-D38D-C967C9030A95}"/>
                </a:ext>
              </a:extLst>
            </p:cNvPr>
            <p:cNvCxnSpPr/>
            <p:nvPr/>
          </p:nvCxnSpPr>
          <p:spPr>
            <a:xfrm rot="16200000" flipH="1">
              <a:off x="4984270" y="2866440"/>
              <a:ext cx="3248338" cy="19924"/>
            </a:xfrm>
            <a:prstGeom prst="line">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C2C226A-D9E9-A0A4-29E7-CC61305F0CB7}"/>
                </a:ext>
              </a:extLst>
            </p:cNvPr>
            <p:cNvCxnSpPr/>
            <p:nvPr/>
          </p:nvCxnSpPr>
          <p:spPr>
            <a:xfrm>
              <a:off x="6618401" y="1252226"/>
              <a:ext cx="470300" cy="1476"/>
            </a:xfrm>
            <a:prstGeom prst="line">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15" name="Straight Arrow Connector 14">
            <a:extLst>
              <a:ext uri="{FF2B5EF4-FFF2-40B4-BE49-F238E27FC236}">
                <a16:creationId xmlns:a16="http://schemas.microsoft.com/office/drawing/2014/main" id="{61DC0A9F-99AB-4552-8DF8-8BBA161E885A}"/>
              </a:ext>
            </a:extLst>
          </p:cNvPr>
          <p:cNvCxnSpPr>
            <a:cxnSpLocks/>
          </p:cNvCxnSpPr>
          <p:nvPr/>
        </p:nvCxnSpPr>
        <p:spPr>
          <a:xfrm>
            <a:off x="1979053" y="2185892"/>
            <a:ext cx="5005589" cy="0"/>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508B75D-A3A2-4B9C-8D62-6DE05E5EB34E}"/>
              </a:ext>
            </a:extLst>
          </p:cNvPr>
          <p:cNvCxnSpPr>
            <a:cxnSpLocks/>
          </p:cNvCxnSpPr>
          <p:nvPr/>
        </p:nvCxnSpPr>
        <p:spPr>
          <a:xfrm flipH="1" flipV="1">
            <a:off x="6977769" y="2185893"/>
            <a:ext cx="6873" cy="810592"/>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E20F371-FAFE-4A61-ADB7-561355D7E4C7}"/>
              </a:ext>
            </a:extLst>
          </p:cNvPr>
          <p:cNvSpPr txBox="1"/>
          <p:nvPr/>
        </p:nvSpPr>
        <p:spPr>
          <a:xfrm>
            <a:off x="7527404" y="1939451"/>
            <a:ext cx="4303234" cy="2862322"/>
          </a:xfrm>
          <a:prstGeom prst="rect">
            <a:avLst/>
          </a:prstGeom>
          <a:noFill/>
          <a:ln w="28575">
            <a:solidFill>
              <a:schemeClr val="accent1"/>
            </a:solidFill>
            <a:prstDash val="dash"/>
          </a:ln>
        </p:spPr>
        <p:txBody>
          <a:bodyPr wrap="square" rtlCol="0">
            <a:spAutoFit/>
          </a:bodyPr>
          <a:lstStyle/>
          <a:p>
            <a:r>
              <a:rPr lang="en-US" dirty="0"/>
              <a:t>The </a:t>
            </a:r>
            <a:r>
              <a:rPr lang="en-US" b="1" dirty="0">
                <a:solidFill>
                  <a:srgbClr val="0070C0"/>
                </a:solidFill>
              </a:rPr>
              <a:t>SEmp class </a:t>
            </a:r>
            <a:r>
              <a:rPr lang="en-US" dirty="0"/>
              <a:t>provides a </a:t>
            </a:r>
            <a:r>
              <a:rPr lang="en-US" b="1" dirty="0"/>
              <a:t>customized implementation</a:t>
            </a:r>
            <a:r>
              <a:rPr lang="en-US" dirty="0"/>
              <a:t> of the abstract method </a:t>
            </a:r>
            <a:r>
              <a:rPr lang="en-US" b="1" dirty="0" err="1"/>
              <a:t>Wsal</a:t>
            </a:r>
            <a:r>
              <a:rPr lang="en-US" b="1" dirty="0"/>
              <a:t>()</a:t>
            </a:r>
            <a:r>
              <a:rPr lang="en-US" dirty="0"/>
              <a:t>. Therefore, to incorporate </a:t>
            </a:r>
            <a:r>
              <a:rPr lang="en-US" b="1" dirty="0" err="1">
                <a:solidFill>
                  <a:srgbClr val="0070C0"/>
                </a:solidFill>
              </a:rPr>
              <a:t>SEmp</a:t>
            </a:r>
            <a:r>
              <a:rPr lang="en-US" dirty="0" err="1"/>
              <a:t>'s</a:t>
            </a:r>
            <a:r>
              <a:rPr lang="en-US" dirty="0"/>
              <a:t> </a:t>
            </a:r>
            <a:r>
              <a:rPr lang="en-US" b="1" dirty="0" err="1"/>
              <a:t>Wsal</a:t>
            </a:r>
            <a:r>
              <a:rPr lang="en-US" b="1" dirty="0"/>
              <a:t>() </a:t>
            </a:r>
            <a:r>
              <a:rPr lang="en-US" dirty="0"/>
              <a:t>method functionality, which essentially (computes the employee's monthly salary), you must </a:t>
            </a:r>
            <a:r>
              <a:rPr lang="en-US" b="1" dirty="0"/>
              <a:t>override</a:t>
            </a:r>
            <a:r>
              <a:rPr lang="en-US" dirty="0"/>
              <a:t> the method and appropriately </a:t>
            </a:r>
            <a:r>
              <a:rPr lang="en-US" b="1" dirty="0"/>
              <a:t>code its functionality within its body to fulfill the purpose of this method.</a:t>
            </a:r>
          </a:p>
        </p:txBody>
      </p:sp>
    </p:spTree>
    <p:extLst>
      <p:ext uri="{BB962C8B-B14F-4D97-AF65-F5344CB8AC3E}">
        <p14:creationId xmlns:p14="http://schemas.microsoft.com/office/powerpoint/2010/main" val="230215586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843DB-463A-420F-3B4A-4F2A3025E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08914-C8C6-EE8E-B8F7-26C48C78B942}"/>
              </a:ext>
            </a:extLst>
          </p:cNvPr>
          <p:cNvSpPr>
            <a:spLocks noGrp="1"/>
          </p:cNvSpPr>
          <p:nvPr>
            <p:ph type="title"/>
          </p:nvPr>
        </p:nvSpPr>
        <p:spPr>
          <a:xfrm>
            <a:off x="348791" y="286603"/>
            <a:ext cx="11481847" cy="1450757"/>
          </a:xfrm>
        </p:spPr>
        <p:txBody>
          <a:bodyPr/>
          <a:lstStyle/>
          <a:p>
            <a:r>
              <a:rPr lang="en-US" dirty="0"/>
              <a:t>Abstract Class and Abstract Methods Example (implementation phase)</a:t>
            </a:r>
          </a:p>
        </p:txBody>
      </p:sp>
      <p:sp>
        <p:nvSpPr>
          <p:cNvPr id="4" name="Footer Placeholder 3">
            <a:extLst>
              <a:ext uri="{FF2B5EF4-FFF2-40B4-BE49-F238E27FC236}">
                <a16:creationId xmlns:a16="http://schemas.microsoft.com/office/drawing/2014/main" id="{7E45CC51-3AE1-EB34-0CF7-82E9C3C9437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16" name="Picture 3">
            <a:extLst>
              <a:ext uri="{FF2B5EF4-FFF2-40B4-BE49-F238E27FC236}">
                <a16:creationId xmlns:a16="http://schemas.microsoft.com/office/drawing/2014/main" id="{0A109B8C-2ABA-60C6-9FA4-FE59D20DFBD4}"/>
              </a:ext>
            </a:extLst>
          </p:cNvPr>
          <p:cNvPicPr>
            <a:picLocks noChangeAspect="1" noChangeArrowheads="1"/>
          </p:cNvPicPr>
          <p:nvPr/>
        </p:nvPicPr>
        <p:blipFill>
          <a:blip r:embed="rId2"/>
          <a:srcRect/>
          <a:stretch>
            <a:fillRect/>
          </a:stretch>
        </p:blipFill>
        <p:spPr bwMode="auto">
          <a:xfrm>
            <a:off x="52576" y="1737360"/>
            <a:ext cx="7648990" cy="5129666"/>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25" name="Rectangle 24">
            <a:extLst>
              <a:ext uri="{FF2B5EF4-FFF2-40B4-BE49-F238E27FC236}">
                <a16:creationId xmlns:a16="http://schemas.microsoft.com/office/drawing/2014/main" id="{478724F8-4489-44DC-BB57-FEB727E85165}"/>
              </a:ext>
            </a:extLst>
          </p:cNvPr>
          <p:cNvSpPr/>
          <p:nvPr/>
        </p:nvSpPr>
        <p:spPr>
          <a:xfrm>
            <a:off x="348791" y="4197623"/>
            <a:ext cx="3051232" cy="1185845"/>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FEC9AE7-36C7-4A3A-8B48-176E6D1A8867}"/>
              </a:ext>
            </a:extLst>
          </p:cNvPr>
          <p:cNvSpPr/>
          <p:nvPr/>
        </p:nvSpPr>
        <p:spPr>
          <a:xfrm>
            <a:off x="1140110" y="1731895"/>
            <a:ext cx="800307" cy="372694"/>
          </a:xfrm>
          <a:prstGeom prst="rect">
            <a:avLst/>
          </a:prstGeom>
          <a:solidFill>
            <a:schemeClr val="accent1">
              <a:alpha val="0"/>
            </a:schemeClr>
          </a:solid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14">
            <a:extLst>
              <a:ext uri="{FF2B5EF4-FFF2-40B4-BE49-F238E27FC236}">
                <a16:creationId xmlns:a16="http://schemas.microsoft.com/office/drawing/2014/main" id="{55F4A355-E9D7-45E7-AC4B-6F551052BC88}"/>
              </a:ext>
            </a:extLst>
          </p:cNvPr>
          <p:cNvGrpSpPr/>
          <p:nvPr/>
        </p:nvGrpSpPr>
        <p:grpSpPr>
          <a:xfrm>
            <a:off x="3468223" y="3463130"/>
            <a:ext cx="4671225" cy="1333327"/>
            <a:chOff x="4310742" y="1252226"/>
            <a:chExt cx="2777959" cy="3257299"/>
          </a:xfrm>
        </p:grpSpPr>
        <p:cxnSp>
          <p:nvCxnSpPr>
            <p:cNvPr id="28" name="Straight Arrow Connector 27">
              <a:extLst>
                <a:ext uri="{FF2B5EF4-FFF2-40B4-BE49-F238E27FC236}">
                  <a16:creationId xmlns:a16="http://schemas.microsoft.com/office/drawing/2014/main" id="{C2A6A01F-4BD2-4849-BAD0-698239D5F463}"/>
                </a:ext>
              </a:extLst>
            </p:cNvPr>
            <p:cNvCxnSpPr/>
            <p:nvPr/>
          </p:nvCxnSpPr>
          <p:spPr>
            <a:xfrm flipV="1">
              <a:off x="4310742" y="4508509"/>
              <a:ext cx="2307661" cy="101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33578F7-FBFE-4B57-B346-480938524246}"/>
                </a:ext>
              </a:extLst>
            </p:cNvPr>
            <p:cNvCxnSpPr/>
            <p:nvPr/>
          </p:nvCxnSpPr>
          <p:spPr>
            <a:xfrm rot="16200000" flipH="1">
              <a:off x="4984270" y="2866440"/>
              <a:ext cx="3248338" cy="19924"/>
            </a:xfrm>
            <a:prstGeom prst="line">
              <a:avLst/>
            </a:prstGeom>
            <a:ln w="28575">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8011E39-EFF6-40A3-B1E4-612E0767A841}"/>
                </a:ext>
              </a:extLst>
            </p:cNvPr>
            <p:cNvCxnSpPr/>
            <p:nvPr/>
          </p:nvCxnSpPr>
          <p:spPr>
            <a:xfrm>
              <a:off x="6618401" y="1252226"/>
              <a:ext cx="470300" cy="1476"/>
            </a:xfrm>
            <a:prstGeom prst="line">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18232BF0-77C5-451D-821B-AC00D4BFE244}"/>
              </a:ext>
            </a:extLst>
          </p:cNvPr>
          <p:cNvCxnSpPr>
            <a:cxnSpLocks/>
          </p:cNvCxnSpPr>
          <p:nvPr/>
        </p:nvCxnSpPr>
        <p:spPr>
          <a:xfrm>
            <a:off x="1972180" y="2038644"/>
            <a:ext cx="5630648" cy="0"/>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20193B6-61C1-49EC-9C10-F2FABBA461F6}"/>
              </a:ext>
            </a:extLst>
          </p:cNvPr>
          <p:cNvCxnSpPr>
            <a:cxnSpLocks/>
          </p:cNvCxnSpPr>
          <p:nvPr/>
        </p:nvCxnSpPr>
        <p:spPr>
          <a:xfrm flipH="1" flipV="1">
            <a:off x="7602828" y="2038644"/>
            <a:ext cx="1" cy="1424486"/>
          </a:xfrm>
          <a:prstGeom prst="straightConnector1">
            <a:avLst/>
          </a:prstGeom>
          <a:ln w="28575">
            <a:solidFill>
              <a:srgbClr val="C0000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003825D-2F94-4301-B29C-CC6BDDA9CDA6}"/>
              </a:ext>
            </a:extLst>
          </p:cNvPr>
          <p:cNvSpPr txBox="1"/>
          <p:nvPr/>
        </p:nvSpPr>
        <p:spPr>
          <a:xfrm>
            <a:off x="8172951" y="1957034"/>
            <a:ext cx="3831004" cy="3139321"/>
          </a:xfrm>
          <a:prstGeom prst="rect">
            <a:avLst/>
          </a:prstGeom>
          <a:noFill/>
          <a:ln w="28575">
            <a:solidFill>
              <a:schemeClr val="accent1"/>
            </a:solidFill>
            <a:prstDash val="dash"/>
          </a:ln>
        </p:spPr>
        <p:txBody>
          <a:bodyPr wrap="square" rtlCol="0">
            <a:spAutoFit/>
          </a:bodyPr>
          <a:lstStyle/>
          <a:p>
            <a:r>
              <a:rPr lang="en-US" dirty="0"/>
              <a:t>Also, the </a:t>
            </a:r>
            <a:r>
              <a:rPr lang="en-US" b="1" dirty="0" err="1">
                <a:solidFill>
                  <a:srgbClr val="0070C0"/>
                </a:solidFill>
              </a:rPr>
              <a:t>HEmp</a:t>
            </a:r>
            <a:r>
              <a:rPr lang="en-US" b="1" dirty="0">
                <a:solidFill>
                  <a:srgbClr val="0070C0"/>
                </a:solidFill>
              </a:rPr>
              <a:t> class </a:t>
            </a:r>
            <a:r>
              <a:rPr lang="en-US" dirty="0"/>
              <a:t>provides a </a:t>
            </a:r>
            <a:r>
              <a:rPr lang="en-US" b="1" dirty="0"/>
              <a:t>customized implementation</a:t>
            </a:r>
            <a:r>
              <a:rPr lang="en-US" dirty="0"/>
              <a:t> of the abstract method </a:t>
            </a:r>
            <a:r>
              <a:rPr lang="en-US" b="1" dirty="0" err="1"/>
              <a:t>Wsal</a:t>
            </a:r>
            <a:r>
              <a:rPr lang="en-US" b="1" dirty="0"/>
              <a:t>()</a:t>
            </a:r>
            <a:r>
              <a:rPr lang="en-US" dirty="0"/>
              <a:t>. Therefore, to incorporate </a:t>
            </a:r>
            <a:r>
              <a:rPr lang="en-US" b="1" dirty="0" err="1">
                <a:solidFill>
                  <a:srgbClr val="0070C0"/>
                </a:solidFill>
              </a:rPr>
              <a:t>HEmp</a:t>
            </a:r>
            <a:r>
              <a:rPr lang="en-US" dirty="0" err="1"/>
              <a:t>'s</a:t>
            </a:r>
            <a:r>
              <a:rPr lang="en-US" dirty="0"/>
              <a:t> </a:t>
            </a:r>
            <a:r>
              <a:rPr lang="en-US" b="1" dirty="0" err="1"/>
              <a:t>Wsal</a:t>
            </a:r>
            <a:r>
              <a:rPr lang="en-US" b="1" dirty="0"/>
              <a:t>() </a:t>
            </a:r>
            <a:r>
              <a:rPr lang="en-US" dirty="0"/>
              <a:t>method functionality, which essentially (computes the employee’s hourly salary), you must </a:t>
            </a:r>
            <a:r>
              <a:rPr lang="en-US" b="1" dirty="0"/>
              <a:t>override</a:t>
            </a:r>
            <a:r>
              <a:rPr lang="en-US" dirty="0"/>
              <a:t> the method and appropriately </a:t>
            </a:r>
            <a:r>
              <a:rPr lang="en-US" b="1" dirty="0"/>
              <a:t>code its functionality within its body to fulfill the purpose of this method.</a:t>
            </a:r>
          </a:p>
        </p:txBody>
      </p:sp>
    </p:spTree>
    <p:extLst>
      <p:ext uri="{BB962C8B-B14F-4D97-AF65-F5344CB8AC3E}">
        <p14:creationId xmlns:p14="http://schemas.microsoft.com/office/powerpoint/2010/main" val="215593314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1964-B757-F589-0332-680305734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2B4756-A864-0CED-FD2B-861C347C56FA}"/>
              </a:ext>
            </a:extLst>
          </p:cNvPr>
          <p:cNvSpPr>
            <a:spLocks noGrp="1"/>
          </p:cNvSpPr>
          <p:nvPr>
            <p:ph type="title"/>
          </p:nvPr>
        </p:nvSpPr>
        <p:spPr>
          <a:xfrm>
            <a:off x="348791" y="286603"/>
            <a:ext cx="11481847" cy="1450757"/>
          </a:xfrm>
        </p:spPr>
        <p:txBody>
          <a:bodyPr/>
          <a:lstStyle/>
          <a:p>
            <a:r>
              <a:rPr lang="en-US" dirty="0"/>
              <a:t>Abstract Class and Abstract Methods Example (implementation phase)</a:t>
            </a:r>
          </a:p>
        </p:txBody>
      </p:sp>
      <p:sp>
        <p:nvSpPr>
          <p:cNvPr id="4" name="Footer Placeholder 3">
            <a:extLst>
              <a:ext uri="{FF2B5EF4-FFF2-40B4-BE49-F238E27FC236}">
                <a16:creationId xmlns:a16="http://schemas.microsoft.com/office/drawing/2014/main" id="{6C9E49AB-DA03-1346-F1D3-70462103E7CE}"/>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3" name="Picture 2">
            <a:extLst>
              <a:ext uri="{FF2B5EF4-FFF2-40B4-BE49-F238E27FC236}">
                <a16:creationId xmlns:a16="http://schemas.microsoft.com/office/drawing/2014/main" id="{9CC64A97-1195-F90C-0042-60C458E2A54E}"/>
              </a:ext>
            </a:extLst>
          </p:cNvPr>
          <p:cNvPicPr>
            <a:picLocks noChangeAspect="1" noChangeArrowheads="1"/>
          </p:cNvPicPr>
          <p:nvPr/>
        </p:nvPicPr>
        <p:blipFill>
          <a:blip r:embed="rId2"/>
          <a:srcRect/>
          <a:stretch>
            <a:fillRect/>
          </a:stretch>
        </p:blipFill>
        <p:spPr bwMode="auto">
          <a:xfrm>
            <a:off x="446806" y="1837815"/>
            <a:ext cx="6715172" cy="2966434"/>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pic>
        <p:nvPicPr>
          <p:cNvPr id="6" name="Picture 2">
            <a:extLst>
              <a:ext uri="{FF2B5EF4-FFF2-40B4-BE49-F238E27FC236}">
                <a16:creationId xmlns:a16="http://schemas.microsoft.com/office/drawing/2014/main" id="{F789539C-A9D2-6B9F-1148-14A1A7834210}"/>
              </a:ext>
            </a:extLst>
          </p:cNvPr>
          <p:cNvPicPr>
            <a:picLocks noChangeAspect="1" noChangeArrowheads="1"/>
          </p:cNvPicPr>
          <p:nvPr/>
        </p:nvPicPr>
        <p:blipFill>
          <a:blip r:embed="rId3"/>
          <a:srcRect/>
          <a:stretch>
            <a:fillRect/>
          </a:stretch>
        </p:blipFill>
        <p:spPr bwMode="auto">
          <a:xfrm>
            <a:off x="7311963" y="4010230"/>
            <a:ext cx="4691992" cy="2150684"/>
          </a:xfrm>
          <a:prstGeom prst="rect">
            <a:avLst/>
          </a:prstGeom>
          <a:ln w="19050" cap="sq">
            <a:solidFill>
              <a:schemeClr val="tx1"/>
            </a:solidFill>
            <a:prstDash val="dash"/>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A9F92140-17B9-4F9B-B551-0FA30F99385E}"/>
              </a:ext>
            </a:extLst>
          </p:cNvPr>
          <p:cNvSpPr txBox="1"/>
          <p:nvPr/>
        </p:nvSpPr>
        <p:spPr>
          <a:xfrm>
            <a:off x="8172951" y="1905519"/>
            <a:ext cx="3831004" cy="2031325"/>
          </a:xfrm>
          <a:prstGeom prst="rect">
            <a:avLst/>
          </a:prstGeom>
          <a:noFill/>
          <a:ln w="28575">
            <a:solidFill>
              <a:schemeClr val="accent1"/>
            </a:solidFill>
            <a:prstDash val="dash"/>
          </a:ln>
        </p:spPr>
        <p:txBody>
          <a:bodyPr wrap="square" rtlCol="0">
            <a:spAutoFit/>
          </a:bodyPr>
          <a:lstStyle/>
          <a:p>
            <a:r>
              <a:rPr lang="en-US" b="1" dirty="0"/>
              <a:t>Note that</a:t>
            </a:r>
            <a:r>
              <a:rPr lang="en-US" dirty="0"/>
              <a:t> the Emp class cannot be directly instantiated (i.e., created as an object) as demonstrated in line 5. However, a pointer can be defined as depicted in line 4. Please refer to the accompanying figure to review the error.</a:t>
            </a:r>
            <a:endParaRPr lang="en-US" dirty="0">
              <a:effectLst/>
            </a:endParaRPr>
          </a:p>
        </p:txBody>
      </p:sp>
    </p:spTree>
    <p:extLst>
      <p:ext uri="{BB962C8B-B14F-4D97-AF65-F5344CB8AC3E}">
        <p14:creationId xmlns:p14="http://schemas.microsoft.com/office/powerpoint/2010/main" val="390298803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EB0C-4868-4096-A9F4-C466DF55570F}"/>
              </a:ext>
            </a:extLst>
          </p:cNvPr>
          <p:cNvSpPr>
            <a:spLocks noGrp="1"/>
          </p:cNvSpPr>
          <p:nvPr>
            <p:ph type="title"/>
          </p:nvPr>
        </p:nvSpPr>
        <p:spPr/>
        <p:txBody>
          <a:bodyPr/>
          <a:lstStyle/>
          <a:p>
            <a:r>
              <a:rPr lang="en-US" dirty="0"/>
              <a:t>Exercise (part 1)</a:t>
            </a:r>
          </a:p>
        </p:txBody>
      </p:sp>
      <p:sp>
        <p:nvSpPr>
          <p:cNvPr id="3" name="Content Placeholder 2">
            <a:extLst>
              <a:ext uri="{FF2B5EF4-FFF2-40B4-BE49-F238E27FC236}">
                <a16:creationId xmlns:a16="http://schemas.microsoft.com/office/drawing/2014/main" id="{DA513D6F-B8AC-4849-95B7-EA4D16EE19C0}"/>
              </a:ext>
            </a:extLst>
          </p:cNvPr>
          <p:cNvSpPr>
            <a:spLocks noGrp="1"/>
          </p:cNvSpPr>
          <p:nvPr>
            <p:ph idx="1"/>
          </p:nvPr>
        </p:nvSpPr>
        <p:spPr>
          <a:xfrm>
            <a:off x="0" y="1737360"/>
            <a:ext cx="12192000" cy="4608695"/>
          </a:xfrm>
        </p:spPr>
        <p:txBody>
          <a:bodyPr>
            <a:normAutofit/>
          </a:bodyPr>
          <a:lstStyle/>
          <a:p>
            <a:r>
              <a:rPr lang="en-US" dirty="0"/>
              <a:t>Write a class named User with the following specifications:</a:t>
            </a:r>
          </a:p>
          <a:p>
            <a:pPr lvl="1"/>
            <a:r>
              <a:rPr lang="en-US" dirty="0"/>
              <a:t>Two protected instance variables:</a:t>
            </a:r>
          </a:p>
          <a:p>
            <a:pPr lvl="2"/>
            <a:r>
              <a:rPr lang="en-US" b="1" dirty="0"/>
              <a:t>userName</a:t>
            </a:r>
            <a:r>
              <a:rPr lang="en-US" dirty="0"/>
              <a:t> of type String.</a:t>
            </a:r>
          </a:p>
          <a:p>
            <a:pPr lvl="2"/>
            <a:r>
              <a:rPr lang="en-US" altLang="ko-KR" b="1" dirty="0">
                <a:ea typeface="Batang" panose="02030600000101010101" pitchFamily="18" charset="-127"/>
              </a:rPr>
              <a:t>email</a:t>
            </a:r>
            <a:r>
              <a:rPr lang="en-US" altLang="ko-KR" dirty="0">
                <a:ea typeface="Batang" panose="02030600000101010101" pitchFamily="18" charset="-127"/>
              </a:rPr>
              <a:t> of type String.</a:t>
            </a:r>
          </a:p>
          <a:p>
            <a:pPr lvl="1"/>
            <a:r>
              <a:rPr lang="en-US" dirty="0"/>
              <a:t>One private instance variable:</a:t>
            </a:r>
          </a:p>
          <a:p>
            <a:pPr lvl="2"/>
            <a:r>
              <a:rPr lang="en-US" b="1" dirty="0"/>
              <a:t>password</a:t>
            </a:r>
            <a:r>
              <a:rPr lang="en-US" dirty="0"/>
              <a:t> of type String, which must consist of a minimum of 8 characters.</a:t>
            </a:r>
          </a:p>
          <a:p>
            <a:pPr lvl="1"/>
            <a:r>
              <a:rPr lang="en-US" altLang="ko-KR" dirty="0">
                <a:ea typeface="Batang" panose="02030600000101010101" pitchFamily="18" charset="-127"/>
              </a:rPr>
              <a:t>One constructor with full parameters.</a:t>
            </a:r>
          </a:p>
          <a:p>
            <a:pPr lvl="1"/>
            <a:r>
              <a:rPr lang="en-US" altLang="ko-KR" dirty="0">
                <a:ea typeface="Batang" panose="02030600000101010101" pitchFamily="18" charset="-127"/>
              </a:rPr>
              <a:t>An abstract public method </a:t>
            </a:r>
            <a:r>
              <a:rPr lang="en-US" altLang="ko-KR" b="1" dirty="0" err="1">
                <a:ea typeface="Batang" panose="02030600000101010101" pitchFamily="18" charset="-127"/>
              </a:rPr>
              <a:t>logIn</a:t>
            </a:r>
            <a:r>
              <a:rPr lang="en-US" altLang="ko-KR" b="1" dirty="0">
                <a:ea typeface="Batang" panose="02030600000101010101" pitchFamily="18" charset="-127"/>
              </a:rPr>
              <a:t>(</a:t>
            </a:r>
            <a:r>
              <a:rPr lang="en-US" altLang="ko-KR" b="1" dirty="0" err="1">
                <a:ea typeface="Batang" panose="02030600000101010101" pitchFamily="18" charset="-127"/>
              </a:rPr>
              <a:t>enteredUName</a:t>
            </a:r>
            <a:r>
              <a:rPr lang="en-US" altLang="ko-KR" b="1" dirty="0">
                <a:ea typeface="Batang" panose="02030600000101010101" pitchFamily="18" charset="-127"/>
              </a:rPr>
              <a:t>, </a:t>
            </a:r>
            <a:r>
              <a:rPr lang="en-US" altLang="ko-KR" b="1" dirty="0" err="1">
                <a:ea typeface="Batang" panose="02030600000101010101" pitchFamily="18" charset="-127"/>
              </a:rPr>
              <a:t>enteredPass</a:t>
            </a:r>
            <a:r>
              <a:rPr lang="en-US" altLang="ko-KR" b="1" dirty="0">
                <a:ea typeface="Batang" panose="02030600000101010101" pitchFamily="18" charset="-127"/>
              </a:rPr>
              <a:t>)</a:t>
            </a:r>
            <a:r>
              <a:rPr lang="en-US" altLang="ko-KR" dirty="0">
                <a:ea typeface="Batang" panose="02030600000101010101" pitchFamily="18" charset="-127"/>
              </a:rPr>
              <a:t> that returns a String value.</a:t>
            </a:r>
          </a:p>
          <a:p>
            <a:pPr lvl="1"/>
            <a:r>
              <a:rPr lang="en-US" altLang="ko-KR" dirty="0">
                <a:ea typeface="Batang" panose="02030600000101010101" pitchFamily="18" charset="-127"/>
              </a:rPr>
              <a:t>Mutator and accessor methods (getter/setter) for </a:t>
            </a:r>
            <a:r>
              <a:rPr lang="en-US" altLang="ko-KR" b="1" dirty="0">
                <a:ea typeface="Batang" panose="02030600000101010101" pitchFamily="18" charset="-127"/>
              </a:rPr>
              <a:t>password</a:t>
            </a:r>
            <a:r>
              <a:rPr lang="en-US" altLang="ko-KR" dirty="0">
                <a:ea typeface="Batang" panose="02030600000101010101" pitchFamily="18" charset="-127"/>
              </a:rPr>
              <a:t>.</a:t>
            </a:r>
          </a:p>
          <a:p>
            <a:pPr lvl="1"/>
            <a:r>
              <a:rPr lang="en-US" altLang="ko-KR" dirty="0" err="1">
                <a:ea typeface="Batang" panose="02030600000101010101" pitchFamily="18" charset="-127"/>
              </a:rPr>
              <a:t>toString</a:t>
            </a:r>
            <a:r>
              <a:rPr lang="en-US" altLang="ko-KR" dirty="0">
                <a:ea typeface="Batang" panose="02030600000101010101" pitchFamily="18" charset="-127"/>
              </a:rPr>
              <a:t> method that returns the values of all the data fields in the following format:</a:t>
            </a:r>
          </a:p>
          <a:p>
            <a:pPr lvl="2"/>
            <a:r>
              <a:rPr lang="en-US" altLang="ko-KR" dirty="0">
                <a:ea typeface="Batang" panose="02030600000101010101" pitchFamily="18" charset="-127"/>
              </a:rPr>
              <a:t>User: -----------, Email: ---------Password: ---------.</a:t>
            </a:r>
            <a:endParaRPr lang="en-US" dirty="0"/>
          </a:p>
        </p:txBody>
      </p:sp>
      <p:sp>
        <p:nvSpPr>
          <p:cNvPr id="4" name="Footer Placeholder 3">
            <a:extLst>
              <a:ext uri="{FF2B5EF4-FFF2-40B4-BE49-F238E27FC236}">
                <a16:creationId xmlns:a16="http://schemas.microsoft.com/office/drawing/2014/main" id="{FBF05446-DBCB-43F2-B507-77A4EBD81850}"/>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76810349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EB0C-4868-4096-A9F4-C466DF55570F}"/>
              </a:ext>
            </a:extLst>
          </p:cNvPr>
          <p:cNvSpPr>
            <a:spLocks noGrp="1"/>
          </p:cNvSpPr>
          <p:nvPr>
            <p:ph type="title"/>
          </p:nvPr>
        </p:nvSpPr>
        <p:spPr/>
        <p:txBody>
          <a:bodyPr/>
          <a:lstStyle/>
          <a:p>
            <a:r>
              <a:rPr lang="en-US" dirty="0"/>
              <a:t>Exercise (part 2)</a:t>
            </a:r>
          </a:p>
        </p:txBody>
      </p:sp>
      <p:sp>
        <p:nvSpPr>
          <p:cNvPr id="3" name="Content Placeholder 2">
            <a:extLst>
              <a:ext uri="{FF2B5EF4-FFF2-40B4-BE49-F238E27FC236}">
                <a16:creationId xmlns:a16="http://schemas.microsoft.com/office/drawing/2014/main" id="{DA513D6F-B8AC-4849-95B7-EA4D16EE19C0}"/>
              </a:ext>
            </a:extLst>
          </p:cNvPr>
          <p:cNvSpPr>
            <a:spLocks noGrp="1"/>
          </p:cNvSpPr>
          <p:nvPr>
            <p:ph idx="1"/>
          </p:nvPr>
        </p:nvSpPr>
        <p:spPr>
          <a:xfrm>
            <a:off x="0" y="1737360"/>
            <a:ext cx="12192000" cy="4608695"/>
          </a:xfrm>
        </p:spPr>
        <p:txBody>
          <a:bodyPr>
            <a:normAutofit/>
          </a:bodyPr>
          <a:lstStyle/>
          <a:p>
            <a:r>
              <a:rPr lang="en-US" dirty="0"/>
              <a:t>Write a subclass named </a:t>
            </a:r>
            <a:r>
              <a:rPr lang="en-US" b="1" dirty="0" err="1"/>
              <a:t>PremiumUser</a:t>
            </a:r>
            <a:r>
              <a:rPr lang="en-US" dirty="0"/>
              <a:t> that inherits from the User class, with the following specifications:</a:t>
            </a:r>
          </a:p>
          <a:p>
            <a:pPr lvl="1"/>
            <a:r>
              <a:rPr lang="en-US" dirty="0"/>
              <a:t>Two default instance variables:</a:t>
            </a:r>
          </a:p>
          <a:p>
            <a:pPr lvl="2"/>
            <a:r>
              <a:rPr lang="en-US" b="1" dirty="0">
                <a:ea typeface="Batang" panose="02030600000101010101" pitchFamily="18" charset="-127"/>
                <a:cs typeface="Times New Roman" panose="02020603050405020304" pitchFamily="18" charset="0"/>
              </a:rPr>
              <a:t>subscriptionType</a:t>
            </a:r>
            <a:r>
              <a:rPr lang="en-US" dirty="0"/>
              <a:t> of type String.</a:t>
            </a:r>
          </a:p>
          <a:p>
            <a:pPr lvl="2"/>
            <a:r>
              <a:rPr lang="en-US" b="1" dirty="0" err="1">
                <a:ea typeface="Batang" panose="02030600000101010101" pitchFamily="18" charset="-127"/>
                <a:cs typeface="Times New Roman" panose="02020603050405020304" pitchFamily="18" charset="0"/>
              </a:rPr>
              <a:t>subscriptionFee</a:t>
            </a:r>
            <a:r>
              <a:rPr lang="en-US" altLang="ko-KR" dirty="0">
                <a:ea typeface="Batang" panose="02030600000101010101" pitchFamily="18" charset="-127"/>
              </a:rPr>
              <a:t> of type double.</a:t>
            </a:r>
          </a:p>
          <a:p>
            <a:pPr lvl="1"/>
            <a:r>
              <a:rPr lang="en-US" altLang="ko-KR" dirty="0">
                <a:ea typeface="Batang" panose="02030600000101010101" pitchFamily="18" charset="-127"/>
              </a:rPr>
              <a:t>One constructor with full parameters.</a:t>
            </a:r>
          </a:p>
          <a:p>
            <a:pPr lvl="1"/>
            <a:r>
              <a:rPr lang="en-US" altLang="ko-KR" dirty="0">
                <a:ea typeface="Batang" panose="02030600000101010101" pitchFamily="18" charset="-127"/>
              </a:rPr>
              <a:t>An abstract public method </a:t>
            </a:r>
            <a:r>
              <a:rPr lang="en-US" altLang="ko-KR" b="1" dirty="0" err="1">
                <a:ea typeface="Batang" panose="02030600000101010101" pitchFamily="18" charset="-127"/>
              </a:rPr>
              <a:t>logIn</a:t>
            </a:r>
            <a:r>
              <a:rPr lang="en-US" altLang="ko-KR" b="1" dirty="0">
                <a:ea typeface="Batang" panose="02030600000101010101" pitchFamily="18" charset="-127"/>
              </a:rPr>
              <a:t>(</a:t>
            </a:r>
            <a:r>
              <a:rPr lang="en-US" altLang="ko-KR" b="1" dirty="0" err="1">
                <a:ea typeface="Batang" panose="02030600000101010101" pitchFamily="18" charset="-127"/>
              </a:rPr>
              <a:t>enteredUName</a:t>
            </a:r>
            <a:r>
              <a:rPr lang="en-US" altLang="ko-KR" b="1" dirty="0">
                <a:ea typeface="Batang" panose="02030600000101010101" pitchFamily="18" charset="-127"/>
              </a:rPr>
              <a:t>, </a:t>
            </a:r>
            <a:r>
              <a:rPr lang="en-US" altLang="ko-KR" b="1" dirty="0" err="1">
                <a:ea typeface="Batang" panose="02030600000101010101" pitchFamily="18" charset="-127"/>
              </a:rPr>
              <a:t>enteredPass</a:t>
            </a:r>
            <a:r>
              <a:rPr lang="en-US" altLang="ko-KR" b="1" dirty="0">
                <a:ea typeface="Batang" panose="02030600000101010101" pitchFamily="18" charset="-127"/>
              </a:rPr>
              <a:t>)</a:t>
            </a:r>
            <a:r>
              <a:rPr lang="en-US" altLang="ko-KR" dirty="0">
                <a:ea typeface="Batang" panose="02030600000101010101" pitchFamily="18" charset="-127"/>
              </a:rPr>
              <a:t> to return “you are successfully logged in” if the entered password and entered username match  to userName and password, otherwise return “try again”.</a:t>
            </a:r>
          </a:p>
          <a:p>
            <a:pPr lvl="1"/>
            <a:r>
              <a:rPr lang="en-US" dirty="0"/>
              <a:t>Override </a:t>
            </a:r>
            <a:r>
              <a:rPr lang="en-US" dirty="0" err="1"/>
              <a:t>toString</a:t>
            </a:r>
            <a:r>
              <a:rPr lang="en-US" dirty="0"/>
              <a:t> method that returns the values of all the data fields.</a:t>
            </a:r>
          </a:p>
        </p:txBody>
      </p:sp>
      <p:sp>
        <p:nvSpPr>
          <p:cNvPr id="4" name="Footer Placeholder 3">
            <a:extLst>
              <a:ext uri="{FF2B5EF4-FFF2-40B4-BE49-F238E27FC236}">
                <a16:creationId xmlns:a16="http://schemas.microsoft.com/office/drawing/2014/main" id="{FBF05446-DBCB-43F2-B507-77A4EBD81850}"/>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08062894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6EB0C-4868-4096-A9F4-C466DF55570F}"/>
              </a:ext>
            </a:extLst>
          </p:cNvPr>
          <p:cNvSpPr>
            <a:spLocks noGrp="1"/>
          </p:cNvSpPr>
          <p:nvPr>
            <p:ph type="title"/>
          </p:nvPr>
        </p:nvSpPr>
        <p:spPr/>
        <p:txBody>
          <a:bodyPr/>
          <a:lstStyle/>
          <a:p>
            <a:r>
              <a:rPr lang="en-US" dirty="0"/>
              <a:t>Exercise (part 3)</a:t>
            </a:r>
          </a:p>
        </p:txBody>
      </p:sp>
      <p:sp>
        <p:nvSpPr>
          <p:cNvPr id="3" name="Content Placeholder 2">
            <a:extLst>
              <a:ext uri="{FF2B5EF4-FFF2-40B4-BE49-F238E27FC236}">
                <a16:creationId xmlns:a16="http://schemas.microsoft.com/office/drawing/2014/main" id="{DA513D6F-B8AC-4849-95B7-EA4D16EE19C0}"/>
              </a:ext>
            </a:extLst>
          </p:cNvPr>
          <p:cNvSpPr>
            <a:spLocks noGrp="1"/>
          </p:cNvSpPr>
          <p:nvPr>
            <p:ph idx="1"/>
          </p:nvPr>
        </p:nvSpPr>
        <p:spPr>
          <a:xfrm>
            <a:off x="244699" y="1991932"/>
            <a:ext cx="11724067" cy="4151291"/>
          </a:xfrm>
        </p:spPr>
        <p:txBody>
          <a:bodyPr>
            <a:normAutofit/>
          </a:bodyPr>
          <a:lstStyle/>
          <a:p>
            <a:r>
              <a:rPr lang="en-US" dirty="0"/>
              <a:t>Write a Java class named </a:t>
            </a:r>
            <a:r>
              <a:rPr lang="en-US" b="1" dirty="0" err="1"/>
              <a:t>PremiumUserDemo</a:t>
            </a:r>
            <a:r>
              <a:rPr lang="en-US" dirty="0"/>
              <a:t> that creates an object of type </a:t>
            </a:r>
            <a:r>
              <a:rPr lang="en-US" b="1" dirty="0" err="1"/>
              <a:t>PremiumUser</a:t>
            </a:r>
            <a:r>
              <a:rPr lang="en-US" dirty="0"/>
              <a:t>. Invoke </a:t>
            </a:r>
            <a:r>
              <a:rPr lang="en-US" b="1" dirty="0" err="1"/>
              <a:t>logIn</a:t>
            </a:r>
            <a:r>
              <a:rPr lang="en-US" b="1" dirty="0"/>
              <a:t>(</a:t>
            </a:r>
            <a:r>
              <a:rPr lang="en-US" b="1" dirty="0" err="1"/>
              <a:t>enteredUName</a:t>
            </a:r>
            <a:r>
              <a:rPr lang="en-US" b="1" dirty="0"/>
              <a:t>, </a:t>
            </a:r>
            <a:r>
              <a:rPr lang="en-US" b="1" dirty="0" err="1"/>
              <a:t>enteredPass</a:t>
            </a:r>
            <a:r>
              <a:rPr lang="en-US" b="1" dirty="0"/>
              <a:t>) </a:t>
            </a:r>
            <a:r>
              <a:rPr lang="en-US" dirty="0"/>
              <a:t>“Enter any values you want to test ” then </a:t>
            </a:r>
            <a:r>
              <a:rPr lang="en-US" b="1" dirty="0"/>
              <a:t>print the return value and print user details on the screen</a:t>
            </a:r>
            <a:r>
              <a:rPr lang="en-US" dirty="0"/>
              <a:t>.</a:t>
            </a:r>
          </a:p>
        </p:txBody>
      </p:sp>
      <p:sp>
        <p:nvSpPr>
          <p:cNvPr id="4" name="Footer Placeholder 3">
            <a:extLst>
              <a:ext uri="{FF2B5EF4-FFF2-40B4-BE49-F238E27FC236}">
                <a16:creationId xmlns:a16="http://schemas.microsoft.com/office/drawing/2014/main" id="{FBF05446-DBCB-43F2-B507-77A4EBD81850}"/>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00937068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[1] Introduction to Java Programming, Comprehensive Version, Student Value Edition, Daniel Liang, 12th Edition, Pearson 2019</a:t>
            </a:r>
          </a:p>
          <a:p>
            <a:r>
              <a:rPr lang="en-US" altLang="en-US" dirty="0"/>
              <a:t>lecture Notes :edugate.asu.edu.jo.</a:t>
            </a:r>
          </a:p>
          <a:p>
            <a:r>
              <a:rPr lang="en-US" altLang="en-US" dirty="0"/>
              <a:t>lecture  Videos : YouTube channel.</a:t>
            </a:r>
          </a:p>
          <a:p>
            <a:r>
              <a:rPr lang="en-US" altLang="en-US" dirty="0"/>
              <a:t>Lab manual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27438597"/>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AD21629-8556-4260-8D0A-66F958DBEB56}">
  <ds:schemaRefs>
    <ds:schemaRef ds:uri="http://schemas.microsoft.com/sharepoint/v3/contenttype/forms"/>
  </ds:schemaRefs>
</ds:datastoreItem>
</file>

<file path=customXml/itemProps2.xml><?xml version="1.0" encoding="utf-8"?>
<ds:datastoreItem xmlns:ds="http://schemas.openxmlformats.org/officeDocument/2006/customXml" ds:itemID="{912BDA57-2290-4D27-826A-039C6CB9E851}"/>
</file>

<file path=customXml/itemProps3.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docProps/app.xml><?xml version="1.0" encoding="utf-8"?>
<Properties xmlns="http://schemas.openxmlformats.org/officeDocument/2006/extended-properties" xmlns:vt="http://schemas.openxmlformats.org/officeDocument/2006/docPropsVTypes">
  <Template>Retrospect</Template>
  <TotalTime>3692</TotalTime>
  <Words>2273</Words>
  <Application>Microsoft Office PowerPoint</Application>
  <PresentationFormat>Widescreen</PresentationFormat>
  <Paragraphs>202</Paragraphs>
  <Slides>26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Batang</vt:lpstr>
      <vt:lpstr>Arial</vt:lpstr>
      <vt:lpstr>Calibri</vt:lpstr>
      <vt:lpstr>Courier New</vt:lpstr>
      <vt:lpstr>Times New Roman</vt:lpstr>
      <vt:lpstr>Wingdings</vt:lpstr>
      <vt:lpstr>Retrospect</vt:lpstr>
      <vt:lpstr>Fundamental Programming Structures in JAVA</vt:lpstr>
      <vt:lpstr>Objectives</vt:lpstr>
      <vt:lpstr>Abstraction in Real Life</vt:lpstr>
      <vt:lpstr>Abstraction in OOP</vt:lpstr>
      <vt:lpstr>Data Abstraction</vt:lpstr>
      <vt:lpstr>Process Abstraction</vt:lpstr>
      <vt:lpstr>Abstraction in Java</vt:lpstr>
      <vt:lpstr>Abstract Classes</vt:lpstr>
      <vt:lpstr>Abstract Classes</vt:lpstr>
      <vt:lpstr>Abstract Classes</vt:lpstr>
      <vt:lpstr>Abstract Classes Features </vt:lpstr>
      <vt:lpstr>Abstract Classes Features </vt:lpstr>
      <vt:lpstr>Abstract Methods</vt:lpstr>
      <vt:lpstr>Abstract Methods</vt:lpstr>
      <vt:lpstr>Abstract class and abstract methods </vt:lpstr>
      <vt:lpstr>Abstract Class and Abstract Methods Example</vt:lpstr>
      <vt:lpstr>Abstract Class and Abstract Methods Example (Design Phase)</vt:lpstr>
      <vt:lpstr>Abstract Class and Abstract Methods Example</vt:lpstr>
      <vt:lpstr>Abstract Class and Abstract Methods Example (implementation phase)</vt:lpstr>
      <vt:lpstr>Abstract Class and Abstract Methods Example (implementation phase)</vt:lpstr>
      <vt:lpstr>Abstract Class and Abstract Methods Example (implementation phase)</vt:lpstr>
      <vt:lpstr>Abstract Class and Abstract Methods Example (implementation phase)</vt:lpstr>
      <vt:lpstr>Exercise (part 1)</vt:lpstr>
      <vt:lpstr>Exercise (part 2)</vt:lpstr>
      <vt:lpstr>Exercise (part 3)</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Baraa Qaddoumi</cp:lastModifiedBy>
  <cp:revision>46</cp:revision>
  <dcterms:created xsi:type="dcterms:W3CDTF">2023-12-21T19:04:58Z</dcterms:created>
  <dcterms:modified xsi:type="dcterms:W3CDTF">2024-02-26T05:54:52Z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ies>
</file>