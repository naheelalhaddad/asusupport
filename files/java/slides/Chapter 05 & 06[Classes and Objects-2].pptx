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72"/>
  </p:notesMasterIdLst>
  <p:sldIdLst>
    <p:sldId id="256" r:id="rId5"/>
    <p:sldId id="257" r:id="rId6"/>
    <p:sldId id="385" r:id="rId7"/>
    <p:sldId id="258" r:id="rId8"/>
    <p:sldId id="270" r:id="rId9"/>
    <p:sldId id="271" r:id="rId10"/>
    <p:sldId id="272" r:id="rId11"/>
    <p:sldId id="386" r:id="rId12"/>
    <p:sldId id="273" r:id="rId13"/>
    <p:sldId id="339" r:id="rId14"/>
    <p:sldId id="337" r:id="rId15"/>
    <p:sldId id="338" r:id="rId16"/>
    <p:sldId id="336" r:id="rId17"/>
    <p:sldId id="340" r:id="rId18"/>
    <p:sldId id="387" r:id="rId19"/>
    <p:sldId id="388" r:id="rId20"/>
    <p:sldId id="389" r:id="rId21"/>
    <p:sldId id="341" r:id="rId22"/>
    <p:sldId id="390" r:id="rId23"/>
    <p:sldId id="391" r:id="rId24"/>
    <p:sldId id="392" r:id="rId25"/>
    <p:sldId id="393" r:id="rId26"/>
    <p:sldId id="394" r:id="rId27"/>
    <p:sldId id="344" r:id="rId28"/>
    <p:sldId id="342" r:id="rId29"/>
    <p:sldId id="343" r:id="rId30"/>
    <p:sldId id="345" r:id="rId31"/>
    <p:sldId id="346" r:id="rId32"/>
    <p:sldId id="347" r:id="rId33"/>
    <p:sldId id="395" r:id="rId34"/>
    <p:sldId id="348" r:id="rId35"/>
    <p:sldId id="396" r:id="rId36"/>
    <p:sldId id="350" r:id="rId37"/>
    <p:sldId id="349" r:id="rId38"/>
    <p:sldId id="351" r:id="rId39"/>
    <p:sldId id="355" r:id="rId40"/>
    <p:sldId id="397" r:id="rId41"/>
    <p:sldId id="352" r:id="rId42"/>
    <p:sldId id="353" r:id="rId43"/>
    <p:sldId id="362" r:id="rId44"/>
    <p:sldId id="398" r:id="rId45"/>
    <p:sldId id="399" r:id="rId46"/>
    <p:sldId id="363" r:id="rId47"/>
    <p:sldId id="364" r:id="rId48"/>
    <p:sldId id="400" r:id="rId49"/>
    <p:sldId id="401" r:id="rId50"/>
    <p:sldId id="402" r:id="rId51"/>
    <p:sldId id="403" r:id="rId52"/>
    <p:sldId id="404" r:id="rId53"/>
    <p:sldId id="405" r:id="rId54"/>
    <p:sldId id="406" r:id="rId55"/>
    <p:sldId id="407" r:id="rId56"/>
    <p:sldId id="408" r:id="rId57"/>
    <p:sldId id="409" r:id="rId58"/>
    <p:sldId id="410" r:id="rId59"/>
    <p:sldId id="365" r:id="rId60"/>
    <p:sldId id="908" r:id="rId61"/>
    <p:sldId id="909" r:id="rId62"/>
    <p:sldId id="910" r:id="rId63"/>
    <p:sldId id="833" r:id="rId64"/>
    <p:sldId id="911" r:id="rId65"/>
    <p:sldId id="912" r:id="rId66"/>
    <p:sldId id="913" r:id="rId67"/>
    <p:sldId id="914" r:id="rId68"/>
    <p:sldId id="915" r:id="rId69"/>
    <p:sldId id="916" r:id="rId70"/>
    <p:sldId id="878"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564"/>
    <a:srgbClr val="FF0000"/>
    <a:srgbClr val="4A66AC"/>
    <a:srgbClr val="FF3B3B"/>
    <a:srgbClr val="629DD1"/>
    <a:srgbClr val="ADBADA"/>
    <a:srgbClr val="0070C0"/>
    <a:srgbClr val="D9A0FF"/>
    <a:srgbClr val="E8ECF5"/>
    <a:srgbClr val="B24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D5D581-FDAE-0D85-9C92-40C03D21F4A2}" v="48" dt="2024-02-25T22:59:38.649"/>
    <p1510:client id="{B31C9C19-BCE6-EE82-AE55-603CDE74E3FC}" v="59" dt="2024-02-25T23:11:28.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72" autoAdjust="0"/>
    <p:restoredTop sz="93390" autoAdjust="0"/>
  </p:normalViewPr>
  <p:slideViewPr>
    <p:cSldViewPr snapToGrid="0">
      <p:cViewPr varScale="1">
        <p:scale>
          <a:sx n="80" d="100"/>
          <a:sy n="80" d="100"/>
        </p:scale>
        <p:origin x="10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19D5D581-FDAE-0D85-9C92-40C03D21F4A2}"/>
    <pc:docChg chg="mod modSld modMainMaster">
      <pc:chgData name="Bara Hamadeh" userId="S::b_hamadeh@asu.edu.jo::ba91a99f-f3ba-46e6-ad5d-582794b375a9" providerId="AD" clId="Web-{19D5D581-FDAE-0D85-9C92-40C03D21F4A2}" dt="2024-02-25T22:59:38.649" v="47"/>
      <pc:docMkLst>
        <pc:docMk/>
      </pc:docMkLst>
      <pc:sldChg chg="delSp modTransition">
        <pc:chgData name="Bara Hamadeh" userId="S::b_hamadeh@asu.edu.jo::ba91a99f-f3ba-46e6-ad5d-582794b375a9" providerId="AD" clId="Web-{19D5D581-FDAE-0D85-9C92-40C03D21F4A2}" dt="2024-02-25T22:59:33.680" v="46"/>
        <pc:sldMkLst>
          <pc:docMk/>
          <pc:sldMk cId="98556299" sldId="256"/>
        </pc:sldMkLst>
        <pc:spChg chg="del">
          <ac:chgData name="Bara Hamadeh" userId="S::b_hamadeh@asu.edu.jo::ba91a99f-f3ba-46e6-ad5d-582794b375a9" providerId="AD" clId="Web-{19D5D581-FDAE-0D85-9C92-40C03D21F4A2}" dt="2024-02-25T22:59:33.680" v="46"/>
          <ac:spMkLst>
            <pc:docMk/>
            <pc:sldMk cId="98556299" sldId="256"/>
            <ac:spMk id="4" creationId="{3E2AE632-31A0-217D-FD10-0A342181E0D1}"/>
          </ac:spMkLst>
        </pc:spChg>
      </pc:sldChg>
      <pc:sldChg chg="modTransition">
        <pc:chgData name="Bara Hamadeh" userId="S::b_hamadeh@asu.edu.jo::ba91a99f-f3ba-46e6-ad5d-582794b375a9" providerId="AD" clId="Web-{19D5D581-FDAE-0D85-9C92-40C03D21F4A2}" dt="2024-02-25T22:59:18.320" v="1"/>
        <pc:sldMkLst>
          <pc:docMk/>
          <pc:sldMk cId="560566907" sldId="342"/>
        </pc:sldMkLst>
      </pc:sldChg>
      <pc:sldChg chg="modTransition">
        <pc:chgData name="Bara Hamadeh" userId="S::b_hamadeh@asu.edu.jo::ba91a99f-f3ba-46e6-ad5d-582794b375a9" providerId="AD" clId="Web-{19D5D581-FDAE-0D85-9C92-40C03D21F4A2}" dt="2024-02-25T22:59:18.320" v="2"/>
        <pc:sldMkLst>
          <pc:docMk/>
          <pc:sldMk cId="40925280" sldId="343"/>
        </pc:sldMkLst>
      </pc:sldChg>
      <pc:sldChg chg="modTransition">
        <pc:chgData name="Bara Hamadeh" userId="S::b_hamadeh@asu.edu.jo::ba91a99f-f3ba-46e6-ad5d-582794b375a9" providerId="AD" clId="Web-{19D5D581-FDAE-0D85-9C92-40C03D21F4A2}" dt="2024-02-25T22:59:18.320" v="0"/>
        <pc:sldMkLst>
          <pc:docMk/>
          <pc:sldMk cId="2448275488" sldId="344"/>
        </pc:sldMkLst>
      </pc:sldChg>
      <pc:sldChg chg="modTransition">
        <pc:chgData name="Bara Hamadeh" userId="S::b_hamadeh@asu.edu.jo::ba91a99f-f3ba-46e6-ad5d-582794b375a9" providerId="AD" clId="Web-{19D5D581-FDAE-0D85-9C92-40C03D21F4A2}" dt="2024-02-25T22:59:18.320" v="3"/>
        <pc:sldMkLst>
          <pc:docMk/>
          <pc:sldMk cId="1835114687" sldId="345"/>
        </pc:sldMkLst>
      </pc:sldChg>
      <pc:sldChg chg="modTransition">
        <pc:chgData name="Bara Hamadeh" userId="S::b_hamadeh@asu.edu.jo::ba91a99f-f3ba-46e6-ad5d-582794b375a9" providerId="AD" clId="Web-{19D5D581-FDAE-0D85-9C92-40C03D21F4A2}" dt="2024-02-25T22:59:18.320" v="4"/>
        <pc:sldMkLst>
          <pc:docMk/>
          <pc:sldMk cId="1921581898" sldId="346"/>
        </pc:sldMkLst>
      </pc:sldChg>
      <pc:sldChg chg="modTransition">
        <pc:chgData name="Bara Hamadeh" userId="S::b_hamadeh@asu.edu.jo::ba91a99f-f3ba-46e6-ad5d-582794b375a9" providerId="AD" clId="Web-{19D5D581-FDAE-0D85-9C92-40C03D21F4A2}" dt="2024-02-25T22:59:18.320" v="5"/>
        <pc:sldMkLst>
          <pc:docMk/>
          <pc:sldMk cId="670506173" sldId="347"/>
        </pc:sldMkLst>
      </pc:sldChg>
      <pc:sldChg chg="modTransition">
        <pc:chgData name="Bara Hamadeh" userId="S::b_hamadeh@asu.edu.jo::ba91a99f-f3ba-46e6-ad5d-582794b375a9" providerId="AD" clId="Web-{19D5D581-FDAE-0D85-9C92-40C03D21F4A2}" dt="2024-02-25T22:59:18.336" v="7"/>
        <pc:sldMkLst>
          <pc:docMk/>
          <pc:sldMk cId="2976726878" sldId="348"/>
        </pc:sldMkLst>
      </pc:sldChg>
      <pc:sldChg chg="modTransition">
        <pc:chgData name="Bara Hamadeh" userId="S::b_hamadeh@asu.edu.jo::ba91a99f-f3ba-46e6-ad5d-582794b375a9" providerId="AD" clId="Web-{19D5D581-FDAE-0D85-9C92-40C03D21F4A2}" dt="2024-02-25T22:59:18.336" v="10"/>
        <pc:sldMkLst>
          <pc:docMk/>
          <pc:sldMk cId="2086026616" sldId="349"/>
        </pc:sldMkLst>
      </pc:sldChg>
      <pc:sldChg chg="modTransition">
        <pc:chgData name="Bara Hamadeh" userId="S::b_hamadeh@asu.edu.jo::ba91a99f-f3ba-46e6-ad5d-582794b375a9" providerId="AD" clId="Web-{19D5D581-FDAE-0D85-9C92-40C03D21F4A2}" dt="2024-02-25T22:59:18.336" v="9"/>
        <pc:sldMkLst>
          <pc:docMk/>
          <pc:sldMk cId="719457455" sldId="350"/>
        </pc:sldMkLst>
      </pc:sldChg>
      <pc:sldChg chg="modTransition">
        <pc:chgData name="Bara Hamadeh" userId="S::b_hamadeh@asu.edu.jo::ba91a99f-f3ba-46e6-ad5d-582794b375a9" providerId="AD" clId="Web-{19D5D581-FDAE-0D85-9C92-40C03D21F4A2}" dt="2024-02-25T22:59:18.336" v="11"/>
        <pc:sldMkLst>
          <pc:docMk/>
          <pc:sldMk cId="3073064742" sldId="351"/>
        </pc:sldMkLst>
      </pc:sldChg>
      <pc:sldChg chg="modTransition">
        <pc:chgData name="Bara Hamadeh" userId="S::b_hamadeh@asu.edu.jo::ba91a99f-f3ba-46e6-ad5d-582794b375a9" providerId="AD" clId="Web-{19D5D581-FDAE-0D85-9C92-40C03D21F4A2}" dt="2024-02-25T22:59:18.336" v="14"/>
        <pc:sldMkLst>
          <pc:docMk/>
          <pc:sldMk cId="143634987" sldId="352"/>
        </pc:sldMkLst>
      </pc:sldChg>
      <pc:sldChg chg="modTransition">
        <pc:chgData name="Bara Hamadeh" userId="S::b_hamadeh@asu.edu.jo::ba91a99f-f3ba-46e6-ad5d-582794b375a9" providerId="AD" clId="Web-{19D5D581-FDAE-0D85-9C92-40C03D21F4A2}" dt="2024-02-25T22:59:18.336" v="15"/>
        <pc:sldMkLst>
          <pc:docMk/>
          <pc:sldMk cId="1241031427" sldId="353"/>
        </pc:sldMkLst>
      </pc:sldChg>
      <pc:sldChg chg="modTransition">
        <pc:chgData name="Bara Hamadeh" userId="S::b_hamadeh@asu.edu.jo::ba91a99f-f3ba-46e6-ad5d-582794b375a9" providerId="AD" clId="Web-{19D5D581-FDAE-0D85-9C92-40C03D21F4A2}" dt="2024-02-25T22:59:18.336" v="12"/>
        <pc:sldMkLst>
          <pc:docMk/>
          <pc:sldMk cId="3135682427" sldId="355"/>
        </pc:sldMkLst>
      </pc:sldChg>
      <pc:sldChg chg="modTransition">
        <pc:chgData name="Bara Hamadeh" userId="S::b_hamadeh@asu.edu.jo::ba91a99f-f3ba-46e6-ad5d-582794b375a9" providerId="AD" clId="Web-{19D5D581-FDAE-0D85-9C92-40C03D21F4A2}" dt="2024-02-25T22:59:18.336" v="16"/>
        <pc:sldMkLst>
          <pc:docMk/>
          <pc:sldMk cId="1953035288" sldId="362"/>
        </pc:sldMkLst>
      </pc:sldChg>
      <pc:sldChg chg="modTransition">
        <pc:chgData name="Bara Hamadeh" userId="S::b_hamadeh@asu.edu.jo::ba91a99f-f3ba-46e6-ad5d-582794b375a9" providerId="AD" clId="Web-{19D5D581-FDAE-0D85-9C92-40C03D21F4A2}" dt="2024-02-25T22:59:18.351" v="19"/>
        <pc:sldMkLst>
          <pc:docMk/>
          <pc:sldMk cId="1351084240" sldId="363"/>
        </pc:sldMkLst>
      </pc:sldChg>
      <pc:sldChg chg="modTransition">
        <pc:chgData name="Bara Hamadeh" userId="S::b_hamadeh@asu.edu.jo::ba91a99f-f3ba-46e6-ad5d-582794b375a9" providerId="AD" clId="Web-{19D5D581-FDAE-0D85-9C92-40C03D21F4A2}" dt="2024-02-25T22:59:18.351" v="20"/>
        <pc:sldMkLst>
          <pc:docMk/>
          <pc:sldMk cId="773475574" sldId="364"/>
        </pc:sldMkLst>
      </pc:sldChg>
      <pc:sldChg chg="modTransition">
        <pc:chgData name="Bara Hamadeh" userId="S::b_hamadeh@asu.edu.jo::ba91a99f-f3ba-46e6-ad5d-582794b375a9" providerId="AD" clId="Web-{19D5D581-FDAE-0D85-9C92-40C03D21F4A2}" dt="2024-02-25T22:59:18.367" v="32"/>
        <pc:sldMkLst>
          <pc:docMk/>
          <pc:sldMk cId="2536688962" sldId="365"/>
        </pc:sldMkLst>
      </pc:sldChg>
      <pc:sldChg chg="modTransition">
        <pc:chgData name="Bara Hamadeh" userId="S::b_hamadeh@asu.edu.jo::ba91a99f-f3ba-46e6-ad5d-582794b375a9" providerId="AD" clId="Web-{19D5D581-FDAE-0D85-9C92-40C03D21F4A2}" dt="2024-02-25T22:59:18.382" v="44"/>
        <pc:sldMkLst>
          <pc:docMk/>
          <pc:sldMk cId="3081649535" sldId="394"/>
        </pc:sldMkLst>
      </pc:sldChg>
      <pc:sldChg chg="modTransition">
        <pc:chgData name="Bara Hamadeh" userId="S::b_hamadeh@asu.edu.jo::ba91a99f-f3ba-46e6-ad5d-582794b375a9" providerId="AD" clId="Web-{19D5D581-FDAE-0D85-9C92-40C03D21F4A2}" dt="2024-02-25T22:59:18.320" v="6"/>
        <pc:sldMkLst>
          <pc:docMk/>
          <pc:sldMk cId="1126993243" sldId="395"/>
        </pc:sldMkLst>
      </pc:sldChg>
      <pc:sldChg chg="modTransition">
        <pc:chgData name="Bara Hamadeh" userId="S::b_hamadeh@asu.edu.jo::ba91a99f-f3ba-46e6-ad5d-582794b375a9" providerId="AD" clId="Web-{19D5D581-FDAE-0D85-9C92-40C03D21F4A2}" dt="2024-02-25T22:59:18.336" v="8"/>
        <pc:sldMkLst>
          <pc:docMk/>
          <pc:sldMk cId="78845265" sldId="396"/>
        </pc:sldMkLst>
      </pc:sldChg>
      <pc:sldChg chg="modTransition">
        <pc:chgData name="Bara Hamadeh" userId="S::b_hamadeh@asu.edu.jo::ba91a99f-f3ba-46e6-ad5d-582794b375a9" providerId="AD" clId="Web-{19D5D581-FDAE-0D85-9C92-40C03D21F4A2}" dt="2024-02-25T22:59:18.336" v="13"/>
        <pc:sldMkLst>
          <pc:docMk/>
          <pc:sldMk cId="3373803546" sldId="397"/>
        </pc:sldMkLst>
      </pc:sldChg>
      <pc:sldChg chg="modTransition">
        <pc:chgData name="Bara Hamadeh" userId="S::b_hamadeh@asu.edu.jo::ba91a99f-f3ba-46e6-ad5d-582794b375a9" providerId="AD" clId="Web-{19D5D581-FDAE-0D85-9C92-40C03D21F4A2}" dt="2024-02-25T22:59:18.336" v="17"/>
        <pc:sldMkLst>
          <pc:docMk/>
          <pc:sldMk cId="3538769420" sldId="398"/>
        </pc:sldMkLst>
      </pc:sldChg>
      <pc:sldChg chg="modTransition">
        <pc:chgData name="Bara Hamadeh" userId="S::b_hamadeh@asu.edu.jo::ba91a99f-f3ba-46e6-ad5d-582794b375a9" providerId="AD" clId="Web-{19D5D581-FDAE-0D85-9C92-40C03D21F4A2}" dt="2024-02-25T22:59:18.351" v="18"/>
        <pc:sldMkLst>
          <pc:docMk/>
          <pc:sldMk cId="2337585956" sldId="399"/>
        </pc:sldMkLst>
      </pc:sldChg>
      <pc:sldChg chg="modTransition">
        <pc:chgData name="Bara Hamadeh" userId="S::b_hamadeh@asu.edu.jo::ba91a99f-f3ba-46e6-ad5d-582794b375a9" providerId="AD" clId="Web-{19D5D581-FDAE-0D85-9C92-40C03D21F4A2}" dt="2024-02-25T22:59:18.351" v="21"/>
        <pc:sldMkLst>
          <pc:docMk/>
          <pc:sldMk cId="3864172515" sldId="400"/>
        </pc:sldMkLst>
      </pc:sldChg>
      <pc:sldChg chg="modTransition">
        <pc:chgData name="Bara Hamadeh" userId="S::b_hamadeh@asu.edu.jo::ba91a99f-f3ba-46e6-ad5d-582794b375a9" providerId="AD" clId="Web-{19D5D581-FDAE-0D85-9C92-40C03D21F4A2}" dt="2024-02-25T22:59:18.351" v="22"/>
        <pc:sldMkLst>
          <pc:docMk/>
          <pc:sldMk cId="974984520" sldId="401"/>
        </pc:sldMkLst>
      </pc:sldChg>
      <pc:sldChg chg="modTransition">
        <pc:chgData name="Bara Hamadeh" userId="S::b_hamadeh@asu.edu.jo::ba91a99f-f3ba-46e6-ad5d-582794b375a9" providerId="AD" clId="Web-{19D5D581-FDAE-0D85-9C92-40C03D21F4A2}" dt="2024-02-25T22:59:18.351" v="23"/>
        <pc:sldMkLst>
          <pc:docMk/>
          <pc:sldMk cId="41015042" sldId="402"/>
        </pc:sldMkLst>
      </pc:sldChg>
      <pc:sldChg chg="modTransition">
        <pc:chgData name="Bara Hamadeh" userId="S::b_hamadeh@asu.edu.jo::ba91a99f-f3ba-46e6-ad5d-582794b375a9" providerId="AD" clId="Web-{19D5D581-FDAE-0D85-9C92-40C03D21F4A2}" dt="2024-02-25T22:59:18.351" v="24"/>
        <pc:sldMkLst>
          <pc:docMk/>
          <pc:sldMk cId="1054220502" sldId="403"/>
        </pc:sldMkLst>
      </pc:sldChg>
      <pc:sldChg chg="modTransition">
        <pc:chgData name="Bara Hamadeh" userId="S::b_hamadeh@asu.edu.jo::ba91a99f-f3ba-46e6-ad5d-582794b375a9" providerId="AD" clId="Web-{19D5D581-FDAE-0D85-9C92-40C03D21F4A2}" dt="2024-02-25T22:59:18.351" v="25"/>
        <pc:sldMkLst>
          <pc:docMk/>
          <pc:sldMk cId="641706930" sldId="404"/>
        </pc:sldMkLst>
      </pc:sldChg>
      <pc:sldChg chg="modTransition">
        <pc:chgData name="Bara Hamadeh" userId="S::b_hamadeh@asu.edu.jo::ba91a99f-f3ba-46e6-ad5d-582794b375a9" providerId="AD" clId="Web-{19D5D581-FDAE-0D85-9C92-40C03D21F4A2}" dt="2024-02-25T22:59:18.351" v="26"/>
        <pc:sldMkLst>
          <pc:docMk/>
          <pc:sldMk cId="1254176229" sldId="405"/>
        </pc:sldMkLst>
      </pc:sldChg>
      <pc:sldChg chg="modTransition">
        <pc:chgData name="Bara Hamadeh" userId="S::b_hamadeh@asu.edu.jo::ba91a99f-f3ba-46e6-ad5d-582794b375a9" providerId="AD" clId="Web-{19D5D581-FDAE-0D85-9C92-40C03D21F4A2}" dt="2024-02-25T22:59:18.351" v="27"/>
        <pc:sldMkLst>
          <pc:docMk/>
          <pc:sldMk cId="2437088390" sldId="406"/>
        </pc:sldMkLst>
      </pc:sldChg>
      <pc:sldChg chg="modTransition">
        <pc:chgData name="Bara Hamadeh" userId="S::b_hamadeh@asu.edu.jo::ba91a99f-f3ba-46e6-ad5d-582794b375a9" providerId="AD" clId="Web-{19D5D581-FDAE-0D85-9C92-40C03D21F4A2}" dt="2024-02-25T22:59:18.351" v="28"/>
        <pc:sldMkLst>
          <pc:docMk/>
          <pc:sldMk cId="3153034156" sldId="407"/>
        </pc:sldMkLst>
      </pc:sldChg>
      <pc:sldChg chg="modTransition">
        <pc:chgData name="Bara Hamadeh" userId="S::b_hamadeh@asu.edu.jo::ba91a99f-f3ba-46e6-ad5d-582794b375a9" providerId="AD" clId="Web-{19D5D581-FDAE-0D85-9C92-40C03D21F4A2}" dt="2024-02-25T22:59:18.351" v="29"/>
        <pc:sldMkLst>
          <pc:docMk/>
          <pc:sldMk cId="4020738183" sldId="408"/>
        </pc:sldMkLst>
      </pc:sldChg>
      <pc:sldChg chg="modTransition">
        <pc:chgData name="Bara Hamadeh" userId="S::b_hamadeh@asu.edu.jo::ba91a99f-f3ba-46e6-ad5d-582794b375a9" providerId="AD" clId="Web-{19D5D581-FDAE-0D85-9C92-40C03D21F4A2}" dt="2024-02-25T22:59:18.367" v="30"/>
        <pc:sldMkLst>
          <pc:docMk/>
          <pc:sldMk cId="1750586101" sldId="409"/>
        </pc:sldMkLst>
      </pc:sldChg>
      <pc:sldChg chg="modTransition">
        <pc:chgData name="Bara Hamadeh" userId="S::b_hamadeh@asu.edu.jo::ba91a99f-f3ba-46e6-ad5d-582794b375a9" providerId="AD" clId="Web-{19D5D581-FDAE-0D85-9C92-40C03D21F4A2}" dt="2024-02-25T22:59:18.367" v="31"/>
        <pc:sldMkLst>
          <pc:docMk/>
          <pc:sldMk cId="4086375658" sldId="410"/>
        </pc:sldMkLst>
      </pc:sldChg>
      <pc:sldChg chg="modTransition">
        <pc:chgData name="Bara Hamadeh" userId="S::b_hamadeh@asu.edu.jo::ba91a99f-f3ba-46e6-ad5d-582794b375a9" providerId="AD" clId="Web-{19D5D581-FDAE-0D85-9C92-40C03D21F4A2}" dt="2024-02-25T22:59:18.367" v="36"/>
        <pc:sldMkLst>
          <pc:docMk/>
          <pc:sldMk cId="3802644406" sldId="833"/>
        </pc:sldMkLst>
      </pc:sldChg>
      <pc:sldChg chg="modTransition">
        <pc:chgData name="Bara Hamadeh" userId="S::b_hamadeh@asu.edu.jo::ba91a99f-f3ba-46e6-ad5d-582794b375a9" providerId="AD" clId="Web-{19D5D581-FDAE-0D85-9C92-40C03D21F4A2}" dt="2024-02-25T22:59:18.382" v="43"/>
        <pc:sldMkLst>
          <pc:docMk/>
          <pc:sldMk cId="689527405" sldId="878"/>
        </pc:sldMkLst>
      </pc:sldChg>
      <pc:sldChg chg="modTransition">
        <pc:chgData name="Bara Hamadeh" userId="S::b_hamadeh@asu.edu.jo::ba91a99f-f3ba-46e6-ad5d-582794b375a9" providerId="AD" clId="Web-{19D5D581-FDAE-0D85-9C92-40C03D21F4A2}" dt="2024-02-25T22:59:18.367" v="33"/>
        <pc:sldMkLst>
          <pc:docMk/>
          <pc:sldMk cId="3360608789" sldId="908"/>
        </pc:sldMkLst>
      </pc:sldChg>
      <pc:sldChg chg="modTransition">
        <pc:chgData name="Bara Hamadeh" userId="S::b_hamadeh@asu.edu.jo::ba91a99f-f3ba-46e6-ad5d-582794b375a9" providerId="AD" clId="Web-{19D5D581-FDAE-0D85-9C92-40C03D21F4A2}" dt="2024-02-25T22:59:18.367" v="34"/>
        <pc:sldMkLst>
          <pc:docMk/>
          <pc:sldMk cId="3967790652" sldId="909"/>
        </pc:sldMkLst>
      </pc:sldChg>
      <pc:sldChg chg="modTransition">
        <pc:chgData name="Bara Hamadeh" userId="S::b_hamadeh@asu.edu.jo::ba91a99f-f3ba-46e6-ad5d-582794b375a9" providerId="AD" clId="Web-{19D5D581-FDAE-0D85-9C92-40C03D21F4A2}" dt="2024-02-25T22:59:18.367" v="35"/>
        <pc:sldMkLst>
          <pc:docMk/>
          <pc:sldMk cId="3818117110" sldId="910"/>
        </pc:sldMkLst>
      </pc:sldChg>
      <pc:sldChg chg="modTransition">
        <pc:chgData name="Bara Hamadeh" userId="S::b_hamadeh@asu.edu.jo::ba91a99f-f3ba-46e6-ad5d-582794b375a9" providerId="AD" clId="Web-{19D5D581-FDAE-0D85-9C92-40C03D21F4A2}" dt="2024-02-25T22:59:18.367" v="37"/>
        <pc:sldMkLst>
          <pc:docMk/>
          <pc:sldMk cId="2076604218" sldId="911"/>
        </pc:sldMkLst>
      </pc:sldChg>
      <pc:sldChg chg="modTransition">
        <pc:chgData name="Bara Hamadeh" userId="S::b_hamadeh@asu.edu.jo::ba91a99f-f3ba-46e6-ad5d-582794b375a9" providerId="AD" clId="Web-{19D5D581-FDAE-0D85-9C92-40C03D21F4A2}" dt="2024-02-25T22:59:18.382" v="38"/>
        <pc:sldMkLst>
          <pc:docMk/>
          <pc:sldMk cId="691868767" sldId="912"/>
        </pc:sldMkLst>
      </pc:sldChg>
      <pc:sldChg chg="modTransition">
        <pc:chgData name="Bara Hamadeh" userId="S::b_hamadeh@asu.edu.jo::ba91a99f-f3ba-46e6-ad5d-582794b375a9" providerId="AD" clId="Web-{19D5D581-FDAE-0D85-9C92-40C03D21F4A2}" dt="2024-02-25T22:59:18.382" v="39"/>
        <pc:sldMkLst>
          <pc:docMk/>
          <pc:sldMk cId="1519616254" sldId="913"/>
        </pc:sldMkLst>
      </pc:sldChg>
      <pc:sldChg chg="modTransition">
        <pc:chgData name="Bara Hamadeh" userId="S::b_hamadeh@asu.edu.jo::ba91a99f-f3ba-46e6-ad5d-582794b375a9" providerId="AD" clId="Web-{19D5D581-FDAE-0D85-9C92-40C03D21F4A2}" dt="2024-02-25T22:59:18.382" v="40"/>
        <pc:sldMkLst>
          <pc:docMk/>
          <pc:sldMk cId="4036634177" sldId="914"/>
        </pc:sldMkLst>
      </pc:sldChg>
      <pc:sldChg chg="modTransition">
        <pc:chgData name="Bara Hamadeh" userId="S::b_hamadeh@asu.edu.jo::ba91a99f-f3ba-46e6-ad5d-582794b375a9" providerId="AD" clId="Web-{19D5D581-FDAE-0D85-9C92-40C03D21F4A2}" dt="2024-02-25T22:59:18.382" v="41"/>
        <pc:sldMkLst>
          <pc:docMk/>
          <pc:sldMk cId="3954669119" sldId="915"/>
        </pc:sldMkLst>
      </pc:sldChg>
      <pc:sldChg chg="modTransition">
        <pc:chgData name="Bara Hamadeh" userId="S::b_hamadeh@asu.edu.jo::ba91a99f-f3ba-46e6-ad5d-582794b375a9" providerId="AD" clId="Web-{19D5D581-FDAE-0D85-9C92-40C03D21F4A2}" dt="2024-02-25T22:59:18.382" v="42"/>
        <pc:sldMkLst>
          <pc:docMk/>
          <pc:sldMk cId="2119133318" sldId="916"/>
        </pc:sldMkLst>
      </pc:sldChg>
      <pc:sldMasterChg chg="mod modSldLayout">
        <pc:chgData name="Bara Hamadeh" userId="S::b_hamadeh@asu.edu.jo::ba91a99f-f3ba-46e6-ad5d-582794b375a9" providerId="AD" clId="Web-{19D5D581-FDAE-0D85-9C92-40C03D21F4A2}" dt="2024-02-25T22:59:38.649" v="47"/>
        <pc:sldMasterMkLst>
          <pc:docMk/>
          <pc:sldMasterMk cId="1719295273" sldId="2147483672"/>
        </pc:sldMasterMkLst>
        <pc:sldLayoutChg chg="mod">
          <pc:chgData name="Bara Hamadeh" userId="S::b_hamadeh@asu.edu.jo::ba91a99f-f3ba-46e6-ad5d-582794b375a9" providerId="AD" clId="Web-{19D5D581-FDAE-0D85-9C92-40C03D21F4A2}" dt="2024-02-25T22:59:38.649" v="47"/>
          <pc:sldLayoutMkLst>
            <pc:docMk/>
            <pc:sldMasterMk cId="1719295273" sldId="2147483672"/>
            <pc:sldLayoutMk cId="1136942225" sldId="2147483673"/>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543625086" sldId="2147483674"/>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695053800" sldId="2147483675"/>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1555795183" sldId="2147483676"/>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3154714844" sldId="2147483677"/>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1943265441" sldId="2147483678"/>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1103728720" sldId="2147483679"/>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3199667561" sldId="2147483680"/>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1593807278" sldId="2147483681"/>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4052592978" sldId="2147483682"/>
          </pc:sldLayoutMkLst>
        </pc:sldLayoutChg>
        <pc:sldLayoutChg chg="mod">
          <pc:chgData name="Bara Hamadeh" userId="S::b_hamadeh@asu.edu.jo::ba91a99f-f3ba-46e6-ad5d-582794b375a9" providerId="AD" clId="Web-{19D5D581-FDAE-0D85-9C92-40C03D21F4A2}" dt="2024-02-25T22:59:38.649" v="47"/>
          <pc:sldLayoutMkLst>
            <pc:docMk/>
            <pc:sldMasterMk cId="1719295273" sldId="2147483672"/>
            <pc:sldLayoutMk cId="2606264647" sldId="2147483683"/>
          </pc:sldLayoutMkLst>
        </pc:sldLayoutChg>
      </pc:sldMasterChg>
    </pc:docChg>
  </pc:docChgLst>
  <pc:docChgLst>
    <pc:chgData name="Bara Hamadeh" userId="S::b_hamadeh@asu.edu.jo::ba91a99f-f3ba-46e6-ad5d-582794b375a9" providerId="AD" clId="Web-{B31C9C19-BCE6-EE82-AE55-603CDE74E3FC}"/>
    <pc:docChg chg="modSld">
      <pc:chgData name="Bara Hamadeh" userId="S::b_hamadeh@asu.edu.jo::ba91a99f-f3ba-46e6-ad5d-582794b375a9" providerId="AD" clId="Web-{B31C9C19-BCE6-EE82-AE55-603CDE74E3FC}" dt="2024-02-25T23:11:27.663" v="57" actId="20577"/>
      <pc:docMkLst>
        <pc:docMk/>
      </pc:docMkLst>
      <pc:sldChg chg="modSp modTransition">
        <pc:chgData name="Bara Hamadeh" userId="S::b_hamadeh@asu.edu.jo::ba91a99f-f3ba-46e6-ad5d-582794b375a9" providerId="AD" clId="Web-{B31C9C19-BCE6-EE82-AE55-603CDE74E3FC}" dt="2024-02-25T23:11:27.663" v="57" actId="20577"/>
        <pc:sldMkLst>
          <pc:docMk/>
          <pc:sldMk cId="98556299" sldId="256"/>
        </pc:sldMkLst>
        <pc:spChg chg="mod">
          <ac:chgData name="Bara Hamadeh" userId="S::b_hamadeh@asu.edu.jo::ba91a99f-f3ba-46e6-ad5d-582794b375a9" providerId="AD" clId="Web-{B31C9C19-BCE6-EE82-AE55-603CDE74E3FC}" dt="2024-02-25T23:11:27.663" v="57" actId="20577"/>
          <ac:spMkLst>
            <pc:docMk/>
            <pc:sldMk cId="98556299" sldId="256"/>
            <ac:spMk id="2" creationId="{0E3426FD-D193-2F6D-1700-2CC522B16D18}"/>
          </ac:spMkLst>
        </pc:spChg>
      </pc:sldChg>
      <pc:sldChg chg="modTransition">
        <pc:chgData name="Bara Hamadeh" userId="S::b_hamadeh@asu.edu.jo::ba91a99f-f3ba-46e6-ad5d-582794b375a9" providerId="AD" clId="Web-{B31C9C19-BCE6-EE82-AE55-603CDE74E3FC}" dt="2024-02-25T23:10:59.365" v="0"/>
        <pc:sldMkLst>
          <pc:docMk/>
          <pc:sldMk cId="3302026939" sldId="340"/>
        </pc:sldMkLst>
      </pc:sldChg>
      <pc:sldChg chg="modTransition">
        <pc:chgData name="Bara Hamadeh" userId="S::b_hamadeh@asu.edu.jo::ba91a99f-f3ba-46e6-ad5d-582794b375a9" providerId="AD" clId="Web-{B31C9C19-BCE6-EE82-AE55-603CDE74E3FC}" dt="2024-02-25T23:10:59.381" v="4"/>
        <pc:sldMkLst>
          <pc:docMk/>
          <pc:sldMk cId="2924395368" sldId="341"/>
        </pc:sldMkLst>
      </pc:sldChg>
      <pc:sldChg chg="modTransition">
        <pc:chgData name="Bara Hamadeh" userId="S::b_hamadeh@asu.edu.jo::ba91a99f-f3ba-46e6-ad5d-582794b375a9" providerId="AD" clId="Web-{B31C9C19-BCE6-EE82-AE55-603CDE74E3FC}" dt="2024-02-25T23:10:59.397" v="11"/>
        <pc:sldMkLst>
          <pc:docMk/>
          <pc:sldMk cId="560566907" sldId="342"/>
        </pc:sldMkLst>
      </pc:sldChg>
      <pc:sldChg chg="modTransition">
        <pc:chgData name="Bara Hamadeh" userId="S::b_hamadeh@asu.edu.jo::ba91a99f-f3ba-46e6-ad5d-582794b375a9" providerId="AD" clId="Web-{B31C9C19-BCE6-EE82-AE55-603CDE74E3FC}" dt="2024-02-25T23:10:59.397" v="12"/>
        <pc:sldMkLst>
          <pc:docMk/>
          <pc:sldMk cId="40925280" sldId="343"/>
        </pc:sldMkLst>
      </pc:sldChg>
      <pc:sldChg chg="modTransition">
        <pc:chgData name="Bara Hamadeh" userId="S::b_hamadeh@asu.edu.jo::ba91a99f-f3ba-46e6-ad5d-582794b375a9" providerId="AD" clId="Web-{B31C9C19-BCE6-EE82-AE55-603CDE74E3FC}" dt="2024-02-25T23:10:59.381" v="10"/>
        <pc:sldMkLst>
          <pc:docMk/>
          <pc:sldMk cId="2448275488" sldId="344"/>
        </pc:sldMkLst>
      </pc:sldChg>
      <pc:sldChg chg="modTransition">
        <pc:chgData name="Bara Hamadeh" userId="S::b_hamadeh@asu.edu.jo::ba91a99f-f3ba-46e6-ad5d-582794b375a9" providerId="AD" clId="Web-{B31C9C19-BCE6-EE82-AE55-603CDE74E3FC}" dt="2024-02-25T23:10:59.397" v="13"/>
        <pc:sldMkLst>
          <pc:docMk/>
          <pc:sldMk cId="1835114687" sldId="345"/>
        </pc:sldMkLst>
      </pc:sldChg>
      <pc:sldChg chg="modTransition">
        <pc:chgData name="Bara Hamadeh" userId="S::b_hamadeh@asu.edu.jo::ba91a99f-f3ba-46e6-ad5d-582794b375a9" providerId="AD" clId="Web-{B31C9C19-BCE6-EE82-AE55-603CDE74E3FC}" dt="2024-02-25T23:10:59.397" v="14"/>
        <pc:sldMkLst>
          <pc:docMk/>
          <pc:sldMk cId="1921581898" sldId="346"/>
        </pc:sldMkLst>
      </pc:sldChg>
      <pc:sldChg chg="modTransition">
        <pc:chgData name="Bara Hamadeh" userId="S::b_hamadeh@asu.edu.jo::ba91a99f-f3ba-46e6-ad5d-582794b375a9" providerId="AD" clId="Web-{B31C9C19-BCE6-EE82-AE55-603CDE74E3FC}" dt="2024-02-25T23:10:59.397" v="15"/>
        <pc:sldMkLst>
          <pc:docMk/>
          <pc:sldMk cId="670506173" sldId="347"/>
        </pc:sldMkLst>
      </pc:sldChg>
      <pc:sldChg chg="modTransition">
        <pc:chgData name="Bara Hamadeh" userId="S::b_hamadeh@asu.edu.jo::ba91a99f-f3ba-46e6-ad5d-582794b375a9" providerId="AD" clId="Web-{B31C9C19-BCE6-EE82-AE55-603CDE74E3FC}" dt="2024-02-25T23:10:59.397" v="17"/>
        <pc:sldMkLst>
          <pc:docMk/>
          <pc:sldMk cId="2976726878" sldId="348"/>
        </pc:sldMkLst>
      </pc:sldChg>
      <pc:sldChg chg="modTransition">
        <pc:chgData name="Bara Hamadeh" userId="S::b_hamadeh@asu.edu.jo::ba91a99f-f3ba-46e6-ad5d-582794b375a9" providerId="AD" clId="Web-{B31C9C19-BCE6-EE82-AE55-603CDE74E3FC}" dt="2024-02-25T23:10:59.397" v="20"/>
        <pc:sldMkLst>
          <pc:docMk/>
          <pc:sldMk cId="2086026616" sldId="349"/>
        </pc:sldMkLst>
      </pc:sldChg>
      <pc:sldChg chg="modTransition">
        <pc:chgData name="Bara Hamadeh" userId="S::b_hamadeh@asu.edu.jo::ba91a99f-f3ba-46e6-ad5d-582794b375a9" providerId="AD" clId="Web-{B31C9C19-BCE6-EE82-AE55-603CDE74E3FC}" dt="2024-02-25T23:10:59.397" v="19"/>
        <pc:sldMkLst>
          <pc:docMk/>
          <pc:sldMk cId="719457455" sldId="350"/>
        </pc:sldMkLst>
      </pc:sldChg>
      <pc:sldChg chg="modTransition">
        <pc:chgData name="Bara Hamadeh" userId="S::b_hamadeh@asu.edu.jo::ba91a99f-f3ba-46e6-ad5d-582794b375a9" providerId="AD" clId="Web-{B31C9C19-BCE6-EE82-AE55-603CDE74E3FC}" dt="2024-02-25T23:10:59.397" v="21"/>
        <pc:sldMkLst>
          <pc:docMk/>
          <pc:sldMk cId="3073064742" sldId="351"/>
        </pc:sldMkLst>
      </pc:sldChg>
      <pc:sldChg chg="modTransition">
        <pc:chgData name="Bara Hamadeh" userId="S::b_hamadeh@asu.edu.jo::ba91a99f-f3ba-46e6-ad5d-582794b375a9" providerId="AD" clId="Web-{B31C9C19-BCE6-EE82-AE55-603CDE74E3FC}" dt="2024-02-25T23:10:59.397" v="24"/>
        <pc:sldMkLst>
          <pc:docMk/>
          <pc:sldMk cId="143634987" sldId="352"/>
        </pc:sldMkLst>
      </pc:sldChg>
      <pc:sldChg chg="modTransition">
        <pc:chgData name="Bara Hamadeh" userId="S::b_hamadeh@asu.edu.jo::ba91a99f-f3ba-46e6-ad5d-582794b375a9" providerId="AD" clId="Web-{B31C9C19-BCE6-EE82-AE55-603CDE74E3FC}" dt="2024-02-25T23:10:59.412" v="25"/>
        <pc:sldMkLst>
          <pc:docMk/>
          <pc:sldMk cId="1241031427" sldId="353"/>
        </pc:sldMkLst>
      </pc:sldChg>
      <pc:sldChg chg="modTransition">
        <pc:chgData name="Bara Hamadeh" userId="S::b_hamadeh@asu.edu.jo::ba91a99f-f3ba-46e6-ad5d-582794b375a9" providerId="AD" clId="Web-{B31C9C19-BCE6-EE82-AE55-603CDE74E3FC}" dt="2024-02-25T23:10:59.397" v="22"/>
        <pc:sldMkLst>
          <pc:docMk/>
          <pc:sldMk cId="3135682427" sldId="355"/>
        </pc:sldMkLst>
      </pc:sldChg>
      <pc:sldChg chg="modTransition">
        <pc:chgData name="Bara Hamadeh" userId="S::b_hamadeh@asu.edu.jo::ba91a99f-f3ba-46e6-ad5d-582794b375a9" providerId="AD" clId="Web-{B31C9C19-BCE6-EE82-AE55-603CDE74E3FC}" dt="2024-02-25T23:10:59.412" v="26"/>
        <pc:sldMkLst>
          <pc:docMk/>
          <pc:sldMk cId="1953035288" sldId="362"/>
        </pc:sldMkLst>
      </pc:sldChg>
      <pc:sldChg chg="modTransition">
        <pc:chgData name="Bara Hamadeh" userId="S::b_hamadeh@asu.edu.jo::ba91a99f-f3ba-46e6-ad5d-582794b375a9" providerId="AD" clId="Web-{B31C9C19-BCE6-EE82-AE55-603CDE74E3FC}" dt="2024-02-25T23:10:59.412" v="29"/>
        <pc:sldMkLst>
          <pc:docMk/>
          <pc:sldMk cId="1351084240" sldId="363"/>
        </pc:sldMkLst>
      </pc:sldChg>
      <pc:sldChg chg="modTransition">
        <pc:chgData name="Bara Hamadeh" userId="S::b_hamadeh@asu.edu.jo::ba91a99f-f3ba-46e6-ad5d-582794b375a9" providerId="AD" clId="Web-{B31C9C19-BCE6-EE82-AE55-603CDE74E3FC}" dt="2024-02-25T23:10:59.412" v="30"/>
        <pc:sldMkLst>
          <pc:docMk/>
          <pc:sldMk cId="773475574" sldId="364"/>
        </pc:sldMkLst>
      </pc:sldChg>
      <pc:sldChg chg="modTransition">
        <pc:chgData name="Bara Hamadeh" userId="S::b_hamadeh@asu.edu.jo::ba91a99f-f3ba-46e6-ad5d-582794b375a9" providerId="AD" clId="Web-{B31C9C19-BCE6-EE82-AE55-603CDE74E3FC}" dt="2024-02-25T23:10:59.428" v="42"/>
        <pc:sldMkLst>
          <pc:docMk/>
          <pc:sldMk cId="2536688962" sldId="365"/>
        </pc:sldMkLst>
      </pc:sldChg>
      <pc:sldChg chg="modTransition">
        <pc:chgData name="Bara Hamadeh" userId="S::b_hamadeh@asu.edu.jo::ba91a99f-f3ba-46e6-ad5d-582794b375a9" providerId="AD" clId="Web-{B31C9C19-BCE6-EE82-AE55-603CDE74E3FC}" dt="2024-02-25T23:10:59.381" v="1"/>
        <pc:sldMkLst>
          <pc:docMk/>
          <pc:sldMk cId="2247887320" sldId="387"/>
        </pc:sldMkLst>
      </pc:sldChg>
      <pc:sldChg chg="modTransition">
        <pc:chgData name="Bara Hamadeh" userId="S::b_hamadeh@asu.edu.jo::ba91a99f-f3ba-46e6-ad5d-582794b375a9" providerId="AD" clId="Web-{B31C9C19-BCE6-EE82-AE55-603CDE74E3FC}" dt="2024-02-25T23:10:59.381" v="2"/>
        <pc:sldMkLst>
          <pc:docMk/>
          <pc:sldMk cId="3046041684" sldId="388"/>
        </pc:sldMkLst>
      </pc:sldChg>
      <pc:sldChg chg="modTransition">
        <pc:chgData name="Bara Hamadeh" userId="S::b_hamadeh@asu.edu.jo::ba91a99f-f3ba-46e6-ad5d-582794b375a9" providerId="AD" clId="Web-{B31C9C19-BCE6-EE82-AE55-603CDE74E3FC}" dt="2024-02-25T23:10:59.381" v="3"/>
        <pc:sldMkLst>
          <pc:docMk/>
          <pc:sldMk cId="1249258402" sldId="389"/>
        </pc:sldMkLst>
      </pc:sldChg>
      <pc:sldChg chg="modTransition">
        <pc:chgData name="Bara Hamadeh" userId="S::b_hamadeh@asu.edu.jo::ba91a99f-f3ba-46e6-ad5d-582794b375a9" providerId="AD" clId="Web-{B31C9C19-BCE6-EE82-AE55-603CDE74E3FC}" dt="2024-02-25T23:10:59.381" v="5"/>
        <pc:sldMkLst>
          <pc:docMk/>
          <pc:sldMk cId="2454768573" sldId="390"/>
        </pc:sldMkLst>
      </pc:sldChg>
      <pc:sldChg chg="modTransition">
        <pc:chgData name="Bara Hamadeh" userId="S::b_hamadeh@asu.edu.jo::ba91a99f-f3ba-46e6-ad5d-582794b375a9" providerId="AD" clId="Web-{B31C9C19-BCE6-EE82-AE55-603CDE74E3FC}" dt="2024-02-25T23:10:59.381" v="6"/>
        <pc:sldMkLst>
          <pc:docMk/>
          <pc:sldMk cId="3366420034" sldId="391"/>
        </pc:sldMkLst>
      </pc:sldChg>
      <pc:sldChg chg="modTransition">
        <pc:chgData name="Bara Hamadeh" userId="S::b_hamadeh@asu.edu.jo::ba91a99f-f3ba-46e6-ad5d-582794b375a9" providerId="AD" clId="Web-{B31C9C19-BCE6-EE82-AE55-603CDE74E3FC}" dt="2024-02-25T23:10:59.381" v="7"/>
        <pc:sldMkLst>
          <pc:docMk/>
          <pc:sldMk cId="1161201884" sldId="392"/>
        </pc:sldMkLst>
      </pc:sldChg>
      <pc:sldChg chg="modTransition">
        <pc:chgData name="Bara Hamadeh" userId="S::b_hamadeh@asu.edu.jo::ba91a99f-f3ba-46e6-ad5d-582794b375a9" providerId="AD" clId="Web-{B31C9C19-BCE6-EE82-AE55-603CDE74E3FC}" dt="2024-02-25T23:10:59.381" v="8"/>
        <pc:sldMkLst>
          <pc:docMk/>
          <pc:sldMk cId="532539040" sldId="393"/>
        </pc:sldMkLst>
      </pc:sldChg>
      <pc:sldChg chg="modTransition">
        <pc:chgData name="Bara Hamadeh" userId="S::b_hamadeh@asu.edu.jo::ba91a99f-f3ba-46e6-ad5d-582794b375a9" providerId="AD" clId="Web-{B31C9C19-BCE6-EE82-AE55-603CDE74E3FC}" dt="2024-02-25T23:10:59.381" v="9"/>
        <pc:sldMkLst>
          <pc:docMk/>
          <pc:sldMk cId="3081649535" sldId="394"/>
        </pc:sldMkLst>
      </pc:sldChg>
      <pc:sldChg chg="modTransition">
        <pc:chgData name="Bara Hamadeh" userId="S::b_hamadeh@asu.edu.jo::ba91a99f-f3ba-46e6-ad5d-582794b375a9" providerId="AD" clId="Web-{B31C9C19-BCE6-EE82-AE55-603CDE74E3FC}" dt="2024-02-25T23:10:59.397" v="16"/>
        <pc:sldMkLst>
          <pc:docMk/>
          <pc:sldMk cId="1126993243" sldId="395"/>
        </pc:sldMkLst>
      </pc:sldChg>
      <pc:sldChg chg="modTransition">
        <pc:chgData name="Bara Hamadeh" userId="S::b_hamadeh@asu.edu.jo::ba91a99f-f3ba-46e6-ad5d-582794b375a9" providerId="AD" clId="Web-{B31C9C19-BCE6-EE82-AE55-603CDE74E3FC}" dt="2024-02-25T23:10:59.397" v="18"/>
        <pc:sldMkLst>
          <pc:docMk/>
          <pc:sldMk cId="78845265" sldId="396"/>
        </pc:sldMkLst>
      </pc:sldChg>
      <pc:sldChg chg="modTransition">
        <pc:chgData name="Bara Hamadeh" userId="S::b_hamadeh@asu.edu.jo::ba91a99f-f3ba-46e6-ad5d-582794b375a9" providerId="AD" clId="Web-{B31C9C19-BCE6-EE82-AE55-603CDE74E3FC}" dt="2024-02-25T23:10:59.397" v="23"/>
        <pc:sldMkLst>
          <pc:docMk/>
          <pc:sldMk cId="3373803546" sldId="397"/>
        </pc:sldMkLst>
      </pc:sldChg>
      <pc:sldChg chg="modTransition">
        <pc:chgData name="Bara Hamadeh" userId="S::b_hamadeh@asu.edu.jo::ba91a99f-f3ba-46e6-ad5d-582794b375a9" providerId="AD" clId="Web-{B31C9C19-BCE6-EE82-AE55-603CDE74E3FC}" dt="2024-02-25T23:10:59.412" v="27"/>
        <pc:sldMkLst>
          <pc:docMk/>
          <pc:sldMk cId="3538769420" sldId="398"/>
        </pc:sldMkLst>
      </pc:sldChg>
      <pc:sldChg chg="modTransition">
        <pc:chgData name="Bara Hamadeh" userId="S::b_hamadeh@asu.edu.jo::ba91a99f-f3ba-46e6-ad5d-582794b375a9" providerId="AD" clId="Web-{B31C9C19-BCE6-EE82-AE55-603CDE74E3FC}" dt="2024-02-25T23:10:59.412" v="28"/>
        <pc:sldMkLst>
          <pc:docMk/>
          <pc:sldMk cId="2337585956" sldId="399"/>
        </pc:sldMkLst>
      </pc:sldChg>
      <pc:sldChg chg="modTransition">
        <pc:chgData name="Bara Hamadeh" userId="S::b_hamadeh@asu.edu.jo::ba91a99f-f3ba-46e6-ad5d-582794b375a9" providerId="AD" clId="Web-{B31C9C19-BCE6-EE82-AE55-603CDE74E3FC}" dt="2024-02-25T23:10:59.412" v="31"/>
        <pc:sldMkLst>
          <pc:docMk/>
          <pc:sldMk cId="3864172515" sldId="400"/>
        </pc:sldMkLst>
      </pc:sldChg>
      <pc:sldChg chg="modTransition">
        <pc:chgData name="Bara Hamadeh" userId="S::b_hamadeh@asu.edu.jo::ba91a99f-f3ba-46e6-ad5d-582794b375a9" providerId="AD" clId="Web-{B31C9C19-BCE6-EE82-AE55-603CDE74E3FC}" dt="2024-02-25T23:10:59.412" v="32"/>
        <pc:sldMkLst>
          <pc:docMk/>
          <pc:sldMk cId="974984520" sldId="401"/>
        </pc:sldMkLst>
      </pc:sldChg>
      <pc:sldChg chg="modTransition">
        <pc:chgData name="Bara Hamadeh" userId="S::b_hamadeh@asu.edu.jo::ba91a99f-f3ba-46e6-ad5d-582794b375a9" providerId="AD" clId="Web-{B31C9C19-BCE6-EE82-AE55-603CDE74E3FC}" dt="2024-02-25T23:10:59.412" v="33"/>
        <pc:sldMkLst>
          <pc:docMk/>
          <pc:sldMk cId="41015042" sldId="402"/>
        </pc:sldMkLst>
      </pc:sldChg>
      <pc:sldChg chg="modTransition">
        <pc:chgData name="Bara Hamadeh" userId="S::b_hamadeh@asu.edu.jo::ba91a99f-f3ba-46e6-ad5d-582794b375a9" providerId="AD" clId="Web-{B31C9C19-BCE6-EE82-AE55-603CDE74E3FC}" dt="2024-02-25T23:10:59.412" v="34"/>
        <pc:sldMkLst>
          <pc:docMk/>
          <pc:sldMk cId="1054220502" sldId="403"/>
        </pc:sldMkLst>
      </pc:sldChg>
      <pc:sldChg chg="modTransition">
        <pc:chgData name="Bara Hamadeh" userId="S::b_hamadeh@asu.edu.jo::ba91a99f-f3ba-46e6-ad5d-582794b375a9" providerId="AD" clId="Web-{B31C9C19-BCE6-EE82-AE55-603CDE74E3FC}" dt="2024-02-25T23:10:59.412" v="35"/>
        <pc:sldMkLst>
          <pc:docMk/>
          <pc:sldMk cId="641706930" sldId="404"/>
        </pc:sldMkLst>
      </pc:sldChg>
      <pc:sldChg chg="modTransition">
        <pc:chgData name="Bara Hamadeh" userId="S::b_hamadeh@asu.edu.jo::ba91a99f-f3ba-46e6-ad5d-582794b375a9" providerId="AD" clId="Web-{B31C9C19-BCE6-EE82-AE55-603CDE74E3FC}" dt="2024-02-25T23:10:59.412" v="36"/>
        <pc:sldMkLst>
          <pc:docMk/>
          <pc:sldMk cId="1254176229" sldId="405"/>
        </pc:sldMkLst>
      </pc:sldChg>
      <pc:sldChg chg="modTransition">
        <pc:chgData name="Bara Hamadeh" userId="S::b_hamadeh@asu.edu.jo::ba91a99f-f3ba-46e6-ad5d-582794b375a9" providerId="AD" clId="Web-{B31C9C19-BCE6-EE82-AE55-603CDE74E3FC}" dt="2024-02-25T23:10:59.428" v="37"/>
        <pc:sldMkLst>
          <pc:docMk/>
          <pc:sldMk cId="2437088390" sldId="406"/>
        </pc:sldMkLst>
      </pc:sldChg>
      <pc:sldChg chg="modTransition">
        <pc:chgData name="Bara Hamadeh" userId="S::b_hamadeh@asu.edu.jo::ba91a99f-f3ba-46e6-ad5d-582794b375a9" providerId="AD" clId="Web-{B31C9C19-BCE6-EE82-AE55-603CDE74E3FC}" dt="2024-02-25T23:10:59.428" v="38"/>
        <pc:sldMkLst>
          <pc:docMk/>
          <pc:sldMk cId="3153034156" sldId="407"/>
        </pc:sldMkLst>
      </pc:sldChg>
      <pc:sldChg chg="modTransition">
        <pc:chgData name="Bara Hamadeh" userId="S::b_hamadeh@asu.edu.jo::ba91a99f-f3ba-46e6-ad5d-582794b375a9" providerId="AD" clId="Web-{B31C9C19-BCE6-EE82-AE55-603CDE74E3FC}" dt="2024-02-25T23:10:59.428" v="39"/>
        <pc:sldMkLst>
          <pc:docMk/>
          <pc:sldMk cId="4020738183" sldId="408"/>
        </pc:sldMkLst>
      </pc:sldChg>
      <pc:sldChg chg="modTransition">
        <pc:chgData name="Bara Hamadeh" userId="S::b_hamadeh@asu.edu.jo::ba91a99f-f3ba-46e6-ad5d-582794b375a9" providerId="AD" clId="Web-{B31C9C19-BCE6-EE82-AE55-603CDE74E3FC}" dt="2024-02-25T23:10:59.428" v="40"/>
        <pc:sldMkLst>
          <pc:docMk/>
          <pc:sldMk cId="1750586101" sldId="409"/>
        </pc:sldMkLst>
      </pc:sldChg>
      <pc:sldChg chg="modTransition">
        <pc:chgData name="Bara Hamadeh" userId="S::b_hamadeh@asu.edu.jo::ba91a99f-f3ba-46e6-ad5d-582794b375a9" providerId="AD" clId="Web-{B31C9C19-BCE6-EE82-AE55-603CDE74E3FC}" dt="2024-02-25T23:10:59.428" v="41"/>
        <pc:sldMkLst>
          <pc:docMk/>
          <pc:sldMk cId="4086375658" sldId="410"/>
        </pc:sldMkLst>
      </pc:sldChg>
      <pc:sldChg chg="modTransition">
        <pc:chgData name="Bara Hamadeh" userId="S::b_hamadeh@asu.edu.jo::ba91a99f-f3ba-46e6-ad5d-582794b375a9" providerId="AD" clId="Web-{B31C9C19-BCE6-EE82-AE55-603CDE74E3FC}" dt="2024-02-25T23:10:59.443" v="46"/>
        <pc:sldMkLst>
          <pc:docMk/>
          <pc:sldMk cId="3802644406" sldId="833"/>
        </pc:sldMkLst>
      </pc:sldChg>
      <pc:sldChg chg="modTransition">
        <pc:chgData name="Bara Hamadeh" userId="S::b_hamadeh@asu.edu.jo::ba91a99f-f3ba-46e6-ad5d-582794b375a9" providerId="AD" clId="Web-{B31C9C19-BCE6-EE82-AE55-603CDE74E3FC}" dt="2024-02-25T23:10:59.443" v="53"/>
        <pc:sldMkLst>
          <pc:docMk/>
          <pc:sldMk cId="689527405" sldId="878"/>
        </pc:sldMkLst>
      </pc:sldChg>
      <pc:sldChg chg="modTransition">
        <pc:chgData name="Bara Hamadeh" userId="S::b_hamadeh@asu.edu.jo::ba91a99f-f3ba-46e6-ad5d-582794b375a9" providerId="AD" clId="Web-{B31C9C19-BCE6-EE82-AE55-603CDE74E3FC}" dt="2024-02-25T23:10:59.428" v="43"/>
        <pc:sldMkLst>
          <pc:docMk/>
          <pc:sldMk cId="3360608789" sldId="908"/>
        </pc:sldMkLst>
      </pc:sldChg>
      <pc:sldChg chg="modTransition">
        <pc:chgData name="Bara Hamadeh" userId="S::b_hamadeh@asu.edu.jo::ba91a99f-f3ba-46e6-ad5d-582794b375a9" providerId="AD" clId="Web-{B31C9C19-BCE6-EE82-AE55-603CDE74E3FC}" dt="2024-02-25T23:10:59.428" v="44"/>
        <pc:sldMkLst>
          <pc:docMk/>
          <pc:sldMk cId="3967790652" sldId="909"/>
        </pc:sldMkLst>
      </pc:sldChg>
      <pc:sldChg chg="modTransition">
        <pc:chgData name="Bara Hamadeh" userId="S::b_hamadeh@asu.edu.jo::ba91a99f-f3ba-46e6-ad5d-582794b375a9" providerId="AD" clId="Web-{B31C9C19-BCE6-EE82-AE55-603CDE74E3FC}" dt="2024-02-25T23:10:59.428" v="45"/>
        <pc:sldMkLst>
          <pc:docMk/>
          <pc:sldMk cId="3818117110" sldId="910"/>
        </pc:sldMkLst>
      </pc:sldChg>
      <pc:sldChg chg="modTransition">
        <pc:chgData name="Bara Hamadeh" userId="S::b_hamadeh@asu.edu.jo::ba91a99f-f3ba-46e6-ad5d-582794b375a9" providerId="AD" clId="Web-{B31C9C19-BCE6-EE82-AE55-603CDE74E3FC}" dt="2024-02-25T23:10:59.443" v="47"/>
        <pc:sldMkLst>
          <pc:docMk/>
          <pc:sldMk cId="2076604218" sldId="911"/>
        </pc:sldMkLst>
      </pc:sldChg>
      <pc:sldChg chg="modTransition">
        <pc:chgData name="Bara Hamadeh" userId="S::b_hamadeh@asu.edu.jo::ba91a99f-f3ba-46e6-ad5d-582794b375a9" providerId="AD" clId="Web-{B31C9C19-BCE6-EE82-AE55-603CDE74E3FC}" dt="2024-02-25T23:10:59.443" v="48"/>
        <pc:sldMkLst>
          <pc:docMk/>
          <pc:sldMk cId="691868767" sldId="912"/>
        </pc:sldMkLst>
      </pc:sldChg>
      <pc:sldChg chg="modTransition">
        <pc:chgData name="Bara Hamadeh" userId="S::b_hamadeh@asu.edu.jo::ba91a99f-f3ba-46e6-ad5d-582794b375a9" providerId="AD" clId="Web-{B31C9C19-BCE6-EE82-AE55-603CDE74E3FC}" dt="2024-02-25T23:10:59.443" v="49"/>
        <pc:sldMkLst>
          <pc:docMk/>
          <pc:sldMk cId="1519616254" sldId="913"/>
        </pc:sldMkLst>
      </pc:sldChg>
      <pc:sldChg chg="modTransition">
        <pc:chgData name="Bara Hamadeh" userId="S::b_hamadeh@asu.edu.jo::ba91a99f-f3ba-46e6-ad5d-582794b375a9" providerId="AD" clId="Web-{B31C9C19-BCE6-EE82-AE55-603CDE74E3FC}" dt="2024-02-25T23:10:59.443" v="50"/>
        <pc:sldMkLst>
          <pc:docMk/>
          <pc:sldMk cId="4036634177" sldId="914"/>
        </pc:sldMkLst>
      </pc:sldChg>
      <pc:sldChg chg="modTransition">
        <pc:chgData name="Bara Hamadeh" userId="S::b_hamadeh@asu.edu.jo::ba91a99f-f3ba-46e6-ad5d-582794b375a9" providerId="AD" clId="Web-{B31C9C19-BCE6-EE82-AE55-603CDE74E3FC}" dt="2024-02-25T23:10:59.443" v="51"/>
        <pc:sldMkLst>
          <pc:docMk/>
          <pc:sldMk cId="3954669119" sldId="915"/>
        </pc:sldMkLst>
      </pc:sldChg>
      <pc:sldChg chg="modTransition">
        <pc:chgData name="Bara Hamadeh" userId="S::b_hamadeh@asu.edu.jo::ba91a99f-f3ba-46e6-ad5d-582794b375a9" providerId="AD" clId="Web-{B31C9C19-BCE6-EE82-AE55-603CDE74E3FC}" dt="2024-02-25T23:10:59.443" v="52"/>
        <pc:sldMkLst>
          <pc:docMk/>
          <pc:sldMk cId="2119133318" sldId="9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16</a:t>
            </a:fld>
            <a:endParaRPr lang="en-US"/>
          </a:p>
        </p:txBody>
      </p:sp>
    </p:spTree>
    <p:extLst>
      <p:ext uri="{BB962C8B-B14F-4D97-AF65-F5344CB8AC3E}">
        <p14:creationId xmlns:p14="http://schemas.microsoft.com/office/powerpoint/2010/main" val="1689040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17</a:t>
            </a:fld>
            <a:endParaRPr lang="en-US"/>
          </a:p>
        </p:txBody>
      </p:sp>
    </p:spTree>
    <p:extLst>
      <p:ext uri="{BB962C8B-B14F-4D97-AF65-F5344CB8AC3E}">
        <p14:creationId xmlns:p14="http://schemas.microsoft.com/office/powerpoint/2010/main" val="1840262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21</a:t>
            </a:fld>
            <a:endParaRPr lang="en-US"/>
          </a:p>
        </p:txBody>
      </p:sp>
    </p:spTree>
    <p:extLst>
      <p:ext uri="{BB962C8B-B14F-4D97-AF65-F5344CB8AC3E}">
        <p14:creationId xmlns:p14="http://schemas.microsoft.com/office/powerpoint/2010/main" val="3832993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22</a:t>
            </a:fld>
            <a:endParaRPr lang="en-US"/>
          </a:p>
        </p:txBody>
      </p:sp>
    </p:spTree>
    <p:extLst>
      <p:ext uri="{BB962C8B-B14F-4D97-AF65-F5344CB8AC3E}">
        <p14:creationId xmlns:p14="http://schemas.microsoft.com/office/powerpoint/2010/main" val="3296718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23</a:t>
            </a:fld>
            <a:endParaRPr lang="en-US"/>
          </a:p>
        </p:txBody>
      </p:sp>
    </p:spTree>
    <p:extLst>
      <p:ext uri="{BB962C8B-B14F-4D97-AF65-F5344CB8AC3E}">
        <p14:creationId xmlns:p14="http://schemas.microsoft.com/office/powerpoint/2010/main" val="3127789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51</a:t>
            </a:fld>
            <a:endParaRPr lang="en-US"/>
          </a:p>
        </p:txBody>
      </p:sp>
    </p:spTree>
    <p:extLst>
      <p:ext uri="{BB962C8B-B14F-4D97-AF65-F5344CB8AC3E}">
        <p14:creationId xmlns:p14="http://schemas.microsoft.com/office/powerpoint/2010/main" val="1096213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52</a:t>
            </a:fld>
            <a:endParaRPr lang="en-US"/>
          </a:p>
        </p:txBody>
      </p:sp>
    </p:spTree>
    <p:extLst>
      <p:ext uri="{BB962C8B-B14F-4D97-AF65-F5344CB8AC3E}">
        <p14:creationId xmlns:p14="http://schemas.microsoft.com/office/powerpoint/2010/main" val="1979930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53</a:t>
            </a:fld>
            <a:endParaRPr lang="en-US"/>
          </a:p>
        </p:txBody>
      </p:sp>
    </p:spTree>
    <p:extLst>
      <p:ext uri="{BB962C8B-B14F-4D97-AF65-F5344CB8AC3E}">
        <p14:creationId xmlns:p14="http://schemas.microsoft.com/office/powerpoint/2010/main" val="2375466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54</a:t>
            </a:fld>
            <a:endParaRPr lang="en-US"/>
          </a:p>
        </p:txBody>
      </p:sp>
    </p:spTree>
    <p:extLst>
      <p:ext uri="{BB962C8B-B14F-4D97-AF65-F5344CB8AC3E}">
        <p14:creationId xmlns:p14="http://schemas.microsoft.com/office/powerpoint/2010/main" val="3221333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55</a:t>
            </a:fld>
            <a:endParaRPr lang="en-US"/>
          </a:p>
        </p:txBody>
      </p:sp>
    </p:spTree>
    <p:extLst>
      <p:ext uri="{BB962C8B-B14F-4D97-AF65-F5344CB8AC3E}">
        <p14:creationId xmlns:p14="http://schemas.microsoft.com/office/powerpoint/2010/main" val="1157889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
            <a:extLst>
              <a:ext uri="{FF2B5EF4-FFF2-40B4-BE49-F238E27FC236}">
                <a16:creationId xmlns:a16="http://schemas.microsoft.com/office/drawing/2014/main" id="{0D0046B9-4572-0BC2-A72E-CFFC99E37414}"/>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r>
              <a:rPr lang="en-US" altLang="en-US" sz="1100">
                <a:cs typeface="Arial" panose="020B0604020202020204" pitchFamily="34" charset="0"/>
              </a:rPr>
              <a:t>Oracle 10</a:t>
            </a:r>
            <a:r>
              <a:rPr lang="en-US" altLang="en-US" sz="1100" i="1">
                <a:cs typeface="Arial" panose="020B0604020202020204" pitchFamily="34" charset="0"/>
              </a:rPr>
              <a:t>g</a:t>
            </a:r>
            <a:r>
              <a:rPr lang="en-US" altLang="en-US" sz="1100">
                <a:cs typeface="Arial" panose="020B0604020202020204" pitchFamily="34" charset="0"/>
              </a:rPr>
              <a:t>: Java Programming   7-</a:t>
            </a:r>
            <a:fld id="{B54FAF5C-1050-4959-A596-73F01E97055A}" type="slidenum">
              <a:rPr lang="en-US" altLang="en-US" sz="1100" smtClean="0">
                <a:cs typeface="Arial" panose="020B0604020202020204" pitchFamily="34" charset="0"/>
              </a:rPr>
              <a:pPr fontAlgn="base">
                <a:spcBef>
                  <a:spcPct val="0"/>
                </a:spcBef>
                <a:spcAft>
                  <a:spcPct val="0"/>
                </a:spcAft>
              </a:pPr>
              <a:t>60</a:t>
            </a:fld>
            <a:endParaRPr lang="en-US" altLang="en-US" sz="1100">
              <a:cs typeface="Arial" panose="020B0604020202020204" pitchFamily="34" charset="0"/>
            </a:endParaRPr>
          </a:p>
          <a:p>
            <a:pPr fontAlgn="base">
              <a:spcBef>
                <a:spcPct val="0"/>
              </a:spcBef>
              <a:spcAft>
                <a:spcPct val="0"/>
              </a:spcAft>
            </a:pPr>
            <a:endParaRPr lang="en-US" altLang="en-US">
              <a:cs typeface="Arial" panose="020B0604020202020204" pitchFamily="34" charset="0"/>
            </a:endParaRPr>
          </a:p>
        </p:txBody>
      </p:sp>
      <p:sp>
        <p:nvSpPr>
          <p:cNvPr id="32771" name="Rectangle 2">
            <a:extLst>
              <a:ext uri="{FF2B5EF4-FFF2-40B4-BE49-F238E27FC236}">
                <a16:creationId xmlns:a16="http://schemas.microsoft.com/office/drawing/2014/main" id="{A9E0CA7B-A921-9785-7F03-4F60A4E0730E}"/>
              </a:ext>
            </a:extLst>
          </p:cNvPr>
          <p:cNvSpPr>
            <a:spLocks noGrp="1" noRot="1" noChangeAspect="1" noChangeArrowheads="1" noTextEdit="1"/>
          </p:cNvSpPr>
          <p:nvPr>
            <p:ph type="sldImg"/>
          </p:nvPr>
        </p:nvSpPr>
        <p:spPr bwMode="auto">
          <a:xfrm>
            <a:off x="393700" y="692150"/>
            <a:ext cx="607060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1ACD8623-5AD6-841E-36F5-E9E7050A97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extLst>
      <p:ext uri="{BB962C8B-B14F-4D97-AF65-F5344CB8AC3E}">
        <p14:creationId xmlns:p14="http://schemas.microsoft.com/office/powerpoint/2010/main" val="4251752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C45829-1695-407C-8316-E3BF31A6D024}"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503F66-A535-4BB5-A677-7AB3F31763F3}"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662A45-8178-4638-89CC-39F91E5533C9}"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B1482F-2A52-4199-80FE-49C39C8CD3FF}"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4F50DF-54C7-4DDE-B753-90E7B7F28CB6}" type="datetime1">
              <a:rPr lang="en-US" smtClean="0"/>
              <a:t>2/26/2024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BA2C82-CA6E-486E-8960-4C8656FACE5C}" type="datetime1">
              <a:rPr lang="en-US" smtClean="0"/>
              <a:t>2/26/2024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3CE2664-4E6C-45C9-9044-3D98E8B7CC8E}" type="datetime1">
              <a:rPr lang="en-US" smtClean="0"/>
              <a:t>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D07B87C-9AD4-4C1A-8874-713C6BD5D827}" type="datetime1">
              <a:rPr lang="en-US" smtClean="0"/>
              <a:t>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A73CF0-6FF0-4405-B556-D43E0D67185E}"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CF279-CE97-41D8-B639-BD1DBCEC8E82}"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CFB420-ADF0-421D-9938-3C9F00C82773}"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D8E5E6AF-14E4-4017-92E5-BDFD6E51964C}" type="datetime1">
              <a:rPr lang="en-US" smtClean="0"/>
              <a:t>2/26/2024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dirty="0"/>
              <a:t>Access Specifiers (Visibility Modifiers)</a:t>
            </a: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r>
              <a:rPr lang="en-US" altLang="en-US" dirty="0"/>
              <a:t>To distinguish between instance and static variables and methods .</a:t>
            </a:r>
          </a:p>
          <a:p>
            <a:r>
              <a:rPr lang="en-US" altLang="en-US" dirty="0"/>
              <a:t>To define private data fields with appropriate, get and set methods .</a:t>
            </a:r>
          </a:p>
          <a:p>
            <a:r>
              <a:rPr lang="en-US" altLang="en-US" dirty="0"/>
              <a:t>To encapsulate data fields to make classes easy to maintain</a:t>
            </a:r>
          </a:p>
          <a:p>
            <a:r>
              <a:rPr lang="en-US" altLang="en-US" dirty="0"/>
              <a:t>To define the scope and visibility of the data fields  and class members in the code</a:t>
            </a:r>
          </a:p>
          <a:p>
            <a:r>
              <a:rPr lang="en-US" altLang="en-US" dirty="0"/>
              <a:t>to restrict the levels of access to certain data, ensuring security by preventing unintended alterations.</a:t>
            </a: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r>
              <a:rPr lang="en-US" altLang="en-US" dirty="0"/>
              <a:t>How to use this reference to Refer  to a class’s hidden data fields</a:t>
            </a:r>
          </a:p>
          <a:p>
            <a:r>
              <a:rPr lang="en-US" altLang="en-US" dirty="0"/>
              <a:t>How to use this reference to enable a constructor to call another constructor of the same class</a:t>
            </a:r>
          </a:p>
          <a:p>
            <a:r>
              <a:rPr lang="en-US" altLang="en-US" dirty="0"/>
              <a:t>Method overloading ,passing &amp;returning object and  garbage collection concepts </a:t>
            </a:r>
          </a:p>
          <a:p>
            <a:endParaRPr lang="en-US" altLang="en-US" dirty="0"/>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07201687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Abstraction</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A7253092-BEBD-BC63-959D-6D6AB4D5958C}"/>
              </a:ext>
            </a:extLst>
          </p:cNvPr>
          <p:cNvSpPr>
            <a:spLocks noGrp="1"/>
          </p:cNvSpPr>
          <p:nvPr>
            <p:ph idx="1"/>
          </p:nvPr>
        </p:nvSpPr>
        <p:spPr/>
        <p:txBody>
          <a:bodyPr/>
          <a:lstStyle/>
          <a:p>
            <a:r>
              <a:rPr lang="en-US" dirty="0"/>
              <a:t>You can think of the method body as a black box that contains the detailed implementation for the method.</a:t>
            </a:r>
          </a:p>
        </p:txBody>
      </p:sp>
      <p:graphicFrame>
        <p:nvGraphicFramePr>
          <p:cNvPr id="7" name="Object 7">
            <a:extLst>
              <a:ext uri="{FF2B5EF4-FFF2-40B4-BE49-F238E27FC236}">
                <a16:creationId xmlns:a16="http://schemas.microsoft.com/office/drawing/2014/main" id="{44CBC38A-E29C-4FC1-938F-006C0606E000}"/>
              </a:ext>
            </a:extLst>
          </p:cNvPr>
          <p:cNvGraphicFramePr>
            <a:graphicFrameLocks noChangeAspect="1"/>
          </p:cNvGraphicFramePr>
          <p:nvPr>
            <p:extLst>
              <p:ext uri="{D42A27DB-BD31-4B8C-83A1-F6EECF244321}">
                <p14:modId xmlns:p14="http://schemas.microsoft.com/office/powerpoint/2010/main" val="2389648177"/>
              </p:ext>
            </p:extLst>
          </p:nvPr>
        </p:nvGraphicFramePr>
        <p:xfrm>
          <a:off x="1652683" y="2587011"/>
          <a:ext cx="8886634" cy="3642205"/>
        </p:xfrm>
        <a:graphic>
          <a:graphicData uri="http://schemas.openxmlformats.org/presentationml/2006/ole">
            <mc:AlternateContent xmlns:mc="http://schemas.openxmlformats.org/markup-compatibility/2006">
              <mc:Choice xmlns:v="urn:schemas-microsoft-com:vml" Requires="v">
                <p:oleObj name="Picture" r:id="rId2" imgW="3487196" imgH="1425612" progId="Word.Picture.8">
                  <p:embed/>
                </p:oleObj>
              </mc:Choice>
              <mc:Fallback>
                <p:oleObj name="Picture" r:id="rId2" imgW="3487196" imgH="1425612" progId="Word.Picture.8">
                  <p:embed/>
                  <p:pic>
                    <p:nvPicPr>
                      <p:cNvPr id="99334" name="Object 7">
                        <a:extLst>
                          <a:ext uri="{FF2B5EF4-FFF2-40B4-BE49-F238E27FC236}">
                            <a16:creationId xmlns:a16="http://schemas.microsoft.com/office/drawing/2014/main" id="{3D329113-01D2-957C-17E4-F03CFCA4D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683" y="2587011"/>
                        <a:ext cx="8886634" cy="364220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0121967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Access Specifiers (Visibility Modifiers)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3" name="Content Placeholder 2">
            <a:extLst>
              <a:ext uri="{FF2B5EF4-FFF2-40B4-BE49-F238E27FC236}">
                <a16:creationId xmlns:a16="http://schemas.microsoft.com/office/drawing/2014/main" id="{0A1AEF61-B5A0-E847-E2B5-FE638C1632AA}"/>
              </a:ext>
            </a:extLst>
          </p:cNvPr>
          <p:cNvSpPr>
            <a:spLocks noGrp="1"/>
          </p:cNvSpPr>
          <p:nvPr>
            <p:ph idx="1"/>
          </p:nvPr>
        </p:nvSpPr>
        <p:spPr/>
        <p:txBody>
          <a:bodyPr/>
          <a:lstStyle/>
          <a:p>
            <a:r>
              <a:rPr lang="en-US" dirty="0"/>
              <a:t>To prevent direct modifications of data fields, you should declare the fields (private). This is known as data field encapsulation.</a:t>
            </a:r>
          </a:p>
          <a:p>
            <a:r>
              <a:rPr lang="en-US" dirty="0"/>
              <a:t> To provide the client the ability to access and modify private data fields, (set and get) methods should be written to change and retrieve their values, respectively. </a:t>
            </a:r>
          </a:p>
          <a:p>
            <a:r>
              <a:rPr lang="en-US" dirty="0"/>
              <a:t>Why data fields should be private? To protect data and to make code easy to maintain.</a:t>
            </a:r>
          </a:p>
        </p:txBody>
      </p:sp>
    </p:spTree>
    <p:extLst>
      <p:ext uri="{BB962C8B-B14F-4D97-AF65-F5344CB8AC3E}">
        <p14:creationId xmlns:p14="http://schemas.microsoft.com/office/powerpoint/2010/main" val="18234057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dirty="0"/>
              <a:t>Access Specifiers (Visibility Modifiers)</a:t>
            </a:r>
          </a:p>
        </p:txBody>
      </p:sp>
      <p:sp>
        <p:nvSpPr>
          <p:cNvPr id="3" name="Content Placeholder 2">
            <a:extLst>
              <a:ext uri="{FF2B5EF4-FFF2-40B4-BE49-F238E27FC236}">
                <a16:creationId xmlns:a16="http://schemas.microsoft.com/office/drawing/2014/main" id="{9ECC3FC4-68A7-DA68-A1EF-3B3B1E1009A8}"/>
              </a:ext>
            </a:extLst>
          </p:cNvPr>
          <p:cNvSpPr>
            <a:spLocks noGrp="1"/>
          </p:cNvSpPr>
          <p:nvPr>
            <p:ph idx="1"/>
          </p:nvPr>
        </p:nvSpPr>
        <p:spPr/>
        <p:txBody>
          <a:bodyPr/>
          <a:lstStyle/>
          <a:p>
            <a:r>
              <a:rPr lang="en-US" b="1" dirty="0"/>
              <a:t>Access Modifiers</a:t>
            </a:r>
            <a:r>
              <a:rPr lang="en-US" dirty="0"/>
              <a:t>: are used to set the accessibility </a:t>
            </a:r>
            <a:r>
              <a:rPr lang="en-US" b="1" dirty="0"/>
              <a:t>(visibility) </a:t>
            </a:r>
            <a:r>
              <a:rPr lang="en-US" dirty="0"/>
              <a:t>and specify the scope of a class, constructor, variable, method, or data member.</a:t>
            </a:r>
          </a:p>
          <a:p>
            <a:r>
              <a:rPr lang="en-US" dirty="0"/>
              <a:t>There are four types of access modifiers available in Java:</a:t>
            </a:r>
          </a:p>
          <a:p>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descr="H:\1-Java2_ Preparing Material\img\Capture.JPG">
            <a:extLst>
              <a:ext uri="{FF2B5EF4-FFF2-40B4-BE49-F238E27FC236}">
                <a16:creationId xmlns:a16="http://schemas.microsoft.com/office/drawing/2014/main" id="{504CCBEB-C206-2E13-139C-0155BD1E5CE3}"/>
              </a:ext>
            </a:extLst>
          </p:cNvPr>
          <p:cNvPicPr>
            <a:picLocks noChangeAspect="1" noChangeArrowheads="1"/>
          </p:cNvPicPr>
          <p:nvPr/>
        </p:nvPicPr>
        <p:blipFill>
          <a:blip r:embed="rId2"/>
          <a:srcRect/>
          <a:stretch>
            <a:fillRect/>
          </a:stretch>
        </p:blipFill>
        <p:spPr bwMode="auto">
          <a:xfrm>
            <a:off x="3017880" y="3306920"/>
            <a:ext cx="6143668" cy="2857520"/>
          </a:xfrm>
          <a:prstGeom prst="rect">
            <a:avLst/>
          </a:prstGeom>
          <a:ln>
            <a:solidFill>
              <a:srgbClr val="0000FF"/>
            </a:solidFill>
          </a:ln>
          <a:effectLst>
            <a:outerShdw blurRad="190500" algn="tl" rotWithShape="0">
              <a:srgbClr val="000000">
                <a:alpha val="70000"/>
              </a:srgbClr>
            </a:outerShdw>
          </a:effectLst>
        </p:spPr>
      </p:pic>
    </p:spTree>
    <p:extLst>
      <p:ext uri="{BB962C8B-B14F-4D97-AF65-F5344CB8AC3E}">
        <p14:creationId xmlns:p14="http://schemas.microsoft.com/office/powerpoint/2010/main" val="92941026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Access Specifiers (Visibility Modifiers)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72186"/>
          </a:xfrm>
        </p:spPr>
        <p:txBody>
          <a:bodyPr/>
          <a:lstStyle/>
          <a:p>
            <a:r>
              <a:rPr lang="en-US" altLang="en-US" dirty="0"/>
              <a:t>An access specifier is a Java keyword that indicates how a field or method can be accessed.</a:t>
            </a:r>
          </a:p>
          <a:p>
            <a:r>
              <a:rPr lang="en-US" altLang="en-US" b="1" dirty="0"/>
              <a:t>public</a:t>
            </a:r>
          </a:p>
          <a:p>
            <a:pPr lvl="1"/>
            <a:r>
              <a:rPr lang="en-US" altLang="en-US" dirty="0"/>
              <a:t>When the public access specifier is applied to a class member, the member can be accessed by code inside the class or outside.</a:t>
            </a:r>
          </a:p>
          <a:p>
            <a:r>
              <a:rPr lang="en-US" altLang="en-US" b="1" dirty="0"/>
              <a:t>Private</a:t>
            </a:r>
          </a:p>
          <a:p>
            <a:pPr lvl="1"/>
            <a:r>
              <a:rPr lang="en-US" altLang="en-US" dirty="0"/>
              <a:t>When the private access specifier is applied to a class member, the member cannot be accessed by code outside the class.  The member can be accessed only by methods that are members of the same class.</a:t>
            </a:r>
          </a:p>
          <a:p>
            <a:pPr lvl="1"/>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3849409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Access Specifiers (Visibility Modifiers)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72186"/>
          </a:xfrm>
        </p:spPr>
        <p:txBody>
          <a:bodyPr/>
          <a:lstStyle/>
          <a:p>
            <a:r>
              <a:rPr lang="en-US" altLang="en-US" dirty="0"/>
              <a:t>If </a:t>
            </a:r>
            <a:r>
              <a:rPr lang="en-US" altLang="en-US" b="1" dirty="0"/>
              <a:t>public</a:t>
            </a:r>
            <a:r>
              <a:rPr lang="en-US" altLang="en-US" dirty="0"/>
              <a:t> or  </a:t>
            </a:r>
            <a:r>
              <a:rPr lang="en-US" altLang="en-US" b="1" dirty="0"/>
              <a:t>private</a:t>
            </a:r>
            <a:r>
              <a:rPr lang="en-US" altLang="en-US" dirty="0"/>
              <a:t> is not used, the specifier consider </a:t>
            </a:r>
            <a:r>
              <a:rPr lang="en-US" altLang="en-US" b="1" dirty="0"/>
              <a:t>default</a:t>
            </a:r>
            <a:r>
              <a:rPr lang="en-US" altLang="en-US" dirty="0"/>
              <a:t>.</a:t>
            </a:r>
          </a:p>
          <a:p>
            <a:pPr lvl="1"/>
            <a:r>
              <a:rPr lang="en-US" altLang="en-US" dirty="0"/>
              <a:t>When the </a:t>
            </a:r>
            <a:r>
              <a:rPr lang="en-US" altLang="en-US" b="1" dirty="0"/>
              <a:t>default</a:t>
            </a:r>
            <a:r>
              <a:rPr lang="en-US" altLang="en-US" dirty="0"/>
              <a:t> access specifier is applied to a class member, The member can be accessed by any class in the same package (package-private). The default modifier restricts access to within a package.</a:t>
            </a:r>
          </a:p>
          <a:p>
            <a:r>
              <a:rPr lang="en-US" altLang="en-US" b="1" dirty="0">
                <a:latin typeface="+mj-lt"/>
              </a:rPr>
              <a:t>Protected</a:t>
            </a:r>
          </a:p>
          <a:p>
            <a:pPr lvl="1"/>
            <a:r>
              <a:rPr lang="en-US" altLang="en-US" dirty="0">
                <a:latin typeface="+mj-lt"/>
              </a:rPr>
              <a:t>used with inheritance. </a:t>
            </a:r>
            <a:r>
              <a:rPr lang="en-US" altLang="en-US" b="1" dirty="0">
                <a:latin typeface="+mj-lt"/>
              </a:rPr>
              <a:t>(will be discussed later).</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23319176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Accessor (getters) and Mutator (setters) Methods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t>Because of the concept of data hiding, fields in a class are private.</a:t>
            </a:r>
          </a:p>
          <a:p>
            <a:r>
              <a:rPr lang="en-US" altLang="en-US" dirty="0"/>
              <a:t>The methods that retrieve the data of fields are called </a:t>
            </a:r>
            <a:r>
              <a:rPr lang="en-US" altLang="en-US" b="1" i="1" dirty="0"/>
              <a:t>accessors</a:t>
            </a:r>
            <a:r>
              <a:rPr lang="en-US" altLang="en-US" b="1" i="1" dirty="0">
                <a:solidFill>
                  <a:srgbClr val="FF0000"/>
                </a:solidFill>
              </a:rPr>
              <a:t>(setters).</a:t>
            </a:r>
          </a:p>
          <a:p>
            <a:r>
              <a:rPr lang="en-US" altLang="en-US" dirty="0"/>
              <a:t>The methods that modify the data of fields are called </a:t>
            </a:r>
            <a:r>
              <a:rPr lang="en-US" altLang="en-US" b="1" i="1" dirty="0"/>
              <a:t>mutators</a:t>
            </a:r>
            <a:r>
              <a:rPr lang="en-US" altLang="en-US" b="1" i="1" dirty="0">
                <a:solidFill>
                  <a:srgbClr val="FF0000"/>
                </a:solidFill>
              </a:rPr>
              <a:t>(getters).</a:t>
            </a:r>
          </a:p>
          <a:p>
            <a:r>
              <a:rPr lang="en-US" altLang="en-US" dirty="0"/>
              <a:t>Each field that the programmer wishes to be viewed by other classes needs an accessor.</a:t>
            </a:r>
          </a:p>
          <a:p>
            <a:r>
              <a:rPr lang="en-US" altLang="en-US" dirty="0"/>
              <a:t>Each field that the programmer wishes to be modified by other classes needs a mutator.</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20524014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Accessors and Mutators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16725D98-733A-077A-F38D-377EF1584AD9}"/>
              </a:ext>
            </a:extLst>
          </p:cNvPr>
          <p:cNvGrpSpPr>
            <a:grpSpLocks/>
          </p:cNvGrpSpPr>
          <p:nvPr/>
        </p:nvGrpSpPr>
        <p:grpSpPr bwMode="auto">
          <a:xfrm>
            <a:off x="4404795" y="1874860"/>
            <a:ext cx="4209328" cy="4242777"/>
            <a:chOff x="96" y="864"/>
            <a:chExt cx="2112" cy="2064"/>
          </a:xfrm>
          <a:solidFill>
            <a:schemeClr val="accent2"/>
          </a:solidFill>
        </p:grpSpPr>
        <p:sp>
          <p:nvSpPr>
            <p:cNvPr id="6" name="Rectangle 5">
              <a:extLst>
                <a:ext uri="{FF2B5EF4-FFF2-40B4-BE49-F238E27FC236}">
                  <a16:creationId xmlns:a16="http://schemas.microsoft.com/office/drawing/2014/main" id="{83E69800-4EF1-00F3-F43D-635111BC0445}"/>
                </a:ext>
              </a:extLst>
            </p:cNvPr>
            <p:cNvSpPr>
              <a:spLocks noChangeArrowheads="1"/>
            </p:cNvSpPr>
            <p:nvPr/>
          </p:nvSpPr>
          <p:spPr bwMode="auto">
            <a:xfrm>
              <a:off x="96" y="864"/>
              <a:ext cx="2112" cy="384"/>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i="0" dirty="0"/>
                <a:t>Rectangle</a:t>
              </a:r>
            </a:p>
          </p:txBody>
        </p:sp>
        <p:sp>
          <p:nvSpPr>
            <p:cNvPr id="7" name="Rectangle 6">
              <a:extLst>
                <a:ext uri="{FF2B5EF4-FFF2-40B4-BE49-F238E27FC236}">
                  <a16:creationId xmlns:a16="http://schemas.microsoft.com/office/drawing/2014/main" id="{5C1DB269-CC29-0DDD-A103-588C2A578BC5}"/>
                </a:ext>
              </a:extLst>
            </p:cNvPr>
            <p:cNvSpPr>
              <a:spLocks noChangeArrowheads="1"/>
            </p:cNvSpPr>
            <p:nvPr/>
          </p:nvSpPr>
          <p:spPr bwMode="auto">
            <a:xfrm>
              <a:off x="96" y="1248"/>
              <a:ext cx="2112" cy="496"/>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l" eaLnBrk="1" hangingPunct="1"/>
              <a:r>
                <a:rPr lang="en-US" altLang="ar-SA" sz="2000" i="0" dirty="0"/>
                <a:t>  width : double</a:t>
              </a:r>
            </a:p>
            <a:p>
              <a:pPr algn="l" eaLnBrk="1" hangingPunct="1"/>
              <a:r>
                <a:rPr lang="en-US" altLang="ar-SA" sz="2000" i="0" dirty="0"/>
                <a:t>  length : double</a:t>
              </a:r>
            </a:p>
          </p:txBody>
        </p:sp>
        <p:sp>
          <p:nvSpPr>
            <p:cNvPr id="8" name="Rectangle 7">
              <a:extLst>
                <a:ext uri="{FF2B5EF4-FFF2-40B4-BE49-F238E27FC236}">
                  <a16:creationId xmlns:a16="http://schemas.microsoft.com/office/drawing/2014/main" id="{6A7684FF-0782-B98B-A1BB-C6DD682D2C56}"/>
                </a:ext>
              </a:extLst>
            </p:cNvPr>
            <p:cNvSpPr>
              <a:spLocks noChangeArrowheads="1"/>
            </p:cNvSpPr>
            <p:nvPr/>
          </p:nvSpPr>
          <p:spPr bwMode="auto">
            <a:xfrm>
              <a:off x="96" y="1728"/>
              <a:ext cx="2112" cy="1200"/>
            </a:xfrm>
            <a:prstGeom prst="rect">
              <a:avLst/>
            </a:prstGeom>
            <a:grpFill/>
            <a:ln w="9525">
              <a:solidFill>
                <a:schemeClr val="tx1"/>
              </a:solidFill>
              <a:miter lim="800000"/>
              <a:headEnd/>
              <a:tailEnd/>
            </a:ln>
          </p:spPr>
          <p:txBody>
            <a:bodyPr wrap="none" anchor="ct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l" eaLnBrk="1" hangingPunct="1"/>
              <a:r>
                <a:rPr lang="en-US" altLang="ar-SA" sz="2000" b="1" i="0" dirty="0"/>
                <a:t>+ getters</a:t>
              </a:r>
            </a:p>
            <a:p>
              <a:pPr algn="l" eaLnBrk="1" hangingPunct="1"/>
              <a:r>
                <a:rPr lang="en-US" altLang="ar-SA" sz="2000" b="1" i="0" dirty="0">
                  <a:cs typeface="Times New Roman" panose="02020603050405020304" pitchFamily="18" charset="0"/>
                </a:rPr>
                <a:t>+ setters </a:t>
              </a:r>
            </a:p>
            <a:p>
              <a:pPr algn="l" eaLnBrk="1" hangingPunct="1"/>
              <a:endParaRPr lang="en-US" altLang="ar-SA" sz="2000" i="0" dirty="0"/>
            </a:p>
          </p:txBody>
        </p:sp>
      </p:grpSp>
      <p:sp>
        <p:nvSpPr>
          <p:cNvPr id="9" name="Text Box 8">
            <a:extLst>
              <a:ext uri="{FF2B5EF4-FFF2-40B4-BE49-F238E27FC236}">
                <a16:creationId xmlns:a16="http://schemas.microsoft.com/office/drawing/2014/main" id="{9A206CCC-E94C-FD1F-B108-465AC62596D0}"/>
              </a:ext>
            </a:extLst>
          </p:cNvPr>
          <p:cNvSpPr txBox="1">
            <a:spLocks noChangeArrowheads="1"/>
          </p:cNvSpPr>
          <p:nvPr/>
        </p:nvSpPr>
        <p:spPr bwMode="auto">
          <a:xfrm>
            <a:off x="1743456" y="2131084"/>
            <a:ext cx="157023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2000" i="0" dirty="0">
                <a:solidFill>
                  <a:srgbClr val="FF3300"/>
                </a:solidFill>
                <a:latin typeface="+mj-lt"/>
              </a:rPr>
              <a:t>Class name goes here</a:t>
            </a:r>
          </a:p>
        </p:txBody>
      </p:sp>
      <p:sp>
        <p:nvSpPr>
          <p:cNvPr id="10" name="Text Box 9">
            <a:extLst>
              <a:ext uri="{FF2B5EF4-FFF2-40B4-BE49-F238E27FC236}">
                <a16:creationId xmlns:a16="http://schemas.microsoft.com/office/drawing/2014/main" id="{42195727-5C18-0BBF-9E0D-6C04E9F6C944}"/>
              </a:ext>
            </a:extLst>
          </p:cNvPr>
          <p:cNvSpPr txBox="1">
            <a:spLocks noChangeArrowheads="1"/>
          </p:cNvSpPr>
          <p:nvPr/>
        </p:nvSpPr>
        <p:spPr bwMode="auto">
          <a:xfrm>
            <a:off x="1743456" y="3147287"/>
            <a:ext cx="15667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2000" i="0" dirty="0">
                <a:solidFill>
                  <a:srgbClr val="FF3300"/>
                </a:solidFill>
                <a:latin typeface="+mj-lt"/>
              </a:rPr>
              <a:t>Fields are listed here</a:t>
            </a:r>
          </a:p>
        </p:txBody>
      </p:sp>
      <p:sp>
        <p:nvSpPr>
          <p:cNvPr id="11" name="Text Box 10">
            <a:extLst>
              <a:ext uri="{FF2B5EF4-FFF2-40B4-BE49-F238E27FC236}">
                <a16:creationId xmlns:a16="http://schemas.microsoft.com/office/drawing/2014/main" id="{71DD87D2-EC35-7352-B741-8688B4E587F1}"/>
              </a:ext>
            </a:extLst>
          </p:cNvPr>
          <p:cNvSpPr txBox="1">
            <a:spLocks noChangeArrowheads="1"/>
          </p:cNvSpPr>
          <p:nvPr/>
        </p:nvSpPr>
        <p:spPr bwMode="auto">
          <a:xfrm>
            <a:off x="1743456" y="4748266"/>
            <a:ext cx="15358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i="1">
                <a:solidFill>
                  <a:schemeClr val="tx1"/>
                </a:solidFill>
                <a:latin typeface="Times New Roman" panose="02020603050405020304" pitchFamily="18" charset="0"/>
                <a:cs typeface="Arial" panose="020B0604020202020204" pitchFamily="34" charset="0"/>
              </a:defRPr>
            </a:lvl1pPr>
            <a:lvl2pPr marL="742950" indent="-285750" eaLnBrk="0" hangingPunct="0">
              <a:defRPr sz="2400" i="1">
                <a:solidFill>
                  <a:schemeClr val="tx1"/>
                </a:solidFill>
                <a:latin typeface="Times New Roman" panose="02020603050405020304" pitchFamily="18" charset="0"/>
                <a:cs typeface="Arial" panose="020B0604020202020204" pitchFamily="34" charset="0"/>
              </a:defRPr>
            </a:lvl2pPr>
            <a:lvl3pPr marL="1143000" indent="-228600" eaLnBrk="0" hangingPunct="0">
              <a:defRPr sz="2400" i="1">
                <a:solidFill>
                  <a:schemeClr val="tx1"/>
                </a:solidFill>
                <a:latin typeface="Times New Roman" panose="02020603050405020304" pitchFamily="18" charset="0"/>
                <a:cs typeface="Arial" panose="020B0604020202020204" pitchFamily="34" charset="0"/>
              </a:defRPr>
            </a:lvl3pPr>
            <a:lvl4pPr marL="1600200" indent="-228600" eaLnBrk="0" hangingPunct="0">
              <a:defRPr sz="2400" i="1">
                <a:solidFill>
                  <a:schemeClr val="tx1"/>
                </a:solidFill>
                <a:latin typeface="Times New Roman" panose="02020603050405020304" pitchFamily="18" charset="0"/>
                <a:cs typeface="Arial" panose="020B0604020202020204" pitchFamily="34" charset="0"/>
              </a:defRPr>
            </a:lvl4pPr>
            <a:lvl5pPr marL="2057400" indent="-228600" eaLnBrk="0" hangingPunct="0">
              <a:defRPr sz="2400" i="1">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US" altLang="ar-SA" sz="2000" dirty="0">
                <a:solidFill>
                  <a:srgbClr val="FF0000"/>
                </a:solidFill>
                <a:latin typeface="+mj-lt"/>
              </a:rPr>
              <a:t>Accessors &amp; Mutators</a:t>
            </a:r>
            <a:endParaRPr lang="en-US" altLang="ar-SA" sz="2000" i="0" dirty="0">
              <a:solidFill>
                <a:srgbClr val="FF0000"/>
              </a:solidFill>
              <a:latin typeface="+mj-lt"/>
            </a:endParaRPr>
          </a:p>
        </p:txBody>
      </p:sp>
      <p:cxnSp>
        <p:nvCxnSpPr>
          <p:cNvPr id="12" name="Straight Arrow Connector 11">
            <a:extLst>
              <a:ext uri="{FF2B5EF4-FFF2-40B4-BE49-F238E27FC236}">
                <a16:creationId xmlns:a16="http://schemas.microsoft.com/office/drawing/2014/main" id="{452A4801-C6D2-913D-C4E0-5A4D59C063D1}"/>
              </a:ext>
            </a:extLst>
          </p:cNvPr>
          <p:cNvCxnSpPr/>
          <p:nvPr/>
        </p:nvCxnSpPr>
        <p:spPr>
          <a:xfrm flipH="1">
            <a:off x="3279281" y="2423471"/>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FC5CA06-8524-BAD7-DB1C-69F5DDF256CE}"/>
              </a:ext>
            </a:extLst>
          </p:cNvPr>
          <p:cNvCxnSpPr/>
          <p:nvPr/>
        </p:nvCxnSpPr>
        <p:spPr>
          <a:xfrm flipH="1">
            <a:off x="3310234" y="3300014"/>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9958C10-7B75-735A-0EFE-59724F0C0B62}"/>
              </a:ext>
            </a:extLst>
          </p:cNvPr>
          <p:cNvCxnSpPr/>
          <p:nvPr/>
        </p:nvCxnSpPr>
        <p:spPr>
          <a:xfrm flipH="1">
            <a:off x="3310234" y="5157297"/>
            <a:ext cx="10347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30262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Accessors and Mutators</a:t>
            </a:r>
            <a:endParaRPr lang="en-US" dirty="0"/>
          </a:p>
        </p:txBody>
      </p:sp>
      <p:sp>
        <p:nvSpPr>
          <p:cNvPr id="3" name="Content Placeholder 2">
            <a:extLst>
              <a:ext uri="{FF2B5EF4-FFF2-40B4-BE49-F238E27FC236}">
                <a16:creationId xmlns:a16="http://schemas.microsoft.com/office/drawing/2014/main" id="{BD52BB5C-EA17-A719-85E1-19F51E9E7B6B}"/>
              </a:ext>
            </a:extLst>
          </p:cNvPr>
          <p:cNvSpPr>
            <a:spLocks noGrp="1"/>
          </p:cNvSpPr>
          <p:nvPr>
            <p:ph idx="1"/>
          </p:nvPr>
        </p:nvSpPr>
        <p:spPr>
          <a:xfrm>
            <a:off x="348791" y="1845734"/>
            <a:ext cx="11481847" cy="4359994"/>
          </a:xfrm>
        </p:spPr>
        <p:txBody>
          <a:bodyPr>
            <a:normAutofit/>
          </a:bodyPr>
          <a:lstStyle/>
          <a:p>
            <a:r>
              <a:rPr lang="en-US" dirty="0"/>
              <a:t>For the Rectangle example, the accessors and mutators are:</a:t>
            </a:r>
          </a:p>
          <a:p>
            <a:pPr lvl="1"/>
            <a:r>
              <a:rPr lang="en-US" dirty="0" err="1"/>
              <a:t>setLength</a:t>
            </a:r>
            <a:r>
              <a:rPr lang="en-US" dirty="0"/>
              <a:t>: Sets the value of the length field.</a:t>
            </a:r>
          </a:p>
          <a:p>
            <a:pPr lvl="1"/>
            <a:r>
              <a:rPr lang="en-US" dirty="0"/>
              <a:t>public void </a:t>
            </a:r>
            <a:r>
              <a:rPr lang="en-US" dirty="0" err="1"/>
              <a:t>setLength</a:t>
            </a:r>
            <a:r>
              <a:rPr lang="en-US" dirty="0"/>
              <a:t>(double </a:t>
            </a:r>
            <a:r>
              <a:rPr lang="en-US" dirty="0" err="1"/>
              <a:t>len</a:t>
            </a:r>
            <a:r>
              <a:rPr lang="en-US" dirty="0"/>
              <a:t>) …</a:t>
            </a:r>
          </a:p>
          <a:p>
            <a:pPr lvl="1"/>
            <a:r>
              <a:rPr lang="en-US" dirty="0" err="1"/>
              <a:t>setWidth</a:t>
            </a:r>
            <a:r>
              <a:rPr lang="en-US" dirty="0"/>
              <a:t>: Sets the value of the width field.</a:t>
            </a:r>
          </a:p>
          <a:p>
            <a:pPr lvl="1"/>
            <a:r>
              <a:rPr lang="en-US" dirty="0"/>
              <a:t>public void </a:t>
            </a:r>
            <a:r>
              <a:rPr lang="en-US" dirty="0" err="1"/>
              <a:t>setLength</a:t>
            </a:r>
            <a:r>
              <a:rPr lang="en-US" dirty="0"/>
              <a:t>(double w) …</a:t>
            </a:r>
          </a:p>
          <a:p>
            <a:pPr lvl="1"/>
            <a:r>
              <a:rPr lang="en-US" dirty="0" err="1"/>
              <a:t>getLength</a:t>
            </a:r>
            <a:r>
              <a:rPr lang="en-US" dirty="0"/>
              <a:t>: Returns the value of the length field.</a:t>
            </a:r>
          </a:p>
          <a:p>
            <a:pPr lvl="1"/>
            <a:r>
              <a:rPr lang="en-US" dirty="0"/>
              <a:t>public double </a:t>
            </a:r>
            <a:r>
              <a:rPr lang="en-US" dirty="0" err="1"/>
              <a:t>getLength</a:t>
            </a:r>
            <a:r>
              <a:rPr lang="en-US" dirty="0"/>
              <a:t>() …</a:t>
            </a:r>
          </a:p>
          <a:p>
            <a:pPr lvl="1"/>
            <a:r>
              <a:rPr lang="en-US" dirty="0" err="1"/>
              <a:t>getWidth</a:t>
            </a:r>
            <a:r>
              <a:rPr lang="en-US" dirty="0"/>
              <a:t>: Returns the value of the width field.</a:t>
            </a:r>
          </a:p>
          <a:p>
            <a:pPr lvl="1"/>
            <a:r>
              <a:rPr lang="en-US" dirty="0"/>
              <a:t>public double </a:t>
            </a:r>
            <a:r>
              <a:rPr lang="en-US" dirty="0" err="1"/>
              <a:t>getWidth</a:t>
            </a:r>
            <a:r>
              <a:rPr lang="en-US" dirty="0"/>
              <a:t>() …</a:t>
            </a:r>
          </a:p>
          <a:p>
            <a:r>
              <a:rPr lang="en-US" dirty="0"/>
              <a:t>Other names for these methods are </a:t>
            </a:r>
            <a:r>
              <a:rPr lang="en-US" b="1" i="1" dirty="0"/>
              <a:t>getters</a:t>
            </a:r>
            <a:r>
              <a:rPr lang="en-US" dirty="0"/>
              <a:t> and </a:t>
            </a:r>
            <a:r>
              <a:rPr lang="en-US" b="1" i="1" dirty="0"/>
              <a:t>setters.</a:t>
            </a:r>
          </a:p>
          <a:p>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latin typeface="+mj-lt"/>
              </a:rPr>
              <a:t>Edited and Reviewed By: I. Bara' Qadomi &amp; I. Bara' Hamadah (FIT, Applied Science Private University)</a:t>
            </a:r>
          </a:p>
        </p:txBody>
      </p:sp>
    </p:spTree>
    <p:extLst>
      <p:ext uri="{BB962C8B-B14F-4D97-AF65-F5344CB8AC3E}">
        <p14:creationId xmlns:p14="http://schemas.microsoft.com/office/powerpoint/2010/main" val="124439570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Setter &amp; getter Methods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r>
              <a:rPr lang="en-US" altLang="en-US" dirty="0">
                <a:latin typeface="+mj-lt"/>
              </a:rPr>
              <a:t>In view of the foregoing, </a:t>
            </a:r>
            <a:r>
              <a:rPr lang="en-US" altLang="en-US" b="1" dirty="0">
                <a:latin typeface="+mj-lt"/>
              </a:rPr>
              <a:t>private</a:t>
            </a:r>
            <a:r>
              <a:rPr lang="en-US" altLang="en-US" dirty="0">
                <a:latin typeface="+mj-lt"/>
              </a:rPr>
              <a:t> variables can only be accessed within the same class. However, it is possible to access them if we use public </a:t>
            </a:r>
            <a:r>
              <a:rPr lang="en-US" altLang="en-US" b="1" i="1" dirty="0">
                <a:latin typeface="+mj-lt"/>
              </a:rPr>
              <a:t>get</a:t>
            </a:r>
            <a:r>
              <a:rPr lang="en-US" altLang="en-US" dirty="0">
                <a:latin typeface="+mj-lt"/>
              </a:rPr>
              <a:t> and </a:t>
            </a:r>
            <a:r>
              <a:rPr lang="en-US" altLang="en-US" b="1" i="1" dirty="0">
                <a:latin typeface="+mj-lt"/>
              </a:rPr>
              <a:t>set</a:t>
            </a:r>
            <a:r>
              <a:rPr lang="en-US" altLang="en-US" dirty="0">
                <a:latin typeface="+mj-lt"/>
              </a:rPr>
              <a:t> methods.</a:t>
            </a:r>
          </a:p>
          <a:p>
            <a:r>
              <a:rPr lang="en-US" altLang="en-US" dirty="0">
                <a:latin typeface="+mj-lt"/>
              </a:rPr>
              <a:t>Getter and Setter are methods used to </a:t>
            </a:r>
            <a:r>
              <a:rPr lang="en-US" altLang="en-US" b="1" dirty="0">
                <a:latin typeface="+mj-lt"/>
              </a:rPr>
              <a:t>protect</a:t>
            </a:r>
            <a:r>
              <a:rPr lang="en-US" altLang="en-US" dirty="0">
                <a:latin typeface="+mj-lt"/>
              </a:rPr>
              <a:t> your data and make your code more secure.</a:t>
            </a:r>
          </a:p>
          <a:p>
            <a:r>
              <a:rPr lang="en-US" altLang="en-US" b="1" dirty="0">
                <a:latin typeface="+mj-lt"/>
              </a:rPr>
              <a:t>Getter and Setter </a:t>
            </a:r>
            <a:r>
              <a:rPr lang="en-US" altLang="en-US" dirty="0">
                <a:latin typeface="+mj-lt"/>
              </a:rPr>
              <a:t>make the programmer convenient in setting and getting the value for a particular data type. </a:t>
            </a:r>
          </a:p>
          <a:p>
            <a:r>
              <a:rPr lang="en-US" altLang="en-US" dirty="0">
                <a:latin typeface="+mj-lt"/>
              </a:rPr>
              <a:t>The syntax for both is that they start with either get or set, followed by the name of the variable, with the first letter in an upper-case example: </a:t>
            </a:r>
            <a:r>
              <a:rPr lang="en-US" altLang="en-US" b="1" dirty="0" err="1">
                <a:latin typeface="+mj-lt"/>
              </a:rPr>
              <a:t>setName</a:t>
            </a:r>
            <a:r>
              <a:rPr lang="en-US" altLang="en-US" b="1" dirty="0">
                <a:latin typeface="+mj-lt"/>
              </a:rPr>
              <a:t>() </a:t>
            </a:r>
            <a:r>
              <a:rPr lang="en-US" altLang="en-US" dirty="0">
                <a:latin typeface="+mj-lt"/>
              </a:rPr>
              <a:t>and </a:t>
            </a:r>
            <a:r>
              <a:rPr lang="en-US" altLang="en-US" b="1" dirty="0" err="1">
                <a:latin typeface="+mj-lt"/>
              </a:rPr>
              <a:t>getName</a:t>
            </a:r>
            <a:r>
              <a:rPr lang="en-US" altLang="en-US" b="1" dirty="0">
                <a:latin typeface="+mj-lt"/>
              </a:rPr>
              <a:t>()</a:t>
            </a:r>
            <a:r>
              <a:rPr lang="en-US" altLang="en-US" dirty="0">
                <a:latin typeface="+mj-lt"/>
              </a:rPr>
              <a:t>, to </a:t>
            </a:r>
            <a:r>
              <a:rPr lang="en-US" altLang="en-US" b="1" dirty="0">
                <a:solidFill>
                  <a:srgbClr val="FF0000"/>
                </a:solidFill>
                <a:latin typeface="+mj-lt"/>
              </a:rPr>
              <a:t>change</a:t>
            </a:r>
            <a:r>
              <a:rPr lang="en-US" altLang="en-US" dirty="0">
                <a:latin typeface="+mj-lt"/>
              </a:rPr>
              <a:t> and </a:t>
            </a:r>
            <a:r>
              <a:rPr lang="en-US" altLang="en-US" b="1" dirty="0">
                <a:solidFill>
                  <a:srgbClr val="FF0000"/>
                </a:solidFill>
                <a:latin typeface="+mj-lt"/>
              </a:rPr>
              <a:t>retrieve</a:t>
            </a:r>
            <a:r>
              <a:rPr lang="en-US" altLang="en-US" dirty="0">
                <a:latin typeface="+mj-lt"/>
              </a:rPr>
              <a:t> the value of the name data field, respectively.</a:t>
            </a:r>
          </a:p>
          <a:p>
            <a:endParaRPr lang="en-US" altLang="en-US" dirty="0">
              <a:latin typeface="+mj-lt"/>
            </a:endParaRPr>
          </a:p>
          <a:p>
            <a:endParaRPr lang="en-US" altLang="en-US" dirty="0">
              <a:latin typeface="+mj-lt"/>
            </a:endParaRP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latin typeface="+mj-lt"/>
              </a:rPr>
              <a:t>Edited and Reviewed By: I. Bara' Qadomi &amp; I. Bara' Hamadah (FIT, Applied Science Private University)</a:t>
            </a:r>
          </a:p>
        </p:txBody>
      </p:sp>
    </p:spTree>
    <p:extLst>
      <p:ext uri="{BB962C8B-B14F-4D97-AF65-F5344CB8AC3E}">
        <p14:creationId xmlns:p14="http://schemas.microsoft.com/office/powerpoint/2010/main" val="372889368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Getter method: syntax</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51866"/>
          </a:xfrm>
        </p:spPr>
        <p:txBody>
          <a:bodyPr/>
          <a:lstStyle/>
          <a:p>
            <a:r>
              <a:rPr lang="en-US" altLang="en-US" dirty="0"/>
              <a:t>The getter method starts with the word “</a:t>
            </a:r>
            <a:r>
              <a:rPr lang="en-US" altLang="en-US" b="1" dirty="0"/>
              <a:t>get</a:t>
            </a:r>
            <a:r>
              <a:rPr lang="en-US" altLang="en-US" dirty="0"/>
              <a:t>” </a:t>
            </a:r>
            <a:r>
              <a:rPr lang="en-US" altLang="en-US" dirty="0">
                <a:solidFill>
                  <a:srgbClr val="FF0000"/>
                </a:solidFill>
              </a:rPr>
              <a:t>followed by the variable name</a:t>
            </a:r>
            <a:r>
              <a:rPr lang="en-US" altLang="en-US" dirty="0"/>
              <a:t>, getter method </a:t>
            </a:r>
            <a:r>
              <a:rPr lang="en-US" altLang="en-US" dirty="0">
                <a:solidFill>
                  <a:srgbClr val="FF0000"/>
                </a:solidFill>
              </a:rPr>
              <a:t>returns the value in different data types; int, String, double, float,</a:t>
            </a:r>
            <a:r>
              <a:rPr lang="en-US" altLang="en-US" dirty="0"/>
              <a:t> etc. </a:t>
            </a:r>
          </a:p>
          <a:p>
            <a:r>
              <a:rPr lang="en-US" altLang="en-US" dirty="0"/>
              <a:t>Below is an example of the syntax of a getter method:</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4F2A43D2-B8D7-152A-DA0E-998EE16A2B01}"/>
              </a:ext>
            </a:extLst>
          </p:cNvPr>
          <p:cNvGrpSpPr/>
          <p:nvPr/>
        </p:nvGrpSpPr>
        <p:grpSpPr>
          <a:xfrm>
            <a:off x="3273362" y="3590065"/>
            <a:ext cx="5632704" cy="1825752"/>
            <a:chOff x="928662" y="3786190"/>
            <a:chExt cx="6215106" cy="1571636"/>
          </a:xfrm>
        </p:grpSpPr>
        <p:sp>
          <p:nvSpPr>
            <p:cNvPr id="6" name="Rectangle 5">
              <a:extLst>
                <a:ext uri="{FF2B5EF4-FFF2-40B4-BE49-F238E27FC236}">
                  <a16:creationId xmlns:a16="http://schemas.microsoft.com/office/drawing/2014/main" id="{DB2FD762-0D24-04BC-B3E9-0CA7DF6D11A4}"/>
                </a:ext>
              </a:extLst>
            </p:cNvPr>
            <p:cNvSpPr/>
            <p:nvPr/>
          </p:nvSpPr>
          <p:spPr>
            <a:xfrm>
              <a:off x="928662" y="3786190"/>
              <a:ext cx="6215106" cy="15716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endParaRPr lang="en-US" dirty="0">
                <a:solidFill>
                  <a:schemeClr val="tx1"/>
                </a:solidFill>
              </a:endParaRPr>
            </a:p>
          </p:txBody>
        </p:sp>
        <p:sp>
          <p:nvSpPr>
            <p:cNvPr id="7" name="TextBox 6">
              <a:extLst>
                <a:ext uri="{FF2B5EF4-FFF2-40B4-BE49-F238E27FC236}">
                  <a16:creationId xmlns:a16="http://schemas.microsoft.com/office/drawing/2014/main" id="{3B05ED25-4AE7-8A5E-0F07-05347BD77E24}"/>
                </a:ext>
              </a:extLst>
            </p:cNvPr>
            <p:cNvSpPr txBox="1"/>
            <p:nvPr/>
          </p:nvSpPr>
          <p:spPr>
            <a:xfrm>
              <a:off x="928662" y="3786191"/>
              <a:ext cx="6072230" cy="1338272"/>
            </a:xfrm>
            <a:prstGeom prst="rect">
              <a:avLst/>
            </a:prstGeom>
            <a:noFill/>
          </p:spPr>
          <p:txBody>
            <a:bodyPr wrap="square" rtlCol="0">
              <a:spAutoFit/>
            </a:bodyPr>
            <a:lstStyle/>
            <a:p>
              <a:pPr lvl="0" algn="l" rtl="0">
                <a:lnSpc>
                  <a:spcPct val="150000"/>
                </a:lnSpc>
              </a:pPr>
              <a:r>
                <a:rPr lang="en-US" sz="2200" b="1" dirty="0">
                  <a:latin typeface="Times New Roman" pitchFamily="18" charset="0"/>
                  <a:cs typeface="Times New Roman" pitchFamily="18" charset="0"/>
                </a:rPr>
                <a:t>public </a:t>
              </a:r>
              <a:r>
                <a:rPr lang="en-US" sz="2200" b="1" dirty="0">
                  <a:solidFill>
                    <a:srgbClr val="FF0000"/>
                  </a:solidFill>
                  <a:latin typeface="Times New Roman" pitchFamily="18" charset="0"/>
                  <a:cs typeface="Times New Roman" pitchFamily="18" charset="0"/>
                </a:rPr>
                <a:t>returnType</a:t>
              </a:r>
              <a:r>
                <a:rPr lang="en-US" sz="2200" b="1" dirty="0">
                  <a:latin typeface="Times New Roman" pitchFamily="18" charset="0"/>
                  <a:cs typeface="Times New Roman" pitchFamily="18" charset="0"/>
                </a:rPr>
                <a:t> </a:t>
              </a:r>
              <a:r>
                <a:rPr lang="en-US" sz="2200" b="1" dirty="0" err="1">
                  <a:solidFill>
                    <a:srgbClr val="4A66AC"/>
                  </a:solidFill>
                  <a:latin typeface="Times New Roman" pitchFamily="18" charset="0"/>
                  <a:cs typeface="Times New Roman" pitchFamily="18" charset="0"/>
                </a:rPr>
                <a:t>getPropertyName</a:t>
              </a:r>
              <a:r>
                <a:rPr lang="en-US" sz="2200" b="1" dirty="0">
                  <a:latin typeface="Times New Roman" pitchFamily="18" charset="0"/>
                  <a:cs typeface="Times New Roman" pitchFamily="18" charset="0"/>
                </a:rPr>
                <a:t> (){</a:t>
              </a:r>
            </a:p>
            <a:p>
              <a:pPr lvl="0" algn="l" rtl="0">
                <a:lnSpc>
                  <a:spcPct val="150000"/>
                </a:lnSpc>
              </a:pPr>
              <a:r>
                <a:rPr lang="en-GB" sz="2200" b="1" dirty="0">
                  <a:solidFill>
                    <a:srgbClr val="629DD1"/>
                  </a:solidFill>
                  <a:latin typeface="Times New Roman" pitchFamily="18" charset="0"/>
                  <a:cs typeface="Times New Roman" pitchFamily="18" charset="0"/>
                </a:rPr>
                <a:t>return</a:t>
              </a:r>
              <a:r>
                <a:rPr lang="en-GB" sz="2200" b="1" dirty="0">
                  <a:latin typeface="Times New Roman" pitchFamily="18" charset="0"/>
                  <a:cs typeface="Times New Roman" pitchFamily="18" charset="0"/>
                </a:rPr>
                <a:t> property;</a:t>
              </a:r>
            </a:p>
            <a:p>
              <a:pPr lvl="0" algn="l" rtl="0">
                <a:lnSpc>
                  <a:spcPct val="150000"/>
                </a:lnSpc>
              </a:pPr>
              <a:r>
                <a:rPr lang="en-GB" sz="2200" b="1" dirty="0">
                  <a:latin typeface="Times New Roman" pitchFamily="18" charset="0"/>
                  <a:cs typeface="Times New Roman" pitchFamily="18" charset="0"/>
                </a:rPr>
                <a:t>}</a:t>
              </a:r>
              <a:endParaRPr lang="en-US" sz="2200" b="1" dirty="0"/>
            </a:p>
          </p:txBody>
        </p:sp>
      </p:grpSp>
    </p:spTree>
    <p:extLst>
      <p:ext uri="{BB962C8B-B14F-4D97-AF65-F5344CB8AC3E}">
        <p14:creationId xmlns:p14="http://schemas.microsoft.com/office/powerpoint/2010/main" val="228569887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Getter method: Example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3">
            <a:extLst>
              <a:ext uri="{FF2B5EF4-FFF2-40B4-BE49-F238E27FC236}">
                <a16:creationId xmlns:a16="http://schemas.microsoft.com/office/drawing/2014/main" id="{21AF6536-5E4E-FA35-3652-90ECF540A8D8}"/>
              </a:ext>
            </a:extLst>
          </p:cNvPr>
          <p:cNvPicPr>
            <a:picLocks noGrp="1" noChangeAspect="1" noChangeArrowheads="1"/>
          </p:cNvPicPr>
          <p:nvPr>
            <p:ph idx="1"/>
          </p:nvPr>
        </p:nvPicPr>
        <p:blipFill>
          <a:blip r:embed="rId2"/>
          <a:srcRect/>
          <a:stretch>
            <a:fillRect/>
          </a:stretch>
        </p:blipFill>
        <p:spPr bwMode="auto">
          <a:xfrm>
            <a:off x="1" y="1832526"/>
            <a:ext cx="8725222" cy="4300050"/>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F1BDB2A8-FD28-7C4E-5300-0ED21E6A8FA1}"/>
              </a:ext>
            </a:extLst>
          </p:cNvPr>
          <p:cNvSpPr/>
          <p:nvPr/>
        </p:nvSpPr>
        <p:spPr>
          <a:xfrm>
            <a:off x="1719072" y="4783952"/>
            <a:ext cx="4986528" cy="1348624"/>
          </a:xfrm>
          <a:prstGeom prst="rect">
            <a:avLst/>
          </a:prstGeom>
          <a:solidFill>
            <a:schemeClr val="accent1">
              <a:alpha val="0"/>
            </a:schemeClr>
          </a:solid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1A88EF-CD9E-F448-7513-1A0D6F6DD7D2}"/>
              </a:ext>
            </a:extLst>
          </p:cNvPr>
          <p:cNvSpPr/>
          <p:nvPr/>
        </p:nvSpPr>
        <p:spPr>
          <a:xfrm>
            <a:off x="8810566" y="3131730"/>
            <a:ext cx="3381434" cy="1553054"/>
          </a:xfrm>
          <a:prstGeom prst="rect">
            <a:avLst/>
          </a:prstGeom>
        </p:spPr>
        <p:txBody>
          <a:bodyPr wrap="square">
            <a:spAutoFit/>
          </a:bodyPr>
          <a:lstStyle/>
          <a:p>
            <a:pPr marL="179388" indent="-179388" algn="just" fontAlgn="base">
              <a:lnSpc>
                <a:spcPct val="150000"/>
              </a:lnSpc>
            </a:pPr>
            <a:r>
              <a:rPr lang="en-US" sz="2200" dirty="0">
                <a:latin typeface="+mj-lt"/>
                <a:cs typeface="Times New Roman" pitchFamily="18" charset="0"/>
              </a:rPr>
              <a:t>The </a:t>
            </a:r>
            <a:r>
              <a:rPr lang="en-US" sz="2200" b="1" dirty="0" err="1">
                <a:latin typeface="+mj-lt"/>
                <a:cs typeface="Times New Roman" pitchFamily="18" charset="0"/>
              </a:rPr>
              <a:t>getRadius</a:t>
            </a:r>
            <a:r>
              <a:rPr lang="en-US" sz="2200" b="1" dirty="0">
                <a:latin typeface="+mj-lt"/>
                <a:cs typeface="Times New Roman" pitchFamily="18" charset="0"/>
              </a:rPr>
              <a:t>() </a:t>
            </a:r>
            <a:r>
              <a:rPr lang="en-US" sz="2200" dirty="0">
                <a:latin typeface="+mj-lt"/>
                <a:cs typeface="Times New Roman" pitchFamily="18" charset="0"/>
              </a:rPr>
              <a:t>method </a:t>
            </a:r>
            <a:r>
              <a:rPr lang="en-US" sz="2200" b="1" dirty="0">
                <a:solidFill>
                  <a:srgbClr val="0000FF"/>
                </a:solidFill>
                <a:latin typeface="+mj-lt"/>
                <a:cs typeface="Times New Roman" pitchFamily="18" charset="0"/>
              </a:rPr>
              <a:t>returns </a:t>
            </a:r>
            <a:r>
              <a:rPr lang="en-US" sz="2200" dirty="0">
                <a:latin typeface="+mj-lt"/>
                <a:cs typeface="Times New Roman" pitchFamily="18" charset="0"/>
              </a:rPr>
              <a:t>the value of the variable name (</a:t>
            </a:r>
            <a:r>
              <a:rPr lang="en-US" sz="2200" dirty="0">
                <a:solidFill>
                  <a:srgbClr val="009564"/>
                </a:solidFill>
                <a:latin typeface="+mj-lt"/>
                <a:cs typeface="Times New Roman" pitchFamily="18" charset="0"/>
              </a:rPr>
              <a:t>radius</a:t>
            </a:r>
            <a:r>
              <a:rPr lang="en-US" sz="2200" dirty="0">
                <a:latin typeface="+mj-lt"/>
                <a:cs typeface="Times New Roman" pitchFamily="18" charset="0"/>
              </a:rPr>
              <a:t>).</a:t>
            </a:r>
          </a:p>
        </p:txBody>
      </p:sp>
    </p:spTree>
    <p:extLst>
      <p:ext uri="{BB962C8B-B14F-4D97-AF65-F5344CB8AC3E}">
        <p14:creationId xmlns:p14="http://schemas.microsoft.com/office/powerpoint/2010/main" val="330202693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Setter method: syntax</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51866"/>
          </a:xfrm>
        </p:spPr>
        <p:txBody>
          <a:bodyPr/>
          <a:lstStyle/>
          <a:p>
            <a:r>
              <a:rPr lang="en-US" altLang="en-US" dirty="0"/>
              <a:t>Setter method sets or updates the value of any given. It starts with the word “set” followed by the variable name.</a:t>
            </a:r>
          </a:p>
          <a:p>
            <a:r>
              <a:rPr lang="en-US" altLang="en-US" dirty="0"/>
              <a:t>Below is an example of the syntax of a setter method:</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grpSp>
        <p:nvGrpSpPr>
          <p:cNvPr id="5" name="Group 4">
            <a:extLst>
              <a:ext uri="{FF2B5EF4-FFF2-40B4-BE49-F238E27FC236}">
                <a16:creationId xmlns:a16="http://schemas.microsoft.com/office/drawing/2014/main" id="{4F2A43D2-B8D7-152A-DA0E-998EE16A2B01}"/>
              </a:ext>
            </a:extLst>
          </p:cNvPr>
          <p:cNvGrpSpPr/>
          <p:nvPr/>
        </p:nvGrpSpPr>
        <p:grpSpPr>
          <a:xfrm>
            <a:off x="2099787" y="3590065"/>
            <a:ext cx="7979854" cy="1825752"/>
            <a:chOff x="928662" y="3786190"/>
            <a:chExt cx="6215106" cy="1571636"/>
          </a:xfrm>
        </p:grpSpPr>
        <p:sp>
          <p:nvSpPr>
            <p:cNvPr id="6" name="Rectangle 5">
              <a:extLst>
                <a:ext uri="{FF2B5EF4-FFF2-40B4-BE49-F238E27FC236}">
                  <a16:creationId xmlns:a16="http://schemas.microsoft.com/office/drawing/2014/main" id="{DB2FD762-0D24-04BC-B3E9-0CA7DF6D11A4}"/>
                </a:ext>
              </a:extLst>
            </p:cNvPr>
            <p:cNvSpPr/>
            <p:nvPr/>
          </p:nvSpPr>
          <p:spPr>
            <a:xfrm>
              <a:off x="928662" y="3786190"/>
              <a:ext cx="6215106" cy="15716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endParaRPr lang="en-US" dirty="0">
                <a:solidFill>
                  <a:schemeClr val="tx1"/>
                </a:solidFill>
              </a:endParaRPr>
            </a:p>
          </p:txBody>
        </p:sp>
        <p:sp>
          <p:nvSpPr>
            <p:cNvPr id="7" name="TextBox 6">
              <a:extLst>
                <a:ext uri="{FF2B5EF4-FFF2-40B4-BE49-F238E27FC236}">
                  <a16:creationId xmlns:a16="http://schemas.microsoft.com/office/drawing/2014/main" id="{3B05ED25-4AE7-8A5E-0F07-05347BD77E24}"/>
                </a:ext>
              </a:extLst>
            </p:cNvPr>
            <p:cNvSpPr txBox="1"/>
            <p:nvPr/>
          </p:nvSpPr>
          <p:spPr>
            <a:xfrm>
              <a:off x="928662" y="3786191"/>
              <a:ext cx="6072230" cy="1338272"/>
            </a:xfrm>
            <a:prstGeom prst="rect">
              <a:avLst/>
            </a:prstGeom>
            <a:noFill/>
          </p:spPr>
          <p:txBody>
            <a:bodyPr wrap="square" rtlCol="0">
              <a:spAutoFit/>
            </a:bodyPr>
            <a:lstStyle/>
            <a:p>
              <a:pPr lvl="0" algn="l" rtl="0">
                <a:lnSpc>
                  <a:spcPct val="150000"/>
                </a:lnSpc>
              </a:pPr>
              <a:r>
                <a:rPr lang="en-US" sz="2200" b="1" dirty="0">
                  <a:latin typeface="Times New Roman" pitchFamily="18" charset="0"/>
                  <a:cs typeface="Times New Roman" pitchFamily="18" charset="0"/>
                </a:rPr>
                <a:t>public  </a:t>
              </a:r>
              <a:r>
                <a:rPr lang="en-US" sz="2200" b="1" dirty="0">
                  <a:solidFill>
                    <a:srgbClr val="FF0000"/>
                  </a:solidFill>
                  <a:latin typeface="Times New Roman" pitchFamily="18" charset="0"/>
                  <a:cs typeface="Times New Roman" pitchFamily="18" charset="0"/>
                </a:rPr>
                <a:t>void</a:t>
              </a:r>
              <a:r>
                <a:rPr lang="en-US" sz="2200" b="1" dirty="0">
                  <a:latin typeface="Times New Roman" pitchFamily="18" charset="0"/>
                  <a:cs typeface="Times New Roman" pitchFamily="18" charset="0"/>
                </a:rPr>
                <a:t> </a:t>
              </a:r>
              <a:r>
                <a:rPr lang="en-US" sz="2200" b="1" dirty="0" err="1">
                  <a:solidFill>
                    <a:srgbClr val="4A66AC"/>
                  </a:solidFill>
                  <a:latin typeface="Times New Roman" pitchFamily="18" charset="0"/>
                  <a:cs typeface="Times New Roman" pitchFamily="18" charset="0"/>
                </a:rPr>
                <a:t>setPropertyName</a:t>
              </a:r>
              <a:r>
                <a:rPr lang="en-US" sz="2200" b="1" dirty="0">
                  <a:latin typeface="Times New Roman" pitchFamily="18" charset="0"/>
                  <a:cs typeface="Times New Roman" pitchFamily="18" charset="0"/>
                </a:rPr>
                <a:t> (</a:t>
              </a:r>
              <a:r>
                <a:rPr lang="en-US" sz="2200" b="1" dirty="0">
                  <a:solidFill>
                    <a:srgbClr val="7030A0"/>
                  </a:solidFill>
                  <a:latin typeface="Times New Roman" pitchFamily="18" charset="0"/>
                  <a:cs typeface="Times New Roman" pitchFamily="18" charset="0"/>
                </a:rPr>
                <a:t>dataType</a:t>
              </a:r>
              <a:r>
                <a:rPr lang="en-US" sz="2200" b="1" dirty="0">
                  <a:latin typeface="Times New Roman" pitchFamily="18" charset="0"/>
                  <a:cs typeface="Times New Roman" pitchFamily="18" charset="0"/>
                </a:rPr>
                <a:t> </a:t>
              </a:r>
              <a:r>
                <a:rPr lang="en-US" sz="2200" b="1" dirty="0">
                  <a:solidFill>
                    <a:srgbClr val="FF0000"/>
                  </a:solidFill>
                  <a:latin typeface="Times New Roman" pitchFamily="18" charset="0"/>
                  <a:cs typeface="Times New Roman" pitchFamily="18" charset="0"/>
                </a:rPr>
                <a:t>newPropertValue</a:t>
              </a:r>
              <a:r>
                <a:rPr lang="en-US" sz="2200" b="1" dirty="0">
                  <a:latin typeface="Times New Roman" pitchFamily="18" charset="0"/>
                  <a:cs typeface="Times New Roman" pitchFamily="18" charset="0"/>
                </a:rPr>
                <a:t>){</a:t>
              </a:r>
            </a:p>
            <a:p>
              <a:pPr lvl="0" algn="l" rtl="0">
                <a:lnSpc>
                  <a:spcPct val="150000"/>
                </a:lnSpc>
              </a:pPr>
              <a:r>
                <a:rPr lang="en-GB" sz="2200" b="1" dirty="0" err="1">
                  <a:solidFill>
                    <a:srgbClr val="4A66AC"/>
                  </a:solidFill>
                  <a:latin typeface="Times New Roman" pitchFamily="18" charset="0"/>
                  <a:cs typeface="Times New Roman" pitchFamily="18" charset="0"/>
                </a:rPr>
                <a:t>this.property</a:t>
              </a:r>
              <a:r>
                <a:rPr lang="en-GB" sz="2200" b="1" dirty="0">
                  <a:solidFill>
                    <a:srgbClr val="4A66AC"/>
                  </a:solidFill>
                  <a:latin typeface="Times New Roman" pitchFamily="18" charset="0"/>
                  <a:cs typeface="Times New Roman" pitchFamily="18" charset="0"/>
                </a:rPr>
                <a:t> </a:t>
              </a:r>
              <a:r>
                <a:rPr lang="en-GB" sz="2200" b="1" dirty="0">
                  <a:latin typeface="Times New Roman" pitchFamily="18" charset="0"/>
                  <a:cs typeface="Times New Roman" pitchFamily="18" charset="0"/>
                </a:rPr>
                <a:t>=</a:t>
              </a:r>
              <a:r>
                <a:rPr lang="en-GB" sz="2200" b="1" dirty="0">
                  <a:solidFill>
                    <a:srgbClr val="629DD1"/>
                  </a:solidFill>
                  <a:latin typeface="Times New Roman" pitchFamily="18" charset="0"/>
                  <a:cs typeface="Times New Roman" pitchFamily="18" charset="0"/>
                </a:rPr>
                <a:t> </a:t>
              </a:r>
              <a:r>
                <a:rPr lang="en-GB" sz="2200" b="1" dirty="0" err="1">
                  <a:solidFill>
                    <a:srgbClr val="FF0000"/>
                  </a:solidFill>
                  <a:latin typeface="Times New Roman" pitchFamily="18" charset="0"/>
                  <a:cs typeface="Times New Roman" pitchFamily="18" charset="0"/>
                </a:rPr>
                <a:t>newPropertValue</a:t>
              </a:r>
              <a:r>
                <a:rPr lang="en-GB" sz="2200" b="1" dirty="0">
                  <a:latin typeface="Times New Roman" pitchFamily="18" charset="0"/>
                  <a:cs typeface="Times New Roman" pitchFamily="18" charset="0"/>
                </a:rPr>
                <a:t>;</a:t>
              </a:r>
            </a:p>
            <a:p>
              <a:pPr lvl="0" algn="l" rtl="0">
                <a:lnSpc>
                  <a:spcPct val="150000"/>
                </a:lnSpc>
              </a:pPr>
              <a:r>
                <a:rPr lang="en-GB" sz="2200" b="1" dirty="0">
                  <a:latin typeface="Times New Roman" pitchFamily="18" charset="0"/>
                  <a:cs typeface="Times New Roman" pitchFamily="18" charset="0"/>
                </a:rPr>
                <a:t>}</a:t>
              </a:r>
              <a:endParaRPr lang="en-US" sz="2200" b="1" dirty="0"/>
            </a:p>
          </p:txBody>
        </p:sp>
      </p:grpSp>
    </p:spTree>
    <p:extLst>
      <p:ext uri="{BB962C8B-B14F-4D97-AF65-F5344CB8AC3E}">
        <p14:creationId xmlns:p14="http://schemas.microsoft.com/office/powerpoint/2010/main" val="224788732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Setter method: Example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E71A88EF-CD9E-F448-7513-1A0D6F6DD7D2}"/>
              </a:ext>
            </a:extLst>
          </p:cNvPr>
          <p:cNvSpPr/>
          <p:nvPr/>
        </p:nvSpPr>
        <p:spPr>
          <a:xfrm>
            <a:off x="8180834" y="1875240"/>
            <a:ext cx="4011166" cy="4190314"/>
          </a:xfrm>
          <a:prstGeom prst="rect">
            <a:avLst/>
          </a:prstGeom>
        </p:spPr>
        <p:txBody>
          <a:bodyPr wrap="square">
            <a:spAutoFit/>
          </a:bodyPr>
          <a:lstStyle/>
          <a:p>
            <a:pPr marL="179388" indent="-179388" fontAlgn="base">
              <a:lnSpc>
                <a:spcPct val="150000"/>
              </a:lnSpc>
            </a:pPr>
            <a:r>
              <a:rPr lang="en-US" sz="2000" dirty="0">
                <a:latin typeface="+mj-lt"/>
                <a:cs typeface="Times New Roman" pitchFamily="18" charset="0"/>
              </a:rPr>
              <a:t>The </a:t>
            </a:r>
            <a:r>
              <a:rPr lang="en-US" sz="2000" b="1" dirty="0" err="1">
                <a:latin typeface="+mj-lt"/>
                <a:cs typeface="Times New Roman" pitchFamily="18" charset="0"/>
              </a:rPr>
              <a:t>setRadius</a:t>
            </a:r>
            <a:r>
              <a:rPr lang="en-US" sz="2000" b="1" dirty="0">
                <a:latin typeface="+mj-lt"/>
                <a:cs typeface="Times New Roman" pitchFamily="18" charset="0"/>
              </a:rPr>
              <a:t>(dataType </a:t>
            </a:r>
            <a:r>
              <a:rPr lang="en-US" sz="2000" b="1" dirty="0" err="1">
                <a:solidFill>
                  <a:srgbClr val="FF0000"/>
                </a:solidFill>
                <a:latin typeface="+mj-lt"/>
                <a:cs typeface="Times New Roman" pitchFamily="18" charset="0"/>
              </a:rPr>
              <a:t>newValue</a:t>
            </a:r>
            <a:r>
              <a:rPr lang="en-US" sz="2000" b="1" dirty="0">
                <a:latin typeface="+mj-lt"/>
                <a:cs typeface="Times New Roman" pitchFamily="18" charset="0"/>
              </a:rPr>
              <a:t>) </a:t>
            </a:r>
            <a:r>
              <a:rPr lang="en-US" sz="2000" dirty="0">
                <a:latin typeface="+mj-lt"/>
                <a:cs typeface="Times New Roman" pitchFamily="18" charset="0"/>
              </a:rPr>
              <a:t>method receives the parameter (new </a:t>
            </a:r>
            <a:r>
              <a:rPr lang="en-US" sz="2000" b="1" dirty="0">
                <a:solidFill>
                  <a:srgbClr val="C00000"/>
                </a:solidFill>
                <a:latin typeface="+mj-lt"/>
                <a:cs typeface="Times New Roman" pitchFamily="18" charset="0"/>
              </a:rPr>
              <a:t>radius</a:t>
            </a:r>
            <a:r>
              <a:rPr lang="en-US" sz="2000" dirty="0">
                <a:latin typeface="+mj-lt"/>
                <a:cs typeface="Times New Roman" pitchFamily="18" charset="0"/>
              </a:rPr>
              <a:t> value) and </a:t>
            </a:r>
            <a:r>
              <a:rPr lang="en-US" sz="2000" b="1" dirty="0">
                <a:latin typeface="+mj-lt"/>
                <a:cs typeface="Times New Roman" pitchFamily="18" charset="0"/>
              </a:rPr>
              <a:t>assigns </a:t>
            </a:r>
            <a:r>
              <a:rPr lang="en-US" sz="2000" dirty="0">
                <a:latin typeface="+mj-lt"/>
                <a:cs typeface="Times New Roman" pitchFamily="18" charset="0"/>
              </a:rPr>
              <a:t>it to the variable (</a:t>
            </a:r>
            <a:r>
              <a:rPr lang="en-US" sz="2000" dirty="0">
                <a:solidFill>
                  <a:srgbClr val="00B050"/>
                </a:solidFill>
                <a:latin typeface="+mj-lt"/>
                <a:cs typeface="Times New Roman" pitchFamily="18" charset="0"/>
              </a:rPr>
              <a:t>radius</a:t>
            </a:r>
            <a:r>
              <a:rPr lang="en-US" sz="2000" dirty="0">
                <a:latin typeface="+mj-lt"/>
                <a:cs typeface="Times New Roman" pitchFamily="18" charset="0"/>
              </a:rPr>
              <a:t>), </a:t>
            </a:r>
            <a:r>
              <a:rPr lang="en-US" sz="2000" b="1" dirty="0">
                <a:solidFill>
                  <a:srgbClr val="FF0000"/>
                </a:solidFill>
                <a:latin typeface="+mj-lt"/>
                <a:cs typeface="Times New Roman" pitchFamily="18" charset="0"/>
              </a:rPr>
              <a:t>this</a:t>
            </a:r>
            <a:r>
              <a:rPr lang="en-US" sz="2000" dirty="0">
                <a:latin typeface="+mj-lt"/>
                <a:cs typeface="Times New Roman" pitchFamily="18" charset="0"/>
              </a:rPr>
              <a:t> keyword is used to refer to the current object.</a:t>
            </a:r>
          </a:p>
          <a:p>
            <a:pPr marL="179388" indent="-179388" fontAlgn="base">
              <a:lnSpc>
                <a:spcPct val="150000"/>
              </a:lnSpc>
            </a:pPr>
            <a:r>
              <a:rPr lang="en-US" sz="2000" dirty="0">
                <a:latin typeface="+mj-lt"/>
                <a:cs typeface="Times New Roman" pitchFamily="18" charset="0"/>
              </a:rPr>
              <a:t>The other purpose of the set methods is to check the validity of the data fields values.</a:t>
            </a:r>
          </a:p>
        </p:txBody>
      </p:sp>
      <p:pic>
        <p:nvPicPr>
          <p:cNvPr id="3" name="Picture 5">
            <a:extLst>
              <a:ext uri="{FF2B5EF4-FFF2-40B4-BE49-F238E27FC236}">
                <a16:creationId xmlns:a16="http://schemas.microsoft.com/office/drawing/2014/main" id="{C434543D-7341-494E-89FD-20090FED0073}"/>
              </a:ext>
            </a:extLst>
          </p:cNvPr>
          <p:cNvPicPr>
            <a:picLocks noChangeAspect="1" noChangeArrowheads="1"/>
          </p:cNvPicPr>
          <p:nvPr/>
        </p:nvPicPr>
        <p:blipFill>
          <a:blip r:embed="rId3"/>
          <a:srcRect/>
          <a:stretch>
            <a:fillRect/>
          </a:stretch>
        </p:blipFill>
        <p:spPr bwMode="auto">
          <a:xfrm>
            <a:off x="0" y="1747224"/>
            <a:ext cx="8180833" cy="4524677"/>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F1BDB2A8-FD28-7C4E-5300-0ED21E6A8FA1}"/>
              </a:ext>
            </a:extLst>
          </p:cNvPr>
          <p:cNvSpPr/>
          <p:nvPr/>
        </p:nvSpPr>
        <p:spPr>
          <a:xfrm>
            <a:off x="1557663" y="5049763"/>
            <a:ext cx="6159873" cy="1119389"/>
          </a:xfrm>
          <a:prstGeom prst="rect">
            <a:avLst/>
          </a:prstGeom>
          <a:solidFill>
            <a:schemeClr val="accent1">
              <a:alpha val="0"/>
            </a:schemeClr>
          </a:solid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604168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Setter method: Validation Example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E71A88EF-CD9E-F448-7513-1A0D6F6DD7D2}"/>
              </a:ext>
            </a:extLst>
          </p:cNvPr>
          <p:cNvSpPr/>
          <p:nvPr/>
        </p:nvSpPr>
        <p:spPr>
          <a:xfrm>
            <a:off x="7802880" y="1875240"/>
            <a:ext cx="4267200" cy="3728649"/>
          </a:xfrm>
          <a:prstGeom prst="rect">
            <a:avLst/>
          </a:prstGeom>
        </p:spPr>
        <p:txBody>
          <a:bodyPr wrap="square">
            <a:spAutoFit/>
          </a:bodyPr>
          <a:lstStyle/>
          <a:p>
            <a:pPr marL="179388" indent="-179388" fontAlgn="base">
              <a:lnSpc>
                <a:spcPct val="150000"/>
              </a:lnSpc>
            </a:pPr>
            <a:r>
              <a:rPr lang="en-US" sz="2000" dirty="0">
                <a:latin typeface="+mj-lt"/>
                <a:cs typeface="Times New Roman" pitchFamily="18" charset="0"/>
              </a:rPr>
              <a:t>In the example before, the values of the </a:t>
            </a:r>
            <a:r>
              <a:rPr lang="en-US" sz="2000" b="1" dirty="0">
                <a:solidFill>
                  <a:srgbClr val="009564"/>
                </a:solidFill>
                <a:latin typeface="+mj-lt"/>
                <a:cs typeface="Times New Roman" pitchFamily="18" charset="0"/>
              </a:rPr>
              <a:t>radius</a:t>
            </a:r>
            <a:r>
              <a:rPr lang="en-US" sz="2000" dirty="0">
                <a:latin typeface="+mj-lt"/>
                <a:cs typeface="Times New Roman" pitchFamily="18" charset="0"/>
              </a:rPr>
              <a:t> can’t be negative. This condition is checked in the set method, which </a:t>
            </a:r>
            <a:r>
              <a:rPr lang="en-US" sz="2000" b="1" dirty="0">
                <a:solidFill>
                  <a:srgbClr val="FF0000"/>
                </a:solidFill>
                <a:latin typeface="+mj-lt"/>
                <a:cs typeface="Times New Roman" pitchFamily="18" charset="0"/>
              </a:rPr>
              <a:t>should be invoked using the constructors</a:t>
            </a:r>
            <a:r>
              <a:rPr lang="en-US" sz="2000" dirty="0">
                <a:latin typeface="+mj-lt"/>
                <a:cs typeface="Times New Roman" pitchFamily="18" charset="0"/>
              </a:rPr>
              <a:t> to ensure that the data fields are valid even during the creation of objects.</a:t>
            </a:r>
          </a:p>
        </p:txBody>
      </p:sp>
      <p:pic>
        <p:nvPicPr>
          <p:cNvPr id="5" name="Picture 2">
            <a:extLst>
              <a:ext uri="{FF2B5EF4-FFF2-40B4-BE49-F238E27FC236}">
                <a16:creationId xmlns:a16="http://schemas.microsoft.com/office/drawing/2014/main" id="{4B07237C-7074-4F24-2B7B-9ED2275D5973}"/>
              </a:ext>
            </a:extLst>
          </p:cNvPr>
          <p:cNvPicPr>
            <a:picLocks noChangeAspect="1" noChangeArrowheads="1"/>
          </p:cNvPicPr>
          <p:nvPr/>
        </p:nvPicPr>
        <p:blipFill>
          <a:blip r:embed="rId3"/>
          <a:srcRect/>
          <a:stretch>
            <a:fillRect/>
          </a:stretch>
        </p:blipFill>
        <p:spPr bwMode="auto">
          <a:xfrm>
            <a:off x="0" y="1737360"/>
            <a:ext cx="7717536" cy="4590288"/>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F1BDB2A8-FD28-7C4E-5300-0ED21E6A8FA1}"/>
              </a:ext>
            </a:extLst>
          </p:cNvPr>
          <p:cNvSpPr/>
          <p:nvPr/>
        </p:nvSpPr>
        <p:spPr>
          <a:xfrm>
            <a:off x="948063" y="4354819"/>
            <a:ext cx="6635361" cy="1875293"/>
          </a:xfrm>
          <a:prstGeom prst="rect">
            <a:avLst/>
          </a:prstGeom>
          <a:solidFill>
            <a:schemeClr val="accent1">
              <a:alpha val="0"/>
            </a:schemeClr>
          </a:solid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925840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Setter method: Validation Example</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29" name="Picture 28">
            <a:extLst>
              <a:ext uri="{FF2B5EF4-FFF2-40B4-BE49-F238E27FC236}">
                <a16:creationId xmlns:a16="http://schemas.microsoft.com/office/drawing/2014/main" id="{9EEB2C42-1192-A673-77A5-B2F5FF4ABE58}"/>
              </a:ext>
            </a:extLst>
          </p:cNvPr>
          <p:cNvPicPr>
            <a:picLocks noChangeAspect="1"/>
          </p:cNvPicPr>
          <p:nvPr/>
        </p:nvPicPr>
        <p:blipFill>
          <a:blip r:embed="rId2"/>
          <a:stretch>
            <a:fillRect/>
          </a:stretch>
        </p:blipFill>
        <p:spPr>
          <a:xfrm>
            <a:off x="335209" y="1759954"/>
            <a:ext cx="4623111" cy="1669046"/>
          </a:xfrm>
          <a:prstGeom prst="rect">
            <a:avLst/>
          </a:prstGeom>
        </p:spPr>
      </p:pic>
      <p:pic>
        <p:nvPicPr>
          <p:cNvPr id="31" name="Picture 30">
            <a:extLst>
              <a:ext uri="{FF2B5EF4-FFF2-40B4-BE49-F238E27FC236}">
                <a16:creationId xmlns:a16="http://schemas.microsoft.com/office/drawing/2014/main" id="{9B70DA80-DB8F-EA83-DEBC-22D6A7637570}"/>
              </a:ext>
            </a:extLst>
          </p:cNvPr>
          <p:cNvPicPr>
            <a:picLocks noChangeAspect="1"/>
          </p:cNvPicPr>
          <p:nvPr/>
        </p:nvPicPr>
        <p:blipFill>
          <a:blip r:embed="rId3"/>
          <a:stretch>
            <a:fillRect/>
          </a:stretch>
        </p:blipFill>
        <p:spPr>
          <a:xfrm>
            <a:off x="348791" y="4578357"/>
            <a:ext cx="7722873" cy="1669046"/>
          </a:xfrm>
          <a:prstGeom prst="rect">
            <a:avLst/>
          </a:prstGeom>
        </p:spPr>
      </p:pic>
      <p:pic>
        <p:nvPicPr>
          <p:cNvPr id="33" name="Picture 32">
            <a:extLst>
              <a:ext uri="{FF2B5EF4-FFF2-40B4-BE49-F238E27FC236}">
                <a16:creationId xmlns:a16="http://schemas.microsoft.com/office/drawing/2014/main" id="{943A3F52-9805-E7CF-F93B-57446EC593F6}"/>
              </a:ext>
            </a:extLst>
          </p:cNvPr>
          <p:cNvPicPr>
            <a:picLocks noChangeAspect="1"/>
          </p:cNvPicPr>
          <p:nvPr/>
        </p:nvPicPr>
        <p:blipFill>
          <a:blip r:embed="rId4"/>
          <a:stretch>
            <a:fillRect/>
          </a:stretch>
        </p:blipFill>
        <p:spPr>
          <a:xfrm>
            <a:off x="4958320" y="2016609"/>
            <a:ext cx="7233680" cy="2349367"/>
          </a:xfrm>
          <a:prstGeom prst="rect">
            <a:avLst/>
          </a:prstGeom>
        </p:spPr>
      </p:pic>
    </p:spTree>
    <p:extLst>
      <p:ext uri="{BB962C8B-B14F-4D97-AF65-F5344CB8AC3E}">
        <p14:creationId xmlns:p14="http://schemas.microsoft.com/office/powerpoint/2010/main" val="292439536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Cont. Setter method: Validation Example</a:t>
            </a:r>
          </a:p>
        </p:txBody>
      </p:sp>
      <p:sp>
        <p:nvSpPr>
          <p:cNvPr id="3" name="Content Placeholder 2">
            <a:extLst>
              <a:ext uri="{FF2B5EF4-FFF2-40B4-BE49-F238E27FC236}">
                <a16:creationId xmlns:a16="http://schemas.microsoft.com/office/drawing/2014/main" id="{3C3B4CE3-24AA-D2E8-783D-8A59ABDCB880}"/>
              </a:ext>
            </a:extLst>
          </p:cNvPr>
          <p:cNvSpPr>
            <a:spLocks noGrp="1"/>
          </p:cNvSpPr>
          <p:nvPr>
            <p:ph idx="1"/>
          </p:nvPr>
        </p:nvSpPr>
        <p:spPr/>
        <p:txBody>
          <a:bodyPr/>
          <a:lstStyle/>
          <a:p>
            <a:r>
              <a:rPr lang="en-US" dirty="0"/>
              <a:t>Note! Remember: The </a:t>
            </a:r>
            <a:r>
              <a:rPr lang="en-US" b="1" i="1" dirty="0">
                <a:solidFill>
                  <a:srgbClr val="FF0000"/>
                </a:solidFill>
              </a:rPr>
              <a:t>set</a:t>
            </a:r>
            <a:r>
              <a:rPr lang="en-US" dirty="0"/>
              <a:t> method that is checking the validity of the data fields </a:t>
            </a:r>
            <a:r>
              <a:rPr lang="en-US" b="1" dirty="0">
                <a:solidFill>
                  <a:srgbClr val="FF0000"/>
                </a:solidFill>
              </a:rPr>
              <a:t>should be invoked through the constructors </a:t>
            </a:r>
            <a:r>
              <a:rPr lang="en-US" dirty="0"/>
              <a:t>to make sure that the data fields are valid even during the creation of objects.</a:t>
            </a:r>
          </a:p>
          <a:p>
            <a:endParaRPr lang="en-US" dirty="0"/>
          </a:p>
          <a:p>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45476857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Getter &amp; Setter methods: Example</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7B108144-5601-8035-EBA1-BCECBF2FDB8E}"/>
              </a:ext>
            </a:extLst>
          </p:cNvPr>
          <p:cNvPicPr>
            <a:picLocks noGrp="1" noChangeAspect="1" noChangeArrowheads="1"/>
          </p:cNvPicPr>
          <p:nvPr>
            <p:ph idx="1"/>
          </p:nvPr>
        </p:nvPicPr>
        <p:blipFill>
          <a:blip r:embed="rId2"/>
          <a:srcRect/>
          <a:stretch>
            <a:fillRect/>
          </a:stretch>
        </p:blipFill>
        <p:spPr bwMode="auto">
          <a:xfrm>
            <a:off x="1481138" y="1737360"/>
            <a:ext cx="9217151" cy="5120640"/>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6642003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Cont. Getter &amp; Setter methods: Example</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8" name="Picture 3">
            <a:extLst>
              <a:ext uri="{FF2B5EF4-FFF2-40B4-BE49-F238E27FC236}">
                <a16:creationId xmlns:a16="http://schemas.microsoft.com/office/drawing/2014/main" id="{DCAF3780-C16F-9E39-1951-3DF08835980E}"/>
              </a:ext>
            </a:extLst>
          </p:cNvPr>
          <p:cNvPicPr>
            <a:picLocks noChangeAspect="1" noChangeArrowheads="1"/>
          </p:cNvPicPr>
          <p:nvPr/>
        </p:nvPicPr>
        <p:blipFill>
          <a:blip r:embed="rId3"/>
          <a:srcRect/>
          <a:stretch>
            <a:fillRect/>
          </a:stretch>
        </p:blipFill>
        <p:spPr bwMode="auto">
          <a:xfrm>
            <a:off x="3334248" y="1737360"/>
            <a:ext cx="5846327" cy="5087550"/>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61201884"/>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Cont. Getter &amp; Setter methods: Example</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2E6A3342-C374-7B03-102C-C777BD685630}"/>
              </a:ext>
            </a:extLst>
          </p:cNvPr>
          <p:cNvPicPr>
            <a:picLocks noChangeAspect="1"/>
          </p:cNvPicPr>
          <p:nvPr/>
        </p:nvPicPr>
        <p:blipFill>
          <a:blip r:embed="rId3"/>
          <a:stretch>
            <a:fillRect/>
          </a:stretch>
        </p:blipFill>
        <p:spPr>
          <a:xfrm>
            <a:off x="1571625" y="1866033"/>
            <a:ext cx="9036177" cy="4958877"/>
          </a:xfrm>
          <a:prstGeom prst="rect">
            <a:avLst/>
          </a:prstGeom>
        </p:spPr>
      </p:pic>
    </p:spTree>
    <p:extLst>
      <p:ext uri="{BB962C8B-B14F-4D97-AF65-F5344CB8AC3E}">
        <p14:creationId xmlns:p14="http://schemas.microsoft.com/office/powerpoint/2010/main" val="53253904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Getter &amp; Setter method: (Main Class)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3" name="Picture 5">
            <a:extLst>
              <a:ext uri="{FF2B5EF4-FFF2-40B4-BE49-F238E27FC236}">
                <a16:creationId xmlns:a16="http://schemas.microsoft.com/office/drawing/2014/main" id="{A5181FDD-D0C5-F042-9866-269D8C424828}"/>
              </a:ext>
            </a:extLst>
          </p:cNvPr>
          <p:cNvPicPr>
            <a:picLocks noChangeAspect="1" noChangeArrowheads="1"/>
          </p:cNvPicPr>
          <p:nvPr/>
        </p:nvPicPr>
        <p:blipFill>
          <a:blip r:embed="rId3"/>
          <a:srcRect/>
          <a:stretch>
            <a:fillRect/>
          </a:stretch>
        </p:blipFill>
        <p:spPr bwMode="auto">
          <a:xfrm>
            <a:off x="1183062" y="1737360"/>
            <a:ext cx="9813304" cy="2993136"/>
          </a:xfrm>
          <a:prstGeom prst="rect">
            <a:avLst/>
          </a:prstGeom>
          <a:ln w="6350" cap="sq">
            <a:solidFill>
              <a:srgbClr val="C00000"/>
            </a:solidFill>
            <a:prstDash val="dash"/>
            <a:miter lim="800000"/>
          </a:ln>
          <a:effectLst>
            <a:outerShdw blurRad="50800" dist="38100" dir="2700000" algn="tl" rotWithShape="0">
              <a:srgbClr val="000000">
                <a:alpha val="43000"/>
              </a:srgbClr>
            </a:outerShdw>
          </a:effectLst>
        </p:spPr>
      </p:pic>
      <p:pic>
        <p:nvPicPr>
          <p:cNvPr id="6" name="Picture 10" descr="I:\1-Java2_ Preparing Material\img\Untitled.png">
            <a:extLst>
              <a:ext uri="{FF2B5EF4-FFF2-40B4-BE49-F238E27FC236}">
                <a16:creationId xmlns:a16="http://schemas.microsoft.com/office/drawing/2014/main" id="{54A2B680-9020-4469-59BD-0F964708358C}"/>
              </a:ext>
            </a:extLst>
          </p:cNvPr>
          <p:cNvPicPr>
            <a:picLocks noChangeAspect="1" noChangeArrowheads="1"/>
          </p:cNvPicPr>
          <p:nvPr/>
        </p:nvPicPr>
        <p:blipFill>
          <a:blip r:embed="rId4"/>
          <a:srcRect/>
          <a:stretch>
            <a:fillRect/>
          </a:stretch>
        </p:blipFill>
        <p:spPr bwMode="auto">
          <a:xfrm>
            <a:off x="1183062" y="4730496"/>
            <a:ext cx="9813303" cy="2094414"/>
          </a:xfrm>
          <a:prstGeom prst="rect">
            <a:avLst/>
          </a:prstGeom>
          <a:ln w="6350" cap="sq">
            <a:solidFill>
              <a:srgbClr val="0000FF"/>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164953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Encapsulation</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Encapsulation: is defined as binding together the data and the methods that manipulate them.</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6" name="Picture 5">
            <a:extLst>
              <a:ext uri="{FF2B5EF4-FFF2-40B4-BE49-F238E27FC236}">
                <a16:creationId xmlns:a16="http://schemas.microsoft.com/office/drawing/2014/main" id="{80836184-DE57-FEFF-1D6E-5EF365161CA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7264" y="2452301"/>
            <a:ext cx="4823392" cy="380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5B514C05-81AA-6E1B-2F76-249AE29FA84D}"/>
              </a:ext>
            </a:extLst>
          </p:cNvPr>
          <p:cNvPicPr>
            <a:picLocks noChangeAspect="1" noChangeArrowheads="1"/>
          </p:cNvPicPr>
          <p:nvPr/>
        </p:nvPicPr>
        <p:blipFill>
          <a:blip r:embed="rId3"/>
          <a:srcRect/>
          <a:stretch>
            <a:fillRect/>
          </a:stretch>
        </p:blipFill>
        <p:spPr bwMode="auto">
          <a:xfrm>
            <a:off x="6664448" y="2675450"/>
            <a:ext cx="4722880" cy="2961106"/>
          </a:xfrm>
          <a:prstGeom prst="rect">
            <a:avLst/>
          </a:prstGeom>
          <a:noFill/>
          <a:ln w="6350">
            <a:solidFill>
              <a:srgbClr val="C00000"/>
            </a:solidFill>
            <a:miter lim="800000"/>
            <a:headEnd/>
            <a:tailEnd/>
          </a:ln>
          <a:effectLst/>
        </p:spPr>
      </p:pic>
    </p:spTree>
    <p:extLst>
      <p:ext uri="{BB962C8B-B14F-4D97-AF65-F5344CB8AC3E}">
        <p14:creationId xmlns:p14="http://schemas.microsoft.com/office/powerpoint/2010/main" val="244827548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Data Hiding</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408762"/>
          </a:xfrm>
        </p:spPr>
        <p:txBody>
          <a:bodyPr>
            <a:normAutofit/>
          </a:bodyPr>
          <a:lstStyle/>
          <a:p>
            <a:r>
              <a:rPr lang="en-US" altLang="en-US" dirty="0"/>
              <a:t>An object hides its internal, private fields from code that is outside the class that the object is an instance of. </a:t>
            </a:r>
          </a:p>
          <a:p>
            <a:r>
              <a:rPr lang="en-US" altLang="en-US" dirty="0"/>
              <a:t>Only the class's methods may directly access and make changes to the object’s internal data.</a:t>
            </a:r>
          </a:p>
          <a:p>
            <a:r>
              <a:rPr lang="en-US" altLang="en-US" dirty="0"/>
              <a:t>Code outside the class must use the class's public methods to operate on an object's private fields.</a:t>
            </a:r>
          </a:p>
          <a:p>
            <a:r>
              <a:rPr lang="en-US" altLang="en-US" dirty="0"/>
              <a:t>Data hiding is important because classes are typically used as components in large software systems, involving a team of programmers.</a:t>
            </a:r>
          </a:p>
          <a:p>
            <a:r>
              <a:rPr lang="en-US" altLang="en-US" dirty="0"/>
              <a:t>Data hiding helps enforce the integrity of an object's internal data.</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5605669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Data fields Encapsulation (Attributes &amp; Constructors)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8" name="Picture 7">
            <a:extLst>
              <a:ext uri="{FF2B5EF4-FFF2-40B4-BE49-F238E27FC236}">
                <a16:creationId xmlns:a16="http://schemas.microsoft.com/office/drawing/2014/main" id="{2090372E-6554-4228-9FDA-7F55D9A51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338" y="1733148"/>
            <a:ext cx="7130012" cy="4513648"/>
          </a:xfrm>
          <a:prstGeom prst="rect">
            <a:avLst/>
          </a:prstGeom>
        </p:spPr>
      </p:pic>
      <p:pic>
        <p:nvPicPr>
          <p:cNvPr id="11" name="Picture 10">
            <a:extLst>
              <a:ext uri="{FF2B5EF4-FFF2-40B4-BE49-F238E27FC236}">
                <a16:creationId xmlns:a16="http://schemas.microsoft.com/office/drawing/2014/main" id="{96A23795-9018-426A-90C2-1EC4451A1A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7386" y="1347016"/>
            <a:ext cx="4351834" cy="2675623"/>
          </a:xfrm>
          <a:prstGeom prst="rect">
            <a:avLst/>
          </a:prstGeom>
        </p:spPr>
      </p:pic>
      <p:sp>
        <p:nvSpPr>
          <p:cNvPr id="24" name="Rectangle 4">
            <a:extLst>
              <a:ext uri="{FF2B5EF4-FFF2-40B4-BE49-F238E27FC236}">
                <a16:creationId xmlns:a16="http://schemas.microsoft.com/office/drawing/2014/main" id="{CC397F76-5F84-476D-AC3D-D1740426D326}"/>
              </a:ext>
            </a:extLst>
          </p:cNvPr>
          <p:cNvSpPr>
            <a:spLocks noChangeArrowheads="1"/>
          </p:cNvSpPr>
          <p:nvPr/>
        </p:nvSpPr>
        <p:spPr bwMode="auto">
          <a:xfrm>
            <a:off x="7238197" y="3989972"/>
            <a:ext cx="4869825" cy="23436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rtl="0" fontAlgn="base">
              <a:lnSpc>
                <a:spcPct val="150000"/>
              </a:lnSpc>
              <a:spcBef>
                <a:spcPct val="0"/>
              </a:spcBef>
              <a:spcAft>
                <a:spcPct val="0"/>
              </a:spcAft>
            </a:pPr>
            <a:r>
              <a:rPr lang="en-US" sz="2000" b="1" dirty="0">
                <a:latin typeface="+mj-lt"/>
                <a:cs typeface="Times New Roman" pitchFamily="18" charset="0"/>
              </a:rPr>
              <a:t>Circle</a:t>
            </a:r>
            <a:r>
              <a:rPr lang="en-US" sz="2000" dirty="0">
                <a:latin typeface="+mj-lt"/>
                <a:cs typeface="Times New Roman" pitchFamily="18" charset="0"/>
              </a:rPr>
              <a:t> class has </a:t>
            </a:r>
            <a:r>
              <a:rPr lang="en-US" sz="2000" b="1" dirty="0">
                <a:solidFill>
                  <a:srgbClr val="C00000"/>
                </a:solidFill>
                <a:latin typeface="+mj-lt"/>
                <a:cs typeface="Times New Roman" pitchFamily="18" charset="0"/>
              </a:rPr>
              <a:t>private</a:t>
            </a:r>
            <a:r>
              <a:rPr lang="en-US" sz="2000" dirty="0">
                <a:solidFill>
                  <a:srgbClr val="FF0000"/>
                </a:solidFill>
                <a:latin typeface="+mj-lt"/>
                <a:cs typeface="Times New Roman" pitchFamily="18" charset="0"/>
              </a:rPr>
              <a:t> </a:t>
            </a:r>
            <a:r>
              <a:rPr lang="en-US" sz="2000" dirty="0">
                <a:latin typeface="+mj-lt"/>
                <a:cs typeface="Times New Roman" pitchFamily="18" charset="0"/>
              </a:rPr>
              <a:t>data members. In the </a:t>
            </a:r>
            <a:r>
              <a:rPr lang="en-US" sz="2000" b="1" dirty="0" err="1">
                <a:latin typeface="+mj-lt"/>
                <a:cs typeface="Times New Roman" pitchFamily="18" charset="0"/>
              </a:rPr>
              <a:t>NewMain</a:t>
            </a:r>
            <a:r>
              <a:rPr lang="en-US" sz="2000" dirty="0">
                <a:latin typeface="+mj-lt"/>
                <a:cs typeface="Times New Roman" pitchFamily="18" charset="0"/>
              </a:rPr>
              <a:t> class, we are going to access these private members from outside the class. Hence, there are compile-time errors </a:t>
            </a:r>
            <a:r>
              <a:rPr lang="en-US" sz="2000" b="1" dirty="0">
                <a:solidFill>
                  <a:srgbClr val="FF0000"/>
                </a:solidFill>
                <a:latin typeface="+mj-lt"/>
                <a:cs typeface="Times New Roman" pitchFamily="18" charset="0"/>
              </a:rPr>
              <a:t>Why?</a:t>
            </a:r>
            <a:r>
              <a:rPr lang="en-US" sz="2000" dirty="0">
                <a:solidFill>
                  <a:srgbClr val="FF0000"/>
                </a:solidFill>
                <a:latin typeface="+mj-lt"/>
                <a:cs typeface="Times New Roman" pitchFamily="18" charset="0"/>
              </a:rPr>
              <a:t>)</a:t>
            </a:r>
          </a:p>
        </p:txBody>
      </p:sp>
    </p:spTree>
    <p:extLst>
      <p:ext uri="{BB962C8B-B14F-4D97-AF65-F5344CB8AC3E}">
        <p14:creationId xmlns:p14="http://schemas.microsoft.com/office/powerpoint/2010/main" val="4092528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Data fields Encapsulation </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b="1" dirty="0"/>
              <a:t>The cause of the compile-time errors in the previous example from line 6 to 13 in the class (</a:t>
            </a:r>
            <a:r>
              <a:rPr lang="en-US" altLang="en-US" b="1" dirty="0" err="1"/>
              <a:t>NewMain</a:t>
            </a:r>
            <a:r>
              <a:rPr lang="en-US" altLang="en-US" b="1" dirty="0"/>
              <a:t>) </a:t>
            </a:r>
            <a:r>
              <a:rPr lang="en-US" altLang="en-US" dirty="0"/>
              <a:t>that, the radius, name dimension, and color are defined private and cannot be accessed from outside the </a:t>
            </a:r>
            <a:r>
              <a:rPr lang="en-US" altLang="en-US" b="1" dirty="0"/>
              <a:t>Circle</a:t>
            </a:r>
            <a:r>
              <a:rPr lang="en-US" altLang="en-US" dirty="0"/>
              <a:t> class.</a:t>
            </a:r>
          </a:p>
          <a:p>
            <a:r>
              <a:rPr lang="en-US" altLang="en-US" dirty="0"/>
              <a:t>To access and modify these private data fields, </a:t>
            </a:r>
            <a:r>
              <a:rPr lang="en-US" altLang="en-US" b="1" dirty="0"/>
              <a:t>the (setter and getter) methods </a:t>
            </a:r>
            <a:r>
              <a:rPr lang="en-US" altLang="en-US" dirty="0"/>
              <a:t>should be used </a:t>
            </a:r>
            <a:r>
              <a:rPr lang="en-US" altLang="en-US" b="1" dirty="0"/>
              <a:t>to change and retrieve their values.</a:t>
            </a:r>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83511468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Why Encapsulation?</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Better control of class attributes and methods.</a:t>
            </a:r>
          </a:p>
          <a:p>
            <a:r>
              <a:rPr lang="en-US" altLang="en-US" dirty="0"/>
              <a:t>Class attributes can be only read-only (if you only use the get method) or write-only (if you only use the set method).</a:t>
            </a:r>
          </a:p>
          <a:p>
            <a:r>
              <a:rPr lang="en-US" altLang="en-US" dirty="0"/>
              <a:t>Flexibility: the programmer can change one part of the code without affecting other parts.</a:t>
            </a:r>
          </a:p>
          <a:p>
            <a:r>
              <a:rPr lang="en-US" altLang="en-US" dirty="0"/>
              <a:t>Increased security of data.</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4">
            <a:extLst>
              <a:ext uri="{FF2B5EF4-FFF2-40B4-BE49-F238E27FC236}">
                <a16:creationId xmlns:a16="http://schemas.microsoft.com/office/drawing/2014/main" id="{E607B13F-EB4D-4E67-8454-076D4612FF4F}"/>
              </a:ext>
            </a:extLst>
          </p:cNvPr>
          <p:cNvPicPr>
            <a:picLocks noChangeAspect="1" noChangeArrowheads="1"/>
          </p:cNvPicPr>
          <p:nvPr/>
        </p:nvPicPr>
        <p:blipFill>
          <a:blip r:embed="rId2"/>
          <a:srcRect/>
          <a:stretch>
            <a:fillRect/>
          </a:stretch>
        </p:blipFill>
        <p:spPr bwMode="auto">
          <a:xfrm>
            <a:off x="6059103" y="3749040"/>
            <a:ext cx="5057273" cy="2556757"/>
          </a:xfrm>
          <a:prstGeom prst="rect">
            <a:avLst/>
          </a:prstGeom>
          <a:noFill/>
          <a:ln w="6350">
            <a:solidFill>
              <a:srgbClr val="C00000"/>
            </a:solidFill>
            <a:miter lim="800000"/>
            <a:headEnd/>
            <a:tailEnd/>
          </a:ln>
          <a:effectLst/>
        </p:spPr>
      </p:pic>
    </p:spTree>
    <p:extLst>
      <p:ext uri="{BB962C8B-B14F-4D97-AF65-F5344CB8AC3E}">
        <p14:creationId xmlns:p14="http://schemas.microsoft.com/office/powerpoint/2010/main" val="1921581898"/>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Exercises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596062"/>
          </a:xfrm>
        </p:spPr>
        <p:txBody>
          <a:bodyPr>
            <a:normAutofit/>
          </a:bodyPr>
          <a:lstStyle/>
          <a:p>
            <a:pPr marL="342900" indent="-342900"/>
            <a:r>
              <a:rPr lang="en-US" altLang="en-US" dirty="0"/>
              <a:t>Write a Java program to create a class called Person with private instance variables name, age. and country. Provide public getter and setter methods to access and modify these variables.</a:t>
            </a:r>
          </a:p>
          <a:p>
            <a:endParaRPr lang="en-US" altLang="en-US" dirty="0"/>
          </a:p>
          <a:p>
            <a:r>
              <a:rPr lang="en-US" altLang="en-US" dirty="0"/>
              <a:t>Write a Java program to create a class called </a:t>
            </a:r>
            <a:r>
              <a:rPr lang="en-US" altLang="en-US" dirty="0" err="1"/>
              <a:t>BankAccount</a:t>
            </a:r>
            <a:r>
              <a:rPr lang="en-US" altLang="en-US" dirty="0"/>
              <a:t> with private instance variables </a:t>
            </a:r>
            <a:r>
              <a:rPr lang="en-US" altLang="en-US" dirty="0" err="1"/>
              <a:t>accountNumber</a:t>
            </a:r>
            <a:r>
              <a:rPr lang="en-US" altLang="en-US" dirty="0"/>
              <a:t> and balance. Provide public getter and setter methods to access and modify these variables.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70506173"/>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Exercises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596062"/>
          </a:xfrm>
        </p:spPr>
        <p:txBody>
          <a:bodyPr>
            <a:normAutofit/>
          </a:bodyPr>
          <a:lstStyle/>
          <a:p>
            <a:r>
              <a:rPr lang="en-US" altLang="en-US" dirty="0"/>
              <a:t>Write a Java program to create a class called Car with the following class members:</a:t>
            </a:r>
          </a:p>
          <a:p>
            <a:pPr lvl="1"/>
            <a:r>
              <a:rPr lang="en-US" altLang="en-US" dirty="0"/>
              <a:t>private instance variables </a:t>
            </a:r>
            <a:r>
              <a:rPr lang="en-US" altLang="en-US" dirty="0" err="1"/>
              <a:t>company_name</a:t>
            </a:r>
            <a:r>
              <a:rPr lang="en-US" altLang="en-US" dirty="0"/>
              <a:t> , </a:t>
            </a:r>
            <a:r>
              <a:rPr lang="en-US" altLang="en-US" dirty="0" err="1"/>
              <a:t>model_name</a:t>
            </a:r>
            <a:r>
              <a:rPr lang="en-US" altLang="en-US" dirty="0"/>
              <a:t> of type String , year, and mileage of type integer.</a:t>
            </a:r>
          </a:p>
          <a:p>
            <a:pPr lvl="1"/>
            <a:r>
              <a:rPr lang="en-US" altLang="en-US" dirty="0"/>
              <a:t>Provide public getter and setter methods to access and modify the  variables.</a:t>
            </a:r>
          </a:p>
          <a:p>
            <a:pPr lvl="1"/>
            <a:r>
              <a:rPr lang="en-US" altLang="en-US" dirty="0"/>
              <a:t>The value of  year can't be greater than current year.</a:t>
            </a:r>
          </a:p>
          <a:p>
            <a:pPr lvl="1"/>
            <a:r>
              <a:rPr lang="en-US" altLang="en-US" dirty="0"/>
              <a:t>The model name can't be empty String.</a:t>
            </a:r>
          </a:p>
          <a:p>
            <a:pPr lvl="1"/>
            <a:r>
              <a:rPr lang="en-US" altLang="en-US" dirty="0"/>
              <a:t>three different constructors.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endParaRPr lang="en-US" dirty="0"/>
          </a:p>
        </p:txBody>
      </p:sp>
    </p:spTree>
    <p:extLst>
      <p:ext uri="{BB962C8B-B14F-4D97-AF65-F5344CB8AC3E}">
        <p14:creationId xmlns:p14="http://schemas.microsoft.com/office/powerpoint/2010/main" val="112699324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Method</a:t>
            </a:r>
            <a:endParaRPr lang="en-US" dirty="0"/>
          </a:p>
        </p:txBody>
      </p:sp>
      <p:sp>
        <p:nvSpPr>
          <p:cNvPr id="11" name="Content Placeholder 10">
            <a:extLst>
              <a:ext uri="{FF2B5EF4-FFF2-40B4-BE49-F238E27FC236}">
                <a16:creationId xmlns:a16="http://schemas.microsoft.com/office/drawing/2014/main" id="{0B0DD17A-C16C-4D5F-A1B5-2906FBE0F3E9}"/>
              </a:ext>
            </a:extLst>
          </p:cNvPr>
          <p:cNvSpPr>
            <a:spLocks noGrp="1"/>
          </p:cNvSpPr>
          <p:nvPr>
            <p:ph idx="1"/>
          </p:nvPr>
        </p:nvSpPr>
        <p:spPr/>
        <p:txBody>
          <a:bodyPr/>
          <a:lstStyle/>
          <a:p>
            <a:r>
              <a:rPr lang="en-US" dirty="0"/>
              <a:t>static method: a </a:t>
            </a:r>
            <a:r>
              <a:rPr lang="en-US" b="1" dirty="0"/>
              <a:t>method that belongs to a class</a:t>
            </a:r>
            <a:r>
              <a:rPr lang="en-US" dirty="0"/>
              <a:t>, </a:t>
            </a:r>
            <a:r>
              <a:rPr lang="en-US" b="1" dirty="0">
                <a:solidFill>
                  <a:srgbClr val="FF0000"/>
                </a:solidFill>
              </a:rPr>
              <a:t>not</a:t>
            </a:r>
            <a:r>
              <a:rPr lang="en-US" dirty="0"/>
              <a:t> a specific object.</a:t>
            </a:r>
          </a:p>
          <a:p>
            <a:r>
              <a:rPr lang="en-US" b="1" dirty="0"/>
              <a:t>A static method can be invoked without the need for creating an instance of a class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7672687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BCDA-61D0-4E80-B536-EA6534D4C921}"/>
              </a:ext>
            </a:extLst>
          </p:cNvPr>
          <p:cNvSpPr>
            <a:spLocks noGrp="1"/>
          </p:cNvSpPr>
          <p:nvPr>
            <p:ph type="title"/>
          </p:nvPr>
        </p:nvSpPr>
        <p:spPr/>
        <p:txBody>
          <a:bodyPr/>
          <a:lstStyle/>
          <a:p>
            <a:r>
              <a:rPr lang="en-US" dirty="0"/>
              <a:t>Static Method</a:t>
            </a:r>
          </a:p>
        </p:txBody>
      </p:sp>
      <p:sp>
        <p:nvSpPr>
          <p:cNvPr id="3" name="Content Placeholder 2">
            <a:extLst>
              <a:ext uri="{FF2B5EF4-FFF2-40B4-BE49-F238E27FC236}">
                <a16:creationId xmlns:a16="http://schemas.microsoft.com/office/drawing/2014/main" id="{1B432882-95A0-4242-A800-A044F13D4F86}"/>
              </a:ext>
            </a:extLst>
          </p:cNvPr>
          <p:cNvSpPr>
            <a:spLocks noGrp="1"/>
          </p:cNvSpPr>
          <p:nvPr>
            <p:ph idx="1"/>
          </p:nvPr>
        </p:nvSpPr>
        <p:spPr/>
        <p:txBody>
          <a:bodyPr/>
          <a:lstStyle/>
          <a:p>
            <a:r>
              <a:rPr lang="en-US" dirty="0"/>
              <a:t>Static methods (class methods) are not tied to a specific object. </a:t>
            </a:r>
          </a:p>
          <a:p>
            <a:pPr lvl="1"/>
            <a:r>
              <a:rPr lang="en-US" dirty="0"/>
              <a:t>A static method can be invoked without the need for creating an instance of a class.</a:t>
            </a:r>
          </a:p>
          <a:p>
            <a:pPr lvl="1"/>
            <a:r>
              <a:rPr lang="en-US" dirty="0"/>
              <a:t>A static method can access static data member and can change the value of it.</a:t>
            </a:r>
          </a:p>
          <a:p>
            <a:pPr lvl="1"/>
            <a:r>
              <a:rPr lang="en-US" dirty="0"/>
              <a:t>The static method can not use non static data member or call non-static method directly.</a:t>
            </a:r>
          </a:p>
          <a:p>
            <a:pPr lvl="1"/>
            <a:r>
              <a:rPr lang="en-US" dirty="0"/>
              <a:t>They are typically used to create utility classes, such as the </a:t>
            </a:r>
            <a:r>
              <a:rPr lang="en-US" b="1" dirty="0"/>
              <a:t>Math</a:t>
            </a:r>
            <a:r>
              <a:rPr lang="en-US" dirty="0"/>
              <a:t> class in the Java Standard Library.</a:t>
            </a:r>
          </a:p>
          <a:p>
            <a:pPr lvl="1"/>
            <a:r>
              <a:rPr lang="en-US" b="1" dirty="0"/>
              <a:t>this</a:t>
            </a:r>
            <a:r>
              <a:rPr lang="en-US" dirty="0"/>
              <a:t> and </a:t>
            </a:r>
            <a:r>
              <a:rPr lang="en-US" b="1" dirty="0"/>
              <a:t>super</a:t>
            </a:r>
            <a:r>
              <a:rPr lang="en-US" dirty="0"/>
              <a:t> cannot be used in static context </a:t>
            </a:r>
            <a:r>
              <a:rPr lang="en-US" i="1" dirty="0">
                <a:solidFill>
                  <a:srgbClr val="FF0000"/>
                </a:solidFill>
              </a:rPr>
              <a:t>(explained later).</a:t>
            </a:r>
          </a:p>
        </p:txBody>
      </p:sp>
      <p:sp>
        <p:nvSpPr>
          <p:cNvPr id="4" name="Footer Placeholder 3">
            <a:extLst>
              <a:ext uri="{FF2B5EF4-FFF2-40B4-BE49-F238E27FC236}">
                <a16:creationId xmlns:a16="http://schemas.microsoft.com/office/drawing/2014/main" id="{3526B6AD-A3C2-47DE-9F92-38B81CF03E96}"/>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884526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Method</a:t>
            </a:r>
            <a:endParaRPr lang="en-US" dirty="0"/>
          </a:p>
        </p:txBody>
      </p:sp>
      <p:sp>
        <p:nvSpPr>
          <p:cNvPr id="6" name="Content Placeholder 5">
            <a:extLst>
              <a:ext uri="{FF2B5EF4-FFF2-40B4-BE49-F238E27FC236}">
                <a16:creationId xmlns:a16="http://schemas.microsoft.com/office/drawing/2014/main" id="{108C9480-7D8C-4FC1-B259-0C7BF8EEE6FD}"/>
              </a:ext>
            </a:extLst>
          </p:cNvPr>
          <p:cNvSpPr>
            <a:spLocks noGrp="1"/>
          </p:cNvSpPr>
          <p:nvPr>
            <p:ph idx="1"/>
          </p:nvPr>
        </p:nvSpPr>
        <p:spPr>
          <a:xfrm>
            <a:off x="348791" y="1845733"/>
            <a:ext cx="11481847" cy="4165243"/>
          </a:xfrm>
        </p:spPr>
        <p:txBody>
          <a:bodyPr>
            <a:normAutofit/>
          </a:bodyPr>
          <a:lstStyle/>
          <a:p>
            <a:r>
              <a:rPr lang="en-US" dirty="0"/>
              <a:t>Examples of static methods in java:</a:t>
            </a:r>
          </a:p>
          <a:p>
            <a:pPr lvl="1"/>
            <a:r>
              <a:rPr lang="en-US" dirty="0"/>
              <a:t> </a:t>
            </a:r>
          </a:p>
          <a:p>
            <a:pPr lvl="1"/>
            <a:r>
              <a:rPr lang="en-US" altLang="en-US" dirty="0">
                <a:solidFill>
                  <a:srgbClr val="000000"/>
                </a:solidFill>
                <a:cs typeface="Arial" panose="020B0604020202020204" pitchFamily="34" charset="0"/>
              </a:rPr>
              <a:t>All the methods defined in the </a:t>
            </a:r>
            <a:r>
              <a:rPr lang="en-US" altLang="en-US" b="1" dirty="0">
                <a:solidFill>
                  <a:srgbClr val="000000"/>
                </a:solidFill>
                <a:cs typeface="Arial" panose="020B0604020202020204" pitchFamily="34" charset="0"/>
              </a:rPr>
              <a:t>Math</a:t>
            </a:r>
            <a:r>
              <a:rPr lang="en-US" altLang="en-US" dirty="0">
                <a:solidFill>
                  <a:srgbClr val="000000"/>
                </a:solidFill>
                <a:cs typeface="Arial" panose="020B0604020202020204" pitchFamily="34" charset="0"/>
              </a:rPr>
              <a:t> class are static methods ex: </a:t>
            </a:r>
            <a:r>
              <a:rPr lang="en-US" altLang="en-US" dirty="0" err="1">
                <a:latin typeface="Courier New" panose="02070309020205020404" pitchFamily="49" charset="0"/>
              </a:rPr>
              <a:t>Math.sqrt</a:t>
            </a:r>
            <a:r>
              <a:rPr lang="en-US" altLang="en-US" dirty="0">
                <a:latin typeface="Courier New" panose="02070309020205020404" pitchFamily="49" charset="0"/>
              </a:rPr>
              <a:t>().</a:t>
            </a:r>
          </a:p>
          <a:p>
            <a:pPr marL="360000" lvl="1" indent="0">
              <a:buNone/>
            </a:pPr>
            <a:r>
              <a:rPr lang="en-US" altLang="en-US" b="1" dirty="0">
                <a:latin typeface="Courier New" panose="02070309020205020404" pitchFamily="49" charset="0"/>
              </a:rPr>
              <a:t>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7" name="TextBox 6">
            <a:extLst>
              <a:ext uri="{FF2B5EF4-FFF2-40B4-BE49-F238E27FC236}">
                <a16:creationId xmlns:a16="http://schemas.microsoft.com/office/drawing/2014/main" id="{2C6B85F3-9AE5-42D6-8A19-7B5AFA938DF4}"/>
              </a:ext>
            </a:extLst>
          </p:cNvPr>
          <p:cNvSpPr txBox="1"/>
          <p:nvPr/>
        </p:nvSpPr>
        <p:spPr>
          <a:xfrm>
            <a:off x="1027495" y="2270300"/>
            <a:ext cx="6018197" cy="430887"/>
          </a:xfrm>
          <a:prstGeom prst="rect">
            <a:avLst/>
          </a:prstGeom>
          <a:noFill/>
        </p:spPr>
        <p:txBody>
          <a:bodyPr wrap="square" rtlCol="0">
            <a:spAutoFit/>
          </a:bodyPr>
          <a:lstStyle/>
          <a:p>
            <a:r>
              <a:rPr lang="en-US" altLang="en-US" sz="2200" dirty="0">
                <a:latin typeface="Courier New" panose="02070309020205020404" pitchFamily="49" charset="0"/>
              </a:rPr>
              <a:t>main() 		</a:t>
            </a:r>
            <a:r>
              <a:rPr lang="en-US" altLang="en-US" sz="2200" dirty="0" err="1">
                <a:latin typeface="Courier New" panose="02070309020205020404" pitchFamily="49" charset="0"/>
              </a:rPr>
              <a:t>System.out.println</a:t>
            </a:r>
            <a:r>
              <a:rPr lang="en-US" altLang="en-US" sz="2200" dirty="0">
                <a:latin typeface="Courier New" panose="02070309020205020404" pitchFamily="49" charset="0"/>
              </a:rPr>
              <a:t>()</a:t>
            </a:r>
            <a:endParaRPr lang="en-US" sz="2200" dirty="0"/>
          </a:p>
        </p:txBody>
      </p:sp>
      <p:sp>
        <p:nvSpPr>
          <p:cNvPr id="15" name="TextBox 14">
            <a:extLst>
              <a:ext uri="{FF2B5EF4-FFF2-40B4-BE49-F238E27FC236}">
                <a16:creationId xmlns:a16="http://schemas.microsoft.com/office/drawing/2014/main" id="{629D52C3-DDEC-4025-A996-AA8D9D454B4B}"/>
              </a:ext>
            </a:extLst>
          </p:cNvPr>
          <p:cNvSpPr txBox="1"/>
          <p:nvPr/>
        </p:nvSpPr>
        <p:spPr>
          <a:xfrm>
            <a:off x="945682" y="3125754"/>
            <a:ext cx="7832558" cy="2800767"/>
          </a:xfrm>
          <a:prstGeom prst="rect">
            <a:avLst/>
          </a:prstGeom>
          <a:noFill/>
          <a:ln>
            <a:solidFill>
              <a:srgbClr val="800000"/>
            </a:solidFill>
          </a:ln>
        </p:spPr>
        <p:txBody>
          <a:bodyPr wrap="square" rtlCol="0">
            <a:spAutoFit/>
          </a:bodyPr>
          <a:lstStyle/>
          <a:p>
            <a:pPr>
              <a:spcBef>
                <a:spcPct val="0"/>
              </a:spcBef>
              <a:buClrTx/>
              <a:buSzTx/>
              <a:buFontTx/>
              <a:buNone/>
              <a:defRPr/>
            </a:pPr>
            <a:r>
              <a:rPr lang="en-US" altLang="en-US" sz="2200" b="1" dirty="0">
                <a:latin typeface="Courier New" panose="02070309020205020404" pitchFamily="49" charset="0"/>
              </a:rPr>
              <a:t>public class </a:t>
            </a:r>
            <a:r>
              <a:rPr lang="en-US" altLang="en-US" sz="2200" b="1" dirty="0" err="1">
                <a:latin typeface="Courier New" panose="02070309020205020404" pitchFamily="49" charset="0"/>
              </a:rPr>
              <a:t>MyClass</a:t>
            </a:r>
            <a:r>
              <a:rPr lang="en-US" altLang="en-US" sz="2200" b="1" dirty="0">
                <a:latin typeface="Courier New" panose="02070309020205020404" pitchFamily="49" charset="0"/>
              </a:rPr>
              <a:t> {</a:t>
            </a:r>
          </a:p>
          <a:p>
            <a:pPr>
              <a:spcBef>
                <a:spcPct val="0"/>
              </a:spcBef>
              <a:buClrTx/>
              <a:buSzTx/>
              <a:buFontTx/>
              <a:buNone/>
              <a:defRPr/>
            </a:pPr>
            <a:r>
              <a:rPr lang="en-US" altLang="en-US" sz="2200" b="1" dirty="0">
                <a:latin typeface="Courier New" panose="02070309020205020404" pitchFamily="49" charset="0"/>
              </a:rPr>
              <a:t>  public static void main(String[] </a:t>
            </a:r>
            <a:r>
              <a:rPr lang="en-US" altLang="en-US" sz="2200" b="1" dirty="0" err="1">
                <a:latin typeface="Courier New" panose="02070309020205020404" pitchFamily="49" charset="0"/>
              </a:rPr>
              <a:t>args</a:t>
            </a:r>
            <a:r>
              <a:rPr lang="en-US" altLang="en-US" sz="2200" b="1" dirty="0">
                <a:latin typeface="Courier New" panose="02070309020205020404" pitchFamily="49" charset="0"/>
              </a:rPr>
              <a:t>) {</a:t>
            </a:r>
          </a:p>
          <a:p>
            <a:pPr>
              <a:spcBef>
                <a:spcPct val="0"/>
              </a:spcBef>
              <a:buClrTx/>
              <a:buSzTx/>
              <a:buFontTx/>
              <a:buNone/>
              <a:defRPr/>
            </a:pPr>
            <a:r>
              <a:rPr lang="en-US" altLang="en-US" sz="2200" b="1" dirty="0">
                <a:latin typeface="Courier New" panose="02070309020205020404" pitchFamily="49" charset="0"/>
              </a:rPr>
              <a:t>    double num, root; </a:t>
            </a:r>
          </a:p>
          <a:p>
            <a:pPr>
              <a:spcBef>
                <a:spcPct val="0"/>
              </a:spcBef>
              <a:buClrTx/>
              <a:buSzTx/>
              <a:buFontTx/>
              <a:buNone/>
              <a:defRPr/>
            </a:pPr>
            <a:r>
              <a:rPr lang="en-US" altLang="en-US" sz="2200" b="1" dirty="0">
                <a:latin typeface="Courier New" panose="02070309020205020404" pitchFamily="49" charset="0"/>
              </a:rPr>
              <a:t>    … </a:t>
            </a:r>
          </a:p>
          <a:p>
            <a:pPr>
              <a:spcBef>
                <a:spcPct val="0"/>
              </a:spcBef>
              <a:buClrTx/>
              <a:buSzTx/>
              <a:buFontTx/>
              <a:buNone/>
              <a:defRPr/>
            </a:pPr>
            <a:r>
              <a:rPr lang="en-US" altLang="en-US" sz="2200" b="1" dirty="0">
                <a:latin typeface="Courier New" panose="02070309020205020404" pitchFamily="49" charset="0"/>
              </a:rPr>
              <a:t>    root = </a:t>
            </a:r>
            <a:r>
              <a:rPr lang="en-US" altLang="en-US" sz="2200" b="1" dirty="0" err="1">
                <a:latin typeface="Courier New" panose="02070309020205020404" pitchFamily="49" charset="0"/>
              </a:rPr>
              <a:t>Math.sqrt</a:t>
            </a:r>
            <a:r>
              <a:rPr lang="en-US" altLang="en-US" sz="2200" b="1" dirty="0">
                <a:latin typeface="Courier New" panose="02070309020205020404" pitchFamily="49" charset="0"/>
              </a:rPr>
              <a:t>(num);</a:t>
            </a:r>
          </a:p>
          <a:p>
            <a:pPr>
              <a:spcBef>
                <a:spcPct val="0"/>
              </a:spcBef>
              <a:buClrTx/>
              <a:buSzTx/>
              <a:buFontTx/>
              <a:buNone/>
              <a:defRPr/>
            </a:pPr>
            <a:r>
              <a:rPr lang="en-US" altLang="en-US" sz="2200" b="1" dirty="0">
                <a:latin typeface="Courier New" panose="02070309020205020404" pitchFamily="49" charset="0"/>
              </a:rPr>
              <a:t>    </a:t>
            </a:r>
            <a:r>
              <a:rPr lang="en-US" altLang="en-US" sz="2200" b="1" dirty="0" err="1">
                <a:latin typeface="Courier New" panose="02070309020205020404" pitchFamily="49" charset="0"/>
              </a:rPr>
              <a:t>System.out.println</a:t>
            </a:r>
            <a:r>
              <a:rPr lang="en-US" altLang="en-US" sz="2200" b="1" dirty="0">
                <a:latin typeface="Courier New" panose="02070309020205020404" pitchFamily="49" charset="0"/>
              </a:rPr>
              <a:t>("Root is " + root);</a:t>
            </a:r>
          </a:p>
          <a:p>
            <a:pPr>
              <a:spcBef>
                <a:spcPct val="0"/>
              </a:spcBef>
              <a:buClrTx/>
              <a:buSzTx/>
              <a:buFontTx/>
              <a:buNone/>
              <a:defRPr/>
            </a:pPr>
            <a:r>
              <a:rPr lang="en-US" altLang="en-US" sz="2200" b="1" dirty="0">
                <a:latin typeface="Courier New" panose="02070309020205020404" pitchFamily="49" charset="0"/>
              </a:rPr>
              <a:t>  } …</a:t>
            </a:r>
            <a:endParaRPr lang="en-US" sz="2200" dirty="0"/>
          </a:p>
          <a:p>
            <a:endParaRPr lang="en-US" sz="2200" dirty="0"/>
          </a:p>
        </p:txBody>
      </p:sp>
    </p:spTree>
    <p:extLst>
      <p:ext uri="{BB962C8B-B14F-4D97-AF65-F5344CB8AC3E}">
        <p14:creationId xmlns:p14="http://schemas.microsoft.com/office/powerpoint/2010/main" val="71945745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Variables, Constants, and Methods</a:t>
            </a:r>
            <a:endParaRPr lang="en-US" dirty="0"/>
          </a:p>
        </p:txBody>
      </p:sp>
      <p:sp>
        <p:nvSpPr>
          <p:cNvPr id="3" name="Content Placeholder 2">
            <a:extLst>
              <a:ext uri="{FF2B5EF4-FFF2-40B4-BE49-F238E27FC236}">
                <a16:creationId xmlns:a16="http://schemas.microsoft.com/office/drawing/2014/main" id="{3292C921-88F9-4F9E-94BD-ECE6953EA578}"/>
              </a:ext>
            </a:extLst>
          </p:cNvPr>
          <p:cNvSpPr>
            <a:spLocks noGrp="1"/>
          </p:cNvSpPr>
          <p:nvPr>
            <p:ph idx="1"/>
          </p:nvPr>
        </p:nvSpPr>
        <p:spPr/>
        <p:txBody>
          <a:bodyPr/>
          <a:lstStyle/>
          <a:p>
            <a:r>
              <a:rPr lang="en-US" dirty="0"/>
              <a:t>To declare static variables, constants, and methods, use the static modifier.</a:t>
            </a:r>
          </a:p>
          <a:p>
            <a:r>
              <a:rPr lang="en-US" dirty="0"/>
              <a:t>Static constants are final variables shared by all the instances of the class.</a:t>
            </a:r>
          </a:p>
          <a:p>
            <a:r>
              <a:rPr lang="en-US" dirty="0"/>
              <a:t>Static variables </a:t>
            </a:r>
            <a:r>
              <a:rPr lang="en-US" b="1" i="1" dirty="0"/>
              <a:t>(class variables) </a:t>
            </a:r>
            <a:r>
              <a:rPr lang="en-US" dirty="0"/>
              <a:t>are shared by all the instances of the class.</a:t>
            </a:r>
          </a:p>
          <a:p>
            <a:pPr lvl="1"/>
            <a:r>
              <a:rPr lang="en-US" dirty="0"/>
              <a:t>The static variable gets memory only once in the class area at the time of class loading.</a:t>
            </a:r>
          </a:p>
          <a:p>
            <a:pPr lvl="1"/>
            <a:r>
              <a:rPr lang="en-US" dirty="0"/>
              <a:t>Static data </a:t>
            </a:r>
            <a:r>
              <a:rPr lang="en-US" dirty="0" err="1"/>
              <a:t>m.embers</a:t>
            </a:r>
            <a:r>
              <a:rPr lang="en-US" dirty="0"/>
              <a:t> of class exist even when no object of class type is instantiated</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086026616"/>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Variables</a:t>
            </a:r>
            <a:endParaRPr lang="en-US" dirty="0"/>
          </a:p>
        </p:txBody>
      </p:sp>
      <p:sp>
        <p:nvSpPr>
          <p:cNvPr id="3" name="Content Placeholder 2">
            <a:extLst>
              <a:ext uri="{FF2B5EF4-FFF2-40B4-BE49-F238E27FC236}">
                <a16:creationId xmlns:a16="http://schemas.microsoft.com/office/drawing/2014/main" id="{B124A7CB-EFD9-4A39-B389-32EEFBC92835}"/>
              </a:ext>
            </a:extLst>
          </p:cNvPr>
          <p:cNvSpPr>
            <a:spLocks noGrp="1"/>
          </p:cNvSpPr>
          <p:nvPr>
            <p:ph idx="1"/>
          </p:nvPr>
        </p:nvSpPr>
        <p:spPr>
          <a:xfrm>
            <a:off x="348791" y="1845734"/>
            <a:ext cx="11481847" cy="4023360"/>
          </a:xfrm>
        </p:spPr>
        <p:txBody>
          <a:bodyPr/>
          <a:lstStyle/>
          <a:p>
            <a:r>
              <a:rPr lang="en-US" dirty="0">
                <a:latin typeface="Courier New" panose="02070309020205020404" pitchFamily="49" charset="0"/>
                <a:cs typeface="Courier New" panose="02070309020205020404" pitchFamily="49" charset="0"/>
              </a:rPr>
              <a:t>private static int </a:t>
            </a:r>
            <a:r>
              <a:rPr lang="en-US" dirty="0" err="1">
                <a:latin typeface="Courier New" panose="02070309020205020404" pitchFamily="49" charset="0"/>
                <a:cs typeface="Courier New" panose="02070309020205020404" pitchFamily="49" charset="0"/>
              </a:rPr>
              <a:t>instanceCount</a:t>
            </a:r>
            <a:r>
              <a:rPr lang="en-US" dirty="0">
                <a:latin typeface="Courier New" panose="02070309020205020404" pitchFamily="49" charset="0"/>
                <a:cs typeface="Courier New" panose="02070309020205020404" pitchFamily="49" charset="0"/>
              </a:rPr>
              <a:t> = 0;</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896A06EA-FDD0-4868-B683-5D44579C260A}"/>
              </a:ext>
            </a:extLst>
          </p:cNvPr>
          <p:cNvSpPr/>
          <p:nvPr/>
        </p:nvSpPr>
        <p:spPr>
          <a:xfrm>
            <a:off x="578450" y="2483216"/>
            <a:ext cx="5511264" cy="1754326"/>
          </a:xfrm>
          <a:prstGeom prst="rect">
            <a:avLst/>
          </a:prstGeom>
        </p:spPr>
        <p:txBody>
          <a:bodyPr wrap="square">
            <a:spAutoFit/>
          </a:bodyPr>
          <a:lstStyle/>
          <a:p>
            <a:pPr marL="285750" indent="-285750">
              <a:lnSpc>
                <a:spcPct val="90000"/>
              </a:lnSpc>
              <a:buFont typeface="Arial" panose="020B0604020202020204" pitchFamily="34" charset="0"/>
              <a:buChar char="•"/>
            </a:pPr>
            <a:r>
              <a:rPr lang="en-US" altLang="ar-SA" sz="2000" dirty="0"/>
              <a:t>The field is initialized to 0 only once, regardless of the number of times the class is instantiated.</a:t>
            </a:r>
          </a:p>
          <a:p>
            <a:pPr eaLnBrk="1" hangingPunct="1">
              <a:lnSpc>
                <a:spcPct val="90000"/>
              </a:lnSpc>
            </a:pPr>
            <a:endParaRPr lang="en-US" altLang="ar-SA" sz="2000" dirty="0"/>
          </a:p>
          <a:p>
            <a:pPr marL="285750" indent="-285750">
              <a:lnSpc>
                <a:spcPct val="90000"/>
              </a:lnSpc>
              <a:buFont typeface="Arial" panose="020B0604020202020204" pitchFamily="34" charset="0"/>
              <a:buChar char="•"/>
            </a:pPr>
            <a:r>
              <a:rPr lang="en-US" altLang="ar-SA" sz="2000" dirty="0"/>
              <a:t>Primitive static fields are initialized to 0 if no initialization is performed.</a:t>
            </a:r>
          </a:p>
        </p:txBody>
      </p:sp>
      <p:grpSp>
        <p:nvGrpSpPr>
          <p:cNvPr id="9" name="Group 16">
            <a:extLst>
              <a:ext uri="{FF2B5EF4-FFF2-40B4-BE49-F238E27FC236}">
                <a16:creationId xmlns:a16="http://schemas.microsoft.com/office/drawing/2014/main" id="{7765AE88-D9BB-484F-BD5A-C4949CBAA82A}"/>
              </a:ext>
            </a:extLst>
          </p:cNvPr>
          <p:cNvGrpSpPr>
            <a:grpSpLocks/>
          </p:cNvGrpSpPr>
          <p:nvPr/>
        </p:nvGrpSpPr>
        <p:grpSpPr bwMode="auto">
          <a:xfrm>
            <a:off x="6153031" y="2472271"/>
            <a:ext cx="4551534" cy="2214711"/>
            <a:chOff x="731" y="1357"/>
            <a:chExt cx="4818" cy="2291"/>
          </a:xfrm>
        </p:grpSpPr>
        <p:sp>
          <p:nvSpPr>
            <p:cNvPr id="10" name="Text Box 4">
              <a:extLst>
                <a:ext uri="{FF2B5EF4-FFF2-40B4-BE49-F238E27FC236}">
                  <a16:creationId xmlns:a16="http://schemas.microsoft.com/office/drawing/2014/main" id="{7667294D-DE24-4EFA-8667-ADEE0BD6EAFB}"/>
                </a:ext>
              </a:extLst>
            </p:cNvPr>
            <p:cNvSpPr txBox="1">
              <a:spLocks noChangeArrowheads="1"/>
            </p:cNvSpPr>
            <p:nvPr/>
          </p:nvSpPr>
          <p:spPr bwMode="auto">
            <a:xfrm>
              <a:off x="1528" y="1357"/>
              <a:ext cx="2877" cy="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dirty="0" err="1">
                  <a:latin typeface="Courier New" panose="02070309020205020404" pitchFamily="49" charset="0"/>
                </a:rPr>
                <a:t>instanceCount</a:t>
              </a:r>
              <a:r>
                <a:rPr lang="en-US" altLang="ar-SA" sz="2000" dirty="0"/>
                <a:t> field</a:t>
              </a:r>
            </a:p>
            <a:p>
              <a:pPr algn="ctr" eaLnBrk="1" hangingPunct="1"/>
              <a:r>
                <a:rPr lang="en-US" altLang="ar-SA" sz="2000" dirty="0"/>
                <a:t>(static)</a:t>
              </a:r>
            </a:p>
          </p:txBody>
        </p:sp>
        <p:sp>
          <p:nvSpPr>
            <p:cNvPr id="11" name="Rectangle 5">
              <a:extLst>
                <a:ext uri="{FF2B5EF4-FFF2-40B4-BE49-F238E27FC236}">
                  <a16:creationId xmlns:a16="http://schemas.microsoft.com/office/drawing/2014/main" id="{F882C959-1D64-480F-89EA-CFD25460D7BE}"/>
                </a:ext>
              </a:extLst>
            </p:cNvPr>
            <p:cNvSpPr>
              <a:spLocks noChangeArrowheads="1"/>
            </p:cNvSpPr>
            <p:nvPr/>
          </p:nvSpPr>
          <p:spPr bwMode="auto">
            <a:xfrm>
              <a:off x="2678" y="2089"/>
              <a:ext cx="576" cy="480"/>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dirty="0"/>
                <a:t>3</a:t>
              </a:r>
            </a:p>
          </p:txBody>
        </p:sp>
        <p:sp>
          <p:nvSpPr>
            <p:cNvPr id="12" name="Oval 11">
              <a:extLst>
                <a:ext uri="{FF2B5EF4-FFF2-40B4-BE49-F238E27FC236}">
                  <a16:creationId xmlns:a16="http://schemas.microsoft.com/office/drawing/2014/main" id="{E727F14D-E7A0-443A-BB72-DFE628D00B5B}"/>
                </a:ext>
              </a:extLst>
            </p:cNvPr>
            <p:cNvSpPr>
              <a:spLocks noChangeArrowheads="1"/>
            </p:cNvSpPr>
            <p:nvPr/>
          </p:nvSpPr>
          <p:spPr bwMode="auto">
            <a:xfrm>
              <a:off x="731" y="2976"/>
              <a:ext cx="1451" cy="672"/>
            </a:xfrm>
            <a:prstGeom prst="ellipse">
              <a:avLst/>
            </a:prstGeom>
            <a:solidFill>
              <a:schemeClr val="bg2"/>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dirty="0"/>
                <a:t>Object1</a:t>
              </a:r>
            </a:p>
          </p:txBody>
        </p:sp>
        <p:sp>
          <p:nvSpPr>
            <p:cNvPr id="13" name="Oval 12">
              <a:extLst>
                <a:ext uri="{FF2B5EF4-FFF2-40B4-BE49-F238E27FC236}">
                  <a16:creationId xmlns:a16="http://schemas.microsoft.com/office/drawing/2014/main" id="{C14B4922-0CA0-4862-AF72-B0F302E66CBA}"/>
                </a:ext>
              </a:extLst>
            </p:cNvPr>
            <p:cNvSpPr>
              <a:spLocks noChangeArrowheads="1"/>
            </p:cNvSpPr>
            <p:nvPr/>
          </p:nvSpPr>
          <p:spPr bwMode="auto">
            <a:xfrm>
              <a:off x="4098" y="2976"/>
              <a:ext cx="1451" cy="672"/>
            </a:xfrm>
            <a:prstGeom prst="ellipse">
              <a:avLst/>
            </a:prstGeom>
            <a:solidFill>
              <a:schemeClr val="bg2"/>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dirty="0"/>
                <a:t>Object3</a:t>
              </a:r>
            </a:p>
          </p:txBody>
        </p:sp>
        <p:sp>
          <p:nvSpPr>
            <p:cNvPr id="14" name="Oval 13">
              <a:extLst>
                <a:ext uri="{FF2B5EF4-FFF2-40B4-BE49-F238E27FC236}">
                  <a16:creationId xmlns:a16="http://schemas.microsoft.com/office/drawing/2014/main" id="{71888684-862F-4637-9542-6322328B13F2}"/>
                </a:ext>
              </a:extLst>
            </p:cNvPr>
            <p:cNvSpPr>
              <a:spLocks noChangeArrowheads="1"/>
            </p:cNvSpPr>
            <p:nvPr/>
          </p:nvSpPr>
          <p:spPr bwMode="auto">
            <a:xfrm>
              <a:off x="2370" y="2976"/>
              <a:ext cx="1451" cy="672"/>
            </a:xfrm>
            <a:prstGeom prst="ellipse">
              <a:avLst/>
            </a:prstGeom>
            <a:solidFill>
              <a:schemeClr val="bg2"/>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2000" dirty="0"/>
                <a:t>Object2</a:t>
              </a:r>
            </a:p>
          </p:txBody>
        </p:sp>
        <p:cxnSp>
          <p:nvCxnSpPr>
            <p:cNvPr id="15" name="AutoShape 13">
              <a:extLst>
                <a:ext uri="{FF2B5EF4-FFF2-40B4-BE49-F238E27FC236}">
                  <a16:creationId xmlns:a16="http://schemas.microsoft.com/office/drawing/2014/main" id="{4BAA696F-A196-4804-8FD2-81B85AA4FF5D}"/>
                </a:ext>
              </a:extLst>
            </p:cNvPr>
            <p:cNvCxnSpPr>
              <a:cxnSpLocks noChangeShapeType="1"/>
              <a:stCxn id="11" idx="2"/>
              <a:endCxn id="12" idx="0"/>
            </p:cNvCxnSpPr>
            <p:nvPr/>
          </p:nvCxnSpPr>
          <p:spPr bwMode="auto">
            <a:xfrm flipH="1">
              <a:off x="1456" y="2569"/>
              <a:ext cx="1510" cy="40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4">
              <a:extLst>
                <a:ext uri="{FF2B5EF4-FFF2-40B4-BE49-F238E27FC236}">
                  <a16:creationId xmlns:a16="http://schemas.microsoft.com/office/drawing/2014/main" id="{A8B004D2-91D3-43BD-AC98-3785FC531EC1}"/>
                </a:ext>
              </a:extLst>
            </p:cNvPr>
            <p:cNvCxnSpPr>
              <a:cxnSpLocks noChangeShapeType="1"/>
              <a:stCxn id="11" idx="2"/>
              <a:endCxn id="14" idx="0"/>
            </p:cNvCxnSpPr>
            <p:nvPr/>
          </p:nvCxnSpPr>
          <p:spPr bwMode="auto">
            <a:xfrm>
              <a:off x="2966" y="2569"/>
              <a:ext cx="129" cy="40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5">
              <a:extLst>
                <a:ext uri="{FF2B5EF4-FFF2-40B4-BE49-F238E27FC236}">
                  <a16:creationId xmlns:a16="http://schemas.microsoft.com/office/drawing/2014/main" id="{13D2D0BA-E7A5-4FED-905D-52BEE127C1D7}"/>
                </a:ext>
              </a:extLst>
            </p:cNvPr>
            <p:cNvCxnSpPr>
              <a:cxnSpLocks noChangeShapeType="1"/>
              <a:stCxn id="11" idx="2"/>
              <a:endCxn id="13" idx="0"/>
            </p:cNvCxnSpPr>
            <p:nvPr/>
          </p:nvCxnSpPr>
          <p:spPr bwMode="auto">
            <a:xfrm>
              <a:off x="2966" y="2569"/>
              <a:ext cx="1857" cy="40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07306474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Data Field</a:t>
            </a:r>
          </a:p>
        </p:txBody>
      </p:sp>
      <p:sp>
        <p:nvSpPr>
          <p:cNvPr id="3" name="Content Placeholder 2">
            <a:extLst>
              <a:ext uri="{FF2B5EF4-FFF2-40B4-BE49-F238E27FC236}">
                <a16:creationId xmlns:a16="http://schemas.microsoft.com/office/drawing/2014/main" id="{B9BCA7A2-D193-47C0-9CB6-3A0DB9A3C758}"/>
              </a:ext>
            </a:extLst>
          </p:cNvPr>
          <p:cNvSpPr>
            <a:spLocks noGrp="1"/>
          </p:cNvSpPr>
          <p:nvPr>
            <p:ph idx="1"/>
          </p:nvPr>
        </p:nvSpPr>
        <p:spPr/>
        <p:txBody>
          <a:bodyPr>
            <a:normAutofit/>
          </a:bodyPr>
          <a:lstStyle/>
          <a:p>
            <a:r>
              <a:rPr lang="en-US" dirty="0"/>
              <a:t>The static keyword is a non-access modifier used for attributes, which makes their values the same for all the objects; i.e., when we declare a field static, exactly a single copy of that field is created and shared among all instances of that class.</a:t>
            </a:r>
          </a:p>
          <a:p>
            <a:r>
              <a:rPr lang="en-US" dirty="0"/>
              <a:t>The static keyword is mainly used for memory management.</a:t>
            </a:r>
          </a:p>
          <a:p>
            <a:r>
              <a:rPr lang="en-US" dirty="0"/>
              <a:t>The value of the (static) field can be changed like any other data fields.</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135682427"/>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p:txBody>
          <a:bodyPr/>
          <a:lstStyle/>
          <a:p>
            <a:r>
              <a:rPr lang="en-US" altLang="en-US" dirty="0"/>
              <a:t>Static Data Field</a:t>
            </a:r>
          </a:p>
        </p:txBody>
      </p:sp>
      <p:sp>
        <p:nvSpPr>
          <p:cNvPr id="3" name="Content Placeholder 2">
            <a:extLst>
              <a:ext uri="{FF2B5EF4-FFF2-40B4-BE49-F238E27FC236}">
                <a16:creationId xmlns:a16="http://schemas.microsoft.com/office/drawing/2014/main" id="{B9BCA7A2-D193-47C0-9CB6-3A0DB9A3C758}"/>
              </a:ext>
            </a:extLst>
          </p:cNvPr>
          <p:cNvSpPr>
            <a:spLocks noGrp="1"/>
          </p:cNvSpPr>
          <p:nvPr>
            <p:ph idx="1"/>
          </p:nvPr>
        </p:nvSpPr>
        <p:spPr/>
        <p:txBody>
          <a:bodyPr>
            <a:normAutofit/>
          </a:bodyPr>
          <a:lstStyle/>
          <a:p>
            <a:r>
              <a:rPr lang="en-US"/>
              <a:t>The </a:t>
            </a:r>
            <a:r>
              <a:rPr lang="en-US" dirty="0"/>
              <a:t>method that returns the (static) field should be defined as (static) as well.</a:t>
            </a:r>
          </a:p>
          <a:p>
            <a:r>
              <a:rPr lang="en-US" dirty="0"/>
              <a:t>The method that Modify the (static) field should be defined as (static) as well.</a:t>
            </a:r>
          </a:p>
          <a:p>
            <a:r>
              <a:rPr lang="en-US" dirty="0"/>
              <a:t>Since the value (static) field is the same for all the objects, you can invoke the (get) method that returns the value of the (static) field either via an object name or via the class name itself.</a:t>
            </a:r>
          </a:p>
          <a:p>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37380354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Static Data Field: Explanation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0E6C3A7C-139B-44EF-BC6C-32D1CF8FB8A0}"/>
              </a:ext>
            </a:extLst>
          </p:cNvPr>
          <p:cNvPicPr>
            <a:picLocks noGrp="1" noChangeAspect="1" noChangeArrowheads="1"/>
          </p:cNvPicPr>
          <p:nvPr>
            <p:ph idx="1"/>
          </p:nvPr>
        </p:nvPicPr>
        <p:blipFill>
          <a:blip r:embed="rId2"/>
          <a:srcRect/>
          <a:stretch>
            <a:fillRect/>
          </a:stretch>
        </p:blipFill>
        <p:spPr bwMode="auto">
          <a:xfrm>
            <a:off x="2430843" y="1880946"/>
            <a:ext cx="7797169" cy="2572670"/>
          </a:xfrm>
          <a:prstGeom prst="rect">
            <a:avLst/>
          </a:prstGeom>
          <a:noFill/>
          <a:ln w="9525">
            <a:solidFill>
              <a:schemeClr val="tx1"/>
            </a:solidFill>
            <a:prstDash val="lgDash"/>
            <a:miter lim="800000"/>
            <a:headEnd/>
            <a:tailEnd/>
          </a:ln>
          <a:effectLst/>
        </p:spPr>
      </p:pic>
      <p:sp>
        <p:nvSpPr>
          <p:cNvPr id="6" name="Rectangle 4">
            <a:extLst>
              <a:ext uri="{FF2B5EF4-FFF2-40B4-BE49-F238E27FC236}">
                <a16:creationId xmlns:a16="http://schemas.microsoft.com/office/drawing/2014/main" id="{EF8FA7FD-D6AE-47CD-9BD2-0267B6154FE8}"/>
              </a:ext>
            </a:extLst>
          </p:cNvPr>
          <p:cNvSpPr>
            <a:spLocks noChangeArrowheads="1"/>
          </p:cNvSpPr>
          <p:nvPr/>
        </p:nvSpPr>
        <p:spPr bwMode="auto">
          <a:xfrm>
            <a:off x="1442483" y="4639231"/>
            <a:ext cx="9773888" cy="1421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rtl="0" fontAlgn="base">
              <a:lnSpc>
                <a:spcPct val="150000"/>
              </a:lnSpc>
              <a:spcBef>
                <a:spcPct val="0"/>
              </a:spcBef>
              <a:spcAft>
                <a:spcPct val="0"/>
              </a:spcAft>
            </a:pPr>
            <a:r>
              <a:rPr lang="en-US" sz="2000" dirty="0">
                <a:solidFill>
                  <a:schemeClr val="dk1"/>
                </a:solidFill>
                <a:latin typeface="+mj-lt"/>
                <a:cs typeface="Times New Roman" pitchFamily="18" charset="0"/>
              </a:rPr>
              <a:t>In the above example, we want to make the value of </a:t>
            </a:r>
            <a:r>
              <a:rPr lang="en-US" sz="2000" b="1" dirty="0">
                <a:solidFill>
                  <a:srgbClr val="006600"/>
                </a:solidFill>
                <a:latin typeface="+mj-lt"/>
                <a:cs typeface="Times New Roman" pitchFamily="18" charset="0"/>
              </a:rPr>
              <a:t>dimension</a:t>
            </a:r>
            <a:r>
              <a:rPr lang="en-US" sz="2000" dirty="0">
                <a:solidFill>
                  <a:schemeClr val="dk1"/>
                </a:solidFill>
                <a:latin typeface="+mj-lt"/>
                <a:cs typeface="Times New Roman" pitchFamily="18" charset="0"/>
              </a:rPr>
              <a:t> data field is </a:t>
            </a:r>
            <a:r>
              <a:rPr lang="en-US" sz="2000" dirty="0">
                <a:latin typeface="+mj-lt"/>
              </a:rPr>
              <a:t>the same for all the objects</a:t>
            </a:r>
            <a:r>
              <a:rPr lang="en-US" sz="2000" dirty="0">
                <a:solidFill>
                  <a:schemeClr val="dk1"/>
                </a:solidFill>
                <a:latin typeface="+mj-lt"/>
                <a:cs typeface="Times New Roman" pitchFamily="18" charset="0"/>
              </a:rPr>
              <a:t>. So, as shown in line 6 of a class circle, we add a </a:t>
            </a:r>
            <a:r>
              <a:rPr lang="en-US" sz="2000" b="1" dirty="0">
                <a:solidFill>
                  <a:srgbClr val="0000FF"/>
                </a:solidFill>
                <a:latin typeface="+mj-lt"/>
                <a:cs typeface="Times New Roman" pitchFamily="18" charset="0"/>
              </a:rPr>
              <a:t>static </a:t>
            </a:r>
            <a:r>
              <a:rPr lang="en-US" sz="2000" dirty="0">
                <a:solidFill>
                  <a:schemeClr val="dk1"/>
                </a:solidFill>
                <a:latin typeface="+mj-lt"/>
                <a:cs typeface="Times New Roman" pitchFamily="18" charset="0"/>
              </a:rPr>
              <a:t>keyword for the </a:t>
            </a:r>
            <a:r>
              <a:rPr lang="en-US" sz="2000" b="1" dirty="0">
                <a:solidFill>
                  <a:srgbClr val="006600"/>
                </a:solidFill>
                <a:latin typeface="+mj-lt"/>
                <a:cs typeface="Times New Roman" pitchFamily="18" charset="0"/>
              </a:rPr>
              <a:t>dimension</a:t>
            </a:r>
            <a:r>
              <a:rPr lang="en-US" sz="2000" dirty="0">
                <a:solidFill>
                  <a:schemeClr val="dk1"/>
                </a:solidFill>
                <a:latin typeface="+mj-lt"/>
                <a:cs typeface="Times New Roman" pitchFamily="18" charset="0"/>
              </a:rPr>
              <a:t> data members.</a:t>
            </a:r>
          </a:p>
        </p:txBody>
      </p:sp>
    </p:spTree>
    <p:extLst>
      <p:ext uri="{BB962C8B-B14F-4D97-AF65-F5344CB8AC3E}">
        <p14:creationId xmlns:p14="http://schemas.microsoft.com/office/powerpoint/2010/main" val="143634987"/>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a:extLst>
              <a:ext uri="{FF2B5EF4-FFF2-40B4-BE49-F238E27FC236}">
                <a16:creationId xmlns:a16="http://schemas.microsoft.com/office/drawing/2014/main" id="{5DA02186-55F4-4CC9-BAE3-00576A5034AC}"/>
              </a:ext>
            </a:extLst>
          </p:cNvPr>
          <p:cNvPicPr>
            <a:picLocks noChangeAspect="1" noChangeArrowheads="1"/>
          </p:cNvPicPr>
          <p:nvPr/>
        </p:nvPicPr>
        <p:blipFill>
          <a:blip r:embed="rId2"/>
          <a:srcRect/>
          <a:stretch>
            <a:fillRect/>
          </a:stretch>
        </p:blipFill>
        <p:spPr bwMode="auto">
          <a:xfrm>
            <a:off x="983432" y="1737360"/>
            <a:ext cx="7823684" cy="5120640"/>
          </a:xfrm>
          <a:prstGeom prst="rect">
            <a:avLst/>
          </a:prstGeom>
          <a:noFill/>
          <a:ln w="9525">
            <a:solidFill>
              <a:schemeClr val="tx1"/>
            </a:solidFill>
            <a:prstDash val="lgDash"/>
            <a:miter lim="800000"/>
            <a:headEnd/>
            <a:tailEnd/>
          </a:ln>
          <a:effectLst/>
        </p:spPr>
      </p:pic>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Static Data Field: at object level Explanation</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6" name="Rectangle 15">
            <a:extLst>
              <a:ext uri="{FF2B5EF4-FFF2-40B4-BE49-F238E27FC236}">
                <a16:creationId xmlns:a16="http://schemas.microsoft.com/office/drawing/2014/main" id="{4188E246-A958-4F0D-B9E8-D9AFBDBAAFBF}"/>
              </a:ext>
            </a:extLst>
          </p:cNvPr>
          <p:cNvSpPr/>
          <p:nvPr/>
        </p:nvSpPr>
        <p:spPr>
          <a:xfrm>
            <a:off x="9369337" y="2334745"/>
            <a:ext cx="2636589" cy="2805320"/>
          </a:xfrm>
          <a:prstGeom prst="rect">
            <a:avLst/>
          </a:prstGeom>
          <a:ln w="19050">
            <a:solidFill>
              <a:srgbClr val="0000FF"/>
            </a:solidFill>
            <a:prstDash val="dash"/>
          </a:ln>
        </p:spPr>
        <p:txBody>
          <a:bodyPr wrap="square">
            <a:spAutoFit/>
          </a:bodyPr>
          <a:lstStyle/>
          <a:p>
            <a:pPr algn="just" rtl="0">
              <a:lnSpc>
                <a:spcPct val="150000"/>
              </a:lnSpc>
            </a:pPr>
            <a:r>
              <a:rPr lang="en-GB" sz="2000" b="1" dirty="0">
                <a:solidFill>
                  <a:srgbClr val="C00000"/>
                </a:solidFill>
                <a:latin typeface="+mj-lt"/>
                <a:cs typeface="Times New Roman" pitchFamily="18" charset="0"/>
              </a:rPr>
              <a:t>Remember: </a:t>
            </a:r>
          </a:p>
          <a:p>
            <a:pPr algn="just" rtl="0">
              <a:lnSpc>
                <a:spcPct val="150000"/>
              </a:lnSpc>
            </a:pPr>
            <a:r>
              <a:rPr lang="en-US" sz="2000" dirty="0">
                <a:latin typeface="+mj-lt"/>
                <a:cs typeface="Times New Roman" pitchFamily="18" charset="0"/>
              </a:rPr>
              <a:t>The method that returns or Modify the (</a:t>
            </a:r>
            <a:r>
              <a:rPr lang="en-US" sz="2000" b="1" dirty="0">
                <a:solidFill>
                  <a:srgbClr val="0000FF"/>
                </a:solidFill>
                <a:latin typeface="+mj-lt"/>
                <a:cs typeface="Times New Roman" pitchFamily="18" charset="0"/>
              </a:rPr>
              <a:t>static</a:t>
            </a:r>
            <a:r>
              <a:rPr lang="en-US" sz="2000" dirty="0">
                <a:latin typeface="+mj-lt"/>
                <a:cs typeface="Times New Roman" pitchFamily="18" charset="0"/>
              </a:rPr>
              <a:t>) field should be defined as (</a:t>
            </a:r>
            <a:r>
              <a:rPr lang="en-US" sz="2000" b="1" dirty="0">
                <a:solidFill>
                  <a:srgbClr val="0000FF"/>
                </a:solidFill>
                <a:latin typeface="+mj-lt"/>
                <a:cs typeface="Times New Roman" pitchFamily="18" charset="0"/>
              </a:rPr>
              <a:t>static</a:t>
            </a:r>
            <a:r>
              <a:rPr lang="en-US" sz="2000" dirty="0">
                <a:latin typeface="+mj-lt"/>
                <a:cs typeface="Times New Roman" pitchFamily="18" charset="0"/>
              </a:rPr>
              <a:t>) as well</a:t>
            </a:r>
            <a:endParaRPr lang="en-US" sz="2000" b="1" dirty="0">
              <a:solidFill>
                <a:srgbClr val="C00000"/>
              </a:solidFill>
              <a:latin typeface="+mj-lt"/>
              <a:cs typeface="Times New Roman" pitchFamily="18" charset="0"/>
            </a:endParaRPr>
          </a:p>
        </p:txBody>
      </p:sp>
      <p:grpSp>
        <p:nvGrpSpPr>
          <p:cNvPr id="18" name="Group 17">
            <a:extLst>
              <a:ext uri="{FF2B5EF4-FFF2-40B4-BE49-F238E27FC236}">
                <a16:creationId xmlns:a16="http://schemas.microsoft.com/office/drawing/2014/main" id="{54427EA1-4726-4B4C-A171-CE9C9A9957BF}"/>
              </a:ext>
            </a:extLst>
          </p:cNvPr>
          <p:cNvGrpSpPr/>
          <p:nvPr/>
        </p:nvGrpSpPr>
        <p:grpSpPr>
          <a:xfrm>
            <a:off x="1966662" y="2337674"/>
            <a:ext cx="7172393" cy="4295926"/>
            <a:chOff x="-457253" y="2111992"/>
            <a:chExt cx="7172393" cy="4295926"/>
          </a:xfrm>
        </p:grpSpPr>
        <p:cxnSp>
          <p:nvCxnSpPr>
            <p:cNvPr id="19" name="Straight Connector 18">
              <a:extLst>
                <a:ext uri="{FF2B5EF4-FFF2-40B4-BE49-F238E27FC236}">
                  <a16:creationId xmlns:a16="http://schemas.microsoft.com/office/drawing/2014/main" id="{4DFEFB11-A59B-4397-B01C-C0D15316CED8}"/>
                </a:ext>
              </a:extLst>
            </p:cNvPr>
            <p:cNvCxnSpPr>
              <a:cxnSpLocks/>
            </p:cNvCxnSpPr>
            <p:nvPr/>
          </p:nvCxnSpPr>
          <p:spPr>
            <a:xfrm flipH="1">
              <a:off x="6493414" y="2143116"/>
              <a:ext cx="1589" cy="3879971"/>
            </a:xfrm>
            <a:prstGeom prst="line">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A421B95-B023-4B54-B5A3-1BC473F6BD4C}"/>
                </a:ext>
              </a:extLst>
            </p:cNvPr>
            <p:cNvSpPr/>
            <p:nvPr/>
          </p:nvSpPr>
          <p:spPr>
            <a:xfrm>
              <a:off x="-354571" y="2111992"/>
              <a:ext cx="3510239" cy="214314"/>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ED7E8B-C648-4425-B3C3-ABB69286729E}"/>
                </a:ext>
              </a:extLst>
            </p:cNvPr>
            <p:cNvSpPr/>
            <p:nvPr/>
          </p:nvSpPr>
          <p:spPr>
            <a:xfrm>
              <a:off x="-457253" y="5049896"/>
              <a:ext cx="5396664" cy="237985"/>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49A9251-A8F9-4A50-8030-E49D87CF56DC}"/>
                </a:ext>
              </a:extLst>
            </p:cNvPr>
            <p:cNvSpPr/>
            <p:nvPr/>
          </p:nvSpPr>
          <p:spPr>
            <a:xfrm>
              <a:off x="-386639" y="6123754"/>
              <a:ext cx="4058724" cy="284164"/>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F0A7923F-E4A2-4366-9943-39DEB54897EE}"/>
                </a:ext>
              </a:extLst>
            </p:cNvPr>
            <p:cNvCxnSpPr>
              <a:cxnSpLocks/>
            </p:cNvCxnSpPr>
            <p:nvPr/>
          </p:nvCxnSpPr>
          <p:spPr>
            <a:xfrm flipV="1">
              <a:off x="3155668" y="2144705"/>
              <a:ext cx="3559472" cy="9195"/>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9277D8D-A5A0-4830-A297-FA61280F3F27}"/>
                </a:ext>
              </a:extLst>
            </p:cNvPr>
            <p:cNvCxnSpPr>
              <a:cxnSpLocks/>
            </p:cNvCxnSpPr>
            <p:nvPr/>
          </p:nvCxnSpPr>
          <p:spPr>
            <a:xfrm>
              <a:off x="4911207" y="5049896"/>
              <a:ext cx="1582207" cy="0"/>
            </a:xfrm>
            <a:prstGeom prst="straightConnector1">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5803D45-9C5B-4F8F-9C0C-1FDE18969635}"/>
                </a:ext>
              </a:extLst>
            </p:cNvPr>
            <p:cNvCxnSpPr>
              <a:cxnSpLocks/>
              <a:stCxn id="22" idx="3"/>
            </p:cNvCxnSpPr>
            <p:nvPr/>
          </p:nvCxnSpPr>
          <p:spPr>
            <a:xfrm flipV="1">
              <a:off x="3672085" y="6023087"/>
              <a:ext cx="2821329" cy="242749"/>
            </a:xfrm>
            <a:prstGeom prst="straightConnector1">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4103142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Static Data Field: Main</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42" name="Picture 2">
            <a:extLst>
              <a:ext uri="{FF2B5EF4-FFF2-40B4-BE49-F238E27FC236}">
                <a16:creationId xmlns:a16="http://schemas.microsoft.com/office/drawing/2014/main" id="{45AFD360-CD64-4AFF-A081-819E4D2E3CA2}"/>
              </a:ext>
            </a:extLst>
          </p:cNvPr>
          <p:cNvPicPr>
            <a:picLocks noChangeAspect="1" noChangeArrowheads="1"/>
          </p:cNvPicPr>
          <p:nvPr/>
        </p:nvPicPr>
        <p:blipFill>
          <a:blip r:embed="rId2"/>
          <a:srcRect/>
          <a:stretch>
            <a:fillRect/>
          </a:stretch>
        </p:blipFill>
        <p:spPr bwMode="auto">
          <a:xfrm>
            <a:off x="1309654" y="1628800"/>
            <a:ext cx="4786346" cy="4000527"/>
          </a:xfrm>
          <a:prstGeom prst="rect">
            <a:avLst/>
          </a:prstGeom>
          <a:noFill/>
          <a:ln w="28575">
            <a:solidFill>
              <a:schemeClr val="tx1"/>
            </a:solidFill>
            <a:prstDash val="solid"/>
            <a:miter lim="800000"/>
            <a:headEnd/>
            <a:tailEnd/>
          </a:ln>
          <a:effectLst/>
        </p:spPr>
      </p:pic>
      <p:sp>
        <p:nvSpPr>
          <p:cNvPr id="143" name="Rectangle 142">
            <a:extLst>
              <a:ext uri="{FF2B5EF4-FFF2-40B4-BE49-F238E27FC236}">
                <a16:creationId xmlns:a16="http://schemas.microsoft.com/office/drawing/2014/main" id="{863E6DF9-494D-4F19-A4F3-FCD2BA05FE0A}"/>
              </a:ext>
            </a:extLst>
          </p:cNvPr>
          <p:cNvSpPr/>
          <p:nvPr/>
        </p:nvSpPr>
        <p:spPr>
          <a:xfrm>
            <a:off x="6310314" y="1628799"/>
            <a:ext cx="3786214" cy="5000660"/>
          </a:xfrm>
          <a:prstGeom prst="rect">
            <a:avLst/>
          </a:prstGeom>
          <a:ln>
            <a:solidFill>
              <a:srgbClr val="0000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4" name="Group 36">
            <a:extLst>
              <a:ext uri="{FF2B5EF4-FFF2-40B4-BE49-F238E27FC236}">
                <a16:creationId xmlns:a16="http://schemas.microsoft.com/office/drawing/2014/main" id="{65BC2599-2D55-49F0-AB39-717067CEB541}"/>
              </a:ext>
            </a:extLst>
          </p:cNvPr>
          <p:cNvGrpSpPr/>
          <p:nvPr/>
        </p:nvGrpSpPr>
        <p:grpSpPr>
          <a:xfrm>
            <a:off x="6596066" y="1698199"/>
            <a:ext cx="2500330" cy="1502237"/>
            <a:chOff x="4857752" y="1428736"/>
            <a:chExt cx="2500330" cy="1634785"/>
          </a:xfrm>
        </p:grpSpPr>
        <p:cxnSp>
          <p:nvCxnSpPr>
            <p:cNvPr id="145" name="AutoShape 9">
              <a:extLst>
                <a:ext uri="{FF2B5EF4-FFF2-40B4-BE49-F238E27FC236}">
                  <a16:creationId xmlns:a16="http://schemas.microsoft.com/office/drawing/2014/main" id="{59799122-077C-484D-AA0E-CA98C3B3C0A2}"/>
                </a:ext>
              </a:extLst>
            </p:cNvPr>
            <p:cNvCxnSpPr>
              <a:cxnSpLocks noChangeShapeType="1"/>
            </p:cNvCxnSpPr>
            <p:nvPr/>
          </p:nvCxnSpPr>
          <p:spPr bwMode="auto">
            <a:xfrm rot="16200000" flipH="1">
              <a:off x="5322099" y="1821645"/>
              <a:ext cx="285752" cy="214314"/>
            </a:xfrm>
            <a:prstGeom prst="straightConnector1">
              <a:avLst/>
            </a:prstGeom>
            <a:noFill/>
            <a:ln w="9525">
              <a:solidFill>
                <a:srgbClr val="000000"/>
              </a:solidFill>
              <a:round/>
              <a:headEnd/>
              <a:tailEnd type="triangle" w="med" len="med"/>
            </a:ln>
          </p:spPr>
        </p:cxnSp>
        <p:sp>
          <p:nvSpPr>
            <p:cNvPr id="146" name="Rectangle 145">
              <a:extLst>
                <a:ext uri="{FF2B5EF4-FFF2-40B4-BE49-F238E27FC236}">
                  <a16:creationId xmlns:a16="http://schemas.microsoft.com/office/drawing/2014/main" id="{60A3C40D-B4FC-43EE-A22D-AEE1506EA84A}"/>
                </a:ext>
              </a:extLst>
            </p:cNvPr>
            <p:cNvSpPr/>
            <p:nvPr/>
          </p:nvSpPr>
          <p:spPr>
            <a:xfrm>
              <a:off x="5000628" y="1428736"/>
              <a:ext cx="474810" cy="301440"/>
            </a:xfrm>
            <a:prstGeom prst="rect">
              <a:avLst/>
            </a:prstGeom>
          </p:spPr>
          <p:txBody>
            <a:bodyPr wrap="none">
              <a:spAutoFit/>
            </a:bodyPr>
            <a:lstStyle/>
            <a:p>
              <a:pPr fontAlgn="base">
                <a:spcBef>
                  <a:spcPct val="0"/>
                </a:spcBef>
                <a:spcAft>
                  <a:spcPts val="1000"/>
                </a:spcAft>
              </a:pPr>
              <a:r>
                <a:rPr lang="en-US" sz="1200" b="1" dirty="0">
                  <a:solidFill>
                    <a:srgbClr val="C00000"/>
                  </a:solidFill>
                  <a:latin typeface="Times New Roman" pitchFamily="18" charset="0"/>
                  <a:ea typeface="Arial" pitchFamily="34" charset="0"/>
                  <a:cs typeface="Times New Roman" pitchFamily="18" charset="0"/>
                </a:rPr>
                <a:t>obj1</a:t>
              </a:r>
            </a:p>
          </p:txBody>
        </p:sp>
        <p:sp>
          <p:nvSpPr>
            <p:cNvPr id="147" name="Rectangle 9">
              <a:extLst>
                <a:ext uri="{FF2B5EF4-FFF2-40B4-BE49-F238E27FC236}">
                  <a16:creationId xmlns:a16="http://schemas.microsoft.com/office/drawing/2014/main" id="{2DB26F6A-EBF8-46AC-BD44-3BF5441AD596}"/>
                </a:ext>
              </a:extLst>
            </p:cNvPr>
            <p:cNvSpPr>
              <a:spLocks noChangeArrowheads="1"/>
            </p:cNvSpPr>
            <p:nvPr/>
          </p:nvSpPr>
          <p:spPr bwMode="auto">
            <a:xfrm>
              <a:off x="4857752" y="2071678"/>
              <a:ext cx="1643074" cy="991843"/>
            </a:xfrm>
            <a:prstGeom prst="ellips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200"/>
                </a:spcAft>
              </a:pPr>
              <a:r>
                <a:rPr lang="en-US" sz="1300" b="1" dirty="0">
                  <a:latin typeface="Times New Roman" pitchFamily="18" charset="0"/>
                  <a:cs typeface="Times New Roman" pitchFamily="18" charset="0"/>
                </a:rPr>
                <a:t>radius: </a:t>
              </a:r>
              <a:r>
                <a:rPr lang="en-US" sz="1300" b="1" dirty="0">
                  <a:solidFill>
                    <a:srgbClr val="0000FF"/>
                  </a:solidFill>
                  <a:latin typeface="Times New Roman" pitchFamily="18" charset="0"/>
                  <a:cs typeface="Times New Roman" pitchFamily="18" charset="0"/>
                </a:rPr>
                <a:t>12.5</a:t>
              </a:r>
            </a:p>
            <a:p>
              <a:pPr fontAlgn="base">
                <a:spcBef>
                  <a:spcPct val="0"/>
                </a:spcBef>
                <a:spcAft>
                  <a:spcPts val="200"/>
                </a:spcAft>
              </a:pPr>
              <a:r>
                <a:rPr lang="en-US" sz="1300" b="1" dirty="0">
                  <a:latin typeface="Times New Roman" pitchFamily="18" charset="0"/>
                  <a:cs typeface="Times New Roman" pitchFamily="18" charset="0"/>
                </a:rPr>
                <a:t>name: </a:t>
              </a:r>
              <a:r>
                <a:rPr lang="en-US" sz="1300" b="1" dirty="0">
                  <a:solidFill>
                    <a:srgbClr val="0000FF"/>
                  </a:solidFill>
                  <a:latin typeface="Times New Roman" pitchFamily="18" charset="0"/>
                  <a:cs typeface="Times New Roman" pitchFamily="18" charset="0"/>
                </a:rPr>
                <a:t>circle </a:t>
              </a:r>
            </a:p>
            <a:p>
              <a:pPr fontAlgn="base">
                <a:spcBef>
                  <a:spcPct val="0"/>
                </a:spcBef>
                <a:spcAft>
                  <a:spcPts val="200"/>
                </a:spcAft>
              </a:pPr>
              <a:r>
                <a:rPr lang="en-US" sz="1300" b="1" dirty="0">
                  <a:latin typeface="Times New Roman" pitchFamily="18" charset="0"/>
                  <a:cs typeface="Times New Roman" pitchFamily="18" charset="0"/>
                </a:rPr>
                <a:t>Color: </a:t>
              </a:r>
              <a:r>
                <a:rPr lang="en-US" sz="1300" b="1" dirty="0">
                  <a:solidFill>
                    <a:srgbClr val="0000FF"/>
                  </a:solidFill>
                  <a:latin typeface="Times New Roman" pitchFamily="18" charset="0"/>
                  <a:cs typeface="Times New Roman" pitchFamily="18" charset="0"/>
                </a:rPr>
                <a:t>Green</a:t>
              </a:r>
              <a:endParaRPr lang="en-US" sz="1000" dirty="0">
                <a:latin typeface="Calibri" pitchFamily="34" charset="0"/>
                <a:ea typeface="Arial" pitchFamily="34" charset="0"/>
                <a:cs typeface="Arial" pitchFamily="34" charset="0"/>
              </a:endParaRPr>
            </a:p>
          </p:txBody>
        </p:sp>
        <p:cxnSp>
          <p:nvCxnSpPr>
            <p:cNvPr id="148" name="AutoShape 9">
              <a:extLst>
                <a:ext uri="{FF2B5EF4-FFF2-40B4-BE49-F238E27FC236}">
                  <a16:creationId xmlns:a16="http://schemas.microsoft.com/office/drawing/2014/main" id="{445C4D67-76A5-4984-96F0-3053BEC1930D}"/>
                </a:ext>
              </a:extLst>
            </p:cNvPr>
            <p:cNvCxnSpPr>
              <a:cxnSpLocks noChangeShapeType="1"/>
            </p:cNvCxnSpPr>
            <p:nvPr/>
          </p:nvCxnSpPr>
          <p:spPr bwMode="auto">
            <a:xfrm rot="16200000" flipH="1">
              <a:off x="7108049" y="1821645"/>
              <a:ext cx="285752" cy="214314"/>
            </a:xfrm>
            <a:prstGeom prst="straightConnector1">
              <a:avLst/>
            </a:prstGeom>
            <a:noFill/>
            <a:ln w="9525">
              <a:solidFill>
                <a:srgbClr val="000000"/>
              </a:solidFill>
              <a:round/>
              <a:headEnd/>
              <a:tailEnd type="triangle" w="med" len="med"/>
            </a:ln>
          </p:spPr>
        </p:cxnSp>
        <p:sp>
          <p:nvSpPr>
            <p:cNvPr id="149" name="Rectangle 148">
              <a:extLst>
                <a:ext uri="{FF2B5EF4-FFF2-40B4-BE49-F238E27FC236}">
                  <a16:creationId xmlns:a16="http://schemas.microsoft.com/office/drawing/2014/main" id="{BEB990EF-134D-4025-8955-3C488D356132}"/>
                </a:ext>
              </a:extLst>
            </p:cNvPr>
            <p:cNvSpPr/>
            <p:nvPr/>
          </p:nvSpPr>
          <p:spPr>
            <a:xfrm>
              <a:off x="6786578" y="1428736"/>
              <a:ext cx="474810" cy="301440"/>
            </a:xfrm>
            <a:prstGeom prst="rect">
              <a:avLst/>
            </a:prstGeom>
          </p:spPr>
          <p:txBody>
            <a:bodyPr wrap="none">
              <a:spAutoFit/>
            </a:bodyPr>
            <a:lstStyle/>
            <a:p>
              <a:pPr fontAlgn="base">
                <a:spcBef>
                  <a:spcPct val="0"/>
                </a:spcBef>
                <a:spcAft>
                  <a:spcPts val="1000"/>
                </a:spcAft>
              </a:pPr>
              <a:r>
                <a:rPr lang="en-US" sz="1200" b="1" dirty="0">
                  <a:solidFill>
                    <a:srgbClr val="C00000"/>
                  </a:solidFill>
                  <a:latin typeface="Times New Roman" pitchFamily="18" charset="0"/>
                  <a:ea typeface="Arial" pitchFamily="34" charset="0"/>
                  <a:cs typeface="Times New Roman" pitchFamily="18" charset="0"/>
                </a:rPr>
                <a:t>obj2</a:t>
              </a:r>
            </a:p>
          </p:txBody>
        </p:sp>
      </p:grpSp>
      <p:sp>
        <p:nvSpPr>
          <p:cNvPr id="150" name="Rectangle 9">
            <a:extLst>
              <a:ext uri="{FF2B5EF4-FFF2-40B4-BE49-F238E27FC236}">
                <a16:creationId xmlns:a16="http://schemas.microsoft.com/office/drawing/2014/main" id="{9F6534E4-3F91-4666-9349-1528BB4EFE28}"/>
              </a:ext>
            </a:extLst>
          </p:cNvPr>
          <p:cNvSpPr>
            <a:spLocks noChangeArrowheads="1"/>
          </p:cNvSpPr>
          <p:nvPr/>
        </p:nvSpPr>
        <p:spPr bwMode="auto">
          <a:xfrm>
            <a:off x="8382016" y="2271742"/>
            <a:ext cx="1571636" cy="911425"/>
          </a:xfrm>
          <a:prstGeom prst="ellips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200"/>
              </a:spcAft>
            </a:pPr>
            <a:r>
              <a:rPr lang="en-US" sz="1300" b="1" dirty="0">
                <a:latin typeface="Times New Roman" pitchFamily="18" charset="0"/>
                <a:cs typeface="Times New Roman" pitchFamily="18" charset="0"/>
              </a:rPr>
              <a:t>radius: </a:t>
            </a:r>
            <a:r>
              <a:rPr lang="en-US" sz="1300" b="1" dirty="0">
                <a:solidFill>
                  <a:srgbClr val="0000FF"/>
                </a:solidFill>
                <a:latin typeface="Times New Roman" pitchFamily="18" charset="0"/>
                <a:cs typeface="Times New Roman" pitchFamily="18" charset="0"/>
              </a:rPr>
              <a:t>3</a:t>
            </a:r>
          </a:p>
          <a:p>
            <a:pPr fontAlgn="base">
              <a:spcBef>
                <a:spcPct val="0"/>
              </a:spcBef>
              <a:spcAft>
                <a:spcPts val="200"/>
              </a:spcAft>
            </a:pPr>
            <a:r>
              <a:rPr lang="en-US" sz="1300" b="1" dirty="0">
                <a:latin typeface="Times New Roman" pitchFamily="18" charset="0"/>
                <a:cs typeface="Times New Roman" pitchFamily="18" charset="0"/>
              </a:rPr>
              <a:t>name: </a:t>
            </a:r>
            <a:r>
              <a:rPr lang="en-US" sz="1300" b="1" dirty="0">
                <a:solidFill>
                  <a:srgbClr val="0000FF"/>
                </a:solidFill>
                <a:latin typeface="Times New Roman" pitchFamily="18" charset="0"/>
                <a:cs typeface="Times New Roman" pitchFamily="18" charset="0"/>
              </a:rPr>
              <a:t>circle </a:t>
            </a:r>
          </a:p>
          <a:p>
            <a:pPr fontAlgn="base">
              <a:spcBef>
                <a:spcPct val="0"/>
              </a:spcBef>
              <a:spcAft>
                <a:spcPts val="200"/>
              </a:spcAft>
            </a:pPr>
            <a:r>
              <a:rPr lang="en-US" sz="1300" b="1" dirty="0">
                <a:latin typeface="Times New Roman" pitchFamily="18" charset="0"/>
                <a:cs typeface="Times New Roman" pitchFamily="18" charset="0"/>
              </a:rPr>
              <a:t>Color: </a:t>
            </a:r>
            <a:r>
              <a:rPr lang="en-US" sz="1300" b="1" dirty="0">
                <a:solidFill>
                  <a:srgbClr val="0000FF"/>
                </a:solidFill>
                <a:latin typeface="Times New Roman" pitchFamily="18" charset="0"/>
                <a:cs typeface="Times New Roman" pitchFamily="18" charset="0"/>
              </a:rPr>
              <a:t>Black</a:t>
            </a:r>
            <a:endParaRPr lang="en-US" sz="1000" dirty="0">
              <a:latin typeface="Calibri" pitchFamily="34" charset="0"/>
              <a:ea typeface="Arial" pitchFamily="34" charset="0"/>
              <a:cs typeface="Arial" pitchFamily="34" charset="0"/>
            </a:endParaRPr>
          </a:p>
        </p:txBody>
      </p:sp>
      <p:cxnSp>
        <p:nvCxnSpPr>
          <p:cNvPr id="151" name="AutoShape 9">
            <a:extLst>
              <a:ext uri="{FF2B5EF4-FFF2-40B4-BE49-F238E27FC236}">
                <a16:creationId xmlns:a16="http://schemas.microsoft.com/office/drawing/2014/main" id="{6821313B-F9F9-4AAD-8593-701878C448A7}"/>
              </a:ext>
            </a:extLst>
          </p:cNvPr>
          <p:cNvCxnSpPr>
            <a:cxnSpLocks noChangeShapeType="1"/>
          </p:cNvCxnSpPr>
          <p:nvPr/>
        </p:nvCxnSpPr>
        <p:spPr bwMode="auto">
          <a:xfrm rot="5400000">
            <a:off x="8453454" y="3414751"/>
            <a:ext cx="1000134" cy="571502"/>
          </a:xfrm>
          <a:prstGeom prst="straightConnector1">
            <a:avLst/>
          </a:prstGeom>
          <a:noFill/>
          <a:ln w="9525">
            <a:solidFill>
              <a:srgbClr val="000000"/>
            </a:solidFill>
            <a:round/>
            <a:headEnd/>
            <a:tailEnd type="triangle" w="med" len="med"/>
          </a:ln>
        </p:spPr>
      </p:cxnSp>
      <p:cxnSp>
        <p:nvCxnSpPr>
          <p:cNvPr id="152" name="AutoShape 9">
            <a:extLst>
              <a:ext uri="{FF2B5EF4-FFF2-40B4-BE49-F238E27FC236}">
                <a16:creationId xmlns:a16="http://schemas.microsoft.com/office/drawing/2014/main" id="{AAF2557F-C2A9-4A67-B440-3E70912406C2}"/>
              </a:ext>
            </a:extLst>
          </p:cNvPr>
          <p:cNvCxnSpPr>
            <a:cxnSpLocks noChangeShapeType="1"/>
          </p:cNvCxnSpPr>
          <p:nvPr/>
        </p:nvCxnSpPr>
        <p:spPr bwMode="auto">
          <a:xfrm rot="16200000" flipH="1">
            <a:off x="7203289" y="3379030"/>
            <a:ext cx="928696" cy="571506"/>
          </a:xfrm>
          <a:prstGeom prst="straightConnector1">
            <a:avLst/>
          </a:prstGeom>
          <a:noFill/>
          <a:ln w="9525">
            <a:solidFill>
              <a:srgbClr val="000000"/>
            </a:solidFill>
            <a:round/>
            <a:headEnd/>
            <a:tailEnd type="triangle" w="med" len="med"/>
          </a:ln>
        </p:spPr>
      </p:cxnSp>
      <p:sp>
        <p:nvSpPr>
          <p:cNvPr id="153" name="Rectangle 152">
            <a:extLst>
              <a:ext uri="{FF2B5EF4-FFF2-40B4-BE49-F238E27FC236}">
                <a16:creationId xmlns:a16="http://schemas.microsoft.com/office/drawing/2014/main" id="{10FF6A41-766E-4627-8CEE-44200C7C2CFA}"/>
              </a:ext>
            </a:extLst>
          </p:cNvPr>
          <p:cNvSpPr/>
          <p:nvPr/>
        </p:nvSpPr>
        <p:spPr>
          <a:xfrm>
            <a:off x="7024694" y="4200567"/>
            <a:ext cx="2857520" cy="1928826"/>
          </a:xfrm>
          <a:prstGeom prst="rect">
            <a:avLst/>
          </a:prstGeom>
          <a:solidFill>
            <a:srgbClr val="FF00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TextBox 153">
            <a:extLst>
              <a:ext uri="{FF2B5EF4-FFF2-40B4-BE49-F238E27FC236}">
                <a16:creationId xmlns:a16="http://schemas.microsoft.com/office/drawing/2014/main" id="{0835DF58-80E9-4625-BA23-FA5A8AE74B8C}"/>
              </a:ext>
            </a:extLst>
          </p:cNvPr>
          <p:cNvSpPr txBox="1"/>
          <p:nvPr/>
        </p:nvSpPr>
        <p:spPr>
          <a:xfrm rot="14429538">
            <a:off x="7168286" y="3531714"/>
            <a:ext cx="785818" cy="292388"/>
          </a:xfrm>
          <a:prstGeom prst="rect">
            <a:avLst/>
          </a:prstGeom>
          <a:noFill/>
        </p:spPr>
        <p:txBody>
          <a:bodyPr wrap="square" rtlCol="0">
            <a:spAutoFit/>
          </a:bodyPr>
          <a:lstStyle/>
          <a:p>
            <a:pPr algn="l" rtl="0"/>
            <a:r>
              <a:rPr lang="en-GB" sz="1300" b="1" dirty="0">
                <a:solidFill>
                  <a:srgbClr val="C00000"/>
                </a:solidFill>
              </a:rPr>
              <a:t>Shares</a:t>
            </a:r>
            <a:endParaRPr lang="en-US" sz="1300" b="1" dirty="0">
              <a:solidFill>
                <a:srgbClr val="C00000"/>
              </a:solidFill>
            </a:endParaRPr>
          </a:p>
        </p:txBody>
      </p:sp>
      <p:sp>
        <p:nvSpPr>
          <p:cNvPr id="155" name="TextBox 154">
            <a:extLst>
              <a:ext uri="{FF2B5EF4-FFF2-40B4-BE49-F238E27FC236}">
                <a16:creationId xmlns:a16="http://schemas.microsoft.com/office/drawing/2014/main" id="{89F70B35-F002-449F-9203-D673CB320EF2}"/>
              </a:ext>
            </a:extLst>
          </p:cNvPr>
          <p:cNvSpPr txBox="1"/>
          <p:nvPr/>
        </p:nvSpPr>
        <p:spPr>
          <a:xfrm rot="7081013">
            <a:off x="8731359" y="3609707"/>
            <a:ext cx="785818" cy="292388"/>
          </a:xfrm>
          <a:prstGeom prst="rect">
            <a:avLst/>
          </a:prstGeom>
          <a:noFill/>
        </p:spPr>
        <p:txBody>
          <a:bodyPr wrap="square" rtlCol="0">
            <a:spAutoFit/>
          </a:bodyPr>
          <a:lstStyle/>
          <a:p>
            <a:pPr algn="l" rtl="0"/>
            <a:r>
              <a:rPr lang="en-GB" sz="1300" b="1" dirty="0">
                <a:solidFill>
                  <a:srgbClr val="C00000"/>
                </a:solidFill>
              </a:rPr>
              <a:t>Shares</a:t>
            </a:r>
            <a:endParaRPr lang="en-US" sz="1300" b="1" dirty="0">
              <a:solidFill>
                <a:srgbClr val="C00000"/>
              </a:solidFill>
            </a:endParaRPr>
          </a:p>
        </p:txBody>
      </p:sp>
      <p:sp>
        <p:nvSpPr>
          <p:cNvPr id="156" name="TextBox 155">
            <a:extLst>
              <a:ext uri="{FF2B5EF4-FFF2-40B4-BE49-F238E27FC236}">
                <a16:creationId xmlns:a16="http://schemas.microsoft.com/office/drawing/2014/main" id="{11CD402D-027A-4791-9EC8-07D52DCE6D28}"/>
              </a:ext>
            </a:extLst>
          </p:cNvPr>
          <p:cNvSpPr txBox="1"/>
          <p:nvPr/>
        </p:nvSpPr>
        <p:spPr>
          <a:xfrm>
            <a:off x="7024694" y="4200567"/>
            <a:ext cx="2857520" cy="1815882"/>
          </a:xfrm>
          <a:prstGeom prst="rect">
            <a:avLst/>
          </a:prstGeom>
          <a:noFill/>
        </p:spPr>
        <p:txBody>
          <a:bodyPr wrap="square" rtlCol="0">
            <a:spAutoFit/>
          </a:bodyPr>
          <a:lstStyle/>
          <a:p>
            <a:pPr algn="l" rtl="0"/>
            <a:r>
              <a:rPr lang="en-GB" sz="1600" b="1" dirty="0"/>
              <a:t>Static variable (</a:t>
            </a:r>
            <a:r>
              <a:rPr lang="en-US" sz="1600" b="1" dirty="0">
                <a:latin typeface="Times New Roman" pitchFamily="18" charset="0"/>
                <a:cs typeface="Times New Roman" pitchFamily="18" charset="0"/>
              </a:rPr>
              <a:t>dimension</a:t>
            </a:r>
            <a:r>
              <a:rPr lang="en-GB" sz="1600" b="1" dirty="0"/>
              <a:t>):</a:t>
            </a:r>
          </a:p>
          <a:p>
            <a:pPr algn="ctr" rtl="0"/>
            <a:r>
              <a:rPr lang="en-GB" sz="1600" b="1" dirty="0"/>
              <a:t>3</a:t>
            </a:r>
          </a:p>
          <a:p>
            <a:pPr algn="ctr" rtl="0"/>
            <a:r>
              <a:rPr lang="en-GB" sz="1600" b="1" dirty="0"/>
              <a:t>2</a:t>
            </a:r>
          </a:p>
          <a:p>
            <a:pPr algn="ctr" rtl="0"/>
            <a:r>
              <a:rPr lang="en-GB" sz="1600" b="1" dirty="0"/>
              <a:t>3</a:t>
            </a:r>
          </a:p>
          <a:p>
            <a:pPr algn="ctr" rtl="0"/>
            <a:r>
              <a:rPr lang="en-GB" sz="1600" b="1" dirty="0"/>
              <a:t>2</a:t>
            </a:r>
          </a:p>
          <a:p>
            <a:pPr algn="ctr" rtl="0"/>
            <a:endParaRPr lang="en-GB" sz="1600" b="1" dirty="0"/>
          </a:p>
          <a:p>
            <a:pPr algn="ctr" rtl="0"/>
            <a:r>
              <a:rPr lang="en-GB" sz="1600" b="1" dirty="0"/>
              <a:t>1</a:t>
            </a:r>
            <a:endParaRPr lang="en-US" sz="1600" b="1" dirty="0"/>
          </a:p>
        </p:txBody>
      </p:sp>
      <p:cxnSp>
        <p:nvCxnSpPr>
          <p:cNvPr id="157" name="Straight Connector 156">
            <a:extLst>
              <a:ext uri="{FF2B5EF4-FFF2-40B4-BE49-F238E27FC236}">
                <a16:creationId xmlns:a16="http://schemas.microsoft.com/office/drawing/2014/main" id="{25BEB258-B66E-4F28-9C42-872CD6D91F9A}"/>
              </a:ext>
            </a:extLst>
          </p:cNvPr>
          <p:cNvCxnSpPr/>
          <p:nvPr/>
        </p:nvCxnSpPr>
        <p:spPr>
          <a:xfrm rot="10800000" flipV="1">
            <a:off x="8310578" y="4557757"/>
            <a:ext cx="285752" cy="142876"/>
          </a:xfrm>
          <a:prstGeom prst="line">
            <a:avLst/>
          </a:prstGeom>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A6B55AD7-881F-4AA3-8432-8111C0892FD2}"/>
              </a:ext>
            </a:extLst>
          </p:cNvPr>
          <p:cNvCxnSpPr/>
          <p:nvPr/>
        </p:nvCxnSpPr>
        <p:spPr>
          <a:xfrm rot="10800000" flipV="1">
            <a:off x="8382016" y="4772071"/>
            <a:ext cx="285752" cy="142876"/>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EFFEEC84-8146-4F0B-897D-6A6FF0364628}"/>
              </a:ext>
            </a:extLst>
          </p:cNvPr>
          <p:cNvCxnSpPr/>
          <p:nvPr/>
        </p:nvCxnSpPr>
        <p:spPr>
          <a:xfrm rot="10800000" flipV="1">
            <a:off x="8310578" y="5057823"/>
            <a:ext cx="285752" cy="142876"/>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9B119F46-91D4-4F16-B25E-8B0D0136ED56}"/>
              </a:ext>
            </a:extLst>
          </p:cNvPr>
          <p:cNvCxnSpPr/>
          <p:nvPr/>
        </p:nvCxnSpPr>
        <p:spPr>
          <a:xfrm rot="10800000" flipV="1">
            <a:off x="8310579" y="5272136"/>
            <a:ext cx="285752" cy="142876"/>
          </a:xfrm>
          <a:prstGeom prst="line">
            <a:avLst/>
          </a:prstGeom>
        </p:spPr>
        <p:style>
          <a:lnRef idx="1">
            <a:schemeClr val="dk1"/>
          </a:lnRef>
          <a:fillRef idx="0">
            <a:schemeClr val="dk1"/>
          </a:fillRef>
          <a:effectRef idx="0">
            <a:schemeClr val="dk1"/>
          </a:effectRef>
          <a:fontRef idx="minor">
            <a:schemeClr val="tx1"/>
          </a:fontRef>
        </p:style>
      </p:cxnSp>
      <p:cxnSp>
        <p:nvCxnSpPr>
          <p:cNvPr id="161" name="Elbow Connector 69">
            <a:extLst>
              <a:ext uri="{FF2B5EF4-FFF2-40B4-BE49-F238E27FC236}">
                <a16:creationId xmlns:a16="http://schemas.microsoft.com/office/drawing/2014/main" id="{FBA6AC33-7DAD-40CB-AD6D-2D5ED1D5B7A6}"/>
              </a:ext>
            </a:extLst>
          </p:cNvPr>
          <p:cNvCxnSpPr/>
          <p:nvPr/>
        </p:nvCxnSpPr>
        <p:spPr>
          <a:xfrm>
            <a:off x="5095868" y="3057559"/>
            <a:ext cx="3143272" cy="157163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62" name="Oval 161">
            <a:extLst>
              <a:ext uri="{FF2B5EF4-FFF2-40B4-BE49-F238E27FC236}">
                <a16:creationId xmlns:a16="http://schemas.microsoft.com/office/drawing/2014/main" id="{AC402CAC-CA27-4804-9A20-44257B1C14B7}"/>
              </a:ext>
            </a:extLst>
          </p:cNvPr>
          <p:cNvSpPr/>
          <p:nvPr/>
        </p:nvSpPr>
        <p:spPr>
          <a:xfrm>
            <a:off x="4810116" y="2914683"/>
            <a:ext cx="214314" cy="214314"/>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3" name="Elbow Connector 74">
            <a:extLst>
              <a:ext uri="{FF2B5EF4-FFF2-40B4-BE49-F238E27FC236}">
                <a16:creationId xmlns:a16="http://schemas.microsoft.com/office/drawing/2014/main" id="{F8D868C8-1974-433A-912C-21D8A098B3A0}"/>
              </a:ext>
            </a:extLst>
          </p:cNvPr>
          <p:cNvCxnSpPr/>
          <p:nvPr/>
        </p:nvCxnSpPr>
        <p:spPr>
          <a:xfrm>
            <a:off x="4952992" y="3271873"/>
            <a:ext cx="3286148" cy="157163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64" name="Oval 163">
            <a:extLst>
              <a:ext uri="{FF2B5EF4-FFF2-40B4-BE49-F238E27FC236}">
                <a16:creationId xmlns:a16="http://schemas.microsoft.com/office/drawing/2014/main" id="{61673662-4FE3-481E-B613-44AA8E35C6B3}"/>
              </a:ext>
            </a:extLst>
          </p:cNvPr>
          <p:cNvSpPr/>
          <p:nvPr/>
        </p:nvSpPr>
        <p:spPr>
          <a:xfrm>
            <a:off x="4667240" y="3128997"/>
            <a:ext cx="214314" cy="214314"/>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5" name="Elbow Connector 77">
            <a:extLst>
              <a:ext uri="{FF2B5EF4-FFF2-40B4-BE49-F238E27FC236}">
                <a16:creationId xmlns:a16="http://schemas.microsoft.com/office/drawing/2014/main" id="{33961A74-5DEB-4663-B104-B2474BD178C3}"/>
              </a:ext>
            </a:extLst>
          </p:cNvPr>
          <p:cNvCxnSpPr/>
          <p:nvPr/>
        </p:nvCxnSpPr>
        <p:spPr>
          <a:xfrm>
            <a:off x="4167174" y="3414749"/>
            <a:ext cx="4071966" cy="171451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66" name="Oval 165">
            <a:extLst>
              <a:ext uri="{FF2B5EF4-FFF2-40B4-BE49-F238E27FC236}">
                <a16:creationId xmlns:a16="http://schemas.microsoft.com/office/drawing/2014/main" id="{BC1A5BD0-43E6-4935-A17A-EF3FEFD53F23}"/>
              </a:ext>
            </a:extLst>
          </p:cNvPr>
          <p:cNvSpPr/>
          <p:nvPr/>
        </p:nvSpPr>
        <p:spPr>
          <a:xfrm>
            <a:off x="3881422" y="3343311"/>
            <a:ext cx="285752" cy="214314"/>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7" name="Elbow Connector 82">
            <a:extLst>
              <a:ext uri="{FF2B5EF4-FFF2-40B4-BE49-F238E27FC236}">
                <a16:creationId xmlns:a16="http://schemas.microsoft.com/office/drawing/2014/main" id="{C95A61CA-15B5-4F48-AF80-193FE9CBCE00}"/>
              </a:ext>
            </a:extLst>
          </p:cNvPr>
          <p:cNvCxnSpPr/>
          <p:nvPr/>
        </p:nvCxnSpPr>
        <p:spPr>
          <a:xfrm>
            <a:off x="4167174" y="3629063"/>
            <a:ext cx="4071966" cy="1714512"/>
          </a:xfrm>
          <a:prstGeom prst="bentConnector3">
            <a:avLst>
              <a:gd name="adj1" fmla="val 46598"/>
            </a:avLst>
          </a:prstGeom>
          <a:ln>
            <a:tailEnd type="arrow"/>
          </a:ln>
        </p:spPr>
        <p:style>
          <a:lnRef idx="1">
            <a:schemeClr val="dk1"/>
          </a:lnRef>
          <a:fillRef idx="0">
            <a:schemeClr val="dk1"/>
          </a:fillRef>
          <a:effectRef idx="0">
            <a:schemeClr val="dk1"/>
          </a:effectRef>
          <a:fontRef idx="minor">
            <a:schemeClr val="tx1"/>
          </a:fontRef>
        </p:style>
      </p:cxnSp>
      <p:sp>
        <p:nvSpPr>
          <p:cNvPr id="168" name="Oval 167">
            <a:extLst>
              <a:ext uri="{FF2B5EF4-FFF2-40B4-BE49-F238E27FC236}">
                <a16:creationId xmlns:a16="http://schemas.microsoft.com/office/drawing/2014/main" id="{EE5D59C4-BE5B-4857-94D3-681E0A5EB0E2}"/>
              </a:ext>
            </a:extLst>
          </p:cNvPr>
          <p:cNvSpPr/>
          <p:nvPr/>
        </p:nvSpPr>
        <p:spPr>
          <a:xfrm>
            <a:off x="3809984" y="3557625"/>
            <a:ext cx="357190" cy="285752"/>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9" name="Elbow Connector 85">
            <a:extLst>
              <a:ext uri="{FF2B5EF4-FFF2-40B4-BE49-F238E27FC236}">
                <a16:creationId xmlns:a16="http://schemas.microsoft.com/office/drawing/2014/main" id="{AF478546-5875-4541-8B64-7768B17BF7F0}"/>
              </a:ext>
            </a:extLst>
          </p:cNvPr>
          <p:cNvCxnSpPr/>
          <p:nvPr/>
        </p:nvCxnSpPr>
        <p:spPr>
          <a:xfrm>
            <a:off x="4253804" y="3914815"/>
            <a:ext cx="4071966" cy="1928826"/>
          </a:xfrm>
          <a:prstGeom prst="bentConnector3">
            <a:avLst>
              <a:gd name="adj1" fmla="val 42515"/>
            </a:avLst>
          </a:prstGeom>
          <a:ln>
            <a:tailEnd type="arrow"/>
          </a:ln>
        </p:spPr>
        <p:style>
          <a:lnRef idx="1">
            <a:schemeClr val="dk1"/>
          </a:lnRef>
          <a:fillRef idx="0">
            <a:schemeClr val="dk1"/>
          </a:fillRef>
          <a:effectRef idx="0">
            <a:schemeClr val="dk1"/>
          </a:effectRef>
          <a:fontRef idx="minor">
            <a:schemeClr val="tx1"/>
          </a:fontRef>
        </p:style>
      </p:cxnSp>
      <p:sp>
        <p:nvSpPr>
          <p:cNvPr id="170" name="Oval 169">
            <a:extLst>
              <a:ext uri="{FF2B5EF4-FFF2-40B4-BE49-F238E27FC236}">
                <a16:creationId xmlns:a16="http://schemas.microsoft.com/office/drawing/2014/main" id="{13EDE874-C2C4-4804-AA35-BE91EE385A9B}"/>
              </a:ext>
            </a:extLst>
          </p:cNvPr>
          <p:cNvSpPr/>
          <p:nvPr/>
        </p:nvSpPr>
        <p:spPr>
          <a:xfrm>
            <a:off x="3809984" y="3843377"/>
            <a:ext cx="357190" cy="285752"/>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1" name="Rectangle 170">
            <a:extLst>
              <a:ext uri="{FF2B5EF4-FFF2-40B4-BE49-F238E27FC236}">
                <a16:creationId xmlns:a16="http://schemas.microsoft.com/office/drawing/2014/main" id="{1CBFC288-CB1D-4DF6-96AA-7B730DE56C1E}"/>
              </a:ext>
            </a:extLst>
          </p:cNvPr>
          <p:cNvSpPr/>
          <p:nvPr/>
        </p:nvSpPr>
        <p:spPr>
          <a:xfrm>
            <a:off x="110691" y="5598630"/>
            <a:ext cx="5913871" cy="958660"/>
          </a:xfrm>
          <a:prstGeom prst="rect">
            <a:avLst/>
          </a:prstGeom>
          <a:solidFill>
            <a:schemeClr val="bg1"/>
          </a:solidFill>
          <a:ln w="38100">
            <a:solidFill>
              <a:srgbClr val="0000FF"/>
            </a:solidFill>
            <a:prstDash val="solid"/>
          </a:ln>
        </p:spPr>
        <p:txBody>
          <a:bodyPr wrap="square">
            <a:spAutoFit/>
          </a:bodyPr>
          <a:lstStyle/>
          <a:p>
            <a:pPr algn="just" rtl="0">
              <a:lnSpc>
                <a:spcPct val="150000"/>
              </a:lnSpc>
            </a:pPr>
            <a:r>
              <a:rPr lang="en-US" sz="2000" dirty="0"/>
              <a:t>The value of (1) is the last value that will be stored in the memory for the variable (dimension).</a:t>
            </a:r>
          </a:p>
        </p:txBody>
      </p:sp>
      <p:sp>
        <p:nvSpPr>
          <p:cNvPr id="172" name="Oval 171">
            <a:extLst>
              <a:ext uri="{FF2B5EF4-FFF2-40B4-BE49-F238E27FC236}">
                <a16:creationId xmlns:a16="http://schemas.microsoft.com/office/drawing/2014/main" id="{F46D4D50-32C1-4A50-B914-013DA1C9AFBE}"/>
              </a:ext>
            </a:extLst>
          </p:cNvPr>
          <p:cNvSpPr/>
          <p:nvPr/>
        </p:nvSpPr>
        <p:spPr>
          <a:xfrm>
            <a:off x="8239140" y="5700765"/>
            <a:ext cx="357190" cy="285752"/>
          </a:xfrm>
          <a:prstGeom prst="ellipse">
            <a:avLst/>
          </a:prstGeom>
          <a:solidFill>
            <a:schemeClr val="lt1">
              <a:alpha val="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73" name="AutoShape 9">
            <a:extLst>
              <a:ext uri="{FF2B5EF4-FFF2-40B4-BE49-F238E27FC236}">
                <a16:creationId xmlns:a16="http://schemas.microsoft.com/office/drawing/2014/main" id="{525D796F-866D-4D87-9B7F-3E61F0B216C5}"/>
              </a:ext>
            </a:extLst>
          </p:cNvPr>
          <p:cNvCxnSpPr>
            <a:cxnSpLocks noChangeShapeType="1"/>
          </p:cNvCxnSpPr>
          <p:nvPr/>
        </p:nvCxnSpPr>
        <p:spPr bwMode="auto">
          <a:xfrm flipH="1">
            <a:off x="6024562" y="5986517"/>
            <a:ext cx="2357454" cy="142876"/>
          </a:xfrm>
          <a:prstGeom prst="straightConnector1">
            <a:avLst/>
          </a:prstGeom>
          <a:noFill/>
          <a:ln w="9525">
            <a:solidFill>
              <a:srgbClr val="000000"/>
            </a:solidFill>
            <a:round/>
            <a:headEnd/>
            <a:tailEnd type="triangle" w="med" len="med"/>
          </a:ln>
        </p:spPr>
      </p:cxnSp>
    </p:spTree>
    <p:extLst>
      <p:ext uri="{BB962C8B-B14F-4D97-AF65-F5344CB8AC3E}">
        <p14:creationId xmlns:p14="http://schemas.microsoft.com/office/powerpoint/2010/main" val="1953035288"/>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Static Data Field: Main</a:t>
            </a:r>
          </a:p>
        </p:txBody>
      </p:sp>
      <p:pic>
        <p:nvPicPr>
          <p:cNvPr id="36" name="Picture 2">
            <a:extLst>
              <a:ext uri="{FF2B5EF4-FFF2-40B4-BE49-F238E27FC236}">
                <a16:creationId xmlns:a16="http://schemas.microsoft.com/office/drawing/2014/main" id="{472A7C00-8500-44A5-B67C-31B2972CB7D3}"/>
              </a:ext>
            </a:extLst>
          </p:cNvPr>
          <p:cNvPicPr>
            <a:picLocks noChangeAspect="1" noChangeArrowheads="1"/>
          </p:cNvPicPr>
          <p:nvPr/>
        </p:nvPicPr>
        <p:blipFill>
          <a:blip r:embed="rId2"/>
          <a:srcRect/>
          <a:stretch>
            <a:fillRect/>
          </a:stretch>
        </p:blipFill>
        <p:spPr bwMode="auto">
          <a:xfrm>
            <a:off x="1" y="1737360"/>
            <a:ext cx="6210946" cy="4618538"/>
          </a:xfrm>
          <a:prstGeom prst="rect">
            <a:avLst/>
          </a:prstGeom>
          <a:noFill/>
          <a:ln w="9525">
            <a:solidFill>
              <a:schemeClr val="tx1"/>
            </a:solidFill>
            <a:prstDash val="lgDash"/>
            <a:miter lim="800000"/>
            <a:headEnd/>
            <a:tailEnd/>
          </a:ln>
          <a:effectLst/>
        </p:spPr>
      </p:pic>
      <p:sp>
        <p:nvSpPr>
          <p:cNvPr id="37" name="Rectangle 36">
            <a:extLst>
              <a:ext uri="{FF2B5EF4-FFF2-40B4-BE49-F238E27FC236}">
                <a16:creationId xmlns:a16="http://schemas.microsoft.com/office/drawing/2014/main" id="{5003B0B7-EDB3-412A-8C77-6C96FB151B53}"/>
              </a:ext>
            </a:extLst>
          </p:cNvPr>
          <p:cNvSpPr/>
          <p:nvPr/>
        </p:nvSpPr>
        <p:spPr>
          <a:xfrm>
            <a:off x="8065971" y="2330171"/>
            <a:ext cx="3991308" cy="3268331"/>
          </a:xfrm>
          <a:prstGeom prst="rect">
            <a:avLst/>
          </a:prstGeom>
          <a:ln w="19050">
            <a:solidFill>
              <a:srgbClr val="0000FF"/>
            </a:solidFill>
            <a:prstDash val="dash"/>
          </a:ln>
        </p:spPr>
        <p:txBody>
          <a:bodyPr wrap="square">
            <a:spAutoFit/>
          </a:bodyPr>
          <a:lstStyle/>
          <a:p>
            <a:pPr algn="just" rtl="0">
              <a:lnSpc>
                <a:spcPct val="150000"/>
              </a:lnSpc>
            </a:pPr>
            <a:r>
              <a:rPr lang="en-US" sz="2000" dirty="0"/>
              <a:t>Since the value (static) field is the same for all the objects, you can invoke the (get or set) method that returns or modify the value of the (static) field either via an object name or via the class name itself.</a:t>
            </a:r>
            <a:endParaRPr lang="en-US" sz="2000" b="1" dirty="0">
              <a:solidFill>
                <a:srgbClr val="C00000"/>
              </a:solidFill>
              <a:latin typeface="Times New Roman" pitchFamily="18" charset="0"/>
              <a:cs typeface="Times New Roman" pitchFamily="18" charset="0"/>
            </a:endParaRPr>
          </a:p>
        </p:txBody>
      </p:sp>
      <p:grpSp>
        <p:nvGrpSpPr>
          <p:cNvPr id="38" name="Group 37">
            <a:extLst>
              <a:ext uri="{FF2B5EF4-FFF2-40B4-BE49-F238E27FC236}">
                <a16:creationId xmlns:a16="http://schemas.microsoft.com/office/drawing/2014/main" id="{4634F365-6286-4AA8-85F3-737D7431E486}"/>
              </a:ext>
            </a:extLst>
          </p:cNvPr>
          <p:cNvGrpSpPr/>
          <p:nvPr/>
        </p:nvGrpSpPr>
        <p:grpSpPr>
          <a:xfrm>
            <a:off x="1369259" y="2869334"/>
            <a:ext cx="6696712" cy="1936365"/>
            <a:chOff x="-4247926" y="992568"/>
            <a:chExt cx="6696712" cy="1936365"/>
          </a:xfrm>
        </p:grpSpPr>
        <p:cxnSp>
          <p:nvCxnSpPr>
            <p:cNvPr id="39" name="Straight Connector 38">
              <a:extLst>
                <a:ext uri="{FF2B5EF4-FFF2-40B4-BE49-F238E27FC236}">
                  <a16:creationId xmlns:a16="http://schemas.microsoft.com/office/drawing/2014/main" id="{8A73B41F-A07C-41D5-B689-4F2B675E546B}"/>
                </a:ext>
              </a:extLst>
            </p:cNvPr>
            <p:cNvCxnSpPr/>
            <p:nvPr/>
          </p:nvCxnSpPr>
          <p:spPr>
            <a:xfrm rot="5400000">
              <a:off x="362883" y="1920481"/>
              <a:ext cx="1857412" cy="1588"/>
            </a:xfrm>
            <a:prstGeom prst="line">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A16FBE98-AFB5-4E45-BA5E-D2F27B3BDA7D}"/>
                </a:ext>
              </a:extLst>
            </p:cNvPr>
            <p:cNvSpPr/>
            <p:nvPr/>
          </p:nvSpPr>
          <p:spPr>
            <a:xfrm>
              <a:off x="-4199798" y="1872367"/>
              <a:ext cx="2355715" cy="784366"/>
            </a:xfrm>
            <a:prstGeom prst="rect">
              <a:avLst/>
            </a:prstGeom>
            <a:solidFill>
              <a:schemeClr val="accent1">
                <a:alpha val="0"/>
              </a:schemeClr>
            </a:solid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E9EEDC8-B906-4F89-B83B-FDBC8485F5E7}"/>
                </a:ext>
              </a:extLst>
            </p:cNvPr>
            <p:cNvSpPr/>
            <p:nvPr/>
          </p:nvSpPr>
          <p:spPr>
            <a:xfrm>
              <a:off x="-4247926" y="2656732"/>
              <a:ext cx="2423093" cy="272201"/>
            </a:xfrm>
            <a:prstGeom prst="rect">
              <a:avLst/>
            </a:prstGeom>
            <a:solidFill>
              <a:schemeClr val="accent1">
                <a:alpha val="0"/>
              </a:schemeClr>
            </a:solid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50A65E4C-64A2-4545-A0F1-1085F015F6B9}"/>
                </a:ext>
              </a:extLst>
            </p:cNvPr>
            <p:cNvCxnSpPr>
              <a:cxnSpLocks/>
            </p:cNvCxnSpPr>
            <p:nvPr/>
          </p:nvCxnSpPr>
          <p:spPr>
            <a:xfrm>
              <a:off x="1290795" y="992568"/>
              <a:ext cx="1157991" cy="0"/>
            </a:xfrm>
            <a:prstGeom prst="line">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5BA3DC9-461D-477F-9B32-2646A94F2DBF}"/>
                </a:ext>
              </a:extLst>
            </p:cNvPr>
            <p:cNvCxnSpPr>
              <a:cxnSpLocks/>
            </p:cNvCxnSpPr>
            <p:nvPr/>
          </p:nvCxnSpPr>
          <p:spPr>
            <a:xfrm>
              <a:off x="-1795955" y="2375481"/>
              <a:ext cx="3086750" cy="0"/>
            </a:xfrm>
            <a:prstGeom prst="straightConnector1">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589374B-BC32-4B40-9522-E2B7D3DA5BF9}"/>
                </a:ext>
              </a:extLst>
            </p:cNvPr>
            <p:cNvCxnSpPr>
              <a:cxnSpLocks/>
            </p:cNvCxnSpPr>
            <p:nvPr/>
          </p:nvCxnSpPr>
          <p:spPr>
            <a:xfrm>
              <a:off x="-1799315" y="2849981"/>
              <a:ext cx="3090110" cy="0"/>
            </a:xfrm>
            <a:prstGeom prst="straightConnector1">
              <a:avLst/>
            </a:prstGeom>
            <a:ln w="28575">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Footer Placeholder 2">
            <a:extLst>
              <a:ext uri="{FF2B5EF4-FFF2-40B4-BE49-F238E27FC236}">
                <a16:creationId xmlns:a16="http://schemas.microsoft.com/office/drawing/2014/main" id="{4F21C759-D398-4D18-B34A-5BB7D858DAAD}"/>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538769420"/>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Static Data Field: Main</a:t>
            </a:r>
          </a:p>
        </p:txBody>
      </p:sp>
      <p:pic>
        <p:nvPicPr>
          <p:cNvPr id="12" name="Picture 2">
            <a:extLst>
              <a:ext uri="{FF2B5EF4-FFF2-40B4-BE49-F238E27FC236}">
                <a16:creationId xmlns:a16="http://schemas.microsoft.com/office/drawing/2014/main" id="{85D5FC6B-E311-426A-AB65-47258097FEB5}"/>
              </a:ext>
            </a:extLst>
          </p:cNvPr>
          <p:cNvPicPr>
            <a:picLocks noChangeAspect="1" noChangeArrowheads="1"/>
          </p:cNvPicPr>
          <p:nvPr/>
        </p:nvPicPr>
        <p:blipFill>
          <a:blip r:embed="rId2"/>
          <a:srcRect/>
          <a:stretch>
            <a:fillRect/>
          </a:stretch>
        </p:blipFill>
        <p:spPr bwMode="auto">
          <a:xfrm>
            <a:off x="1462742" y="1631482"/>
            <a:ext cx="9253943" cy="3359528"/>
          </a:xfrm>
          <a:prstGeom prst="rect">
            <a:avLst/>
          </a:prstGeom>
          <a:noFill/>
          <a:ln w="9525">
            <a:solidFill>
              <a:schemeClr val="tx1"/>
            </a:solidFill>
            <a:prstDash val="lgDash"/>
            <a:miter lim="800000"/>
            <a:headEnd/>
            <a:tailEnd/>
          </a:ln>
          <a:effectLst/>
        </p:spPr>
      </p:pic>
      <p:pic>
        <p:nvPicPr>
          <p:cNvPr id="13" name="Picture 3" descr="C:\Users\3536\Desktop\1.png">
            <a:extLst>
              <a:ext uri="{FF2B5EF4-FFF2-40B4-BE49-F238E27FC236}">
                <a16:creationId xmlns:a16="http://schemas.microsoft.com/office/drawing/2014/main" id="{CD5ED7CF-8FF6-4803-8EDC-3570DEE98893}"/>
              </a:ext>
            </a:extLst>
          </p:cNvPr>
          <p:cNvPicPr>
            <a:picLocks noChangeAspect="1" noChangeArrowheads="1"/>
          </p:cNvPicPr>
          <p:nvPr/>
        </p:nvPicPr>
        <p:blipFill>
          <a:blip r:embed="rId3"/>
          <a:srcRect/>
          <a:stretch>
            <a:fillRect/>
          </a:stretch>
        </p:blipFill>
        <p:spPr bwMode="auto">
          <a:xfrm>
            <a:off x="1656295" y="5350997"/>
            <a:ext cx="8151449" cy="1220400"/>
          </a:xfrm>
          <a:prstGeom prst="rect">
            <a:avLst/>
          </a:prstGeom>
          <a:ln w="12700" cap="sq">
            <a:solidFill>
              <a:srgbClr val="FF0000"/>
            </a:solidFill>
            <a:miter lim="800000"/>
          </a:ln>
          <a:effectLst>
            <a:outerShdw blurRad="57150" dist="50800" dir="2700000" algn="tl" rotWithShape="0">
              <a:srgbClr val="000000">
                <a:alpha val="40000"/>
              </a:srgbClr>
            </a:outerShdw>
          </a:effectLst>
        </p:spPr>
      </p:pic>
      <p:sp>
        <p:nvSpPr>
          <p:cNvPr id="15" name="TextBox 14">
            <a:extLst>
              <a:ext uri="{FF2B5EF4-FFF2-40B4-BE49-F238E27FC236}">
                <a16:creationId xmlns:a16="http://schemas.microsoft.com/office/drawing/2014/main" id="{97812ECC-6CD2-4972-BADD-7A9346E04AA1}"/>
              </a:ext>
            </a:extLst>
          </p:cNvPr>
          <p:cNvSpPr txBox="1"/>
          <p:nvPr/>
        </p:nvSpPr>
        <p:spPr>
          <a:xfrm>
            <a:off x="1422463" y="5000634"/>
            <a:ext cx="934871" cy="369332"/>
          </a:xfrm>
          <a:prstGeom prst="rect">
            <a:avLst/>
          </a:prstGeom>
          <a:noFill/>
        </p:spPr>
        <p:txBody>
          <a:bodyPr wrap="none" rtlCol="0">
            <a:spAutoFit/>
          </a:bodyPr>
          <a:lstStyle/>
          <a:p>
            <a:pPr algn="just" rtl="0"/>
            <a:r>
              <a:rPr lang="en-GB" b="1" dirty="0">
                <a:solidFill>
                  <a:srgbClr val="C00000"/>
                </a:solidFill>
              </a:rPr>
              <a:t>Output:</a:t>
            </a:r>
            <a:endParaRPr lang="en-US" b="1" dirty="0">
              <a:solidFill>
                <a:srgbClr val="C00000"/>
              </a:solidFill>
            </a:endParaRPr>
          </a:p>
        </p:txBody>
      </p:sp>
      <p:sp>
        <p:nvSpPr>
          <p:cNvPr id="3" name="Footer Placeholder 2">
            <a:extLst>
              <a:ext uri="{FF2B5EF4-FFF2-40B4-BE49-F238E27FC236}">
                <a16:creationId xmlns:a16="http://schemas.microsoft.com/office/drawing/2014/main" id="{83371DCE-99C4-49BD-A25D-F8DD8596593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337585956"/>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Method overloading: More than one method can have the same name.</a:t>
            </a:r>
          </a:p>
          <a:p>
            <a:r>
              <a:rPr lang="en-US" altLang="en-US" dirty="0"/>
              <a:t>Two methods are said to have </a:t>
            </a:r>
            <a:r>
              <a:rPr lang="en-US" altLang="en-US" b="1" dirty="0">
                <a:solidFill>
                  <a:srgbClr val="FF0000"/>
                </a:solidFill>
              </a:rPr>
              <a:t>different formal parameter </a:t>
            </a:r>
            <a:r>
              <a:rPr lang="en-US" altLang="en-US" dirty="0"/>
              <a:t>lists:</a:t>
            </a:r>
          </a:p>
          <a:p>
            <a:pPr lvl="1"/>
            <a:r>
              <a:rPr lang="en-US" altLang="en-US" dirty="0"/>
              <a:t>If both methods have a different number of formal parameters.</a:t>
            </a:r>
          </a:p>
          <a:p>
            <a:pPr lvl="1"/>
            <a:r>
              <a:rPr lang="en-US" altLang="en-US" dirty="0"/>
              <a:t>If the number of formal parameters is the same in both methods, the data type of the formal parameters in the order you list must differ in at least one position.</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5108424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public void </a:t>
            </a:r>
            <a:r>
              <a:rPr lang="en-US" altLang="en-US" dirty="0" err="1"/>
              <a:t>methodOne</a:t>
            </a:r>
            <a:r>
              <a:rPr lang="en-US" altLang="en-US" dirty="0"/>
              <a:t>(int x)</a:t>
            </a:r>
          </a:p>
          <a:p>
            <a:r>
              <a:rPr lang="en-US" altLang="en-US" dirty="0"/>
              <a:t>public void </a:t>
            </a:r>
            <a:r>
              <a:rPr lang="en-US" altLang="en-US" dirty="0" err="1"/>
              <a:t>methodTwo</a:t>
            </a:r>
            <a:r>
              <a:rPr lang="en-US" altLang="en-US" dirty="0"/>
              <a:t>(int x, double y)</a:t>
            </a:r>
          </a:p>
          <a:p>
            <a:r>
              <a:rPr lang="en-US" altLang="en-US" dirty="0"/>
              <a:t>public void </a:t>
            </a:r>
            <a:r>
              <a:rPr lang="en-US" altLang="en-US" dirty="0" err="1"/>
              <a:t>methodThree</a:t>
            </a:r>
            <a:r>
              <a:rPr lang="en-US" altLang="en-US" dirty="0"/>
              <a:t>(double y, int x)</a:t>
            </a:r>
          </a:p>
          <a:p>
            <a:r>
              <a:rPr lang="en-US" altLang="en-US" dirty="0"/>
              <a:t>public int </a:t>
            </a:r>
            <a:r>
              <a:rPr lang="en-US" altLang="en-US" dirty="0" err="1"/>
              <a:t>methodFour</a:t>
            </a:r>
            <a:r>
              <a:rPr lang="en-US" altLang="en-US" dirty="0"/>
              <a:t>(char </a:t>
            </a:r>
            <a:r>
              <a:rPr lang="en-US" altLang="en-US" dirty="0" err="1"/>
              <a:t>ch</a:t>
            </a:r>
            <a:r>
              <a:rPr lang="en-US" altLang="en-US" dirty="0"/>
              <a:t>, int x, double y)</a:t>
            </a:r>
          </a:p>
          <a:p>
            <a:r>
              <a:rPr lang="en-US" altLang="en-US" dirty="0"/>
              <a:t>public int </a:t>
            </a:r>
            <a:r>
              <a:rPr lang="en-US" altLang="en-US" dirty="0" err="1"/>
              <a:t>methodFive</a:t>
            </a:r>
            <a:r>
              <a:rPr lang="en-US" altLang="en-US" dirty="0"/>
              <a:t>(char </a:t>
            </a:r>
            <a:r>
              <a:rPr lang="en-US" altLang="en-US" dirty="0" err="1"/>
              <a:t>ch</a:t>
            </a:r>
            <a:r>
              <a:rPr lang="en-US" altLang="en-US" dirty="0"/>
              <a:t>, int x, String name)</a:t>
            </a:r>
          </a:p>
          <a:p>
            <a:endParaRPr lang="en-US" altLang="en-US" dirty="0"/>
          </a:p>
          <a:p>
            <a:pPr marL="0" indent="0">
              <a:buNone/>
            </a:pPr>
            <a:r>
              <a:rPr lang="en-US" altLang="ar-SA" b="1" dirty="0">
                <a:solidFill>
                  <a:srgbClr val="FF0000"/>
                </a:solidFill>
              </a:rPr>
              <a:t>These methods all have different formal parameter lists.</a:t>
            </a:r>
            <a:endParaRPr lang="en-US" altLang="en-US" b="1" dirty="0">
              <a:solidFill>
                <a:srgbClr val="FF0000"/>
              </a:solidFill>
            </a:endParaRP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73475574"/>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public void </a:t>
            </a:r>
            <a:r>
              <a:rPr lang="en-US" altLang="en-US" dirty="0" err="1"/>
              <a:t>methodSix</a:t>
            </a:r>
            <a:r>
              <a:rPr lang="en-US" altLang="en-US" dirty="0"/>
              <a:t>(int x, double y, char </a:t>
            </a:r>
            <a:r>
              <a:rPr lang="en-US" altLang="en-US" dirty="0" err="1"/>
              <a:t>ch</a:t>
            </a:r>
            <a:r>
              <a:rPr lang="en-US" altLang="en-US" dirty="0"/>
              <a:t>)</a:t>
            </a:r>
          </a:p>
          <a:p>
            <a:r>
              <a:rPr lang="en-US" altLang="en-US" dirty="0"/>
              <a:t>public void </a:t>
            </a:r>
            <a:r>
              <a:rPr lang="en-US" altLang="en-US" dirty="0" err="1"/>
              <a:t>methodSeven</a:t>
            </a:r>
            <a:r>
              <a:rPr lang="en-US" altLang="en-US" dirty="0"/>
              <a:t>(int one, double u, char </a:t>
            </a:r>
            <a:r>
              <a:rPr lang="en-US" altLang="en-US" dirty="0" err="1"/>
              <a:t>firstCh</a:t>
            </a:r>
            <a:r>
              <a:rPr lang="en-US" altLang="en-US" dirty="0"/>
              <a:t>)</a:t>
            </a:r>
          </a:p>
          <a:p>
            <a:r>
              <a:rPr lang="en-US" altLang="en-US" dirty="0"/>
              <a:t>The methods </a:t>
            </a:r>
            <a:r>
              <a:rPr lang="en-US" altLang="en-US" b="1" dirty="0" err="1">
                <a:solidFill>
                  <a:srgbClr val="FF0000"/>
                </a:solidFill>
              </a:rPr>
              <a:t>methodSix</a:t>
            </a:r>
            <a:r>
              <a:rPr lang="en-US" altLang="en-US" dirty="0"/>
              <a:t> and </a:t>
            </a:r>
            <a:r>
              <a:rPr lang="en-US" altLang="en-US" b="1" dirty="0" err="1">
                <a:solidFill>
                  <a:srgbClr val="FF0000"/>
                </a:solidFill>
              </a:rPr>
              <a:t>methodSeven</a:t>
            </a:r>
            <a:r>
              <a:rPr lang="en-US" altLang="en-US" dirty="0"/>
              <a:t> both have three formal parameters, and the data type of the corresponding parameters is the same. </a:t>
            </a:r>
          </a:p>
          <a:p>
            <a:pPr marL="0" indent="0">
              <a:buNone/>
            </a:pPr>
            <a:endParaRPr lang="en-US" altLang="en-US" b="1" dirty="0">
              <a:solidFill>
                <a:srgbClr val="FF0000"/>
              </a:solidFill>
            </a:endParaRPr>
          </a:p>
          <a:p>
            <a:pPr marL="0" indent="0">
              <a:buNone/>
            </a:pPr>
            <a:r>
              <a:rPr lang="en-US" altLang="en-US" b="1" dirty="0">
                <a:solidFill>
                  <a:srgbClr val="FF0000"/>
                </a:solidFill>
              </a:rPr>
              <a:t>These methods all have the same formal parameter lists.</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864172515"/>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Method overloading: Creating several methods </a:t>
            </a:r>
            <a:r>
              <a:rPr lang="en-US" altLang="en-US" b="1" dirty="0"/>
              <a:t>within a class </a:t>
            </a:r>
            <a:r>
              <a:rPr lang="en-US" altLang="en-US" dirty="0"/>
              <a:t>with the same name. </a:t>
            </a:r>
          </a:p>
          <a:p>
            <a:r>
              <a:rPr lang="en-US" altLang="en-US" dirty="0"/>
              <a:t>The </a:t>
            </a:r>
            <a:r>
              <a:rPr lang="en-US" altLang="en-US" b="1" dirty="0"/>
              <a:t>signature</a:t>
            </a:r>
            <a:r>
              <a:rPr lang="en-US" altLang="en-US" dirty="0"/>
              <a:t> of a method consists of the method name and its formal parameter list. Two methods have different signatures if they have either different names or different formal parameter lists. </a:t>
            </a:r>
            <a:r>
              <a:rPr lang="en-US" altLang="en-US" b="1" dirty="0"/>
              <a:t>(Note that the signature of a method does not include the return type of the method.)</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974984520"/>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following method headings correctly overload the method </a:t>
            </a:r>
            <a:r>
              <a:rPr lang="en-US" altLang="en-US" b="1" dirty="0" err="1"/>
              <a:t>methodXYZ</a:t>
            </a:r>
            <a:r>
              <a:rPr lang="en-US" altLang="en-US" dirty="0"/>
              <a:t>:</a:t>
            </a:r>
          </a:p>
          <a:p>
            <a:r>
              <a:rPr lang="en-US" altLang="en-US" dirty="0"/>
              <a:t>public void </a:t>
            </a:r>
            <a:r>
              <a:rPr lang="en-US" altLang="en-US" dirty="0" err="1"/>
              <a:t>methodXYZ</a:t>
            </a:r>
            <a:r>
              <a:rPr lang="en-US" altLang="en-US" dirty="0"/>
              <a:t>()</a:t>
            </a:r>
          </a:p>
          <a:p>
            <a:r>
              <a:rPr lang="en-US" altLang="en-US" dirty="0"/>
              <a:t>public void </a:t>
            </a:r>
            <a:r>
              <a:rPr lang="en-US" altLang="en-US" dirty="0" err="1"/>
              <a:t>methodXYZ</a:t>
            </a:r>
            <a:r>
              <a:rPr lang="en-US" altLang="en-US" dirty="0"/>
              <a:t>(int x, double y)</a:t>
            </a:r>
          </a:p>
          <a:p>
            <a:r>
              <a:rPr lang="en-US" altLang="en-US" dirty="0"/>
              <a:t>public void </a:t>
            </a:r>
            <a:r>
              <a:rPr lang="en-US" altLang="en-US" dirty="0" err="1"/>
              <a:t>methodXYZ</a:t>
            </a:r>
            <a:r>
              <a:rPr lang="en-US" altLang="en-US" dirty="0"/>
              <a:t>(double one, int y)</a:t>
            </a:r>
          </a:p>
          <a:p>
            <a:r>
              <a:rPr lang="en-US" altLang="en-US" dirty="0"/>
              <a:t>public void </a:t>
            </a:r>
            <a:r>
              <a:rPr lang="en-US" altLang="en-US" dirty="0" err="1"/>
              <a:t>methodXYZ</a:t>
            </a:r>
            <a:r>
              <a:rPr lang="en-US" altLang="en-US" dirty="0"/>
              <a:t>(int x, double y, char </a:t>
            </a:r>
            <a:r>
              <a:rPr lang="en-US" altLang="en-US" dirty="0" err="1"/>
              <a:t>ch</a:t>
            </a:r>
            <a:r>
              <a:rPr lang="en-US" altLang="en-US" dirty="0"/>
              <a:t>)</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101504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The following method headings correctly overload the method </a:t>
            </a:r>
            <a:r>
              <a:rPr lang="en-US" altLang="en-US" b="1" dirty="0"/>
              <a:t>add()</a:t>
            </a:r>
            <a:r>
              <a:rPr lang="en-US" altLang="en-US" dirty="0"/>
              <a:t>:</a:t>
            </a:r>
          </a:p>
          <a:p>
            <a:pPr marL="0" indent="0">
              <a:buNone/>
            </a:pPr>
            <a:r>
              <a:rPr lang="en-US" altLang="en-US" b="1" dirty="0"/>
              <a:t>public int add(int num1, int num2) { </a:t>
            </a:r>
          </a:p>
          <a:p>
            <a:pPr marL="0" indent="0">
              <a:buNone/>
            </a:pPr>
            <a:r>
              <a:rPr lang="en-US" altLang="en-US" b="1" dirty="0"/>
              <a:t>   int sum = num1 + num2;</a:t>
            </a:r>
          </a:p>
          <a:p>
            <a:pPr marL="0" indent="0">
              <a:buNone/>
            </a:pPr>
            <a:r>
              <a:rPr lang="en-US" altLang="en-US" b="1" dirty="0"/>
              <a:t>	 return sum; }</a:t>
            </a:r>
          </a:p>
          <a:p>
            <a:pPr marL="0" indent="0">
              <a:buNone/>
            </a:pPr>
            <a:r>
              <a:rPr lang="en-US" altLang="en-US" b="1" dirty="0"/>
              <a:t>public String add (String str1, String str2) { </a:t>
            </a:r>
          </a:p>
          <a:p>
            <a:pPr marL="0" indent="0">
              <a:buNone/>
            </a:pPr>
            <a:r>
              <a:rPr lang="en-US" altLang="en-US" b="1" dirty="0"/>
              <a:t>   String combined = str1 + str2;</a:t>
            </a:r>
          </a:p>
          <a:p>
            <a:pPr marL="0" indent="0">
              <a:buNone/>
            </a:pPr>
            <a:r>
              <a:rPr lang="en-US" altLang="en-US" b="1" dirty="0"/>
              <a:t>	 return combined;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05422050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Method Overloading, cont.</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marL="0" indent="0">
              <a:buNone/>
            </a:pPr>
            <a:r>
              <a:rPr lang="en-US" altLang="en-US" b="1" dirty="0"/>
              <a:t>public void </a:t>
            </a:r>
            <a:r>
              <a:rPr lang="en-US" altLang="en-US" b="1" dirty="0" err="1"/>
              <a:t>methodABC</a:t>
            </a:r>
            <a:r>
              <a:rPr lang="en-US" altLang="en-US" b="1" dirty="0"/>
              <a:t>(int x, double y)</a:t>
            </a:r>
          </a:p>
          <a:p>
            <a:pPr marL="0" indent="0">
              <a:buNone/>
            </a:pPr>
            <a:r>
              <a:rPr lang="en-US" altLang="en-US" b="1" dirty="0"/>
              <a:t>public int </a:t>
            </a:r>
            <a:r>
              <a:rPr lang="en-US" altLang="en-US" b="1" dirty="0" err="1"/>
              <a:t>methodABC</a:t>
            </a:r>
            <a:r>
              <a:rPr lang="en-US" altLang="en-US" b="1" dirty="0"/>
              <a:t>(int x, double y)</a:t>
            </a:r>
          </a:p>
          <a:p>
            <a:pPr marL="342900" indent="-342900"/>
            <a:r>
              <a:rPr lang="en-US" altLang="en-US" dirty="0"/>
              <a:t>Both these method headings have the same name and same formal parameter list. </a:t>
            </a:r>
          </a:p>
          <a:p>
            <a:pPr marL="342900" indent="-342900"/>
            <a:r>
              <a:rPr lang="en-US" altLang="en-US" dirty="0"/>
              <a:t>These method headings to overload the method </a:t>
            </a:r>
            <a:r>
              <a:rPr lang="en-US" altLang="en-US" b="1" dirty="0" err="1"/>
              <a:t>methodABC</a:t>
            </a:r>
            <a:r>
              <a:rPr lang="en-US" altLang="en-US" dirty="0"/>
              <a:t> are incorrect. </a:t>
            </a:r>
          </a:p>
          <a:p>
            <a:pPr marL="342900" indent="-342900"/>
            <a:r>
              <a:rPr lang="en-US" altLang="en-US" dirty="0"/>
              <a:t>In this case, the compiler will generate a syntax error. </a:t>
            </a:r>
            <a:r>
              <a:rPr lang="en-US" altLang="en-US" b="1" dirty="0">
                <a:solidFill>
                  <a:srgbClr val="FF0000"/>
                </a:solidFill>
              </a:rPr>
              <a:t>(Notice that the return types of these method headings are different.)</a:t>
            </a:r>
          </a:p>
          <a:p>
            <a:pPr marL="342900" indent="-342900"/>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4170693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Ambiguous Invocation</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marL="342900" indent="-342900"/>
            <a:r>
              <a:rPr lang="en-US" altLang="en-US" dirty="0"/>
              <a:t>Sometimes there may be two or more possible matches for an invocation of a method, but the compiler cannot determine the most specific match. This is referred to as </a:t>
            </a:r>
            <a:r>
              <a:rPr lang="en-US" altLang="en-US" b="1" i="1" dirty="0"/>
              <a:t>ambiguous invocation</a:t>
            </a:r>
            <a:r>
              <a:rPr lang="en-US" altLang="en-US" dirty="0"/>
              <a:t>. </a:t>
            </a:r>
          </a:p>
          <a:p>
            <a:pPr marL="342900" indent="-342900"/>
            <a:r>
              <a:rPr lang="en-US" altLang="en-US" dirty="0"/>
              <a:t>Ambiguous invocation is a compile error.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254176229"/>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Ambiguous Invocation, cont.</a:t>
            </a: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Autofit/>
          </a:bodyPr>
          <a:lstStyle/>
          <a:p>
            <a:pPr marL="0" indent="0">
              <a:buNone/>
            </a:pPr>
            <a:r>
              <a:rPr lang="en-US" altLang="en-US" sz="2000" dirty="0"/>
              <a:t>public class </a:t>
            </a:r>
            <a:r>
              <a:rPr lang="en-US" altLang="en-US" sz="2000" dirty="0" err="1"/>
              <a:t>AmbiguousOverloading</a:t>
            </a:r>
            <a:r>
              <a:rPr lang="en-US" altLang="en-US" sz="2000" dirty="0"/>
              <a:t> {</a:t>
            </a:r>
          </a:p>
          <a:p>
            <a:pPr marL="0" indent="0">
              <a:buNone/>
            </a:pPr>
            <a:r>
              <a:rPr lang="en-US" altLang="en-US" sz="2000" dirty="0"/>
              <a:t>  public static void main(String[] </a:t>
            </a:r>
            <a:r>
              <a:rPr lang="en-US" altLang="en-US" sz="2000" dirty="0" err="1"/>
              <a:t>args</a:t>
            </a:r>
            <a:r>
              <a:rPr lang="en-US" altLang="en-US" sz="2000" dirty="0"/>
              <a:t>) {</a:t>
            </a:r>
          </a:p>
          <a:p>
            <a:pPr marL="0" indent="0">
              <a:buNone/>
            </a:pPr>
            <a:r>
              <a:rPr lang="en-US" altLang="en-US" sz="2000" dirty="0"/>
              <a:t>    </a:t>
            </a:r>
            <a:r>
              <a:rPr lang="en-US" altLang="en-US" sz="2000" dirty="0" err="1"/>
              <a:t>System.out.println</a:t>
            </a:r>
            <a:r>
              <a:rPr lang="en-US" altLang="en-US" sz="2000" dirty="0"/>
              <a:t>(max(1, 2));  }</a:t>
            </a:r>
          </a:p>
          <a:p>
            <a:pPr marL="0" indent="0">
              <a:buNone/>
            </a:pPr>
            <a:r>
              <a:rPr lang="en-US" altLang="en-US" sz="2000" dirty="0"/>
              <a:t>  public static double max(int num1, double num2) { </a:t>
            </a:r>
          </a:p>
          <a:p>
            <a:pPr marL="0" indent="0">
              <a:buNone/>
            </a:pPr>
            <a:r>
              <a:rPr lang="en-US" altLang="en-US" sz="2000" dirty="0"/>
              <a:t>    if (num1 &gt; num2)</a:t>
            </a:r>
          </a:p>
          <a:p>
            <a:pPr marL="0" indent="0">
              <a:buNone/>
            </a:pPr>
            <a:r>
              <a:rPr lang="en-US" altLang="en-US" sz="2000" dirty="0"/>
              <a:t>      return num1;</a:t>
            </a:r>
          </a:p>
          <a:p>
            <a:pPr marL="0" indent="0">
              <a:buNone/>
            </a:pPr>
            <a:r>
              <a:rPr lang="en-US" altLang="en-US" sz="2000" dirty="0"/>
              <a:t>    else</a:t>
            </a:r>
          </a:p>
          <a:p>
            <a:pPr marL="0" indent="0">
              <a:buNone/>
            </a:pPr>
            <a:r>
              <a:rPr lang="en-US" altLang="en-US" sz="2000" dirty="0"/>
              <a:t>      return num2; }</a:t>
            </a:r>
          </a:p>
          <a:p>
            <a:pPr marL="0" indent="0">
              <a:buNone/>
            </a:pPr>
            <a:endParaRPr lang="en-US" altLang="en-US" sz="2000"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TextBox 4">
            <a:extLst>
              <a:ext uri="{FF2B5EF4-FFF2-40B4-BE49-F238E27FC236}">
                <a16:creationId xmlns:a16="http://schemas.microsoft.com/office/drawing/2014/main" id="{F5221256-1984-49F4-A492-4FB7FDF744E6}"/>
              </a:ext>
            </a:extLst>
          </p:cNvPr>
          <p:cNvSpPr txBox="1"/>
          <p:nvPr/>
        </p:nvSpPr>
        <p:spPr>
          <a:xfrm>
            <a:off x="5387740" y="3780323"/>
            <a:ext cx="6056697" cy="2246769"/>
          </a:xfrm>
          <a:prstGeom prst="rect">
            <a:avLst/>
          </a:prstGeom>
          <a:noFill/>
        </p:spPr>
        <p:txBody>
          <a:bodyPr wrap="square" rtlCol="0">
            <a:spAutoFit/>
          </a:bodyPr>
          <a:lstStyle/>
          <a:p>
            <a:r>
              <a:rPr lang="en-US" sz="2000" dirty="0"/>
              <a:t>public static double max(double num1, int num2) {</a:t>
            </a:r>
          </a:p>
          <a:p>
            <a:r>
              <a:rPr lang="en-US" sz="2000" dirty="0"/>
              <a:t>    if (num1 &gt; num2)</a:t>
            </a:r>
          </a:p>
          <a:p>
            <a:r>
              <a:rPr lang="en-US" sz="2000" dirty="0"/>
              <a:t>      return num1;</a:t>
            </a:r>
          </a:p>
          <a:p>
            <a:r>
              <a:rPr lang="en-US" sz="2000" dirty="0"/>
              <a:t>    else</a:t>
            </a:r>
          </a:p>
          <a:p>
            <a:r>
              <a:rPr lang="en-US" sz="2000" dirty="0"/>
              <a:t>      return num2;     </a:t>
            </a:r>
          </a:p>
          <a:p>
            <a:r>
              <a:rPr lang="en-US" sz="2000" dirty="0"/>
              <a:t>  }</a:t>
            </a:r>
          </a:p>
          <a:p>
            <a:r>
              <a:rPr lang="en-US" sz="2000" dirty="0"/>
              <a:t>}</a:t>
            </a:r>
          </a:p>
        </p:txBody>
      </p:sp>
      <p:cxnSp>
        <p:nvCxnSpPr>
          <p:cNvPr id="7" name="Straight Arrow Connector 6">
            <a:extLst>
              <a:ext uri="{FF2B5EF4-FFF2-40B4-BE49-F238E27FC236}">
                <a16:creationId xmlns:a16="http://schemas.microsoft.com/office/drawing/2014/main" id="{CD7B358D-83E0-4E3C-A461-31788EACC783}"/>
              </a:ext>
            </a:extLst>
          </p:cNvPr>
          <p:cNvCxnSpPr/>
          <p:nvPr/>
        </p:nvCxnSpPr>
        <p:spPr>
          <a:xfrm flipV="1">
            <a:off x="2002055" y="4903707"/>
            <a:ext cx="3152273" cy="1123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7088390"/>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b="1" dirty="0"/>
              <a:t>The (this) reference</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Autofit/>
          </a:bodyPr>
          <a:lstStyle/>
          <a:p>
            <a:pPr marL="0" indent="0">
              <a:buNone/>
            </a:pPr>
            <a:r>
              <a:rPr lang="en-US" altLang="en-US" sz="2000" dirty="0"/>
              <a:t>The </a:t>
            </a:r>
            <a:r>
              <a:rPr lang="en-US" altLang="en-US" sz="2000" b="1" dirty="0">
                <a:solidFill>
                  <a:srgbClr val="FF0000"/>
                </a:solidFill>
              </a:rPr>
              <a:t>(this) </a:t>
            </a:r>
            <a:r>
              <a:rPr lang="en-US" altLang="en-US" sz="2000" dirty="0"/>
              <a:t>keyword is the name of a reference that reference to a calling object itself. There are several uses of this operator:</a:t>
            </a:r>
          </a:p>
          <a:p>
            <a:pPr marL="342900" indent="-342900"/>
            <a:r>
              <a:rPr lang="en-US" altLang="en-US" sz="2000" dirty="0"/>
              <a:t>Reference a class’s hidden data fields: </a:t>
            </a:r>
            <a:r>
              <a:rPr lang="en-US" sz="2000" b="1" dirty="0">
                <a:solidFill>
                  <a:srgbClr val="C00000"/>
                </a:solidFill>
              </a:rPr>
              <a:t> Example:</a:t>
            </a:r>
            <a:endParaRPr lang="en-US" altLang="en-US" sz="2000" dirty="0"/>
          </a:p>
          <a:p>
            <a:pPr marL="0" indent="0">
              <a:buNone/>
            </a:pPr>
            <a:endParaRPr lang="en-US" altLang="en-US" sz="2000"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8" name="Picture 3">
            <a:extLst>
              <a:ext uri="{FF2B5EF4-FFF2-40B4-BE49-F238E27FC236}">
                <a16:creationId xmlns:a16="http://schemas.microsoft.com/office/drawing/2014/main" id="{1073B396-93A8-4E2A-BED7-3B2040412113}"/>
              </a:ext>
            </a:extLst>
          </p:cNvPr>
          <p:cNvPicPr>
            <a:picLocks noChangeAspect="1" noChangeArrowheads="1"/>
          </p:cNvPicPr>
          <p:nvPr/>
        </p:nvPicPr>
        <p:blipFill>
          <a:blip r:embed="rId3"/>
          <a:srcRect/>
          <a:stretch>
            <a:fillRect/>
          </a:stretch>
        </p:blipFill>
        <p:spPr bwMode="auto">
          <a:xfrm>
            <a:off x="2339219" y="3019649"/>
            <a:ext cx="7500990" cy="3286148"/>
          </a:xfrm>
          <a:prstGeom prst="rect">
            <a:avLst/>
          </a:prstGeom>
          <a:ln w="12700" cap="sq">
            <a:solidFill>
              <a:srgbClr val="C00000"/>
            </a:solidFill>
            <a:prstDash val="lg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53034156"/>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b="1" dirty="0"/>
              <a:t>The (this) reference: Explanation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0" name="Content Placeholder 9">
            <a:extLst>
              <a:ext uri="{FF2B5EF4-FFF2-40B4-BE49-F238E27FC236}">
                <a16:creationId xmlns:a16="http://schemas.microsoft.com/office/drawing/2014/main" id="{DAA98AA4-C4F6-4E00-93C7-CFFE4E53D907}"/>
              </a:ext>
            </a:extLst>
          </p:cNvPr>
          <p:cNvSpPr>
            <a:spLocks noGrp="1"/>
          </p:cNvSpPr>
          <p:nvPr>
            <p:ph idx="1"/>
          </p:nvPr>
        </p:nvSpPr>
        <p:spPr/>
        <p:txBody>
          <a:bodyPr>
            <a:normAutofit/>
          </a:bodyPr>
          <a:lstStyle/>
          <a:p>
            <a:endParaRPr lang="en-US" sz="2000" dirty="0"/>
          </a:p>
          <a:p>
            <a:pPr marL="0" indent="0">
              <a:buNone/>
            </a:pPr>
            <a:endParaRPr lang="en-US" sz="2000" dirty="0"/>
          </a:p>
          <a:p>
            <a:endParaRPr lang="en-US" sz="2000" dirty="0"/>
          </a:p>
          <a:p>
            <a:r>
              <a:rPr lang="en-US" sz="2000" dirty="0"/>
              <a:t>In this case, the parameters of the (Circle) Constructor have the same name as the data fields (radius, and color). </a:t>
            </a:r>
            <a:r>
              <a:rPr lang="en-US" sz="2000" b="1" dirty="0">
                <a:solidFill>
                  <a:srgbClr val="FF0000"/>
                </a:solidFill>
              </a:rPr>
              <a:t>To distinguish </a:t>
            </a:r>
            <a:r>
              <a:rPr lang="en-US" sz="2000" dirty="0"/>
              <a:t>between the parameter name (radius, and color) and the data field (radius, and color), the (this) operator should be used to access the data field.</a:t>
            </a:r>
          </a:p>
          <a:p>
            <a:r>
              <a:rPr lang="en-US" sz="2000" b="1" dirty="0">
                <a:solidFill>
                  <a:srgbClr val="FF0000"/>
                </a:solidFill>
              </a:rPr>
              <a:t>But</a:t>
            </a:r>
            <a:r>
              <a:rPr lang="en-US" sz="2000" dirty="0"/>
              <a:t> if the parameters of the (Circle) Constructor have the same name as the data fields (radius, and color) and (this) operator is not used, then in this case it will be dealt with (data field (radius, and color)) </a:t>
            </a:r>
            <a:r>
              <a:rPr lang="en-US" sz="2000" b="1" dirty="0">
                <a:solidFill>
                  <a:srgbClr val="FF0000"/>
                </a:solidFill>
              </a:rPr>
              <a:t>as local variable</a:t>
            </a:r>
            <a:r>
              <a:rPr lang="en-US" sz="2000" dirty="0"/>
              <a:t>.</a:t>
            </a:r>
          </a:p>
          <a:p>
            <a:endParaRPr lang="en-US" sz="2000" dirty="0"/>
          </a:p>
        </p:txBody>
      </p:sp>
      <p:pic>
        <p:nvPicPr>
          <p:cNvPr id="11" name="Picture 10">
            <a:extLst>
              <a:ext uri="{FF2B5EF4-FFF2-40B4-BE49-F238E27FC236}">
                <a16:creationId xmlns:a16="http://schemas.microsoft.com/office/drawing/2014/main" id="{32D330BD-4753-4628-929B-3A4806211AA6}"/>
              </a:ext>
            </a:extLst>
          </p:cNvPr>
          <p:cNvPicPr>
            <a:picLocks noChangeAspect="1"/>
          </p:cNvPicPr>
          <p:nvPr/>
        </p:nvPicPr>
        <p:blipFill>
          <a:blip r:embed="rId3"/>
          <a:stretch>
            <a:fillRect/>
          </a:stretch>
        </p:blipFill>
        <p:spPr>
          <a:xfrm>
            <a:off x="348791" y="1872117"/>
            <a:ext cx="6896100" cy="1222408"/>
          </a:xfrm>
          <a:prstGeom prst="rect">
            <a:avLst/>
          </a:prstGeom>
        </p:spPr>
      </p:pic>
    </p:spTree>
    <p:extLst>
      <p:ext uri="{BB962C8B-B14F-4D97-AF65-F5344CB8AC3E}">
        <p14:creationId xmlns:p14="http://schemas.microsoft.com/office/powerpoint/2010/main" val="402073818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b="1" dirty="0"/>
              <a:t>The (this) reference: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0" name="Content Placeholder 9">
            <a:extLst>
              <a:ext uri="{FF2B5EF4-FFF2-40B4-BE49-F238E27FC236}">
                <a16:creationId xmlns:a16="http://schemas.microsoft.com/office/drawing/2014/main" id="{DAA98AA4-C4F6-4E00-93C7-CFFE4E53D907}"/>
              </a:ext>
            </a:extLst>
          </p:cNvPr>
          <p:cNvSpPr>
            <a:spLocks noGrp="1"/>
          </p:cNvSpPr>
          <p:nvPr>
            <p:ph idx="1"/>
          </p:nvPr>
        </p:nvSpPr>
        <p:spPr/>
        <p:txBody>
          <a:bodyPr>
            <a:normAutofit/>
          </a:bodyPr>
          <a:lstStyle/>
          <a:p>
            <a:r>
              <a:rPr lang="en-US" sz="2200" dirty="0"/>
              <a:t>Enable a constructor to call another constructor of the same class: </a:t>
            </a:r>
            <a:r>
              <a:rPr lang="en-US" sz="2200" b="1" dirty="0">
                <a:solidFill>
                  <a:srgbClr val="C00000"/>
                </a:solidFill>
              </a:rPr>
              <a:t>Example:</a:t>
            </a:r>
          </a:p>
          <a:p>
            <a:pPr marL="0" indent="0">
              <a:buNone/>
            </a:pPr>
            <a:endParaRPr lang="en-US" sz="2000" dirty="0"/>
          </a:p>
          <a:p>
            <a:endParaRPr lang="en-US" sz="2000" dirty="0"/>
          </a:p>
        </p:txBody>
      </p:sp>
      <p:pic>
        <p:nvPicPr>
          <p:cNvPr id="6" name="Picture 2">
            <a:extLst>
              <a:ext uri="{FF2B5EF4-FFF2-40B4-BE49-F238E27FC236}">
                <a16:creationId xmlns:a16="http://schemas.microsoft.com/office/drawing/2014/main" id="{BF047E85-997A-4185-8C40-7470F86894CE}"/>
              </a:ext>
            </a:extLst>
          </p:cNvPr>
          <p:cNvPicPr>
            <a:picLocks noChangeAspect="1" noChangeArrowheads="1"/>
          </p:cNvPicPr>
          <p:nvPr/>
        </p:nvPicPr>
        <p:blipFill>
          <a:blip r:embed="rId3"/>
          <a:srcRect/>
          <a:stretch>
            <a:fillRect/>
          </a:stretch>
        </p:blipFill>
        <p:spPr bwMode="auto">
          <a:xfrm>
            <a:off x="1825974" y="2242686"/>
            <a:ext cx="8527479" cy="4582224"/>
          </a:xfrm>
          <a:prstGeom prst="rect">
            <a:avLst/>
          </a:prstGeom>
          <a:ln w="12700" cap="sq">
            <a:solidFill>
              <a:srgbClr val="C00000"/>
            </a:solidFill>
            <a:prstDash val="lg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50586101"/>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b="1" dirty="0"/>
              <a:t>The (this) reference: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10" name="Content Placeholder 9">
            <a:extLst>
              <a:ext uri="{FF2B5EF4-FFF2-40B4-BE49-F238E27FC236}">
                <a16:creationId xmlns:a16="http://schemas.microsoft.com/office/drawing/2014/main" id="{DAA98AA4-C4F6-4E00-93C7-CFFE4E53D907}"/>
              </a:ext>
            </a:extLst>
          </p:cNvPr>
          <p:cNvSpPr>
            <a:spLocks noGrp="1"/>
          </p:cNvSpPr>
          <p:nvPr>
            <p:ph idx="1"/>
          </p:nvPr>
        </p:nvSpPr>
        <p:spPr/>
        <p:txBody>
          <a:bodyPr>
            <a:normAutofit/>
          </a:bodyPr>
          <a:lstStyle/>
          <a:p>
            <a:endParaRPr lang="en-US" sz="2200" dirty="0"/>
          </a:p>
          <a:p>
            <a:endParaRPr lang="en-US" sz="2200" dirty="0"/>
          </a:p>
          <a:p>
            <a:endParaRPr lang="en-US" sz="2200" dirty="0"/>
          </a:p>
          <a:p>
            <a:pPr marL="0" indent="0">
              <a:buNone/>
            </a:pPr>
            <a:endParaRPr lang="en-US" sz="2200" dirty="0"/>
          </a:p>
          <a:p>
            <a:pPr marL="0" indent="0">
              <a:buNone/>
            </a:pPr>
            <a:endParaRPr lang="en-US" sz="2200" dirty="0"/>
          </a:p>
          <a:p>
            <a:r>
              <a:rPr lang="en-US" sz="2200" dirty="0"/>
              <a:t>In the above example, line 14 invokes the constructor with 2 parameters which is in line 8 to set the data fields values as passed from line 14 (i.e., the value of (radius), red)</a:t>
            </a:r>
            <a:endParaRPr lang="en-US" sz="2000" dirty="0"/>
          </a:p>
        </p:txBody>
      </p:sp>
      <p:pic>
        <p:nvPicPr>
          <p:cNvPr id="7" name="Picture 3">
            <a:extLst>
              <a:ext uri="{FF2B5EF4-FFF2-40B4-BE49-F238E27FC236}">
                <a16:creationId xmlns:a16="http://schemas.microsoft.com/office/drawing/2014/main" id="{23579797-0BC8-4346-98B7-0CCB2024ABCB}"/>
              </a:ext>
            </a:extLst>
          </p:cNvPr>
          <p:cNvPicPr>
            <a:picLocks noChangeAspect="1" noChangeArrowheads="1"/>
          </p:cNvPicPr>
          <p:nvPr/>
        </p:nvPicPr>
        <p:blipFill>
          <a:blip r:embed="rId3"/>
          <a:srcRect/>
          <a:stretch>
            <a:fillRect/>
          </a:stretch>
        </p:blipFill>
        <p:spPr bwMode="auto">
          <a:xfrm>
            <a:off x="348791" y="1785485"/>
            <a:ext cx="6230076" cy="2353377"/>
          </a:xfrm>
          <a:prstGeom prst="rect">
            <a:avLst/>
          </a:prstGeom>
          <a:noFill/>
          <a:ln w="9525">
            <a:noFill/>
            <a:miter lim="800000"/>
            <a:headEnd/>
            <a:tailEnd/>
          </a:ln>
          <a:effectLst/>
        </p:spPr>
      </p:pic>
    </p:spTree>
    <p:extLst>
      <p:ext uri="{BB962C8B-B14F-4D97-AF65-F5344CB8AC3E}">
        <p14:creationId xmlns:p14="http://schemas.microsoft.com/office/powerpoint/2010/main" val="4086375658"/>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Passing Objects as Arguments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Objects can be passed to methods as arguments.</a:t>
            </a:r>
          </a:p>
          <a:p>
            <a:r>
              <a:rPr lang="en-US" altLang="en-US" dirty="0"/>
              <a:t>Java passes all arguments by value.</a:t>
            </a:r>
          </a:p>
          <a:p>
            <a:r>
              <a:rPr lang="en-US" altLang="en-US" dirty="0"/>
              <a:t>When an object is passed as an argument, the value of the reference variable is passed.</a:t>
            </a:r>
          </a:p>
          <a:p>
            <a:r>
              <a:rPr lang="en-US" altLang="en-US" dirty="0"/>
              <a:t>The value of the reference variable is an address or reference to the object in memory.</a:t>
            </a:r>
          </a:p>
          <a:p>
            <a:r>
              <a:rPr lang="en-US" altLang="en-US" dirty="0"/>
              <a:t>A </a:t>
            </a:r>
            <a:r>
              <a:rPr lang="en-US" altLang="en-US" b="1" i="1" dirty="0"/>
              <a:t>copy</a:t>
            </a:r>
            <a:r>
              <a:rPr lang="en-US" altLang="en-US" dirty="0"/>
              <a:t> of the object is not passed, just a pointer (a reference) to the object.</a:t>
            </a:r>
          </a:p>
          <a:p>
            <a:r>
              <a:rPr lang="en-US" altLang="en-US" dirty="0"/>
              <a:t>When a method receives a reference variable as an argument, it is possible for the method to modify the contents of the object referenced by the variable.</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53668896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383F-57B8-4519-B58D-41D7CEFBDCE9}"/>
              </a:ext>
            </a:extLst>
          </p:cNvPr>
          <p:cNvSpPr>
            <a:spLocks noGrp="1"/>
          </p:cNvSpPr>
          <p:nvPr>
            <p:ph type="title"/>
          </p:nvPr>
        </p:nvSpPr>
        <p:spPr/>
        <p:txBody>
          <a:bodyPr/>
          <a:lstStyle/>
          <a:p>
            <a:r>
              <a:rPr lang="en-US" altLang="ar-SA" dirty="0"/>
              <a:t>Passing Objects as Arguments</a:t>
            </a:r>
            <a:endParaRPr lang="en-US" dirty="0"/>
          </a:p>
        </p:txBody>
      </p:sp>
      <p:sp>
        <p:nvSpPr>
          <p:cNvPr id="5" name="Text Box 5">
            <a:extLst>
              <a:ext uri="{FF2B5EF4-FFF2-40B4-BE49-F238E27FC236}">
                <a16:creationId xmlns:a16="http://schemas.microsoft.com/office/drawing/2014/main" id="{9A129319-BCB4-5C56-0D9B-C09F59E5803B}"/>
              </a:ext>
            </a:extLst>
          </p:cNvPr>
          <p:cNvSpPr txBox="1">
            <a:spLocks noChangeArrowheads="1"/>
          </p:cNvSpPr>
          <p:nvPr/>
        </p:nvSpPr>
        <p:spPr bwMode="auto">
          <a:xfrm>
            <a:off x="1828800" y="2774951"/>
            <a:ext cx="327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800" b="1">
                <a:latin typeface="Courier New" panose="02070309020205020404" pitchFamily="49" charset="0"/>
              </a:rPr>
              <a:t>displayRectangle(box);</a:t>
            </a:r>
          </a:p>
        </p:txBody>
      </p:sp>
      <p:sp>
        <p:nvSpPr>
          <p:cNvPr id="6" name="Text Box 8">
            <a:extLst>
              <a:ext uri="{FF2B5EF4-FFF2-40B4-BE49-F238E27FC236}">
                <a16:creationId xmlns:a16="http://schemas.microsoft.com/office/drawing/2014/main" id="{D8F9E82E-7918-9977-9738-27ABA7B769AB}"/>
              </a:ext>
            </a:extLst>
          </p:cNvPr>
          <p:cNvSpPr txBox="1">
            <a:spLocks noChangeArrowheads="1"/>
          </p:cNvSpPr>
          <p:nvPr/>
        </p:nvSpPr>
        <p:spPr bwMode="auto">
          <a:xfrm>
            <a:off x="2362201" y="4241800"/>
            <a:ext cx="69056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800" b="1" dirty="0">
                <a:latin typeface="Courier New" panose="02070309020205020404" pitchFamily="49" charset="0"/>
              </a:rPr>
              <a:t>public static void </a:t>
            </a:r>
            <a:r>
              <a:rPr lang="en-US" altLang="ar-SA" sz="1800" b="1" dirty="0" err="1">
                <a:latin typeface="Courier New" panose="02070309020205020404" pitchFamily="49" charset="0"/>
              </a:rPr>
              <a:t>displayRectangle</a:t>
            </a:r>
            <a:r>
              <a:rPr lang="en-US" altLang="ar-SA" sz="1800" b="1" dirty="0">
                <a:latin typeface="Courier New" panose="02070309020205020404" pitchFamily="49" charset="0"/>
              </a:rPr>
              <a:t>(Rectangle r)</a:t>
            </a:r>
          </a:p>
          <a:p>
            <a:pPr eaLnBrk="1" hangingPunct="1"/>
            <a:r>
              <a:rPr lang="en-US" altLang="ar-SA" sz="1800" b="1" dirty="0">
                <a:latin typeface="Courier New" panose="02070309020205020404" pitchFamily="49" charset="0"/>
              </a:rPr>
              <a:t>{</a:t>
            </a:r>
          </a:p>
          <a:p>
            <a:pPr eaLnBrk="1" hangingPunct="1"/>
            <a:r>
              <a:rPr lang="en-US" altLang="ar-SA" sz="1800" b="1" dirty="0">
                <a:latin typeface="Courier New" panose="02070309020205020404" pitchFamily="49" charset="0"/>
              </a:rPr>
              <a:t>  // Display the length and width.</a:t>
            </a:r>
          </a:p>
          <a:p>
            <a:pPr eaLnBrk="1" hangingPunct="1"/>
            <a:r>
              <a:rPr lang="en-US" altLang="ar-SA" sz="1800" b="1" dirty="0">
                <a:latin typeface="Courier New" panose="02070309020205020404" pitchFamily="49" charset="0"/>
              </a:rPr>
              <a:t>  </a:t>
            </a:r>
            <a:r>
              <a:rPr lang="en-US" altLang="ar-SA" sz="1800" b="1" dirty="0" err="1">
                <a:latin typeface="Courier New" panose="02070309020205020404" pitchFamily="49" charset="0"/>
              </a:rPr>
              <a:t>System.out.println</a:t>
            </a:r>
            <a:r>
              <a:rPr lang="en-US" altLang="ar-SA" sz="1800" b="1" dirty="0">
                <a:latin typeface="Courier New" panose="02070309020205020404" pitchFamily="49" charset="0"/>
              </a:rPr>
              <a:t>("Length: " + </a:t>
            </a:r>
            <a:r>
              <a:rPr lang="en-US" altLang="ar-SA" sz="1800" b="1" dirty="0" err="1">
                <a:latin typeface="Courier New" panose="02070309020205020404" pitchFamily="49" charset="0"/>
              </a:rPr>
              <a:t>r.getLength</a:t>
            </a:r>
            <a:r>
              <a:rPr lang="en-US" altLang="ar-SA" sz="1800" b="1" dirty="0">
                <a:latin typeface="Courier New" panose="02070309020205020404" pitchFamily="49" charset="0"/>
              </a:rPr>
              <a:t>() +</a:t>
            </a:r>
          </a:p>
          <a:p>
            <a:pPr eaLnBrk="1" hangingPunct="1"/>
            <a:r>
              <a:rPr lang="en-US" altLang="ar-SA" sz="1800" b="1" dirty="0">
                <a:latin typeface="Courier New" panose="02070309020205020404" pitchFamily="49" charset="0"/>
              </a:rPr>
              <a:t>			 " Width: " + </a:t>
            </a:r>
            <a:r>
              <a:rPr lang="en-US" altLang="ar-SA" sz="1800" b="1" dirty="0" err="1">
                <a:latin typeface="Courier New" panose="02070309020205020404" pitchFamily="49" charset="0"/>
              </a:rPr>
              <a:t>r.getWidth</a:t>
            </a:r>
            <a:r>
              <a:rPr lang="en-US" altLang="ar-SA" sz="1800" b="1" dirty="0">
                <a:latin typeface="Courier New" panose="02070309020205020404" pitchFamily="49" charset="0"/>
              </a:rPr>
              <a:t>());</a:t>
            </a:r>
          </a:p>
          <a:p>
            <a:pPr eaLnBrk="1" hangingPunct="1"/>
            <a:r>
              <a:rPr lang="en-US" altLang="ar-SA" sz="1800" b="1" dirty="0">
                <a:latin typeface="Courier New" panose="02070309020205020404" pitchFamily="49" charset="0"/>
              </a:rPr>
              <a:t>}</a:t>
            </a:r>
          </a:p>
        </p:txBody>
      </p:sp>
      <p:sp>
        <p:nvSpPr>
          <p:cNvPr id="7" name="Text Box 13">
            <a:extLst>
              <a:ext uri="{FF2B5EF4-FFF2-40B4-BE49-F238E27FC236}">
                <a16:creationId xmlns:a16="http://schemas.microsoft.com/office/drawing/2014/main" id="{76D06421-2926-A692-B7EB-30DA0C572015}"/>
              </a:ext>
            </a:extLst>
          </p:cNvPr>
          <p:cNvSpPr txBox="1">
            <a:spLocks noChangeArrowheads="1"/>
          </p:cNvSpPr>
          <p:nvPr/>
        </p:nvSpPr>
        <p:spPr bwMode="auto">
          <a:xfrm>
            <a:off x="6384925" y="1673778"/>
            <a:ext cx="2947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dirty="0"/>
              <a:t>A </a:t>
            </a:r>
            <a:r>
              <a:rPr lang="en-US" altLang="ar-SA" dirty="0">
                <a:latin typeface="Courier New" panose="02070309020205020404" pitchFamily="49" charset="0"/>
              </a:rPr>
              <a:t>Rectangle</a:t>
            </a:r>
            <a:r>
              <a:rPr lang="en-US" altLang="ar-SA" dirty="0"/>
              <a:t> object</a:t>
            </a:r>
          </a:p>
        </p:txBody>
      </p:sp>
      <p:sp>
        <p:nvSpPr>
          <p:cNvPr id="8" name="Rectangle 14">
            <a:extLst>
              <a:ext uri="{FF2B5EF4-FFF2-40B4-BE49-F238E27FC236}">
                <a16:creationId xmlns:a16="http://schemas.microsoft.com/office/drawing/2014/main" id="{75CC3C67-A115-0D9F-A6DB-E332362683EA}"/>
              </a:ext>
            </a:extLst>
          </p:cNvPr>
          <p:cNvSpPr>
            <a:spLocks noChangeArrowheads="1"/>
          </p:cNvSpPr>
          <p:nvPr/>
        </p:nvSpPr>
        <p:spPr bwMode="auto">
          <a:xfrm>
            <a:off x="6477000" y="2145265"/>
            <a:ext cx="3048000" cy="990600"/>
          </a:xfrm>
          <a:prstGeom prst="rect">
            <a:avLst/>
          </a:prstGeom>
          <a:solidFill>
            <a:schemeClr val="bg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800" b="1">
                <a:latin typeface="Courier New" panose="02070309020205020404" pitchFamily="49" charset="0"/>
              </a:rPr>
              <a:t>     length:</a:t>
            </a:r>
          </a:p>
          <a:p>
            <a:pPr eaLnBrk="1" hangingPunct="1"/>
            <a:r>
              <a:rPr lang="en-US" altLang="ar-SA" sz="1800" b="1">
                <a:latin typeface="Courier New" panose="02070309020205020404" pitchFamily="49" charset="0"/>
              </a:rPr>
              <a:t>      width:</a:t>
            </a:r>
          </a:p>
        </p:txBody>
      </p:sp>
      <p:sp>
        <p:nvSpPr>
          <p:cNvPr id="9" name="Rectangle 16">
            <a:extLst>
              <a:ext uri="{FF2B5EF4-FFF2-40B4-BE49-F238E27FC236}">
                <a16:creationId xmlns:a16="http://schemas.microsoft.com/office/drawing/2014/main" id="{CBF46C94-24AD-F7C4-A0A3-A13E35F00030}"/>
              </a:ext>
            </a:extLst>
          </p:cNvPr>
          <p:cNvSpPr>
            <a:spLocks noChangeArrowheads="1"/>
          </p:cNvSpPr>
          <p:nvPr/>
        </p:nvSpPr>
        <p:spPr bwMode="auto">
          <a:xfrm>
            <a:off x="8229600" y="2320925"/>
            <a:ext cx="1219200" cy="228600"/>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600"/>
              <a:t>12.0</a:t>
            </a:r>
          </a:p>
        </p:txBody>
      </p:sp>
      <p:sp>
        <p:nvSpPr>
          <p:cNvPr id="10" name="Rectangle 17">
            <a:extLst>
              <a:ext uri="{FF2B5EF4-FFF2-40B4-BE49-F238E27FC236}">
                <a16:creationId xmlns:a16="http://schemas.microsoft.com/office/drawing/2014/main" id="{9B71570D-BDAD-A6CE-515C-D0E938EDA2AC}"/>
              </a:ext>
            </a:extLst>
          </p:cNvPr>
          <p:cNvSpPr>
            <a:spLocks noChangeArrowheads="1"/>
          </p:cNvSpPr>
          <p:nvPr/>
        </p:nvSpPr>
        <p:spPr bwMode="auto">
          <a:xfrm>
            <a:off x="8229600" y="2625725"/>
            <a:ext cx="1219200" cy="228600"/>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600"/>
              <a:t>5.0</a:t>
            </a:r>
          </a:p>
        </p:txBody>
      </p:sp>
      <p:sp>
        <p:nvSpPr>
          <p:cNvPr id="11" name="Rectangle 6">
            <a:extLst>
              <a:ext uri="{FF2B5EF4-FFF2-40B4-BE49-F238E27FC236}">
                <a16:creationId xmlns:a16="http://schemas.microsoft.com/office/drawing/2014/main" id="{12A909F8-39BE-D47E-6AC4-C4204E2EED48}"/>
              </a:ext>
            </a:extLst>
          </p:cNvPr>
          <p:cNvSpPr>
            <a:spLocks noChangeArrowheads="1"/>
          </p:cNvSpPr>
          <p:nvPr/>
        </p:nvSpPr>
        <p:spPr bwMode="auto">
          <a:xfrm>
            <a:off x="4038601" y="3540125"/>
            <a:ext cx="798513" cy="304800"/>
          </a:xfrm>
          <a:prstGeom prst="rect">
            <a:avLst/>
          </a:prstGeom>
          <a:solidFill>
            <a:schemeClr val="bg2"/>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ar-SA" sz="1800"/>
              <a:t>Address</a:t>
            </a:r>
          </a:p>
        </p:txBody>
      </p:sp>
      <p:sp>
        <p:nvSpPr>
          <p:cNvPr id="12" name="Line 9">
            <a:extLst>
              <a:ext uri="{FF2B5EF4-FFF2-40B4-BE49-F238E27FC236}">
                <a16:creationId xmlns:a16="http://schemas.microsoft.com/office/drawing/2014/main" id="{C1A99639-28B1-58EB-B0BC-CF96A1B4F44D}"/>
              </a:ext>
            </a:extLst>
          </p:cNvPr>
          <p:cNvSpPr>
            <a:spLocks noChangeShapeType="1"/>
          </p:cNvSpPr>
          <p:nvPr/>
        </p:nvSpPr>
        <p:spPr bwMode="auto">
          <a:xfrm>
            <a:off x="4402138" y="3159125"/>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ar-SA"/>
          </a:p>
        </p:txBody>
      </p:sp>
      <p:grpSp>
        <p:nvGrpSpPr>
          <p:cNvPr id="13" name="Group 24">
            <a:extLst>
              <a:ext uri="{FF2B5EF4-FFF2-40B4-BE49-F238E27FC236}">
                <a16:creationId xmlns:a16="http://schemas.microsoft.com/office/drawing/2014/main" id="{9B0A63E1-0688-F5A8-B557-443AFD3D3306}"/>
              </a:ext>
            </a:extLst>
          </p:cNvPr>
          <p:cNvGrpSpPr>
            <a:grpSpLocks/>
          </p:cNvGrpSpPr>
          <p:nvPr/>
        </p:nvGrpSpPr>
        <p:grpSpPr bwMode="auto">
          <a:xfrm>
            <a:off x="4419600" y="3844925"/>
            <a:ext cx="4343400" cy="457200"/>
            <a:chOff x="1776" y="2422"/>
            <a:chExt cx="2688" cy="288"/>
          </a:xfrm>
        </p:grpSpPr>
        <p:sp>
          <p:nvSpPr>
            <p:cNvPr id="14" name="Line 12">
              <a:extLst>
                <a:ext uri="{FF2B5EF4-FFF2-40B4-BE49-F238E27FC236}">
                  <a16:creationId xmlns:a16="http://schemas.microsoft.com/office/drawing/2014/main" id="{23F0D230-D273-090A-4F7C-8027CD4AE352}"/>
                </a:ext>
              </a:extLst>
            </p:cNvPr>
            <p:cNvSpPr>
              <a:spLocks noChangeShapeType="1"/>
            </p:cNvSpPr>
            <p:nvPr/>
          </p:nvSpPr>
          <p:spPr bwMode="auto">
            <a:xfrm>
              <a:off x="4464" y="2566"/>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ar-SA"/>
            </a:p>
          </p:txBody>
        </p:sp>
        <p:grpSp>
          <p:nvGrpSpPr>
            <p:cNvPr id="15" name="Group 23">
              <a:extLst>
                <a:ext uri="{FF2B5EF4-FFF2-40B4-BE49-F238E27FC236}">
                  <a16:creationId xmlns:a16="http://schemas.microsoft.com/office/drawing/2014/main" id="{06A2677A-EDF8-D078-C91F-D97297F3969F}"/>
                </a:ext>
              </a:extLst>
            </p:cNvPr>
            <p:cNvGrpSpPr>
              <a:grpSpLocks/>
            </p:cNvGrpSpPr>
            <p:nvPr/>
          </p:nvGrpSpPr>
          <p:grpSpPr bwMode="auto">
            <a:xfrm>
              <a:off x="1776" y="2422"/>
              <a:ext cx="2688" cy="170"/>
              <a:chOff x="1680" y="2422"/>
              <a:chExt cx="2784" cy="170"/>
            </a:xfrm>
          </p:grpSpPr>
          <p:sp>
            <p:nvSpPr>
              <p:cNvPr id="16" name="Line 10">
                <a:extLst>
                  <a:ext uri="{FF2B5EF4-FFF2-40B4-BE49-F238E27FC236}">
                    <a16:creationId xmlns:a16="http://schemas.microsoft.com/office/drawing/2014/main" id="{14C5257B-F851-D610-34AB-B94B2AAD1287}"/>
                  </a:ext>
                </a:extLst>
              </p:cNvPr>
              <p:cNvSpPr>
                <a:spLocks noChangeShapeType="1"/>
              </p:cNvSpPr>
              <p:nvPr/>
            </p:nvSpPr>
            <p:spPr bwMode="auto">
              <a:xfrm>
                <a:off x="1680" y="2422"/>
                <a:ext cx="0" cy="1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ar-SA"/>
              </a:p>
            </p:txBody>
          </p:sp>
          <p:sp>
            <p:nvSpPr>
              <p:cNvPr id="17" name="Line 11">
                <a:extLst>
                  <a:ext uri="{FF2B5EF4-FFF2-40B4-BE49-F238E27FC236}">
                    <a16:creationId xmlns:a16="http://schemas.microsoft.com/office/drawing/2014/main" id="{2F2AC746-7F39-35FD-2F44-5596DB339AC4}"/>
                  </a:ext>
                </a:extLst>
              </p:cNvPr>
              <p:cNvSpPr>
                <a:spLocks noChangeShapeType="1"/>
              </p:cNvSpPr>
              <p:nvPr/>
            </p:nvSpPr>
            <p:spPr bwMode="auto">
              <a:xfrm flipV="1">
                <a:off x="1680" y="2566"/>
                <a:ext cx="2784" cy="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ar-SA"/>
              </a:p>
            </p:txBody>
          </p:sp>
        </p:grpSp>
      </p:grpSp>
      <p:cxnSp>
        <p:nvCxnSpPr>
          <p:cNvPr id="18" name="AutoShape 20">
            <a:extLst>
              <a:ext uri="{FF2B5EF4-FFF2-40B4-BE49-F238E27FC236}">
                <a16:creationId xmlns:a16="http://schemas.microsoft.com/office/drawing/2014/main" id="{0C4C1A3A-78A2-08C8-D880-2DF2F945102F}"/>
              </a:ext>
            </a:extLst>
          </p:cNvPr>
          <p:cNvCxnSpPr>
            <a:cxnSpLocks noChangeShapeType="1"/>
            <a:stCxn id="11" idx="3"/>
            <a:endCxn id="8" idx="1"/>
          </p:cNvCxnSpPr>
          <p:nvPr/>
        </p:nvCxnSpPr>
        <p:spPr bwMode="auto">
          <a:xfrm flipV="1">
            <a:off x="4837114" y="2640565"/>
            <a:ext cx="1639886" cy="10519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 name="Footer Placeholder 2">
            <a:extLst>
              <a:ext uri="{FF2B5EF4-FFF2-40B4-BE49-F238E27FC236}">
                <a16:creationId xmlns:a16="http://schemas.microsoft.com/office/drawing/2014/main" id="{0DEBB869-AA47-43BA-B1D9-C6CE403183F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36060878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5DA7F-2D47-3093-723D-DA7702809672}"/>
              </a:ext>
            </a:extLst>
          </p:cNvPr>
          <p:cNvSpPr>
            <a:spLocks noGrp="1"/>
          </p:cNvSpPr>
          <p:nvPr>
            <p:ph type="title"/>
          </p:nvPr>
        </p:nvSpPr>
        <p:spPr/>
        <p:txBody>
          <a:bodyPr/>
          <a:lstStyle/>
          <a:p>
            <a:r>
              <a:rPr lang="en-US" altLang="ar-SA" dirty="0"/>
              <a:t>Returning Objects From Methods</a:t>
            </a:r>
            <a:endParaRPr lang="en-US" dirty="0"/>
          </a:p>
        </p:txBody>
      </p:sp>
      <p:sp>
        <p:nvSpPr>
          <p:cNvPr id="4" name="Content Placeholder 3">
            <a:extLst>
              <a:ext uri="{FF2B5EF4-FFF2-40B4-BE49-F238E27FC236}">
                <a16:creationId xmlns:a16="http://schemas.microsoft.com/office/drawing/2014/main" id="{C8F636B0-367F-E2FD-3C25-D377B961B274}"/>
              </a:ext>
            </a:extLst>
          </p:cNvPr>
          <p:cNvSpPr>
            <a:spLocks noGrp="1"/>
          </p:cNvSpPr>
          <p:nvPr>
            <p:ph sz="quarter" idx="1"/>
          </p:nvPr>
        </p:nvSpPr>
        <p:spPr/>
        <p:txBody>
          <a:bodyPr>
            <a:normAutofit/>
          </a:bodyPr>
          <a:lstStyle/>
          <a:p>
            <a:pPr marL="457200" indent="-457200">
              <a:lnSpc>
                <a:spcPct val="90000"/>
              </a:lnSpc>
            </a:pPr>
            <a:r>
              <a:rPr lang="en-US" altLang="ar-SA" sz="2600" dirty="0"/>
              <a:t>Methods are not limited to returning the primitive data types.</a:t>
            </a:r>
          </a:p>
          <a:p>
            <a:pPr marL="457200" indent="-457200">
              <a:lnSpc>
                <a:spcPct val="90000"/>
              </a:lnSpc>
            </a:pPr>
            <a:r>
              <a:rPr lang="en-US" altLang="ar-SA" sz="2600" dirty="0"/>
              <a:t>Methods can return references to objects as well.</a:t>
            </a:r>
          </a:p>
          <a:p>
            <a:pPr marL="457200" indent="-457200">
              <a:lnSpc>
                <a:spcPct val="90000"/>
              </a:lnSpc>
            </a:pPr>
            <a:r>
              <a:rPr lang="en-US" altLang="ar-SA" sz="2600" dirty="0"/>
              <a:t>Just as with passing arguments, a copy of the object is </a:t>
            </a:r>
            <a:r>
              <a:rPr lang="en-US" altLang="ar-SA" sz="2600" b="1" dirty="0"/>
              <a:t>not</a:t>
            </a:r>
            <a:r>
              <a:rPr lang="en-US" altLang="ar-SA" sz="2600" dirty="0"/>
              <a:t> returned, only its address.</a:t>
            </a:r>
          </a:p>
          <a:p>
            <a:pPr marL="457200" indent="-457200">
              <a:lnSpc>
                <a:spcPct val="90000"/>
              </a:lnSpc>
            </a:pPr>
            <a:r>
              <a:rPr lang="en-US" altLang="ar-SA" sz="2600" dirty="0"/>
              <a:t>Method return type:</a:t>
            </a:r>
            <a:br>
              <a:rPr lang="en-US" altLang="ar-SA" sz="2800" dirty="0"/>
            </a:br>
            <a:endParaRPr lang="en-US" altLang="ar-SA" sz="2800" dirty="0"/>
          </a:p>
          <a:p>
            <a:pPr lvl="1" eaLnBrk="1" hangingPunct="1">
              <a:lnSpc>
                <a:spcPct val="90000"/>
              </a:lnSpc>
              <a:buFontTx/>
              <a:buNone/>
            </a:pPr>
            <a:r>
              <a:rPr lang="en-US" altLang="ar-SA" sz="1600" b="1" dirty="0">
                <a:latin typeface="Courier New" panose="02070309020205020404" pitchFamily="49" charset="0"/>
              </a:rPr>
              <a:t>			</a:t>
            </a:r>
            <a:r>
              <a:rPr lang="en-US" altLang="ar-SA" b="1" dirty="0">
                <a:latin typeface="Courier New" panose="02070309020205020404" pitchFamily="49" charset="0"/>
              </a:rPr>
              <a:t>public static </a:t>
            </a:r>
            <a:r>
              <a:rPr lang="en-US" altLang="ar-SA" b="1" dirty="0" err="1">
                <a:solidFill>
                  <a:srgbClr val="FF0000"/>
                </a:solidFill>
                <a:latin typeface="Courier New" panose="02070309020205020404" pitchFamily="49" charset="0"/>
              </a:rPr>
              <a:t>BankAccount</a:t>
            </a:r>
            <a:r>
              <a:rPr lang="en-US" altLang="ar-SA" b="1" dirty="0">
                <a:latin typeface="Courier New" panose="02070309020205020404" pitchFamily="49" charset="0"/>
              </a:rPr>
              <a:t> </a:t>
            </a:r>
            <a:r>
              <a:rPr lang="en-US" altLang="ar-SA" b="1" dirty="0" err="1">
                <a:latin typeface="Courier New" panose="02070309020205020404" pitchFamily="49" charset="0"/>
              </a:rPr>
              <a:t>getAccount</a:t>
            </a:r>
            <a:r>
              <a:rPr lang="en-US" altLang="ar-SA" b="1" dirty="0">
                <a:latin typeface="Courier New" panose="02070309020205020404" pitchFamily="49" charset="0"/>
              </a:rPr>
              <a:t>(){</a:t>
            </a:r>
          </a:p>
          <a:p>
            <a:pPr lvl="1" eaLnBrk="1" hangingPunct="1">
              <a:lnSpc>
                <a:spcPct val="90000"/>
              </a:lnSpc>
              <a:buFontTx/>
              <a:buNone/>
            </a:pPr>
            <a:r>
              <a:rPr lang="en-US" altLang="ar-SA" b="1" dirty="0">
                <a:latin typeface="Courier New" panose="02070309020205020404" pitchFamily="49" charset="0"/>
              </a:rPr>
              <a:t>	 	           …</a:t>
            </a:r>
          </a:p>
          <a:p>
            <a:pPr lvl="1" eaLnBrk="1" hangingPunct="1">
              <a:lnSpc>
                <a:spcPct val="90000"/>
              </a:lnSpc>
              <a:buFontTx/>
              <a:buNone/>
            </a:pPr>
            <a:r>
              <a:rPr lang="en-US" altLang="ar-SA" b="1" dirty="0">
                <a:latin typeface="Courier New" panose="02070309020205020404" pitchFamily="49" charset="0"/>
              </a:rPr>
              <a:t>	  	    return new </a:t>
            </a:r>
            <a:r>
              <a:rPr lang="en-US" altLang="ar-SA" b="1" dirty="0" err="1">
                <a:latin typeface="Courier New" panose="02070309020205020404" pitchFamily="49" charset="0"/>
              </a:rPr>
              <a:t>BankAccount</a:t>
            </a:r>
            <a:r>
              <a:rPr lang="en-US" altLang="ar-SA" b="1" dirty="0">
                <a:latin typeface="Courier New" panose="02070309020205020404" pitchFamily="49" charset="0"/>
              </a:rPr>
              <a:t>(balance);}</a:t>
            </a:r>
          </a:p>
          <a:p>
            <a:endParaRPr lang="en-US" dirty="0"/>
          </a:p>
        </p:txBody>
      </p:sp>
      <p:sp>
        <p:nvSpPr>
          <p:cNvPr id="3" name="Footer Placeholder 2">
            <a:extLst>
              <a:ext uri="{FF2B5EF4-FFF2-40B4-BE49-F238E27FC236}">
                <a16:creationId xmlns:a16="http://schemas.microsoft.com/office/drawing/2014/main" id="{B413C23F-DDE5-4BBB-9816-5D690EB059EA}"/>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96779065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9C75-9024-4339-6C56-A5A839827FF4}"/>
              </a:ext>
            </a:extLst>
          </p:cNvPr>
          <p:cNvSpPr>
            <a:spLocks noGrp="1"/>
          </p:cNvSpPr>
          <p:nvPr>
            <p:ph type="title"/>
          </p:nvPr>
        </p:nvSpPr>
        <p:spPr/>
        <p:txBody>
          <a:bodyPr/>
          <a:lstStyle/>
          <a:p>
            <a:r>
              <a:rPr lang="en-US" altLang="ar-SA" dirty="0"/>
              <a:t>Returning Objects From Methods</a:t>
            </a:r>
            <a:endParaRPr lang="en-US" dirty="0"/>
          </a:p>
        </p:txBody>
      </p:sp>
      <p:sp>
        <p:nvSpPr>
          <p:cNvPr id="5" name="Text Box 3">
            <a:extLst>
              <a:ext uri="{FF2B5EF4-FFF2-40B4-BE49-F238E27FC236}">
                <a16:creationId xmlns:a16="http://schemas.microsoft.com/office/drawing/2014/main" id="{CE1EDF4F-A8F8-1288-336D-E83605519190}"/>
              </a:ext>
            </a:extLst>
          </p:cNvPr>
          <p:cNvSpPr txBox="1">
            <a:spLocks noChangeArrowheads="1"/>
          </p:cNvSpPr>
          <p:nvPr/>
        </p:nvSpPr>
        <p:spPr bwMode="auto">
          <a:xfrm>
            <a:off x="2209800" y="1752523"/>
            <a:ext cx="3886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sz="2000" b="1" dirty="0">
                <a:latin typeface="Courier New" panose="02070309020205020404" pitchFamily="49" charset="0"/>
              </a:rPr>
              <a:t>account = </a:t>
            </a:r>
            <a:r>
              <a:rPr lang="en-US" altLang="ar-SA" sz="2000" b="1" dirty="0" err="1">
                <a:latin typeface="Courier New" panose="02070309020205020404" pitchFamily="49" charset="0"/>
              </a:rPr>
              <a:t>getAccount</a:t>
            </a:r>
            <a:r>
              <a:rPr lang="en-US" altLang="ar-SA" sz="2000" b="1" dirty="0">
                <a:latin typeface="Courier New" panose="02070309020205020404" pitchFamily="49" charset="0"/>
              </a:rPr>
              <a:t>();</a:t>
            </a:r>
          </a:p>
        </p:txBody>
      </p:sp>
      <p:sp>
        <p:nvSpPr>
          <p:cNvPr id="6" name="Text Box 4">
            <a:extLst>
              <a:ext uri="{FF2B5EF4-FFF2-40B4-BE49-F238E27FC236}">
                <a16:creationId xmlns:a16="http://schemas.microsoft.com/office/drawing/2014/main" id="{56ADDFFC-BB09-6306-9CEE-A631B32F7DAA}"/>
              </a:ext>
            </a:extLst>
          </p:cNvPr>
          <p:cNvSpPr txBox="1">
            <a:spLocks noChangeArrowheads="1"/>
          </p:cNvSpPr>
          <p:nvPr/>
        </p:nvSpPr>
        <p:spPr bwMode="auto">
          <a:xfrm>
            <a:off x="3886200" y="4648123"/>
            <a:ext cx="597693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2000" b="1" dirty="0">
                <a:latin typeface="Courier New" panose="02070309020205020404" pitchFamily="49" charset="0"/>
              </a:rPr>
              <a:t>public static </a:t>
            </a:r>
            <a:r>
              <a:rPr lang="en-US" altLang="ar-SA" sz="2000" b="1" dirty="0" err="1">
                <a:latin typeface="Courier New" panose="02070309020205020404" pitchFamily="49" charset="0"/>
              </a:rPr>
              <a:t>BankAccount</a:t>
            </a:r>
            <a:r>
              <a:rPr lang="en-US" altLang="ar-SA" sz="2000" b="1" dirty="0">
                <a:latin typeface="Courier New" panose="02070309020205020404" pitchFamily="49" charset="0"/>
              </a:rPr>
              <a:t> </a:t>
            </a:r>
            <a:r>
              <a:rPr lang="en-US" altLang="ar-SA" sz="2000" b="1" dirty="0" err="1">
                <a:latin typeface="Courier New" panose="02070309020205020404" pitchFamily="49" charset="0"/>
              </a:rPr>
              <a:t>getAccount</a:t>
            </a:r>
            <a:r>
              <a:rPr lang="en-US" altLang="ar-SA" sz="2000" b="1" dirty="0">
                <a:latin typeface="Courier New" panose="02070309020205020404" pitchFamily="49" charset="0"/>
              </a:rPr>
              <a:t>()</a:t>
            </a:r>
          </a:p>
          <a:p>
            <a:pPr eaLnBrk="1" hangingPunct="1"/>
            <a:r>
              <a:rPr lang="en-US" altLang="ar-SA" sz="2000" b="1" dirty="0">
                <a:latin typeface="Courier New" panose="02070309020205020404" pitchFamily="49" charset="0"/>
              </a:rPr>
              <a:t>{</a:t>
            </a:r>
          </a:p>
          <a:p>
            <a:pPr eaLnBrk="1" hangingPunct="1"/>
            <a:r>
              <a:rPr lang="en-US" altLang="ar-SA" sz="2000" b="1" dirty="0">
                <a:latin typeface="Courier New" panose="02070309020205020404" pitchFamily="49" charset="0"/>
              </a:rPr>
              <a:t>   …</a:t>
            </a:r>
          </a:p>
          <a:p>
            <a:pPr eaLnBrk="1" hangingPunct="1"/>
            <a:r>
              <a:rPr lang="en-US" altLang="ar-SA" sz="2000" b="1" dirty="0">
                <a:latin typeface="Courier New" panose="02070309020205020404" pitchFamily="49" charset="0"/>
              </a:rPr>
              <a:t>   return new </a:t>
            </a:r>
            <a:r>
              <a:rPr lang="en-US" altLang="ar-SA" sz="2000" b="1" dirty="0" err="1">
                <a:latin typeface="Courier New" panose="02070309020205020404" pitchFamily="49" charset="0"/>
              </a:rPr>
              <a:t>BankAccount</a:t>
            </a:r>
            <a:r>
              <a:rPr lang="en-US" altLang="ar-SA" sz="2000" b="1" dirty="0">
                <a:latin typeface="Courier New" panose="02070309020205020404" pitchFamily="49" charset="0"/>
              </a:rPr>
              <a:t>(balance);</a:t>
            </a:r>
          </a:p>
          <a:p>
            <a:pPr eaLnBrk="1" hangingPunct="1"/>
            <a:r>
              <a:rPr lang="en-US" altLang="ar-SA" sz="2000" b="1" dirty="0">
                <a:latin typeface="Courier New" panose="02070309020205020404" pitchFamily="49" charset="0"/>
              </a:rPr>
              <a:t>}</a:t>
            </a:r>
          </a:p>
        </p:txBody>
      </p:sp>
      <p:sp>
        <p:nvSpPr>
          <p:cNvPr id="7" name="Text Box 5">
            <a:extLst>
              <a:ext uri="{FF2B5EF4-FFF2-40B4-BE49-F238E27FC236}">
                <a16:creationId xmlns:a16="http://schemas.microsoft.com/office/drawing/2014/main" id="{D8BC7577-4C83-1C87-73DD-16E3B56F7CBC}"/>
              </a:ext>
            </a:extLst>
          </p:cNvPr>
          <p:cNvSpPr txBox="1">
            <a:spLocks noChangeArrowheads="1"/>
          </p:cNvSpPr>
          <p:nvPr/>
        </p:nvSpPr>
        <p:spPr bwMode="auto">
          <a:xfrm>
            <a:off x="5943600" y="2666923"/>
            <a:ext cx="2438400" cy="466725"/>
          </a:xfrm>
          <a:prstGeom prst="rect">
            <a:avLst/>
          </a:prstGeom>
          <a:solidFill>
            <a:schemeClr val="bg2"/>
          </a:solidFill>
          <a:ln w="9525">
            <a:solidFill>
              <a:schemeClr val="tx1"/>
            </a:solidFill>
            <a:miter lim="800000"/>
            <a:headEnd/>
            <a:tailEnd/>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dirty="0">
                <a:latin typeface="Courier New" panose="02070309020205020404" pitchFamily="49" charset="0"/>
              </a:rPr>
              <a:t>balance:</a:t>
            </a:r>
          </a:p>
        </p:txBody>
      </p:sp>
      <p:sp>
        <p:nvSpPr>
          <p:cNvPr id="8" name="Text Box 6">
            <a:extLst>
              <a:ext uri="{FF2B5EF4-FFF2-40B4-BE49-F238E27FC236}">
                <a16:creationId xmlns:a16="http://schemas.microsoft.com/office/drawing/2014/main" id="{138F4B3E-ED8F-6F6E-0052-F6C72AF7C172}"/>
              </a:ext>
            </a:extLst>
          </p:cNvPr>
          <p:cNvSpPr txBox="1">
            <a:spLocks noChangeArrowheads="1"/>
          </p:cNvSpPr>
          <p:nvPr/>
        </p:nvSpPr>
        <p:spPr bwMode="auto">
          <a:xfrm>
            <a:off x="7624814" y="2738309"/>
            <a:ext cx="682625" cy="314325"/>
          </a:xfrm>
          <a:prstGeom prst="rect">
            <a:avLst/>
          </a:prstGeom>
          <a:solidFill>
            <a:schemeClr val="accent2"/>
          </a:solidFill>
          <a:ln w="9525">
            <a:solidFill>
              <a:schemeClr val="tx1"/>
            </a:solidFill>
            <a:miter lim="800000"/>
            <a:headEnd/>
            <a:tailEnd/>
          </a:ln>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400">
                <a:solidFill>
                  <a:schemeClr val="bg1"/>
                </a:solidFill>
              </a:rPr>
              <a:t>3200.0</a:t>
            </a:r>
          </a:p>
        </p:txBody>
      </p:sp>
      <p:sp>
        <p:nvSpPr>
          <p:cNvPr id="9" name="Text Box 7">
            <a:extLst>
              <a:ext uri="{FF2B5EF4-FFF2-40B4-BE49-F238E27FC236}">
                <a16:creationId xmlns:a16="http://schemas.microsoft.com/office/drawing/2014/main" id="{97DDE394-894C-2F50-05DE-0F7386C65AD4}"/>
              </a:ext>
            </a:extLst>
          </p:cNvPr>
          <p:cNvSpPr txBox="1">
            <a:spLocks noChangeArrowheads="1"/>
          </p:cNvSpPr>
          <p:nvPr/>
        </p:nvSpPr>
        <p:spPr bwMode="auto">
          <a:xfrm>
            <a:off x="2057400" y="3428923"/>
            <a:ext cx="1143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US" altLang="ar-SA" dirty="0"/>
              <a:t>address</a:t>
            </a:r>
          </a:p>
        </p:txBody>
      </p:sp>
      <p:sp>
        <p:nvSpPr>
          <p:cNvPr id="10" name="Line 8">
            <a:extLst>
              <a:ext uri="{FF2B5EF4-FFF2-40B4-BE49-F238E27FC236}">
                <a16:creationId xmlns:a16="http://schemas.microsoft.com/office/drawing/2014/main" id="{AAD2800F-EB95-35A4-C7DE-333486F9B263}"/>
              </a:ext>
            </a:extLst>
          </p:cNvPr>
          <p:cNvSpPr>
            <a:spLocks noChangeShapeType="1"/>
          </p:cNvSpPr>
          <p:nvPr/>
        </p:nvSpPr>
        <p:spPr bwMode="auto">
          <a:xfrm flipV="1">
            <a:off x="2590800" y="2209722"/>
            <a:ext cx="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ar-SA"/>
          </a:p>
        </p:txBody>
      </p:sp>
      <p:sp>
        <p:nvSpPr>
          <p:cNvPr id="11" name="Line 9">
            <a:extLst>
              <a:ext uri="{FF2B5EF4-FFF2-40B4-BE49-F238E27FC236}">
                <a16:creationId xmlns:a16="http://schemas.microsoft.com/office/drawing/2014/main" id="{CBDC7CC9-10B0-B4E3-9BB2-D31C6AAC5E73}"/>
              </a:ext>
            </a:extLst>
          </p:cNvPr>
          <p:cNvSpPr>
            <a:spLocks noChangeShapeType="1"/>
          </p:cNvSpPr>
          <p:nvPr/>
        </p:nvSpPr>
        <p:spPr bwMode="auto">
          <a:xfrm flipH="1">
            <a:off x="2590800" y="5791122"/>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ar-SA"/>
          </a:p>
        </p:txBody>
      </p:sp>
      <p:sp>
        <p:nvSpPr>
          <p:cNvPr id="12" name="Line 10">
            <a:extLst>
              <a:ext uri="{FF2B5EF4-FFF2-40B4-BE49-F238E27FC236}">
                <a16:creationId xmlns:a16="http://schemas.microsoft.com/office/drawing/2014/main" id="{12FBAEB4-F101-A535-DF4A-28BF2864E9F7}"/>
              </a:ext>
            </a:extLst>
          </p:cNvPr>
          <p:cNvSpPr>
            <a:spLocks noChangeShapeType="1"/>
          </p:cNvSpPr>
          <p:nvPr/>
        </p:nvSpPr>
        <p:spPr bwMode="auto">
          <a:xfrm flipV="1">
            <a:off x="2590800" y="3895742"/>
            <a:ext cx="0" cy="1905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ar-SA"/>
          </a:p>
        </p:txBody>
      </p:sp>
      <p:sp>
        <p:nvSpPr>
          <p:cNvPr id="13" name="Line 11">
            <a:extLst>
              <a:ext uri="{FF2B5EF4-FFF2-40B4-BE49-F238E27FC236}">
                <a16:creationId xmlns:a16="http://schemas.microsoft.com/office/drawing/2014/main" id="{D43CF3AD-2AEB-A23A-3851-B6FD6C6E4D25}"/>
              </a:ext>
            </a:extLst>
          </p:cNvPr>
          <p:cNvSpPr>
            <a:spLocks noChangeShapeType="1"/>
          </p:cNvSpPr>
          <p:nvPr/>
        </p:nvSpPr>
        <p:spPr bwMode="auto">
          <a:xfrm flipV="1">
            <a:off x="3200400" y="2971722"/>
            <a:ext cx="2743200" cy="6858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ar-SA"/>
          </a:p>
        </p:txBody>
      </p:sp>
      <p:sp>
        <p:nvSpPr>
          <p:cNvPr id="14" name="Text Box 12">
            <a:extLst>
              <a:ext uri="{FF2B5EF4-FFF2-40B4-BE49-F238E27FC236}">
                <a16:creationId xmlns:a16="http://schemas.microsoft.com/office/drawing/2014/main" id="{42A3F814-4359-5E55-02D4-0C6F51D13D98}"/>
              </a:ext>
            </a:extLst>
          </p:cNvPr>
          <p:cNvSpPr txBox="1">
            <a:spLocks noChangeArrowheads="1"/>
          </p:cNvSpPr>
          <p:nvPr/>
        </p:nvSpPr>
        <p:spPr bwMode="auto">
          <a:xfrm>
            <a:off x="5867401" y="2209723"/>
            <a:ext cx="2581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ar-SA" sz="1800"/>
              <a:t>A </a:t>
            </a:r>
            <a:r>
              <a:rPr lang="en-US" altLang="ar-SA" sz="1800">
                <a:latin typeface="Courier New" panose="02070309020205020404" pitchFamily="49" charset="0"/>
              </a:rPr>
              <a:t>BankAccount</a:t>
            </a:r>
            <a:r>
              <a:rPr lang="en-US" altLang="ar-SA" sz="1800"/>
              <a:t> Object</a:t>
            </a:r>
          </a:p>
        </p:txBody>
      </p:sp>
      <p:sp>
        <p:nvSpPr>
          <p:cNvPr id="3" name="Footer Placeholder 2">
            <a:extLst>
              <a:ext uri="{FF2B5EF4-FFF2-40B4-BE49-F238E27FC236}">
                <a16:creationId xmlns:a16="http://schemas.microsoft.com/office/drawing/2014/main" id="{966D44AC-0C4A-4569-AB43-E1E6F50A783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81811711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006070C-97D5-96AE-3F30-1134E0A19430}"/>
              </a:ext>
            </a:extLst>
          </p:cNvPr>
          <p:cNvSpPr>
            <a:spLocks noGrp="1" noChangeArrowheads="1"/>
          </p:cNvSpPr>
          <p:nvPr>
            <p:ph type="title"/>
          </p:nvPr>
        </p:nvSpPr>
        <p:spPr>
          <a:xfrm>
            <a:off x="0" y="927884"/>
            <a:ext cx="7024687" cy="739775"/>
          </a:xfrm>
        </p:spPr>
        <p:txBody>
          <a:bodyPr rtlCol="0">
            <a:noAutofit/>
          </a:bodyPr>
          <a:lstStyle/>
          <a:p>
            <a:pPr algn="ctr">
              <a:defRPr/>
            </a:pPr>
            <a:r>
              <a:rPr lang="en-US" dirty="0"/>
              <a:t>Using</a:t>
            </a:r>
            <a:r>
              <a:rPr lang="en-US" sz="3600" dirty="0">
                <a:solidFill>
                  <a:schemeClr val="tx1"/>
                </a:solidFill>
              </a:rPr>
              <a:t> </a:t>
            </a:r>
            <a:r>
              <a:rPr lang="en-US" dirty="0"/>
              <a:t>null</a:t>
            </a:r>
            <a:r>
              <a:rPr lang="en-US" sz="3600" dirty="0">
                <a:solidFill>
                  <a:schemeClr val="tx1"/>
                </a:solidFill>
              </a:rPr>
              <a:t> </a:t>
            </a:r>
            <a:r>
              <a:rPr lang="en-US" dirty="0"/>
              <a:t>Reference</a:t>
            </a:r>
          </a:p>
        </p:txBody>
      </p:sp>
      <p:sp>
        <p:nvSpPr>
          <p:cNvPr id="31747" name="Rectangle 3">
            <a:extLst>
              <a:ext uri="{FF2B5EF4-FFF2-40B4-BE49-F238E27FC236}">
                <a16:creationId xmlns:a16="http://schemas.microsoft.com/office/drawing/2014/main" id="{502270E7-14E2-CFBF-060D-3ACCA31EED5B}"/>
              </a:ext>
            </a:extLst>
          </p:cNvPr>
          <p:cNvSpPr>
            <a:spLocks noGrp="1"/>
          </p:cNvSpPr>
          <p:nvPr>
            <p:ph idx="1"/>
          </p:nvPr>
        </p:nvSpPr>
        <p:spPr>
          <a:xfrm>
            <a:off x="604141" y="1777201"/>
            <a:ext cx="9148795" cy="3648475"/>
          </a:xfrm>
        </p:spPr>
        <p:txBody>
          <a:bodyPr>
            <a:normAutofit/>
          </a:bodyPr>
          <a:lstStyle/>
          <a:p>
            <a:pPr marL="433387" indent="-342900" algn="just"/>
            <a:r>
              <a:rPr lang="en-US" altLang="ar-SA" dirty="0">
                <a:latin typeface="+mj-lt"/>
              </a:rPr>
              <a:t>A </a:t>
            </a:r>
            <a:r>
              <a:rPr lang="en-US" altLang="ar-SA" dirty="0">
                <a:solidFill>
                  <a:srgbClr val="FF0000"/>
                </a:solidFill>
                <a:latin typeface="+mj-lt"/>
              </a:rPr>
              <a:t>null</a:t>
            </a:r>
            <a:r>
              <a:rPr lang="en-US" altLang="ar-SA" dirty="0">
                <a:latin typeface="+mj-lt"/>
              </a:rPr>
              <a:t> reference is a reference variable that points to nothing.</a:t>
            </a:r>
          </a:p>
          <a:p>
            <a:pPr marL="433387" indent="-342900" algn="just"/>
            <a:r>
              <a:rPr lang="en-US" altLang="en-US" dirty="0">
                <a:latin typeface="+mj-lt"/>
              </a:rPr>
              <a:t>A special </a:t>
            </a:r>
            <a:r>
              <a:rPr lang="en-US" altLang="en-US" dirty="0">
                <a:solidFill>
                  <a:srgbClr val="FF0000"/>
                </a:solidFill>
                <a:latin typeface="+mj-lt"/>
              </a:rPr>
              <a:t>null</a:t>
            </a:r>
            <a:r>
              <a:rPr lang="en-US" altLang="en-US" dirty="0">
                <a:latin typeface="+mj-lt"/>
              </a:rPr>
              <a:t> value may be assigned to an object reference, but not to a primitive.</a:t>
            </a:r>
          </a:p>
          <a:p>
            <a:pPr marL="433387" indent="-342900" algn="just"/>
            <a:r>
              <a:rPr lang="en-US" altLang="en-US" dirty="0">
                <a:latin typeface="+mj-lt"/>
              </a:rPr>
              <a:t>You can compare object references to </a:t>
            </a:r>
            <a:r>
              <a:rPr lang="en-US" altLang="en-US" dirty="0">
                <a:solidFill>
                  <a:srgbClr val="FF0000"/>
                </a:solidFill>
                <a:latin typeface="+mj-lt"/>
              </a:rPr>
              <a:t>null</a:t>
            </a:r>
            <a:r>
              <a:rPr lang="en-US" altLang="en-US" dirty="0">
                <a:latin typeface="+mj-lt"/>
              </a:rPr>
              <a:t>. </a:t>
            </a:r>
          </a:p>
          <a:p>
            <a:pPr marL="433387" indent="-342900" algn="just"/>
            <a:r>
              <a:rPr lang="en-US" altLang="en-US" dirty="0">
                <a:latin typeface="+mj-lt"/>
              </a:rPr>
              <a:t>You can remove the association to an object by setting the object reference to </a:t>
            </a:r>
            <a:r>
              <a:rPr lang="en-US" altLang="en-US" dirty="0">
                <a:solidFill>
                  <a:srgbClr val="FF0000"/>
                </a:solidFill>
                <a:latin typeface="+mj-lt"/>
              </a:rPr>
              <a:t>null</a:t>
            </a:r>
            <a:r>
              <a:rPr lang="en-US" altLang="en-US" dirty="0">
                <a:latin typeface="+mj-lt"/>
              </a:rPr>
              <a:t>.</a:t>
            </a:r>
          </a:p>
        </p:txBody>
      </p:sp>
      <p:sp>
        <p:nvSpPr>
          <p:cNvPr id="31748" name="Rectangle 4">
            <a:extLst>
              <a:ext uri="{FF2B5EF4-FFF2-40B4-BE49-F238E27FC236}">
                <a16:creationId xmlns:a16="http://schemas.microsoft.com/office/drawing/2014/main" id="{B3D4B33A-2785-E822-0C63-FCF9163BDCFF}"/>
              </a:ext>
            </a:extLst>
          </p:cNvPr>
          <p:cNvSpPr>
            <a:spLocks noChangeArrowheads="1"/>
          </p:cNvSpPr>
          <p:nvPr/>
        </p:nvSpPr>
        <p:spPr bwMode="blackGray">
          <a:xfrm>
            <a:off x="4516389" y="4304273"/>
            <a:ext cx="6504537" cy="1936428"/>
          </a:xfrm>
          <a:prstGeom prst="rect">
            <a:avLst/>
          </a:prstGeom>
          <a:noFill/>
          <a:ln w="28575">
            <a:solidFill>
              <a:srgbClr val="000000"/>
            </a:solidFill>
            <a:miter lim="800000"/>
            <a:headEnd/>
            <a:tailEnd/>
          </a:ln>
        </p:spPr>
        <p:txBody>
          <a:bodyPr wrap="square" lIns="90488" tIns="44450" rIns="90488" bIns="44450">
            <a:spAutoFit/>
          </a:bodyPr>
          <a:lstStyle>
            <a:lvl1pPr defTabSz="739775">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defTabSz="739775">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defTabSz="739775">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defTabSz="739775">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defTabSz="739775">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defTabSz="739775"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defTabSz="739775"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defTabSz="739775"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defTabSz="739775"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Car c1;  		     //Declare object reference</a:t>
            </a:r>
          </a:p>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 </a:t>
            </a:r>
          </a:p>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if (c1 == null)     //Ref not initialized?</a:t>
            </a:r>
          </a:p>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   c1 = new Car();  //Create a Car object</a:t>
            </a:r>
          </a:p>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 </a:t>
            </a:r>
          </a:p>
          <a:p>
            <a:pPr>
              <a:lnSpc>
                <a:spcPct val="125000"/>
              </a:lnSpc>
              <a:spcBef>
                <a:spcPct val="0"/>
              </a:spcBef>
              <a:buClrTx/>
              <a:buSzTx/>
              <a:buFontTx/>
              <a:buNone/>
            </a:pPr>
            <a:r>
              <a:rPr lang="en-US" altLang="en-US" sz="1600" b="1" dirty="0">
                <a:solidFill>
                  <a:schemeClr val="tx1"/>
                </a:solidFill>
                <a:latin typeface="Courier New" panose="02070309020205020404" pitchFamily="49" charset="0"/>
              </a:rPr>
              <a:t>c1 = null;          //Forget the Car object</a:t>
            </a:r>
          </a:p>
        </p:txBody>
      </p:sp>
      <p:sp>
        <p:nvSpPr>
          <p:cNvPr id="2" name="Footer Placeholder 1">
            <a:extLst>
              <a:ext uri="{FF2B5EF4-FFF2-40B4-BE49-F238E27FC236}">
                <a16:creationId xmlns:a16="http://schemas.microsoft.com/office/drawing/2014/main" id="{A567C481-5038-4D85-898A-6E57C57769DB}"/>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802644406"/>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BDFB9-8A9B-4CCD-BA04-01B2D4AD11B0}"/>
              </a:ext>
            </a:extLst>
          </p:cNvPr>
          <p:cNvSpPr>
            <a:spLocks noGrp="1"/>
          </p:cNvSpPr>
          <p:nvPr>
            <p:ph type="title"/>
          </p:nvPr>
        </p:nvSpPr>
        <p:spPr/>
        <p:txBody>
          <a:bodyPr/>
          <a:lstStyle/>
          <a:p>
            <a:r>
              <a:rPr lang="en-US" dirty="0"/>
              <a:t>Garbage Collection</a:t>
            </a:r>
          </a:p>
        </p:txBody>
      </p:sp>
      <p:sp>
        <p:nvSpPr>
          <p:cNvPr id="3" name="Content Placeholder 2">
            <a:extLst>
              <a:ext uri="{FF2B5EF4-FFF2-40B4-BE49-F238E27FC236}">
                <a16:creationId xmlns:a16="http://schemas.microsoft.com/office/drawing/2014/main" id="{4304CC59-6815-4AE4-893F-197359F1B4CF}"/>
              </a:ext>
            </a:extLst>
          </p:cNvPr>
          <p:cNvSpPr>
            <a:spLocks noGrp="1"/>
          </p:cNvSpPr>
          <p:nvPr>
            <p:ph idx="1"/>
          </p:nvPr>
        </p:nvSpPr>
        <p:spPr/>
        <p:txBody>
          <a:bodyPr/>
          <a:lstStyle/>
          <a:p>
            <a:r>
              <a:rPr lang="en-US" dirty="0"/>
              <a:t>As shown in the following  figure, after the assignment statement c1 = c2, c1 points to the same object referenced by c2. The object previously referenced by c1 is no longer referenced. This object is known as garbage. Garbage is automatically collected by JVM.</a:t>
            </a:r>
          </a:p>
          <a:p>
            <a:pPr marL="0" indent="0">
              <a:buNone/>
            </a:pPr>
            <a:endParaRPr lang="en-US" dirty="0"/>
          </a:p>
        </p:txBody>
      </p:sp>
      <p:sp>
        <p:nvSpPr>
          <p:cNvPr id="4" name="Footer Placeholder 3">
            <a:extLst>
              <a:ext uri="{FF2B5EF4-FFF2-40B4-BE49-F238E27FC236}">
                <a16:creationId xmlns:a16="http://schemas.microsoft.com/office/drawing/2014/main" id="{B1ABCDB9-5491-4749-B720-AC47FDB5D22F}"/>
              </a:ext>
            </a:extLst>
          </p:cNvPr>
          <p:cNvSpPr>
            <a:spLocks noGrp="1"/>
          </p:cNvSpPr>
          <p:nvPr>
            <p:ph type="ftr" sz="quarter" idx="11"/>
          </p:nvPr>
        </p:nvSpPr>
        <p:spPr/>
        <p:txBody>
          <a:bodyPr/>
          <a:lstStyle/>
          <a:p>
            <a:r>
              <a:rPr lang="en-US"/>
              <a:t>Edited and Reviewed By: I. Bara' Qadomi &amp; I. Bara' Hamadah (FIT, Applied Science Private University)</a:t>
            </a:r>
          </a:p>
        </p:txBody>
      </p:sp>
      <p:graphicFrame>
        <p:nvGraphicFramePr>
          <p:cNvPr id="5" name="Object 10">
            <a:extLst>
              <a:ext uri="{FF2B5EF4-FFF2-40B4-BE49-F238E27FC236}">
                <a16:creationId xmlns:a16="http://schemas.microsoft.com/office/drawing/2014/main" id="{07FB3947-6CAB-4137-9332-7DD17F513DD0}"/>
              </a:ext>
            </a:extLst>
          </p:cNvPr>
          <p:cNvGraphicFramePr>
            <a:graphicFrameLocks noChangeAspect="1"/>
          </p:cNvGraphicFramePr>
          <p:nvPr>
            <p:extLst>
              <p:ext uri="{D42A27DB-BD31-4B8C-83A1-F6EECF244321}">
                <p14:modId xmlns:p14="http://schemas.microsoft.com/office/powerpoint/2010/main" val="378139293"/>
              </p:ext>
            </p:extLst>
          </p:nvPr>
        </p:nvGraphicFramePr>
        <p:xfrm>
          <a:off x="3128211" y="3031958"/>
          <a:ext cx="6833935" cy="3427827"/>
        </p:xfrm>
        <a:graphic>
          <a:graphicData uri="http://schemas.openxmlformats.org/presentationml/2006/ole">
            <mc:AlternateContent xmlns:mc="http://schemas.openxmlformats.org/markup-compatibility/2006">
              <mc:Choice xmlns:v="urn:schemas-microsoft-com:vml" Requires="v">
                <p:oleObj name="Picture" r:id="rId2" imgW="3439668" imgH="1740408" progId="Word.Picture.8">
                  <p:embed/>
                </p:oleObj>
              </mc:Choice>
              <mc:Fallback>
                <p:oleObj name="Picture" r:id="rId2" imgW="3439668" imgH="1740408" progId="Word.Picture.8">
                  <p:embed/>
                  <p:pic>
                    <p:nvPicPr>
                      <p:cNvPr id="2" name="Object 10">
                        <a:extLst>
                          <a:ext uri="{FF2B5EF4-FFF2-40B4-BE49-F238E27FC236}">
                            <a16:creationId xmlns:a16="http://schemas.microsoft.com/office/drawing/2014/main" id="{8479BD52-B9B4-977E-0AFD-66B74F6F3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8211" y="3031958"/>
                        <a:ext cx="6833935" cy="3427827"/>
                      </a:xfrm>
                      <a:prstGeom prst="rect">
                        <a:avLst/>
                      </a:prstGeom>
                      <a:noFill/>
                      <a:ln>
                        <a:noFill/>
                      </a:ln>
                    </p:spPr>
                  </p:pic>
                </p:oleObj>
              </mc:Fallback>
            </mc:AlternateContent>
          </a:graphicData>
        </a:graphic>
      </p:graphicFrame>
      <p:sp>
        <p:nvSpPr>
          <p:cNvPr id="6" name="AutoShape 12">
            <a:extLst>
              <a:ext uri="{FF2B5EF4-FFF2-40B4-BE49-F238E27FC236}">
                <a16:creationId xmlns:a16="http://schemas.microsoft.com/office/drawing/2014/main" id="{FC33723E-E2F2-49A9-A8AE-904274795A2E}"/>
              </a:ext>
            </a:extLst>
          </p:cNvPr>
          <p:cNvSpPr>
            <a:spLocks noChangeArrowheads="1"/>
          </p:cNvSpPr>
          <p:nvPr/>
        </p:nvSpPr>
        <p:spPr bwMode="auto">
          <a:xfrm>
            <a:off x="7384488" y="5663542"/>
            <a:ext cx="834243" cy="796243"/>
          </a:xfrm>
          <a:custGeom>
            <a:avLst/>
            <a:gdLst>
              <a:gd name="T0" fmla="*/ 17 w 21600"/>
              <a:gd name="T1" fmla="*/ 0 h 21600"/>
              <a:gd name="T2" fmla="*/ 5 w 21600"/>
              <a:gd name="T3" fmla="*/ 5 h 21600"/>
              <a:gd name="T4" fmla="*/ 0 w 21600"/>
              <a:gd name="T5" fmla="*/ 17 h 21600"/>
              <a:gd name="T6" fmla="*/ 5 w 21600"/>
              <a:gd name="T7" fmla="*/ 29 h 21600"/>
              <a:gd name="T8" fmla="*/ 17 w 21600"/>
              <a:gd name="T9" fmla="*/ 35 h 21600"/>
              <a:gd name="T10" fmla="*/ 29 w 21600"/>
              <a:gd name="T11" fmla="*/ 29 h 21600"/>
              <a:gd name="T12" fmla="*/ 35 w 21600"/>
              <a:gd name="T13" fmla="*/ 17 h 21600"/>
              <a:gd name="T14" fmla="*/ 29 w 21600"/>
              <a:gd name="T15" fmla="*/ 5 h 21600"/>
              <a:gd name="T16" fmla="*/ 0 60000 65536"/>
              <a:gd name="T17" fmla="*/ 0 60000 65536"/>
              <a:gd name="T18" fmla="*/ 0 60000 65536"/>
              <a:gd name="T19" fmla="*/ 0 60000 65536"/>
              <a:gd name="T20" fmla="*/ 0 60000 65536"/>
              <a:gd name="T21" fmla="*/ 0 60000 65536"/>
              <a:gd name="T22" fmla="*/ 0 60000 65536"/>
              <a:gd name="T23" fmla="*/ 0 60000 65536"/>
              <a:gd name="T24" fmla="*/ 3175 w 21600"/>
              <a:gd name="T25" fmla="*/ 3175 h 21600"/>
              <a:gd name="T26" fmla="*/ 18425 w 21600"/>
              <a:gd name="T27" fmla="*/ 1842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19050">
            <a:solidFill>
              <a:schemeClr val="tx1"/>
            </a:solidFill>
            <a:miter lim="800000"/>
            <a:headEnd/>
            <a:tailEnd/>
          </a:ln>
        </p:spPr>
        <p:txBody>
          <a:bodyPr wrap="none" anchor="ctr"/>
          <a:lstStyle/>
          <a:p>
            <a:endParaRPr lang="ar-SA"/>
          </a:p>
        </p:txBody>
      </p:sp>
    </p:spTree>
    <p:extLst>
      <p:ext uri="{BB962C8B-B14F-4D97-AF65-F5344CB8AC3E}">
        <p14:creationId xmlns:p14="http://schemas.microsoft.com/office/powerpoint/2010/main" val="2076604218"/>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20CBA-2097-4B37-A000-A221F4F797E8}"/>
              </a:ext>
            </a:extLst>
          </p:cNvPr>
          <p:cNvSpPr>
            <a:spLocks noGrp="1"/>
          </p:cNvSpPr>
          <p:nvPr>
            <p:ph type="title"/>
          </p:nvPr>
        </p:nvSpPr>
        <p:spPr/>
        <p:txBody>
          <a:bodyPr/>
          <a:lstStyle/>
          <a:p>
            <a:r>
              <a:rPr lang="en-US" dirty="0"/>
              <a:t>The toString Method</a:t>
            </a:r>
          </a:p>
        </p:txBody>
      </p:sp>
      <p:sp>
        <p:nvSpPr>
          <p:cNvPr id="3" name="Content Placeholder 2">
            <a:extLst>
              <a:ext uri="{FF2B5EF4-FFF2-40B4-BE49-F238E27FC236}">
                <a16:creationId xmlns:a16="http://schemas.microsoft.com/office/drawing/2014/main" id="{7D4E282B-408E-4E59-B177-50D1BB33B4F1}"/>
              </a:ext>
            </a:extLst>
          </p:cNvPr>
          <p:cNvSpPr>
            <a:spLocks noGrp="1"/>
          </p:cNvSpPr>
          <p:nvPr>
            <p:ph idx="1"/>
          </p:nvPr>
        </p:nvSpPr>
        <p:spPr/>
        <p:txBody>
          <a:bodyPr/>
          <a:lstStyle/>
          <a:p>
            <a:r>
              <a:rPr lang="en-US" dirty="0"/>
              <a:t>All objects have a </a:t>
            </a:r>
            <a:r>
              <a:rPr lang="en-US" b="1" dirty="0"/>
              <a:t>toString</a:t>
            </a:r>
            <a:r>
              <a:rPr lang="en-US" dirty="0"/>
              <a:t> method that returns the class name and a hash of the memory address of the object.</a:t>
            </a:r>
          </a:p>
          <a:p>
            <a:r>
              <a:rPr lang="en-US" dirty="0"/>
              <a:t>We can override the default method with our own to print out more useful information</a:t>
            </a:r>
          </a:p>
          <a:p>
            <a:r>
              <a:rPr lang="en-US" b="1" dirty="0">
                <a:solidFill>
                  <a:srgbClr val="FF0000"/>
                </a:solidFill>
              </a:rPr>
              <a:t>Overriding is one of the OOP concepts and will be discussed later in details.</a:t>
            </a:r>
          </a:p>
          <a:p>
            <a:endParaRPr lang="en-US" dirty="0"/>
          </a:p>
        </p:txBody>
      </p:sp>
      <p:sp>
        <p:nvSpPr>
          <p:cNvPr id="4" name="Footer Placeholder 3">
            <a:extLst>
              <a:ext uri="{FF2B5EF4-FFF2-40B4-BE49-F238E27FC236}">
                <a16:creationId xmlns:a16="http://schemas.microsoft.com/office/drawing/2014/main" id="{EF992D16-C091-4343-AA0D-3A825EF84C08}"/>
              </a:ext>
            </a:extLst>
          </p:cNvPr>
          <p:cNvSpPr>
            <a:spLocks noGrp="1"/>
          </p:cNvSpPr>
          <p:nvPr>
            <p:ph type="ftr" sz="quarter" idx="11"/>
          </p:nvPr>
        </p:nvSpPr>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3B97A8EE-8F52-41A7-AEFA-448A8D7139E9}"/>
              </a:ext>
            </a:extLst>
          </p:cNvPr>
          <p:cNvSpPr/>
          <p:nvPr/>
        </p:nvSpPr>
        <p:spPr>
          <a:xfrm>
            <a:off x="1172999" y="4269227"/>
            <a:ext cx="9016730" cy="1323439"/>
          </a:xfrm>
          <a:prstGeom prst="rect">
            <a:avLst/>
          </a:prstGeom>
        </p:spPr>
        <p:txBody>
          <a:bodyPr wrap="square">
            <a:spAutoFit/>
          </a:bodyPr>
          <a:lstStyle/>
          <a:p>
            <a:r>
              <a:rPr lang="en-US" sz="2000" dirty="0">
                <a:latin typeface="Courier New" panose="02070309020205020404" pitchFamily="49" charset="0"/>
              </a:rPr>
              <a:t> </a:t>
            </a:r>
            <a:r>
              <a:rPr lang="en-US" sz="2000" b="1" dirty="0">
                <a:latin typeface="Courier New" panose="02070309020205020404" pitchFamily="49" charset="0"/>
                <a:cs typeface="Arial" panose="020B0604020202020204" pitchFamily="34" charset="0"/>
              </a:rPr>
              <a:t>public String toString() {</a:t>
            </a:r>
          </a:p>
          <a:p>
            <a:r>
              <a:rPr lang="en-US" sz="2000" b="1" dirty="0">
                <a:latin typeface="Courier New" panose="02070309020205020404" pitchFamily="49" charset="0"/>
                <a:cs typeface="Arial" panose="020B0604020202020204" pitchFamily="34" charset="0"/>
              </a:rPr>
              <a:t>        return “Rectangle{" + "</a:t>
            </a:r>
            <a:r>
              <a:rPr lang="en-US" altLang="ar-SA" sz="2000" b="1" dirty="0">
                <a:latin typeface="Courier New" panose="02070309020205020404" pitchFamily="49" charset="0"/>
              </a:rPr>
              <a:t> Length: </a:t>
            </a:r>
            <a:r>
              <a:rPr lang="en-US" sz="2000" b="1" dirty="0">
                <a:latin typeface="Courier New" panose="02070309020205020404" pitchFamily="49" charset="0"/>
                <a:cs typeface="Arial" panose="020B0604020202020204" pitchFamily="34" charset="0"/>
              </a:rPr>
              <a:t>= " + </a:t>
            </a:r>
            <a:r>
              <a:rPr lang="en-US" altLang="ar-SA" sz="2000" b="1" dirty="0">
                <a:latin typeface="Courier New" panose="02070309020205020404" pitchFamily="49" charset="0"/>
              </a:rPr>
              <a:t>Length</a:t>
            </a:r>
            <a:r>
              <a:rPr lang="en-US" sz="2000" b="1" dirty="0">
                <a:latin typeface="Courier New" panose="02070309020205020404" pitchFamily="49" charset="0"/>
                <a:cs typeface="Arial" panose="020B0604020202020204" pitchFamily="34" charset="0"/>
              </a:rPr>
              <a:t> </a:t>
            </a:r>
          </a:p>
          <a:p>
            <a:r>
              <a:rPr lang="en-US" sz="2000" b="1" dirty="0">
                <a:latin typeface="Courier New" panose="02070309020205020404" pitchFamily="49" charset="0"/>
                <a:cs typeface="Arial" panose="020B0604020202020204" pitchFamily="34" charset="0"/>
              </a:rPr>
              <a:t>                    + ", </a:t>
            </a:r>
            <a:r>
              <a:rPr lang="en-US" altLang="ar-SA" sz="2000" b="1" dirty="0">
                <a:latin typeface="Courier New" panose="02070309020205020404" pitchFamily="49" charset="0"/>
              </a:rPr>
              <a:t>Width: </a:t>
            </a:r>
            <a:r>
              <a:rPr lang="en-US" sz="2000" b="1" dirty="0">
                <a:latin typeface="Courier New" panose="02070309020205020404" pitchFamily="49" charset="0"/>
                <a:cs typeface="Arial" panose="020B0604020202020204" pitchFamily="34" charset="0"/>
              </a:rPr>
              <a:t>= " + </a:t>
            </a:r>
            <a:r>
              <a:rPr lang="en-US" altLang="ar-SA" sz="2000" b="1" dirty="0">
                <a:latin typeface="Courier New" panose="02070309020205020404" pitchFamily="49" charset="0"/>
              </a:rPr>
              <a:t>Width “</a:t>
            </a:r>
            <a:r>
              <a:rPr lang="en-US" sz="2000" b="1" dirty="0">
                <a:latin typeface="Courier New" panose="02070309020205020404" pitchFamily="49" charset="0"/>
                <a:cs typeface="Arial" panose="020B0604020202020204" pitchFamily="34" charset="0"/>
              </a:rPr>
              <a:t>}”;    </a:t>
            </a:r>
          </a:p>
          <a:p>
            <a:r>
              <a:rPr lang="en-US" sz="2000" b="1" dirty="0">
                <a:latin typeface="Courier New" panose="02070309020205020404" pitchFamily="49" charset="0"/>
                <a:cs typeface="Arial" panose="020B0604020202020204" pitchFamily="34" charset="0"/>
              </a:rPr>
              <a:t>                          }</a:t>
            </a:r>
          </a:p>
        </p:txBody>
      </p:sp>
    </p:spTree>
    <p:extLst>
      <p:ext uri="{BB962C8B-B14F-4D97-AF65-F5344CB8AC3E}">
        <p14:creationId xmlns:p14="http://schemas.microsoft.com/office/powerpoint/2010/main" val="691868767"/>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6FF4A-7F1C-4178-80C1-AB056C92B861}"/>
              </a:ext>
            </a:extLst>
          </p:cNvPr>
          <p:cNvSpPr>
            <a:spLocks noGrp="1"/>
          </p:cNvSpPr>
          <p:nvPr>
            <p:ph type="title"/>
          </p:nvPr>
        </p:nvSpPr>
        <p:spPr/>
        <p:txBody>
          <a:bodyPr/>
          <a:lstStyle/>
          <a:p>
            <a:r>
              <a:rPr lang="en-US" dirty="0"/>
              <a:t>The toString Method</a:t>
            </a:r>
          </a:p>
        </p:txBody>
      </p:sp>
      <p:sp>
        <p:nvSpPr>
          <p:cNvPr id="3" name="Content Placeholder 2">
            <a:extLst>
              <a:ext uri="{FF2B5EF4-FFF2-40B4-BE49-F238E27FC236}">
                <a16:creationId xmlns:a16="http://schemas.microsoft.com/office/drawing/2014/main" id="{90DF3814-26C5-4770-8620-1550AC0ADF5E}"/>
              </a:ext>
            </a:extLst>
          </p:cNvPr>
          <p:cNvSpPr>
            <a:spLocks noGrp="1"/>
          </p:cNvSpPr>
          <p:nvPr>
            <p:ph idx="1"/>
          </p:nvPr>
        </p:nvSpPr>
        <p:spPr/>
        <p:txBody>
          <a:bodyPr>
            <a:normAutofit/>
          </a:bodyPr>
          <a:lstStyle/>
          <a:p>
            <a:r>
              <a:rPr lang="en-US" dirty="0"/>
              <a:t>The toString method of a class can be called </a:t>
            </a:r>
            <a:r>
              <a:rPr lang="en-US" b="1" i="1" dirty="0"/>
              <a:t>explicitly</a:t>
            </a:r>
            <a:r>
              <a:rPr lang="en-US" dirty="0"/>
              <a:t>:</a:t>
            </a:r>
          </a:p>
          <a:p>
            <a:pPr lvl="1"/>
            <a:r>
              <a:rPr lang="en-US" dirty="0"/>
              <a:t>Rectangle box = new Rectangle(10.5, 9.62);</a:t>
            </a:r>
          </a:p>
          <a:p>
            <a:pPr lvl="1"/>
            <a:r>
              <a:rPr lang="en-US" dirty="0" err="1"/>
              <a:t>System.out.println</a:t>
            </a:r>
            <a:r>
              <a:rPr lang="en-US" dirty="0"/>
              <a:t>(</a:t>
            </a:r>
            <a:r>
              <a:rPr lang="en-US" dirty="0" err="1"/>
              <a:t>box.toString</a:t>
            </a:r>
            <a:r>
              <a:rPr lang="en-US" dirty="0"/>
              <a:t>());</a:t>
            </a:r>
          </a:p>
          <a:p>
            <a:r>
              <a:rPr lang="en-US" dirty="0"/>
              <a:t>However, the </a:t>
            </a:r>
            <a:r>
              <a:rPr lang="en-US" b="1" dirty="0"/>
              <a:t>toString</a:t>
            </a:r>
            <a:r>
              <a:rPr lang="en-US" dirty="0"/>
              <a:t> method does not have to be called explicitly but is called implicitly whenever you pass an object of the class to </a:t>
            </a:r>
            <a:r>
              <a:rPr lang="en-US" b="1" dirty="0" err="1"/>
              <a:t>println</a:t>
            </a:r>
            <a:r>
              <a:rPr lang="en-US" dirty="0"/>
              <a:t> or </a:t>
            </a:r>
            <a:r>
              <a:rPr lang="en-US" b="1" dirty="0"/>
              <a:t>print</a:t>
            </a:r>
            <a:r>
              <a:rPr lang="en-US" dirty="0"/>
              <a:t>.</a:t>
            </a:r>
          </a:p>
          <a:p>
            <a:pPr lvl="1"/>
            <a:r>
              <a:rPr lang="en-US" dirty="0"/>
              <a:t>Rectangle box = new Rectangle(10.5, 9.62);</a:t>
            </a:r>
          </a:p>
          <a:p>
            <a:pPr lvl="1"/>
            <a:r>
              <a:rPr lang="en-US" dirty="0" err="1"/>
              <a:t>System.out.println</a:t>
            </a:r>
            <a:r>
              <a:rPr lang="en-US" dirty="0"/>
              <a:t>(box);</a:t>
            </a:r>
          </a:p>
        </p:txBody>
      </p:sp>
      <p:sp>
        <p:nvSpPr>
          <p:cNvPr id="4" name="Footer Placeholder 3">
            <a:extLst>
              <a:ext uri="{FF2B5EF4-FFF2-40B4-BE49-F238E27FC236}">
                <a16:creationId xmlns:a16="http://schemas.microsoft.com/office/drawing/2014/main" id="{32D05D38-E40E-48F3-91AB-CD981405D4CC}"/>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51961625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632D4-9204-46E1-8CC7-BBFBFBFB151B}"/>
              </a:ext>
            </a:extLst>
          </p:cNvPr>
          <p:cNvSpPr>
            <a:spLocks noGrp="1"/>
          </p:cNvSpPr>
          <p:nvPr>
            <p:ph type="title"/>
          </p:nvPr>
        </p:nvSpPr>
        <p:spPr/>
        <p:txBody>
          <a:bodyPr/>
          <a:lstStyle/>
          <a:p>
            <a:r>
              <a:rPr lang="en-US" dirty="0"/>
              <a:t>The toString Method</a:t>
            </a:r>
          </a:p>
        </p:txBody>
      </p:sp>
      <p:sp>
        <p:nvSpPr>
          <p:cNvPr id="3" name="Content Placeholder 2">
            <a:extLst>
              <a:ext uri="{FF2B5EF4-FFF2-40B4-BE49-F238E27FC236}">
                <a16:creationId xmlns:a16="http://schemas.microsoft.com/office/drawing/2014/main" id="{2A0C70AE-61AC-4561-A9CF-C8F602443B15}"/>
              </a:ext>
            </a:extLst>
          </p:cNvPr>
          <p:cNvSpPr>
            <a:spLocks noGrp="1"/>
          </p:cNvSpPr>
          <p:nvPr>
            <p:ph idx="1"/>
          </p:nvPr>
        </p:nvSpPr>
        <p:spPr/>
        <p:txBody>
          <a:bodyPr/>
          <a:lstStyle/>
          <a:p>
            <a:r>
              <a:rPr lang="en-US" dirty="0"/>
              <a:t>The </a:t>
            </a:r>
            <a:r>
              <a:rPr lang="en-US" b="1" dirty="0"/>
              <a:t>toString</a:t>
            </a:r>
            <a:r>
              <a:rPr lang="en-US" dirty="0"/>
              <a:t> method is also called implicitly whenever you concatenate an object of the class with a string.</a:t>
            </a:r>
          </a:p>
          <a:p>
            <a:pPr marL="882900" lvl="1" indent="-342900"/>
            <a:r>
              <a:rPr lang="en-US" altLang="ar-SA" dirty="0">
                <a:latin typeface="Courier New" panose="02070309020205020404" pitchFamily="49" charset="0"/>
              </a:rPr>
              <a:t>Rectangle box = new Rectangle(10.5, 9.62);</a:t>
            </a:r>
          </a:p>
          <a:p>
            <a:pPr marL="882900" lvl="1" indent="-342900"/>
            <a:r>
              <a:rPr lang="en-US" altLang="ar-SA" dirty="0" err="1">
                <a:latin typeface="Courier New" panose="02070309020205020404" pitchFamily="49" charset="0"/>
              </a:rPr>
              <a:t>System.out.println</a:t>
            </a:r>
            <a:r>
              <a:rPr lang="en-US" altLang="ar-SA" dirty="0">
                <a:latin typeface="Courier New" panose="02070309020205020404" pitchFamily="49" charset="0"/>
              </a:rPr>
              <a:t>("The box data is:\n" + box);</a:t>
            </a:r>
            <a:endParaRPr lang="en-US" altLang="ar-SA" sz="1800" b="1" dirty="0">
              <a:latin typeface="Courier New" panose="02070309020205020404" pitchFamily="49" charset="0"/>
            </a:endParaRPr>
          </a:p>
          <a:p>
            <a:endParaRPr lang="en-US" dirty="0"/>
          </a:p>
        </p:txBody>
      </p:sp>
      <p:sp>
        <p:nvSpPr>
          <p:cNvPr id="4" name="Footer Placeholder 3">
            <a:extLst>
              <a:ext uri="{FF2B5EF4-FFF2-40B4-BE49-F238E27FC236}">
                <a16:creationId xmlns:a16="http://schemas.microsoft.com/office/drawing/2014/main" id="{5C35BC91-7B15-4AAE-98B5-1CFE1B754D27}"/>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4036634177"/>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BFA13-9FCD-4A69-BA8F-E2F373450A03}"/>
              </a:ext>
            </a:extLst>
          </p:cNvPr>
          <p:cNvSpPr>
            <a:spLocks noGrp="1"/>
          </p:cNvSpPr>
          <p:nvPr>
            <p:ph type="title"/>
          </p:nvPr>
        </p:nvSpPr>
        <p:spPr/>
        <p:txBody>
          <a:bodyPr/>
          <a:lstStyle/>
          <a:p>
            <a:r>
              <a:rPr lang="en-US" dirty="0"/>
              <a:t>(toString) method</a:t>
            </a:r>
          </a:p>
        </p:txBody>
      </p:sp>
      <p:sp>
        <p:nvSpPr>
          <p:cNvPr id="4" name="Footer Placeholder 3">
            <a:extLst>
              <a:ext uri="{FF2B5EF4-FFF2-40B4-BE49-F238E27FC236}">
                <a16:creationId xmlns:a16="http://schemas.microsoft.com/office/drawing/2014/main" id="{1EB3C5EE-75AC-41BB-BA5D-3C838FC8A9A0}"/>
              </a:ext>
            </a:extLst>
          </p:cNvPr>
          <p:cNvSpPr>
            <a:spLocks noGrp="1"/>
          </p:cNvSpPr>
          <p:nvPr>
            <p:ph type="ftr" sz="quarter" idx="11"/>
          </p:nvPr>
        </p:nvSpPr>
        <p:spPr/>
        <p:txBody>
          <a:bodyPr/>
          <a:lstStyle/>
          <a:p>
            <a:r>
              <a:rPr lang="en-US"/>
              <a:t>Edited and Reviewed By: I. Bara' Qadomi &amp; I. Bara' Hamadah (FIT, Applied Science Private University)</a:t>
            </a:r>
          </a:p>
        </p:txBody>
      </p:sp>
      <p:grpSp>
        <p:nvGrpSpPr>
          <p:cNvPr id="7" name="Group 6">
            <a:extLst>
              <a:ext uri="{FF2B5EF4-FFF2-40B4-BE49-F238E27FC236}">
                <a16:creationId xmlns:a16="http://schemas.microsoft.com/office/drawing/2014/main" id="{568BDC84-B88E-435D-8D38-063E8B1623B5}"/>
              </a:ext>
            </a:extLst>
          </p:cNvPr>
          <p:cNvGrpSpPr/>
          <p:nvPr/>
        </p:nvGrpSpPr>
        <p:grpSpPr>
          <a:xfrm>
            <a:off x="543821" y="1737360"/>
            <a:ext cx="5537768" cy="5120640"/>
            <a:chOff x="642910" y="1119202"/>
            <a:chExt cx="5143536" cy="5167318"/>
          </a:xfrm>
        </p:grpSpPr>
        <p:pic>
          <p:nvPicPr>
            <p:cNvPr id="8" name="Picture 2">
              <a:extLst>
                <a:ext uri="{FF2B5EF4-FFF2-40B4-BE49-F238E27FC236}">
                  <a16:creationId xmlns:a16="http://schemas.microsoft.com/office/drawing/2014/main" id="{3742272F-0F39-4CDD-82B7-30DA5C0AFADC}"/>
                </a:ext>
              </a:extLst>
            </p:cNvPr>
            <p:cNvPicPr>
              <a:picLocks noChangeAspect="1" noChangeArrowheads="1"/>
            </p:cNvPicPr>
            <p:nvPr/>
          </p:nvPicPr>
          <p:blipFill>
            <a:blip r:embed="rId2"/>
            <a:srcRect/>
            <a:stretch>
              <a:fillRect/>
            </a:stretch>
          </p:blipFill>
          <p:spPr bwMode="auto">
            <a:xfrm>
              <a:off x="642910" y="1119202"/>
              <a:ext cx="5143536" cy="516731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a:extLst>
                <a:ext uri="{FF2B5EF4-FFF2-40B4-BE49-F238E27FC236}">
                  <a16:creationId xmlns:a16="http://schemas.microsoft.com/office/drawing/2014/main" id="{5D486C0F-27D4-4121-AA5D-757F5B1A487A}"/>
                </a:ext>
              </a:extLst>
            </p:cNvPr>
            <p:cNvSpPr/>
            <p:nvPr/>
          </p:nvSpPr>
          <p:spPr>
            <a:xfrm>
              <a:off x="1357290" y="5214950"/>
              <a:ext cx="4286280" cy="714380"/>
            </a:xfrm>
            <a:prstGeom prst="rect">
              <a:avLst/>
            </a:prstGeom>
            <a:solidFill>
              <a:schemeClr val="accent1">
                <a:alpha val="0"/>
              </a:schemeClr>
            </a:solid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3">
            <a:extLst>
              <a:ext uri="{FF2B5EF4-FFF2-40B4-BE49-F238E27FC236}">
                <a16:creationId xmlns:a16="http://schemas.microsoft.com/office/drawing/2014/main" id="{5EF4BFF8-DDCB-43CD-9CE0-7D0DB482BECE}"/>
              </a:ext>
            </a:extLst>
          </p:cNvPr>
          <p:cNvPicPr>
            <a:picLocks noChangeAspect="1" noChangeArrowheads="1"/>
          </p:cNvPicPr>
          <p:nvPr/>
        </p:nvPicPr>
        <p:blipFill>
          <a:blip r:embed="rId3"/>
          <a:srcRect/>
          <a:stretch>
            <a:fillRect/>
          </a:stretch>
        </p:blipFill>
        <p:spPr bwMode="auto">
          <a:xfrm>
            <a:off x="6391843" y="1737360"/>
            <a:ext cx="5630064" cy="304893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10">
            <a:extLst>
              <a:ext uri="{FF2B5EF4-FFF2-40B4-BE49-F238E27FC236}">
                <a16:creationId xmlns:a16="http://schemas.microsoft.com/office/drawing/2014/main" id="{1D2A0A9B-AF61-4A66-8D40-2ABB0CFBE7CF}"/>
              </a:ext>
            </a:extLst>
          </p:cNvPr>
          <p:cNvSpPr/>
          <p:nvPr/>
        </p:nvSpPr>
        <p:spPr>
          <a:xfrm>
            <a:off x="7700204" y="3071786"/>
            <a:ext cx="3965609" cy="1357322"/>
          </a:xfrm>
          <a:prstGeom prst="rect">
            <a:avLst/>
          </a:prstGeom>
          <a:solidFill>
            <a:schemeClr val="accent1">
              <a:alpha val="0"/>
            </a:schemeClr>
          </a:solid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a:extLst>
              <a:ext uri="{FF2B5EF4-FFF2-40B4-BE49-F238E27FC236}">
                <a16:creationId xmlns:a16="http://schemas.microsoft.com/office/drawing/2014/main" id="{48802C0D-40A1-4815-B773-5A03EDD13603}"/>
              </a:ext>
            </a:extLst>
          </p:cNvPr>
          <p:cNvPicPr>
            <a:picLocks noChangeAspect="1" noChangeArrowheads="1"/>
          </p:cNvPicPr>
          <p:nvPr/>
        </p:nvPicPr>
        <p:blipFill>
          <a:blip r:embed="rId4"/>
          <a:srcRect/>
          <a:stretch>
            <a:fillRect/>
          </a:stretch>
        </p:blipFill>
        <p:spPr bwMode="auto">
          <a:xfrm>
            <a:off x="6357294" y="4896084"/>
            <a:ext cx="5722360" cy="1928826"/>
          </a:xfrm>
          <a:prstGeom prst="rect">
            <a:avLst/>
          </a:prstGeom>
          <a:solidFill>
            <a:schemeClr val="accent1">
              <a:alpha val="0"/>
            </a:schemeClr>
          </a:solidFill>
          <a:ln w="38100">
            <a:solidFill>
              <a:srgbClr val="FF0000"/>
            </a:solidFill>
            <a:prstDash val="sysDash"/>
          </a:ln>
        </p:spPr>
      </p:pic>
      <p:sp>
        <p:nvSpPr>
          <p:cNvPr id="13" name="TextBox 12">
            <a:extLst>
              <a:ext uri="{FF2B5EF4-FFF2-40B4-BE49-F238E27FC236}">
                <a16:creationId xmlns:a16="http://schemas.microsoft.com/office/drawing/2014/main" id="{95AF20E5-6FFA-447B-ACDE-60D4E4FFD627}"/>
              </a:ext>
            </a:extLst>
          </p:cNvPr>
          <p:cNvSpPr txBox="1"/>
          <p:nvPr/>
        </p:nvSpPr>
        <p:spPr>
          <a:xfrm>
            <a:off x="7256478" y="4974783"/>
            <a:ext cx="1207830" cy="369332"/>
          </a:xfrm>
          <a:prstGeom prst="rect">
            <a:avLst/>
          </a:prstGeom>
          <a:ln>
            <a:solidFill>
              <a:srgbClr val="C00000"/>
            </a:solidFill>
            <a:prstDash val="dash"/>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b="1" dirty="0">
                <a:solidFill>
                  <a:srgbClr val="C00000"/>
                </a:solidFill>
              </a:rPr>
              <a:t>Output:</a:t>
            </a:r>
            <a:endParaRPr lang="en-US" b="1" dirty="0">
              <a:solidFill>
                <a:srgbClr val="C00000"/>
              </a:solidFill>
            </a:endParaRPr>
          </a:p>
        </p:txBody>
      </p:sp>
    </p:spTree>
    <p:extLst>
      <p:ext uri="{BB962C8B-B14F-4D97-AF65-F5344CB8AC3E}">
        <p14:creationId xmlns:p14="http://schemas.microsoft.com/office/powerpoint/2010/main" val="3954669119"/>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F83A2-4BD1-448B-9E4B-63196BAC345D}"/>
              </a:ext>
            </a:extLst>
          </p:cNvPr>
          <p:cNvSpPr>
            <a:spLocks noGrp="1"/>
          </p:cNvSpPr>
          <p:nvPr>
            <p:ph type="title"/>
          </p:nvPr>
        </p:nvSpPr>
        <p:spPr/>
        <p:txBody>
          <a:bodyPr/>
          <a:lstStyle/>
          <a:p>
            <a:r>
              <a:rPr lang="en-US" dirty="0"/>
              <a:t>(toString) method</a:t>
            </a:r>
          </a:p>
        </p:txBody>
      </p:sp>
      <p:sp>
        <p:nvSpPr>
          <p:cNvPr id="4" name="Footer Placeholder 3">
            <a:extLst>
              <a:ext uri="{FF2B5EF4-FFF2-40B4-BE49-F238E27FC236}">
                <a16:creationId xmlns:a16="http://schemas.microsoft.com/office/drawing/2014/main" id="{AE395C3B-0241-4F9F-88D9-1D3462E33053}"/>
              </a:ext>
            </a:extLst>
          </p:cNvPr>
          <p:cNvSpPr>
            <a:spLocks noGrp="1"/>
          </p:cNvSpPr>
          <p:nvPr>
            <p:ph type="ftr" sz="quarter" idx="11"/>
          </p:nvPr>
        </p:nvSpPr>
        <p:spPr/>
        <p:txBody>
          <a:bodyPr/>
          <a:lstStyle/>
          <a:p>
            <a:r>
              <a:rPr lang="en-US"/>
              <a:t>Edited and Reviewed By: I. Bara' Qadomi &amp; I. Bara' Hamadah (FIT, Applied Science Private University)</a:t>
            </a:r>
          </a:p>
        </p:txBody>
      </p:sp>
      <p:pic>
        <p:nvPicPr>
          <p:cNvPr id="5" name="Picture 3">
            <a:extLst>
              <a:ext uri="{FF2B5EF4-FFF2-40B4-BE49-F238E27FC236}">
                <a16:creationId xmlns:a16="http://schemas.microsoft.com/office/drawing/2014/main" id="{8F6FAEFD-6D64-499F-B7A7-AF151975FF08}"/>
              </a:ext>
            </a:extLst>
          </p:cNvPr>
          <p:cNvPicPr>
            <a:picLocks noChangeAspect="1" noChangeArrowheads="1"/>
          </p:cNvPicPr>
          <p:nvPr/>
        </p:nvPicPr>
        <p:blipFill>
          <a:blip r:embed="rId2"/>
          <a:srcRect/>
          <a:stretch>
            <a:fillRect/>
          </a:stretch>
        </p:blipFill>
        <p:spPr bwMode="auto">
          <a:xfrm>
            <a:off x="5987478" y="1749502"/>
            <a:ext cx="4927569" cy="3071834"/>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146E2F4D-329E-4041-ACF0-5053D2D8EDB6}"/>
              </a:ext>
            </a:extLst>
          </p:cNvPr>
          <p:cNvSpPr/>
          <p:nvPr/>
        </p:nvSpPr>
        <p:spPr>
          <a:xfrm>
            <a:off x="6558982" y="2955154"/>
            <a:ext cx="4038991" cy="1357322"/>
          </a:xfrm>
          <a:prstGeom prst="rect">
            <a:avLst/>
          </a:prstGeom>
          <a:solidFill>
            <a:schemeClr val="accent1">
              <a:alpha val="0"/>
            </a:schemeClr>
          </a:solid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3130A517-16D7-4873-A1A1-5856686977D3}"/>
              </a:ext>
            </a:extLst>
          </p:cNvPr>
          <p:cNvPicPr>
            <a:picLocks noChangeAspect="1" noChangeArrowheads="1"/>
          </p:cNvPicPr>
          <p:nvPr/>
        </p:nvPicPr>
        <p:blipFill>
          <a:blip r:embed="rId3"/>
          <a:srcRect/>
          <a:stretch>
            <a:fillRect/>
          </a:stretch>
        </p:blipFill>
        <p:spPr bwMode="auto">
          <a:xfrm>
            <a:off x="1" y="1755521"/>
            <a:ext cx="5859474" cy="5102479"/>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8" name="Picture 3">
            <a:extLst>
              <a:ext uri="{FF2B5EF4-FFF2-40B4-BE49-F238E27FC236}">
                <a16:creationId xmlns:a16="http://schemas.microsoft.com/office/drawing/2014/main" id="{B614DFE4-2CF8-4FDD-91EF-0E851DFCDB5D}"/>
              </a:ext>
            </a:extLst>
          </p:cNvPr>
          <p:cNvPicPr>
            <a:picLocks noChangeAspect="1" noChangeArrowheads="1"/>
          </p:cNvPicPr>
          <p:nvPr/>
        </p:nvPicPr>
        <p:blipFill>
          <a:blip r:embed="rId4"/>
          <a:srcRect/>
          <a:stretch>
            <a:fillRect/>
          </a:stretch>
        </p:blipFill>
        <p:spPr bwMode="auto">
          <a:xfrm>
            <a:off x="5916040" y="5000612"/>
            <a:ext cx="5008349" cy="1857388"/>
          </a:xfrm>
          <a:prstGeom prst="rect">
            <a:avLst/>
          </a:prstGeom>
          <a:solidFill>
            <a:schemeClr val="accent1">
              <a:alpha val="0"/>
            </a:schemeClr>
          </a:solidFill>
          <a:ln w="38100">
            <a:solidFill>
              <a:srgbClr val="FF0000"/>
            </a:solidFill>
            <a:prstDash val="sysDash"/>
          </a:ln>
        </p:spPr>
      </p:pic>
      <p:sp>
        <p:nvSpPr>
          <p:cNvPr id="9" name="TextBox 8">
            <a:extLst>
              <a:ext uri="{FF2B5EF4-FFF2-40B4-BE49-F238E27FC236}">
                <a16:creationId xmlns:a16="http://schemas.microsoft.com/office/drawing/2014/main" id="{33102A9F-4014-4C4A-941A-BB69A0BF6D17}"/>
              </a:ext>
            </a:extLst>
          </p:cNvPr>
          <p:cNvSpPr txBox="1"/>
          <p:nvPr/>
        </p:nvSpPr>
        <p:spPr>
          <a:xfrm>
            <a:off x="6711311" y="5063480"/>
            <a:ext cx="934871" cy="369332"/>
          </a:xfrm>
          <a:prstGeom prst="rect">
            <a:avLst/>
          </a:prstGeom>
          <a:ln>
            <a:solidFill>
              <a:srgbClr val="C00000"/>
            </a:solidFill>
            <a:prstDash val="dash"/>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b="1" dirty="0">
                <a:solidFill>
                  <a:srgbClr val="C00000"/>
                </a:solidFill>
              </a:rPr>
              <a:t>Output:</a:t>
            </a:r>
            <a:endParaRPr lang="en-US" b="1" dirty="0">
              <a:solidFill>
                <a:srgbClr val="C00000"/>
              </a:solidFill>
            </a:endParaRPr>
          </a:p>
        </p:txBody>
      </p:sp>
      <p:sp>
        <p:nvSpPr>
          <p:cNvPr id="10" name="TextBox 9">
            <a:extLst>
              <a:ext uri="{FF2B5EF4-FFF2-40B4-BE49-F238E27FC236}">
                <a16:creationId xmlns:a16="http://schemas.microsoft.com/office/drawing/2014/main" id="{9C315851-BF93-408A-B300-E1A2AE63ADB7}"/>
              </a:ext>
            </a:extLst>
          </p:cNvPr>
          <p:cNvSpPr txBox="1"/>
          <p:nvPr/>
        </p:nvSpPr>
        <p:spPr>
          <a:xfrm>
            <a:off x="3789276" y="4463315"/>
            <a:ext cx="2029196" cy="1200329"/>
          </a:xfrm>
          <a:prstGeom prst="rect">
            <a:avLst/>
          </a:prstGeom>
          <a:noFill/>
          <a:ln w="38100">
            <a:solidFill>
              <a:srgbClr val="00B050"/>
            </a:solidFill>
            <a:prstDash val="sysDot"/>
          </a:ln>
        </p:spPr>
        <p:txBody>
          <a:bodyPr wrap="square" rtlCol="0">
            <a:spAutoFit/>
          </a:bodyPr>
          <a:lstStyle/>
          <a:p>
            <a:r>
              <a:rPr lang="en-US" dirty="0">
                <a:solidFill>
                  <a:srgbClr val="FF0000"/>
                </a:solidFill>
              </a:rPr>
              <a:t>Notice that the toString method is disabled in this example</a:t>
            </a:r>
          </a:p>
        </p:txBody>
      </p:sp>
      <p:sp>
        <p:nvSpPr>
          <p:cNvPr id="11" name="Arrow: Down 10">
            <a:extLst>
              <a:ext uri="{FF2B5EF4-FFF2-40B4-BE49-F238E27FC236}">
                <a16:creationId xmlns:a16="http://schemas.microsoft.com/office/drawing/2014/main" id="{B631210A-95D1-47FB-B3FA-33F503C09D73}"/>
              </a:ext>
            </a:extLst>
          </p:cNvPr>
          <p:cNvSpPr/>
          <p:nvPr/>
        </p:nvSpPr>
        <p:spPr>
          <a:xfrm>
            <a:off x="4023360" y="5712594"/>
            <a:ext cx="312821" cy="240631"/>
          </a:xfrm>
          <a:prstGeom prst="downArrow">
            <a:avLst/>
          </a:prstGeom>
          <a:solidFill>
            <a:srgbClr val="0095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9133318"/>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4" name="Content Placeholder 3"/>
          <p:cNvSpPr>
            <a:spLocks noGrp="1"/>
          </p:cNvSpPr>
          <p:nvPr>
            <p:ph sz="quarter" idx="1"/>
          </p:nvPr>
        </p:nvSpPr>
        <p:spPr/>
        <p:txBody>
          <a:bodyPr/>
          <a:lstStyle/>
          <a:p>
            <a:r>
              <a:rPr lang="en-US" dirty="0"/>
              <a:t>[1] Introduction to Java Programming, Comprehensive Version, Student Value Edition, Daniel Liang, 12th Edition, Pearson 2019</a:t>
            </a:r>
          </a:p>
          <a:p>
            <a:r>
              <a:rPr lang="en-US" dirty="0"/>
              <a:t>lecture Notes :edugate.asu.edu.jo.</a:t>
            </a:r>
          </a:p>
          <a:p>
            <a:r>
              <a:rPr lang="en-US" dirty="0"/>
              <a:t>lecture  Videos : YouTube channel.</a:t>
            </a:r>
          </a:p>
          <a:p>
            <a:r>
              <a:rPr lang="en-US"/>
              <a:t>Lab manual ???</a:t>
            </a:r>
          </a:p>
        </p:txBody>
      </p:sp>
      <p:sp>
        <p:nvSpPr>
          <p:cNvPr id="5" name="Footer Placeholder 4">
            <a:extLst>
              <a:ext uri="{FF2B5EF4-FFF2-40B4-BE49-F238E27FC236}">
                <a16:creationId xmlns:a16="http://schemas.microsoft.com/office/drawing/2014/main" id="{2F44D658-770B-48F7-B128-5FC398E6ABE7}"/>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689527405"/>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94092AB8-3C50-4FD3-9216-7236CE04DEB1}"/>
</file>

<file path=customXml/itemProps3.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docProps/app.xml><?xml version="1.0" encoding="utf-8"?>
<Properties xmlns="http://schemas.openxmlformats.org/officeDocument/2006/extended-properties" xmlns:vt="http://schemas.openxmlformats.org/officeDocument/2006/docPropsVTypes">
  <Template>Retrospect</Template>
  <TotalTime>3206</TotalTime>
  <Words>5365</Words>
  <Application>Microsoft Office PowerPoint</Application>
  <PresentationFormat>Widescreen</PresentationFormat>
  <Paragraphs>433</Paragraphs>
  <Slides>67</Slides>
  <Notes>12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74" baseType="lpstr">
      <vt:lpstr>Arial</vt:lpstr>
      <vt:lpstr>Calibri</vt:lpstr>
      <vt:lpstr>Courier New</vt:lpstr>
      <vt:lpstr>Times New Roman</vt:lpstr>
      <vt:lpstr>Wingdings</vt:lpstr>
      <vt:lpstr>Retrospect</vt:lpstr>
      <vt:lpstr>Picture</vt:lpstr>
      <vt:lpstr>Fundamental Programming in JAVA</vt:lpstr>
      <vt:lpstr>Objectives</vt:lpstr>
      <vt:lpstr>Objectives</vt:lpstr>
      <vt:lpstr>Method Abstraction</vt:lpstr>
      <vt:lpstr>Access Specifiers (Visibility Modifiers)</vt:lpstr>
      <vt:lpstr>Access Specifiers (Visibility Modifiers)</vt:lpstr>
      <vt:lpstr>Access Specifiers (Visibility Modifiers)</vt:lpstr>
      <vt:lpstr>Access Specifiers (Visibility Modifiers)</vt:lpstr>
      <vt:lpstr>Accessor (getters) and Mutator (setters) Methods</vt:lpstr>
      <vt:lpstr>Accessors and Mutators</vt:lpstr>
      <vt:lpstr>Accessors and Mutators</vt:lpstr>
      <vt:lpstr>Setter &amp; getter Methods </vt:lpstr>
      <vt:lpstr>Getter method: syntax</vt:lpstr>
      <vt:lpstr>Getter method: Example</vt:lpstr>
      <vt:lpstr>Setter method: syntax</vt:lpstr>
      <vt:lpstr>Setter method: Example</vt:lpstr>
      <vt:lpstr>Setter method: Validation Example</vt:lpstr>
      <vt:lpstr>Setter method: Validation Example</vt:lpstr>
      <vt:lpstr>Cont. Setter method: Validation Example</vt:lpstr>
      <vt:lpstr>Getter &amp; Setter methods: Example</vt:lpstr>
      <vt:lpstr>Cont. Getter &amp; Setter methods: Example</vt:lpstr>
      <vt:lpstr>Cont. Getter &amp; Setter methods: Example</vt:lpstr>
      <vt:lpstr>Getter &amp; Setter method: (Main Class)</vt:lpstr>
      <vt:lpstr>Encapsulation</vt:lpstr>
      <vt:lpstr>Data Hiding</vt:lpstr>
      <vt:lpstr>Data fields Encapsulation (Attributes &amp; Constructors)</vt:lpstr>
      <vt:lpstr>Data fields Encapsulation </vt:lpstr>
      <vt:lpstr>Why Encapsulation?</vt:lpstr>
      <vt:lpstr>Exercises</vt:lpstr>
      <vt:lpstr>Exercises</vt:lpstr>
      <vt:lpstr>Static Method</vt:lpstr>
      <vt:lpstr>Static Method</vt:lpstr>
      <vt:lpstr>Static Method</vt:lpstr>
      <vt:lpstr>Static Variables, Constants, and Methods</vt:lpstr>
      <vt:lpstr>Static Variables</vt:lpstr>
      <vt:lpstr>Static Data Field</vt:lpstr>
      <vt:lpstr>Static Data Field</vt:lpstr>
      <vt:lpstr>Static Data Field: Explanation </vt:lpstr>
      <vt:lpstr>Static Data Field: at object level Explanation</vt:lpstr>
      <vt:lpstr>Static Data Field: Main</vt:lpstr>
      <vt:lpstr>Static Data Field: Main</vt:lpstr>
      <vt:lpstr>Static Data Field: Main</vt:lpstr>
      <vt:lpstr>Method Overloading</vt:lpstr>
      <vt:lpstr>Method Overloading, cont.</vt:lpstr>
      <vt:lpstr>Method Overloading, cont.</vt:lpstr>
      <vt:lpstr>Method Overloading, cont.</vt:lpstr>
      <vt:lpstr>Method Overloading, cont.</vt:lpstr>
      <vt:lpstr>Method Overloading, cont.</vt:lpstr>
      <vt:lpstr>Method Overloading, cont.</vt:lpstr>
      <vt:lpstr>Ambiguous Invocation</vt:lpstr>
      <vt:lpstr>Ambiguous Invocation, cont.</vt:lpstr>
      <vt:lpstr>The (this) reference</vt:lpstr>
      <vt:lpstr>The (this) reference: Explanation </vt:lpstr>
      <vt:lpstr>The (this) reference:</vt:lpstr>
      <vt:lpstr>The (this) reference:</vt:lpstr>
      <vt:lpstr>Passing Objects as Arguments</vt:lpstr>
      <vt:lpstr>Passing Objects as Arguments</vt:lpstr>
      <vt:lpstr>Returning Objects From Methods</vt:lpstr>
      <vt:lpstr>Returning Objects From Methods</vt:lpstr>
      <vt:lpstr>Using null Reference</vt:lpstr>
      <vt:lpstr>Garbage Collection</vt:lpstr>
      <vt:lpstr>The toString Method</vt:lpstr>
      <vt:lpstr>The toString Method</vt:lpstr>
      <vt:lpstr>The toString Method</vt:lpstr>
      <vt:lpstr>(toString) method</vt:lpstr>
      <vt:lpstr>(toString) method</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Baraa Qaddoumi</cp:lastModifiedBy>
  <cp:revision>51</cp:revision>
  <dcterms:created xsi:type="dcterms:W3CDTF">2023-12-21T19:04:58Z</dcterms:created>
  <dcterms:modified xsi:type="dcterms:W3CDTF">2024-02-26T07:04:49Z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