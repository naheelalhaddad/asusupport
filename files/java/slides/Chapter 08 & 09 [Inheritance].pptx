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65"/>
  </p:notesMasterIdLst>
  <p:sldIdLst>
    <p:sldId id="256" r:id="rId5"/>
    <p:sldId id="257" r:id="rId6"/>
    <p:sldId id="258" r:id="rId7"/>
    <p:sldId id="707" r:id="rId8"/>
    <p:sldId id="745" r:id="rId9"/>
    <p:sldId id="709" r:id="rId10"/>
    <p:sldId id="710" r:id="rId11"/>
    <p:sldId id="744" r:id="rId12"/>
    <p:sldId id="746" r:id="rId13"/>
    <p:sldId id="714" r:id="rId14"/>
    <p:sldId id="711" r:id="rId15"/>
    <p:sldId id="747" r:id="rId16"/>
    <p:sldId id="748" r:id="rId17"/>
    <p:sldId id="749" r:id="rId18"/>
    <p:sldId id="750" r:id="rId19"/>
    <p:sldId id="751" r:id="rId20"/>
    <p:sldId id="752" r:id="rId21"/>
    <p:sldId id="753" r:id="rId22"/>
    <p:sldId id="754" r:id="rId23"/>
    <p:sldId id="755" r:id="rId24"/>
    <p:sldId id="721" r:id="rId25"/>
    <p:sldId id="722" r:id="rId26"/>
    <p:sldId id="723" r:id="rId27"/>
    <p:sldId id="724" r:id="rId28"/>
    <p:sldId id="756" r:id="rId29"/>
    <p:sldId id="725" r:id="rId30"/>
    <p:sldId id="726" r:id="rId31"/>
    <p:sldId id="727" r:id="rId32"/>
    <p:sldId id="728" r:id="rId33"/>
    <p:sldId id="388" r:id="rId34"/>
    <p:sldId id="513" r:id="rId35"/>
    <p:sldId id="757" r:id="rId36"/>
    <p:sldId id="758" r:id="rId37"/>
    <p:sldId id="759" r:id="rId38"/>
    <p:sldId id="760" r:id="rId39"/>
    <p:sldId id="391" r:id="rId40"/>
    <p:sldId id="392" r:id="rId41"/>
    <p:sldId id="731" r:id="rId42"/>
    <p:sldId id="393" r:id="rId43"/>
    <p:sldId id="732" r:id="rId44"/>
    <p:sldId id="761" r:id="rId45"/>
    <p:sldId id="762" r:id="rId46"/>
    <p:sldId id="733" r:id="rId47"/>
    <p:sldId id="763" r:id="rId48"/>
    <p:sldId id="765" r:id="rId49"/>
    <p:sldId id="734" r:id="rId50"/>
    <p:sldId id="766" r:id="rId51"/>
    <p:sldId id="767" r:id="rId52"/>
    <p:sldId id="768" r:id="rId53"/>
    <p:sldId id="772" r:id="rId54"/>
    <p:sldId id="773" r:id="rId55"/>
    <p:sldId id="774" r:id="rId56"/>
    <p:sldId id="775" r:id="rId57"/>
    <p:sldId id="739" r:id="rId58"/>
    <p:sldId id="741" r:id="rId59"/>
    <p:sldId id="742" r:id="rId60"/>
    <p:sldId id="769" r:id="rId61"/>
    <p:sldId id="770" r:id="rId62"/>
    <p:sldId id="771" r:id="rId63"/>
    <p:sldId id="384"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FA0"/>
    <a:srgbClr val="4A8EF2"/>
    <a:srgbClr val="7EB2E6"/>
    <a:srgbClr val="EEF5FE"/>
    <a:srgbClr val="6B6B6C"/>
    <a:srgbClr val="ADBADA"/>
    <a:srgbClr val="404040"/>
    <a:srgbClr val="FFFFFF"/>
    <a:srgbClr val="0070C0"/>
    <a:srgbClr val="D9A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9A06A-30B6-6E2D-B120-9A384D525F63}" v="45" dt="2024-02-25T23:01:13.125"/>
    <p1510:client id="{84F56EEB-1F86-738D-EE9B-BAF66B50F751}" v="1" dt="2024-02-25T23:12:50.5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3220" autoAdjust="0"/>
  </p:normalViewPr>
  <p:slideViewPr>
    <p:cSldViewPr snapToGrid="0">
      <p:cViewPr varScale="1">
        <p:scale>
          <a:sx n="87" d="100"/>
          <a:sy n="87" d="100"/>
        </p:scale>
        <p:origin x="4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0DD9A06A-30B6-6E2D-B120-9A384D525F63}"/>
    <pc:docChg chg="mod modSld modMainMaster">
      <pc:chgData name="Bara Hamadeh" userId="S::b_hamadeh@asu.edu.jo::ba91a99f-f3ba-46e6-ad5d-582794b375a9" providerId="AD" clId="Web-{0DD9A06A-30B6-6E2D-B120-9A384D525F63}" dt="2024-02-25T23:01:13.125" v="44"/>
      <pc:docMkLst>
        <pc:docMk/>
      </pc:docMkLst>
      <pc:sldChg chg="delSp modTransition">
        <pc:chgData name="Bara Hamadeh" userId="S::b_hamadeh@asu.edu.jo::ba91a99f-f3ba-46e6-ad5d-582794b375a9" providerId="AD" clId="Web-{0DD9A06A-30B6-6E2D-B120-9A384D525F63}" dt="2024-02-25T23:01:09.703" v="43"/>
        <pc:sldMkLst>
          <pc:docMk/>
          <pc:sldMk cId="98556299" sldId="256"/>
        </pc:sldMkLst>
        <pc:spChg chg="del">
          <ac:chgData name="Bara Hamadeh" userId="S::b_hamadeh@asu.edu.jo::ba91a99f-f3ba-46e6-ad5d-582794b375a9" providerId="AD" clId="Web-{0DD9A06A-30B6-6E2D-B120-9A384D525F63}" dt="2024-02-25T23:01:09.703" v="43"/>
          <ac:spMkLst>
            <pc:docMk/>
            <pc:sldMk cId="98556299" sldId="256"/>
            <ac:spMk id="4" creationId="{3E2AE632-31A0-217D-FD10-0A342181E0D1}"/>
          </ac:spMkLst>
        </pc:spChg>
      </pc:sldChg>
      <pc:sldChg chg="modTransition">
        <pc:chgData name="Bara Hamadeh" userId="S::b_hamadeh@asu.edu.jo::ba91a99f-f3ba-46e6-ad5d-582794b375a9" providerId="AD" clId="Web-{0DD9A06A-30B6-6E2D-B120-9A384D525F63}" dt="2024-02-25T23:00:54.765" v="40"/>
        <pc:sldMkLst>
          <pc:docMk/>
          <pc:sldMk cId="1327438597" sldId="384"/>
        </pc:sldMkLst>
      </pc:sldChg>
      <pc:sldChg chg="modTransition">
        <pc:chgData name="Bara Hamadeh" userId="S::b_hamadeh@asu.edu.jo::ba91a99f-f3ba-46e6-ad5d-582794b375a9" providerId="AD" clId="Web-{0DD9A06A-30B6-6E2D-B120-9A384D525F63}" dt="2024-02-25T23:00:54.734" v="16"/>
        <pc:sldMkLst>
          <pc:docMk/>
          <pc:sldMk cId="45407585" sldId="388"/>
        </pc:sldMkLst>
      </pc:sldChg>
      <pc:sldChg chg="modTransition">
        <pc:chgData name="Bara Hamadeh" userId="S::b_hamadeh@asu.edu.jo::ba91a99f-f3ba-46e6-ad5d-582794b375a9" providerId="AD" clId="Web-{0DD9A06A-30B6-6E2D-B120-9A384D525F63}" dt="2024-02-25T23:00:54.749" v="22"/>
        <pc:sldMkLst>
          <pc:docMk/>
          <pc:sldMk cId="1169308520" sldId="391"/>
        </pc:sldMkLst>
      </pc:sldChg>
      <pc:sldChg chg="modTransition">
        <pc:chgData name="Bara Hamadeh" userId="S::b_hamadeh@asu.edu.jo::ba91a99f-f3ba-46e6-ad5d-582794b375a9" providerId="AD" clId="Web-{0DD9A06A-30B6-6E2D-B120-9A384D525F63}" dt="2024-02-25T23:00:54.749" v="23"/>
        <pc:sldMkLst>
          <pc:docMk/>
          <pc:sldMk cId="2041777354" sldId="392"/>
        </pc:sldMkLst>
      </pc:sldChg>
      <pc:sldChg chg="modTransition">
        <pc:chgData name="Bara Hamadeh" userId="S::b_hamadeh@asu.edu.jo::ba91a99f-f3ba-46e6-ad5d-582794b375a9" providerId="AD" clId="Web-{0DD9A06A-30B6-6E2D-B120-9A384D525F63}" dt="2024-02-25T23:00:54.749" v="25"/>
        <pc:sldMkLst>
          <pc:docMk/>
          <pc:sldMk cId="4077709017" sldId="393"/>
        </pc:sldMkLst>
      </pc:sldChg>
      <pc:sldChg chg="modTransition">
        <pc:chgData name="Bara Hamadeh" userId="S::b_hamadeh@asu.edu.jo::ba91a99f-f3ba-46e6-ad5d-582794b375a9" providerId="AD" clId="Web-{0DD9A06A-30B6-6E2D-B120-9A384D525F63}" dt="2024-02-25T23:00:54.734" v="17"/>
        <pc:sldMkLst>
          <pc:docMk/>
          <pc:sldMk cId="0" sldId="513"/>
        </pc:sldMkLst>
      </pc:sldChg>
      <pc:sldChg chg="modTransition">
        <pc:chgData name="Bara Hamadeh" userId="S::b_hamadeh@asu.edu.jo::ba91a99f-f3ba-46e6-ad5d-582794b375a9" providerId="AD" clId="Web-{0DD9A06A-30B6-6E2D-B120-9A384D525F63}" dt="2024-02-25T23:00:54.718" v="7"/>
        <pc:sldMkLst>
          <pc:docMk/>
          <pc:sldMk cId="329338063" sldId="721"/>
        </pc:sldMkLst>
      </pc:sldChg>
      <pc:sldChg chg="modTransition">
        <pc:chgData name="Bara Hamadeh" userId="S::b_hamadeh@asu.edu.jo::ba91a99f-f3ba-46e6-ad5d-582794b375a9" providerId="AD" clId="Web-{0DD9A06A-30B6-6E2D-B120-9A384D525F63}" dt="2024-02-25T23:00:54.718" v="8"/>
        <pc:sldMkLst>
          <pc:docMk/>
          <pc:sldMk cId="3849956598" sldId="722"/>
        </pc:sldMkLst>
      </pc:sldChg>
      <pc:sldChg chg="modTransition">
        <pc:chgData name="Bara Hamadeh" userId="S::b_hamadeh@asu.edu.jo::ba91a99f-f3ba-46e6-ad5d-582794b375a9" providerId="AD" clId="Web-{0DD9A06A-30B6-6E2D-B120-9A384D525F63}" dt="2024-02-25T23:00:54.718" v="9"/>
        <pc:sldMkLst>
          <pc:docMk/>
          <pc:sldMk cId="607004326" sldId="723"/>
        </pc:sldMkLst>
      </pc:sldChg>
      <pc:sldChg chg="modTransition">
        <pc:chgData name="Bara Hamadeh" userId="S::b_hamadeh@asu.edu.jo::ba91a99f-f3ba-46e6-ad5d-582794b375a9" providerId="AD" clId="Web-{0DD9A06A-30B6-6E2D-B120-9A384D525F63}" dt="2024-02-25T23:00:54.734" v="10"/>
        <pc:sldMkLst>
          <pc:docMk/>
          <pc:sldMk cId="3369518368" sldId="724"/>
        </pc:sldMkLst>
      </pc:sldChg>
      <pc:sldChg chg="modTransition">
        <pc:chgData name="Bara Hamadeh" userId="S::b_hamadeh@asu.edu.jo::ba91a99f-f3ba-46e6-ad5d-582794b375a9" providerId="AD" clId="Web-{0DD9A06A-30B6-6E2D-B120-9A384D525F63}" dt="2024-02-25T23:00:54.734" v="12"/>
        <pc:sldMkLst>
          <pc:docMk/>
          <pc:sldMk cId="1762115292" sldId="725"/>
        </pc:sldMkLst>
      </pc:sldChg>
      <pc:sldChg chg="modTransition">
        <pc:chgData name="Bara Hamadeh" userId="S::b_hamadeh@asu.edu.jo::ba91a99f-f3ba-46e6-ad5d-582794b375a9" providerId="AD" clId="Web-{0DD9A06A-30B6-6E2D-B120-9A384D525F63}" dt="2024-02-25T23:00:54.734" v="13"/>
        <pc:sldMkLst>
          <pc:docMk/>
          <pc:sldMk cId="943518425" sldId="726"/>
        </pc:sldMkLst>
      </pc:sldChg>
      <pc:sldChg chg="modTransition">
        <pc:chgData name="Bara Hamadeh" userId="S::b_hamadeh@asu.edu.jo::ba91a99f-f3ba-46e6-ad5d-582794b375a9" providerId="AD" clId="Web-{0DD9A06A-30B6-6E2D-B120-9A384D525F63}" dt="2024-02-25T23:00:54.734" v="14"/>
        <pc:sldMkLst>
          <pc:docMk/>
          <pc:sldMk cId="2750051639" sldId="727"/>
        </pc:sldMkLst>
      </pc:sldChg>
      <pc:sldChg chg="modTransition">
        <pc:chgData name="Bara Hamadeh" userId="S::b_hamadeh@asu.edu.jo::ba91a99f-f3ba-46e6-ad5d-582794b375a9" providerId="AD" clId="Web-{0DD9A06A-30B6-6E2D-B120-9A384D525F63}" dt="2024-02-25T23:00:54.734" v="15"/>
        <pc:sldMkLst>
          <pc:docMk/>
          <pc:sldMk cId="344929928" sldId="728"/>
        </pc:sldMkLst>
      </pc:sldChg>
      <pc:sldChg chg="modTransition">
        <pc:chgData name="Bara Hamadeh" userId="S::b_hamadeh@asu.edu.jo::ba91a99f-f3ba-46e6-ad5d-582794b375a9" providerId="AD" clId="Web-{0DD9A06A-30B6-6E2D-B120-9A384D525F63}" dt="2024-02-25T23:00:54.749" v="24"/>
        <pc:sldMkLst>
          <pc:docMk/>
          <pc:sldMk cId="1250428495" sldId="731"/>
        </pc:sldMkLst>
      </pc:sldChg>
      <pc:sldChg chg="modTransition">
        <pc:chgData name="Bara Hamadeh" userId="S::b_hamadeh@asu.edu.jo::ba91a99f-f3ba-46e6-ad5d-582794b375a9" providerId="AD" clId="Web-{0DD9A06A-30B6-6E2D-B120-9A384D525F63}" dt="2024-02-25T23:00:54.749" v="26"/>
        <pc:sldMkLst>
          <pc:docMk/>
          <pc:sldMk cId="2166577185" sldId="732"/>
        </pc:sldMkLst>
      </pc:sldChg>
      <pc:sldChg chg="modTransition">
        <pc:chgData name="Bara Hamadeh" userId="S::b_hamadeh@asu.edu.jo::ba91a99f-f3ba-46e6-ad5d-582794b375a9" providerId="AD" clId="Web-{0DD9A06A-30B6-6E2D-B120-9A384D525F63}" dt="2024-02-25T23:00:54.749" v="29"/>
        <pc:sldMkLst>
          <pc:docMk/>
          <pc:sldMk cId="209761690" sldId="733"/>
        </pc:sldMkLst>
      </pc:sldChg>
      <pc:sldChg chg="modTransition">
        <pc:chgData name="Bara Hamadeh" userId="S::b_hamadeh@asu.edu.jo::ba91a99f-f3ba-46e6-ad5d-582794b375a9" providerId="AD" clId="Web-{0DD9A06A-30B6-6E2D-B120-9A384D525F63}" dt="2024-02-25T23:00:54.765" v="32"/>
        <pc:sldMkLst>
          <pc:docMk/>
          <pc:sldMk cId="2939721471" sldId="734"/>
        </pc:sldMkLst>
      </pc:sldChg>
      <pc:sldChg chg="modTransition">
        <pc:chgData name="Bara Hamadeh" userId="S::b_hamadeh@asu.edu.jo::ba91a99f-f3ba-46e6-ad5d-582794b375a9" providerId="AD" clId="Web-{0DD9A06A-30B6-6E2D-B120-9A384D525F63}" dt="2024-02-25T23:00:54.765" v="36"/>
        <pc:sldMkLst>
          <pc:docMk/>
          <pc:sldMk cId="560205633" sldId="741"/>
        </pc:sldMkLst>
      </pc:sldChg>
      <pc:sldChg chg="modTransition">
        <pc:chgData name="Bara Hamadeh" userId="S::b_hamadeh@asu.edu.jo::ba91a99f-f3ba-46e6-ad5d-582794b375a9" providerId="AD" clId="Web-{0DD9A06A-30B6-6E2D-B120-9A384D525F63}" dt="2024-02-25T23:00:54.765" v="37"/>
        <pc:sldMkLst>
          <pc:docMk/>
          <pc:sldMk cId="662393113" sldId="742"/>
        </pc:sldMkLst>
      </pc:sldChg>
      <pc:sldChg chg="modTransition">
        <pc:chgData name="Bara Hamadeh" userId="S::b_hamadeh@asu.edu.jo::ba91a99f-f3ba-46e6-ad5d-582794b375a9" providerId="AD" clId="Web-{0DD9A06A-30B6-6E2D-B120-9A384D525F63}" dt="2024-02-25T23:00:54.718" v="0"/>
        <pc:sldMkLst>
          <pc:docMk/>
          <pc:sldMk cId="2774729031" sldId="749"/>
        </pc:sldMkLst>
      </pc:sldChg>
      <pc:sldChg chg="modTransition">
        <pc:chgData name="Bara Hamadeh" userId="S::b_hamadeh@asu.edu.jo::ba91a99f-f3ba-46e6-ad5d-582794b375a9" providerId="AD" clId="Web-{0DD9A06A-30B6-6E2D-B120-9A384D525F63}" dt="2024-02-25T23:00:54.718" v="1"/>
        <pc:sldMkLst>
          <pc:docMk/>
          <pc:sldMk cId="1672848990" sldId="750"/>
        </pc:sldMkLst>
      </pc:sldChg>
      <pc:sldChg chg="modTransition">
        <pc:chgData name="Bara Hamadeh" userId="S::b_hamadeh@asu.edu.jo::ba91a99f-f3ba-46e6-ad5d-582794b375a9" providerId="AD" clId="Web-{0DD9A06A-30B6-6E2D-B120-9A384D525F63}" dt="2024-02-25T23:00:54.718" v="2"/>
        <pc:sldMkLst>
          <pc:docMk/>
          <pc:sldMk cId="3661078155" sldId="751"/>
        </pc:sldMkLst>
      </pc:sldChg>
      <pc:sldChg chg="modTransition">
        <pc:chgData name="Bara Hamadeh" userId="S::b_hamadeh@asu.edu.jo::ba91a99f-f3ba-46e6-ad5d-582794b375a9" providerId="AD" clId="Web-{0DD9A06A-30B6-6E2D-B120-9A384D525F63}" dt="2024-02-25T23:00:54.718" v="3"/>
        <pc:sldMkLst>
          <pc:docMk/>
          <pc:sldMk cId="188308269" sldId="752"/>
        </pc:sldMkLst>
      </pc:sldChg>
      <pc:sldChg chg="modTransition">
        <pc:chgData name="Bara Hamadeh" userId="S::b_hamadeh@asu.edu.jo::ba91a99f-f3ba-46e6-ad5d-582794b375a9" providerId="AD" clId="Web-{0DD9A06A-30B6-6E2D-B120-9A384D525F63}" dt="2024-02-25T23:00:54.718" v="4"/>
        <pc:sldMkLst>
          <pc:docMk/>
          <pc:sldMk cId="1700182914" sldId="753"/>
        </pc:sldMkLst>
      </pc:sldChg>
      <pc:sldChg chg="modTransition">
        <pc:chgData name="Bara Hamadeh" userId="S::b_hamadeh@asu.edu.jo::ba91a99f-f3ba-46e6-ad5d-582794b375a9" providerId="AD" clId="Web-{0DD9A06A-30B6-6E2D-B120-9A384D525F63}" dt="2024-02-25T23:00:54.718" v="5"/>
        <pc:sldMkLst>
          <pc:docMk/>
          <pc:sldMk cId="3365914745" sldId="754"/>
        </pc:sldMkLst>
      </pc:sldChg>
      <pc:sldChg chg="modTransition">
        <pc:chgData name="Bara Hamadeh" userId="S::b_hamadeh@asu.edu.jo::ba91a99f-f3ba-46e6-ad5d-582794b375a9" providerId="AD" clId="Web-{0DD9A06A-30B6-6E2D-B120-9A384D525F63}" dt="2024-02-25T23:00:54.718" v="6"/>
        <pc:sldMkLst>
          <pc:docMk/>
          <pc:sldMk cId="65011400" sldId="755"/>
        </pc:sldMkLst>
      </pc:sldChg>
      <pc:sldChg chg="modTransition">
        <pc:chgData name="Bara Hamadeh" userId="S::b_hamadeh@asu.edu.jo::ba91a99f-f3ba-46e6-ad5d-582794b375a9" providerId="AD" clId="Web-{0DD9A06A-30B6-6E2D-B120-9A384D525F63}" dt="2024-02-25T23:00:54.734" v="11"/>
        <pc:sldMkLst>
          <pc:docMk/>
          <pc:sldMk cId="420599517" sldId="756"/>
        </pc:sldMkLst>
      </pc:sldChg>
      <pc:sldChg chg="modTransition">
        <pc:chgData name="Bara Hamadeh" userId="S::b_hamadeh@asu.edu.jo::ba91a99f-f3ba-46e6-ad5d-582794b375a9" providerId="AD" clId="Web-{0DD9A06A-30B6-6E2D-B120-9A384D525F63}" dt="2024-02-25T23:00:54.734" v="18"/>
        <pc:sldMkLst>
          <pc:docMk/>
          <pc:sldMk cId="1209331229" sldId="757"/>
        </pc:sldMkLst>
      </pc:sldChg>
      <pc:sldChg chg="modTransition">
        <pc:chgData name="Bara Hamadeh" userId="S::b_hamadeh@asu.edu.jo::ba91a99f-f3ba-46e6-ad5d-582794b375a9" providerId="AD" clId="Web-{0DD9A06A-30B6-6E2D-B120-9A384D525F63}" dt="2024-02-25T23:00:54.734" v="19"/>
        <pc:sldMkLst>
          <pc:docMk/>
          <pc:sldMk cId="4149510505" sldId="758"/>
        </pc:sldMkLst>
      </pc:sldChg>
      <pc:sldChg chg="modTransition">
        <pc:chgData name="Bara Hamadeh" userId="S::b_hamadeh@asu.edu.jo::ba91a99f-f3ba-46e6-ad5d-582794b375a9" providerId="AD" clId="Web-{0DD9A06A-30B6-6E2D-B120-9A384D525F63}" dt="2024-02-25T23:00:54.749" v="20"/>
        <pc:sldMkLst>
          <pc:docMk/>
          <pc:sldMk cId="661517368" sldId="759"/>
        </pc:sldMkLst>
      </pc:sldChg>
      <pc:sldChg chg="modTransition">
        <pc:chgData name="Bara Hamadeh" userId="S::b_hamadeh@asu.edu.jo::ba91a99f-f3ba-46e6-ad5d-582794b375a9" providerId="AD" clId="Web-{0DD9A06A-30B6-6E2D-B120-9A384D525F63}" dt="2024-02-25T23:00:54.749" v="21"/>
        <pc:sldMkLst>
          <pc:docMk/>
          <pc:sldMk cId="3964067146" sldId="760"/>
        </pc:sldMkLst>
      </pc:sldChg>
      <pc:sldChg chg="modTransition">
        <pc:chgData name="Bara Hamadeh" userId="S::b_hamadeh@asu.edu.jo::ba91a99f-f3ba-46e6-ad5d-582794b375a9" providerId="AD" clId="Web-{0DD9A06A-30B6-6E2D-B120-9A384D525F63}" dt="2024-02-25T23:00:54.749" v="27"/>
        <pc:sldMkLst>
          <pc:docMk/>
          <pc:sldMk cId="3886992718" sldId="761"/>
        </pc:sldMkLst>
      </pc:sldChg>
      <pc:sldChg chg="modTransition">
        <pc:chgData name="Bara Hamadeh" userId="S::b_hamadeh@asu.edu.jo::ba91a99f-f3ba-46e6-ad5d-582794b375a9" providerId="AD" clId="Web-{0DD9A06A-30B6-6E2D-B120-9A384D525F63}" dt="2024-02-25T23:00:54.749" v="28"/>
        <pc:sldMkLst>
          <pc:docMk/>
          <pc:sldMk cId="4212306931" sldId="762"/>
        </pc:sldMkLst>
      </pc:sldChg>
      <pc:sldChg chg="modTransition">
        <pc:chgData name="Bara Hamadeh" userId="S::b_hamadeh@asu.edu.jo::ba91a99f-f3ba-46e6-ad5d-582794b375a9" providerId="AD" clId="Web-{0DD9A06A-30B6-6E2D-B120-9A384D525F63}" dt="2024-02-25T23:00:54.749" v="30"/>
        <pc:sldMkLst>
          <pc:docMk/>
          <pc:sldMk cId="3924980491" sldId="763"/>
        </pc:sldMkLst>
      </pc:sldChg>
      <pc:sldChg chg="modTransition">
        <pc:chgData name="Bara Hamadeh" userId="S::b_hamadeh@asu.edu.jo::ba91a99f-f3ba-46e6-ad5d-582794b375a9" providerId="AD" clId="Web-{0DD9A06A-30B6-6E2D-B120-9A384D525F63}" dt="2024-02-25T23:00:54.749" v="31"/>
        <pc:sldMkLst>
          <pc:docMk/>
          <pc:sldMk cId="4139802885" sldId="765"/>
        </pc:sldMkLst>
      </pc:sldChg>
      <pc:sldChg chg="modTransition">
        <pc:chgData name="Bara Hamadeh" userId="S::b_hamadeh@asu.edu.jo::ba91a99f-f3ba-46e6-ad5d-582794b375a9" providerId="AD" clId="Web-{0DD9A06A-30B6-6E2D-B120-9A384D525F63}" dt="2024-02-25T23:00:54.765" v="33"/>
        <pc:sldMkLst>
          <pc:docMk/>
          <pc:sldMk cId="1668626979" sldId="766"/>
        </pc:sldMkLst>
      </pc:sldChg>
      <pc:sldChg chg="modTransition">
        <pc:chgData name="Bara Hamadeh" userId="S::b_hamadeh@asu.edu.jo::ba91a99f-f3ba-46e6-ad5d-582794b375a9" providerId="AD" clId="Web-{0DD9A06A-30B6-6E2D-B120-9A384D525F63}" dt="2024-02-25T23:00:54.765" v="34"/>
        <pc:sldMkLst>
          <pc:docMk/>
          <pc:sldMk cId="1265460539" sldId="767"/>
        </pc:sldMkLst>
      </pc:sldChg>
      <pc:sldChg chg="modTransition">
        <pc:chgData name="Bara Hamadeh" userId="S::b_hamadeh@asu.edu.jo::ba91a99f-f3ba-46e6-ad5d-582794b375a9" providerId="AD" clId="Web-{0DD9A06A-30B6-6E2D-B120-9A384D525F63}" dt="2024-02-25T23:00:54.765" v="35"/>
        <pc:sldMkLst>
          <pc:docMk/>
          <pc:sldMk cId="1499382556" sldId="768"/>
        </pc:sldMkLst>
      </pc:sldChg>
      <pc:sldChg chg="modTransition">
        <pc:chgData name="Bara Hamadeh" userId="S::b_hamadeh@asu.edu.jo::ba91a99f-f3ba-46e6-ad5d-582794b375a9" providerId="AD" clId="Web-{0DD9A06A-30B6-6E2D-B120-9A384D525F63}" dt="2024-02-25T23:00:54.765" v="41"/>
        <pc:sldMkLst>
          <pc:docMk/>
          <pc:sldMk cId="432049264" sldId="769"/>
        </pc:sldMkLst>
      </pc:sldChg>
      <pc:sldChg chg="modTransition">
        <pc:chgData name="Bara Hamadeh" userId="S::b_hamadeh@asu.edu.jo::ba91a99f-f3ba-46e6-ad5d-582794b375a9" providerId="AD" clId="Web-{0DD9A06A-30B6-6E2D-B120-9A384D525F63}" dt="2024-02-25T23:00:54.765" v="38"/>
        <pc:sldMkLst>
          <pc:docMk/>
          <pc:sldMk cId="2009167198" sldId="770"/>
        </pc:sldMkLst>
      </pc:sldChg>
      <pc:sldChg chg="modTransition">
        <pc:chgData name="Bara Hamadeh" userId="S::b_hamadeh@asu.edu.jo::ba91a99f-f3ba-46e6-ad5d-582794b375a9" providerId="AD" clId="Web-{0DD9A06A-30B6-6E2D-B120-9A384D525F63}" dt="2024-02-25T23:00:54.765" v="39"/>
        <pc:sldMkLst>
          <pc:docMk/>
          <pc:sldMk cId="648982161" sldId="771"/>
        </pc:sldMkLst>
      </pc:sldChg>
      <pc:sldMasterChg chg="mod modSldLayout">
        <pc:chgData name="Bara Hamadeh" userId="S::b_hamadeh@asu.edu.jo::ba91a99f-f3ba-46e6-ad5d-582794b375a9" providerId="AD" clId="Web-{0DD9A06A-30B6-6E2D-B120-9A384D525F63}" dt="2024-02-25T23:01:13.125" v="44"/>
        <pc:sldMasterMkLst>
          <pc:docMk/>
          <pc:sldMasterMk cId="1719295273" sldId="2147483672"/>
        </pc:sldMasterMkLst>
        <pc:sldLayoutChg chg="mod">
          <pc:chgData name="Bara Hamadeh" userId="S::b_hamadeh@asu.edu.jo::ba91a99f-f3ba-46e6-ad5d-582794b375a9" providerId="AD" clId="Web-{0DD9A06A-30B6-6E2D-B120-9A384D525F63}" dt="2024-02-25T23:01:13.125" v="44"/>
          <pc:sldLayoutMkLst>
            <pc:docMk/>
            <pc:sldMasterMk cId="1719295273" sldId="2147483672"/>
            <pc:sldLayoutMk cId="1136942225" sldId="2147483673"/>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543625086" sldId="2147483674"/>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695053800" sldId="2147483675"/>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1555795183" sldId="2147483676"/>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3154714844" sldId="2147483677"/>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1943265441" sldId="2147483678"/>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1103728720" sldId="2147483679"/>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3199667561" sldId="2147483680"/>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1593807278" sldId="2147483681"/>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4052592978" sldId="2147483682"/>
          </pc:sldLayoutMkLst>
        </pc:sldLayoutChg>
        <pc:sldLayoutChg chg="mod">
          <pc:chgData name="Bara Hamadeh" userId="S::b_hamadeh@asu.edu.jo::ba91a99f-f3ba-46e6-ad5d-582794b375a9" providerId="AD" clId="Web-{0DD9A06A-30B6-6E2D-B120-9A384D525F63}" dt="2024-02-25T23:01:13.125" v="44"/>
          <pc:sldLayoutMkLst>
            <pc:docMk/>
            <pc:sldMasterMk cId="1719295273" sldId="2147483672"/>
            <pc:sldLayoutMk cId="2606264647" sldId="2147483683"/>
          </pc:sldLayoutMkLst>
        </pc:sldLayoutChg>
      </pc:sldMasterChg>
    </pc:docChg>
  </pc:docChgLst>
  <pc:docChgLst>
    <pc:chgData name="Bara Hamadeh" userId="S::b_hamadeh@asu.edu.jo::ba91a99f-f3ba-46e6-ad5d-582794b375a9" providerId="AD" clId="Web-{84F56EEB-1F86-738D-EE9B-BAF66B50F751}"/>
    <pc:docChg chg="modSld">
      <pc:chgData name="Bara Hamadeh" userId="S::b_hamadeh@asu.edu.jo::ba91a99f-f3ba-46e6-ad5d-582794b375a9" providerId="AD" clId="Web-{84F56EEB-1F86-738D-EE9B-BAF66B50F751}" dt="2024-02-25T23:12:50.536" v="0" actId="20577"/>
      <pc:docMkLst>
        <pc:docMk/>
      </pc:docMkLst>
      <pc:sldChg chg="modSp">
        <pc:chgData name="Bara Hamadeh" userId="S::b_hamadeh@asu.edu.jo::ba91a99f-f3ba-46e6-ad5d-582794b375a9" providerId="AD" clId="Web-{84F56EEB-1F86-738D-EE9B-BAF66B50F751}" dt="2024-02-25T23:12:50.536" v="0" actId="20577"/>
        <pc:sldMkLst>
          <pc:docMk/>
          <pc:sldMk cId="98556299" sldId="256"/>
        </pc:sldMkLst>
        <pc:spChg chg="mod">
          <ac:chgData name="Bara Hamadeh" userId="S::b_hamadeh@asu.edu.jo::ba91a99f-f3ba-46e6-ad5d-582794b375a9" providerId="AD" clId="Web-{84F56EEB-1F86-738D-EE9B-BAF66B50F751}" dt="2024-02-25T23:12:50.536" v="0" actId="20577"/>
          <ac:spMkLst>
            <pc:docMk/>
            <pc:sldMk cId="98556299" sldId="256"/>
            <ac:spMk id="2" creationId="{0E3426FD-D193-2F6D-1700-2CC522B16D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707B96-67C8-4A3A-BF42-E3402C4C0DAC}"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5C1EF-83C8-423E-BB73-5860DEAF1F08}"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66656-A517-4F69-9AC4-38AA1F6B5C2A}"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BBC26C-AFF5-4165-9937-1BE3180A3683}"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9C042-E09B-4AAA-A5E4-3D7318112242}" type="datetime1">
              <a:rPr lang="en-US" smtClean="0"/>
              <a:t>2/26/2024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1E8C4F-21AF-4587-83E4-E513153B31D4}" type="datetime1">
              <a:rPr lang="en-US" smtClean="0"/>
              <a:t>2/26/2024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C225AF3-ED7D-491C-94D9-5FA805D6941E}" type="datetime1">
              <a:rPr lang="en-US" smtClean="0"/>
              <a:t>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E6DDF68-A7CE-4809-ACEF-DF759A215DCD}" type="datetime1">
              <a:rPr lang="en-US" smtClean="0"/>
              <a:t>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E19186-D0AC-45A6-BFE2-915B8D18B981}"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535F2-1109-4A08-849F-1336B018CCE8}"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D08EE-652D-4D87-B8A4-68E3A6295AD9}"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6C261128-F107-4CD9-AC6B-462D42491DE6}" type="datetime1">
              <a:rPr lang="en-US" smtClean="0"/>
              <a:t>2/26/2024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5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a:t>
            </a:r>
            <a:r>
              <a:rPr lang="en-US"/>
              <a:t>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dirty="0"/>
              <a:t>Inheritance  </a:t>
            </a: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pPr marL="460375" lvl="2" indent="-457200">
              <a:buFont typeface="Wingdings" panose="05000000000000000000" pitchFamily="2" charset="2"/>
              <a:buChar char="§"/>
            </a:pPr>
            <a:r>
              <a:rPr lang="en-US" altLang="en-US" sz="2400" dirty="0">
                <a:cs typeface="Arial" panose="020B0604020202020204" pitchFamily="34" charset="0"/>
              </a:rPr>
              <a:t>To define a subclass from a superclass through inheritance.</a:t>
            </a:r>
          </a:p>
          <a:p>
            <a:pPr marL="460375" lvl="2" indent="-457200">
              <a:buFont typeface="Wingdings" panose="05000000000000000000" pitchFamily="2" charset="2"/>
              <a:buChar char="§"/>
            </a:pPr>
            <a:r>
              <a:rPr lang="en-US" altLang="en-US" sz="2400" dirty="0"/>
              <a:t>To invoke the superclass’s constructors and methods using the </a:t>
            </a:r>
            <a:r>
              <a:rPr lang="en-US" altLang="en-US" sz="2400" b="1" dirty="0"/>
              <a:t>super</a:t>
            </a:r>
            <a:r>
              <a:rPr lang="en-US" altLang="en-US" sz="2400" dirty="0"/>
              <a:t> keyword .</a:t>
            </a:r>
          </a:p>
          <a:p>
            <a:pPr marL="460375" lvl="2" indent="-457200">
              <a:buFont typeface="Wingdings" panose="05000000000000000000" pitchFamily="2" charset="2"/>
              <a:buChar char="§"/>
            </a:pPr>
            <a:r>
              <a:rPr lang="en-US" altLang="en-US" sz="2400" dirty="0"/>
              <a:t>To override instance methods in the subclass.</a:t>
            </a:r>
          </a:p>
          <a:p>
            <a:pPr marL="460375" lvl="2" indent="-457200">
              <a:buFont typeface="Wingdings" panose="05000000000000000000" pitchFamily="2" charset="2"/>
              <a:buChar char="§"/>
            </a:pPr>
            <a:r>
              <a:rPr lang="en-US" altLang="en-US" sz="2400" dirty="0"/>
              <a:t>To distinguish differences between overriding and overloading.</a:t>
            </a:r>
          </a:p>
          <a:p>
            <a:pPr marL="460375" lvl="2" indent="-457200">
              <a:buFont typeface="Wingdings" panose="05000000000000000000" pitchFamily="2" charset="2"/>
              <a:buChar char="§"/>
            </a:pPr>
            <a:r>
              <a:rPr lang="en-US" altLang="en-US" sz="2400" dirty="0"/>
              <a:t>To explore the </a:t>
            </a:r>
            <a:r>
              <a:rPr lang="en-US" altLang="en-US" sz="2400" b="1" dirty="0" err="1"/>
              <a:t>toString</a:t>
            </a:r>
            <a:r>
              <a:rPr lang="en-US" altLang="en-US" sz="2400" b="1" dirty="0"/>
              <a:t>()</a:t>
            </a:r>
            <a:r>
              <a:rPr lang="en-US" altLang="en-US" sz="2400" dirty="0"/>
              <a:t> method in the </a:t>
            </a:r>
            <a:r>
              <a:rPr lang="en-US" altLang="en-US" sz="2400" b="1" dirty="0"/>
              <a:t>Object</a:t>
            </a:r>
            <a:r>
              <a:rPr lang="en-US" altLang="en-US" sz="2400" dirty="0"/>
              <a:t> class.</a:t>
            </a:r>
          </a:p>
          <a:p>
            <a:pPr marL="460375" lvl="2" indent="-457200">
              <a:buFont typeface="Wingdings" panose="05000000000000000000" pitchFamily="2" charset="2"/>
              <a:buChar char="§"/>
            </a:pPr>
            <a:r>
              <a:rPr lang="en-US" altLang="en-US" sz="2400" dirty="0"/>
              <a:t>To explore the </a:t>
            </a:r>
            <a:r>
              <a:rPr lang="en-US" altLang="en-US" sz="2400" b="1" dirty="0"/>
              <a:t>equals</a:t>
            </a:r>
            <a:r>
              <a:rPr lang="en-US" altLang="en-US" sz="2400" dirty="0"/>
              <a:t> method in the </a:t>
            </a:r>
            <a:r>
              <a:rPr lang="en-US" altLang="en-US" sz="2400" b="1" dirty="0"/>
              <a:t>Object</a:t>
            </a:r>
            <a:r>
              <a:rPr lang="en-US" altLang="en-US" sz="2400" dirty="0"/>
              <a:t> class.</a:t>
            </a:r>
          </a:p>
          <a:p>
            <a:pPr marL="460375" lvl="2" indent="-457200">
              <a:buFont typeface="Wingdings" panose="05000000000000000000" pitchFamily="2" charset="2"/>
              <a:buChar char="§"/>
            </a:pPr>
            <a:r>
              <a:rPr lang="en-US" altLang="en-US" sz="2400" dirty="0"/>
              <a:t>To enable data and methods in a superclass accessible from subclasses using the </a:t>
            </a:r>
            <a:r>
              <a:rPr lang="en-US" altLang="en-US" sz="2400" b="1" dirty="0"/>
              <a:t>protected</a:t>
            </a:r>
            <a:r>
              <a:rPr lang="en-US" altLang="en-US" sz="2400" dirty="0"/>
              <a:t> visibility modifier.</a:t>
            </a:r>
          </a:p>
          <a:p>
            <a:pPr marL="460375" lvl="2" indent="-457200">
              <a:buFont typeface="Wingdings" panose="05000000000000000000" pitchFamily="2" charset="2"/>
              <a:buChar char="§"/>
            </a:pPr>
            <a:r>
              <a:rPr lang="en-US" altLang="en-US" sz="2400" dirty="0"/>
              <a:t>To prevent class extending and method overriding using the </a:t>
            </a:r>
            <a:r>
              <a:rPr lang="en-US" altLang="en-US" sz="2400" b="1" dirty="0"/>
              <a:t>final</a:t>
            </a:r>
            <a:r>
              <a:rPr lang="en-US" altLang="en-US" sz="2400" dirty="0"/>
              <a:t> modifier.</a:t>
            </a: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What is inheritance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90608272-F01A-C1FC-2656-16D8F568BEC2}"/>
              </a:ext>
            </a:extLst>
          </p:cNvPr>
          <p:cNvSpPr>
            <a:spLocks noGrp="1"/>
          </p:cNvSpPr>
          <p:nvPr>
            <p:ph idx="1"/>
          </p:nvPr>
        </p:nvSpPr>
        <p:spPr/>
        <p:txBody>
          <a:bodyPr>
            <a:normAutofit/>
          </a:bodyPr>
          <a:lstStyle/>
          <a:p>
            <a:pPr algn="l"/>
            <a:r>
              <a:rPr lang="en-US" sz="2400" b="0" i="0" dirty="0">
                <a:effectLst/>
                <a:cs typeface="Times New Roman" panose="02020603050405020304" pitchFamily="18" charset="0"/>
              </a:rPr>
              <a:t>Inheritance in Java is </a:t>
            </a:r>
            <a:r>
              <a:rPr lang="en-US" sz="2400" b="1" i="0" dirty="0">
                <a:effectLst/>
                <a:cs typeface="Times New Roman" panose="02020603050405020304" pitchFamily="18" charset="0"/>
              </a:rPr>
              <a:t>a concept that acquires the properties from one class to other classes</a:t>
            </a:r>
            <a:r>
              <a:rPr lang="en-US" sz="2400" dirty="0">
                <a:cs typeface="Times New Roman" pitchFamily="18" charset="0"/>
              </a:rPr>
              <a:t>. With inheritance, programmers save time during program development by </a:t>
            </a:r>
            <a:r>
              <a:rPr lang="en-US" sz="2400" dirty="0">
                <a:solidFill>
                  <a:schemeClr val="bg2">
                    <a:lumMod val="75000"/>
                  </a:schemeClr>
                </a:solidFill>
                <a:cs typeface="Times New Roman" pitchFamily="18" charset="0"/>
              </a:rPr>
              <a:t>reusing</a:t>
            </a:r>
            <a:r>
              <a:rPr lang="en-US" sz="2400" dirty="0">
                <a:cs typeface="Times New Roman" pitchFamily="18" charset="0"/>
              </a:rPr>
              <a:t> proven and debugged high-quality software. This also increases the likelihood that a system will be implemented effectively. </a:t>
            </a:r>
            <a:endParaRPr lang="en-US" dirty="0"/>
          </a:p>
        </p:txBody>
      </p:sp>
      <p:pic>
        <p:nvPicPr>
          <p:cNvPr id="3" name="Picture 2">
            <a:extLst>
              <a:ext uri="{FF2B5EF4-FFF2-40B4-BE49-F238E27FC236}">
                <a16:creationId xmlns:a16="http://schemas.microsoft.com/office/drawing/2014/main" id="{D60B817E-71DC-C7FB-832A-DA69FCADF82C}"/>
              </a:ext>
            </a:extLst>
          </p:cNvPr>
          <p:cNvPicPr>
            <a:picLocks noChangeAspect="1" noChangeArrowheads="1"/>
          </p:cNvPicPr>
          <p:nvPr/>
        </p:nvPicPr>
        <p:blipFill>
          <a:blip r:embed="rId2"/>
          <a:srcRect/>
          <a:stretch>
            <a:fillRect/>
          </a:stretch>
        </p:blipFill>
        <p:spPr bwMode="auto">
          <a:xfrm>
            <a:off x="3799102" y="3469086"/>
            <a:ext cx="4238688" cy="2695354"/>
          </a:xfrm>
          <a:prstGeom prst="rect">
            <a:avLst/>
          </a:prstGeom>
          <a:ln>
            <a:solidFill>
              <a:srgbClr val="C00000"/>
            </a:solidFill>
          </a:ln>
          <a:effectLst>
            <a:outerShdw blurRad="190500" algn="tl" rotWithShape="0">
              <a:srgbClr val="000000">
                <a:alpha val="70000"/>
              </a:srgbClr>
            </a:outerShdw>
          </a:effectLst>
        </p:spPr>
      </p:pic>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DEE6-8D13-30F4-74E8-5580D8A44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4DBA5-B011-211A-9E57-553051915634}"/>
              </a:ext>
            </a:extLst>
          </p:cNvPr>
          <p:cNvSpPr>
            <a:spLocks noGrp="1"/>
          </p:cNvSpPr>
          <p:nvPr>
            <p:ph type="title"/>
          </p:nvPr>
        </p:nvSpPr>
        <p:spPr>
          <a:xfrm>
            <a:off x="348791" y="286603"/>
            <a:ext cx="11481847" cy="1450757"/>
          </a:xfrm>
        </p:spPr>
        <p:txBody>
          <a:bodyPr/>
          <a:lstStyle/>
          <a:p>
            <a:r>
              <a:rPr lang="en-US" dirty="0"/>
              <a:t>What is inheritance ?</a:t>
            </a:r>
          </a:p>
        </p:txBody>
      </p:sp>
      <p:sp>
        <p:nvSpPr>
          <p:cNvPr id="4" name="Footer Placeholder 3">
            <a:extLst>
              <a:ext uri="{FF2B5EF4-FFF2-40B4-BE49-F238E27FC236}">
                <a16:creationId xmlns:a16="http://schemas.microsoft.com/office/drawing/2014/main" id="{605F7906-CBDB-F2DA-A15C-6475E80D03D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FDE9734B-67EE-90BA-F482-3F2B536365FF}"/>
              </a:ext>
            </a:extLst>
          </p:cNvPr>
          <p:cNvSpPr>
            <a:spLocks noGrp="1"/>
          </p:cNvSpPr>
          <p:nvPr>
            <p:ph idx="1"/>
          </p:nvPr>
        </p:nvSpPr>
        <p:spPr/>
        <p:txBody>
          <a:bodyPr>
            <a:normAutofit/>
          </a:bodyPr>
          <a:lstStyle/>
          <a:p>
            <a:pPr marL="0" marR="0">
              <a:lnSpc>
                <a:spcPct val="115000"/>
              </a:lnSpc>
              <a:spcBef>
                <a:spcPts val="0"/>
              </a:spcBef>
              <a:spcAft>
                <a:spcPts val="0"/>
              </a:spcAft>
            </a:pPr>
            <a:r>
              <a:rPr lang="en-US" dirty="0">
                <a:solidFill>
                  <a:srgbClr val="000000"/>
                </a:solidFill>
                <a:effectLst/>
                <a:ea typeface="Times New Roman" panose="02020603050405020304" pitchFamily="18" charset="0"/>
                <a:cs typeface="Times New Roman" panose="02020603050405020304" pitchFamily="18" charset="0"/>
              </a:rPr>
              <a:t>When creating a class, rather than declaring completely new members, you can designate that the new class should inherit the members of an existing class.</a:t>
            </a:r>
            <a:endParaRPr lang="en-US" sz="2000" dirty="0">
              <a:solidFill>
                <a:srgbClr val="000000"/>
              </a:solidFill>
              <a:effectLst/>
              <a:ea typeface="Times New Roman" panose="02020603050405020304" pitchFamily="18" charset="0"/>
              <a:cs typeface="Times New Roman" panose="02020603050405020304" pitchFamily="18" charset="0"/>
            </a:endParaRPr>
          </a:p>
          <a:p>
            <a:pPr marL="540000" lvl="1">
              <a:lnSpc>
                <a:spcPct val="115000"/>
              </a:lnSpc>
              <a:spcBef>
                <a:spcPts val="0"/>
              </a:spcBef>
              <a:spcAft>
                <a:spcPts val="0"/>
              </a:spcAft>
            </a:pPr>
            <a:r>
              <a:rPr lang="en-US" sz="1800" dirty="0">
                <a:solidFill>
                  <a:srgbClr val="000000"/>
                </a:solidFill>
                <a:effectLst/>
                <a:ea typeface="Times New Roman" panose="02020603050405020304" pitchFamily="18" charset="0"/>
                <a:cs typeface="Times New Roman" panose="02020603050405020304" pitchFamily="18" charset="0"/>
              </a:rPr>
              <a:t> </a:t>
            </a:r>
            <a:r>
              <a:rPr lang="en-US" sz="2000" dirty="0">
                <a:solidFill>
                  <a:srgbClr val="000000"/>
                </a:solidFill>
                <a:effectLst/>
                <a:ea typeface="Times New Roman" panose="02020603050405020304" pitchFamily="18" charset="0"/>
                <a:cs typeface="Times New Roman" panose="02020603050405020304" pitchFamily="18" charset="0"/>
              </a:rPr>
              <a:t>The existing class is called the </a:t>
            </a:r>
            <a:r>
              <a:rPr lang="en-US" sz="2000" b="1" dirty="0">
                <a:solidFill>
                  <a:srgbClr val="FF0000"/>
                </a:solidFill>
                <a:effectLst/>
                <a:ea typeface="Times New Roman" panose="02020603050405020304" pitchFamily="18" charset="0"/>
                <a:cs typeface="Times New Roman" panose="02020603050405020304" pitchFamily="18" charset="0"/>
              </a:rPr>
              <a:t>superclass</a:t>
            </a:r>
            <a:r>
              <a:rPr lang="en-US" sz="2000" dirty="0">
                <a:solidFill>
                  <a:srgbClr val="000000"/>
                </a:solidFill>
                <a:effectLst/>
                <a:ea typeface="Times New Roman" panose="02020603050405020304" pitchFamily="18" charset="0"/>
                <a:cs typeface="Times New Roman" panose="02020603050405020304" pitchFamily="18" charset="0"/>
              </a:rPr>
              <a:t>, and the new class is the </a:t>
            </a:r>
            <a:r>
              <a:rPr lang="en-US" sz="2000" b="1" dirty="0">
                <a:solidFill>
                  <a:srgbClr val="FF0000"/>
                </a:solidFill>
                <a:effectLst/>
                <a:ea typeface="Times New Roman" panose="02020603050405020304" pitchFamily="18" charset="0"/>
                <a:cs typeface="Times New Roman" panose="02020603050405020304" pitchFamily="18" charset="0"/>
              </a:rPr>
              <a:t>subclass</a:t>
            </a:r>
            <a:r>
              <a:rPr lang="en-US" sz="2000" b="1" dirty="0">
                <a:solidFill>
                  <a:srgbClr val="4D9BFF"/>
                </a:solidFill>
                <a:effectLst/>
                <a:ea typeface="Times New Roman" panose="02020603050405020304" pitchFamily="18" charset="0"/>
                <a:cs typeface="Times New Roman" panose="02020603050405020304" pitchFamily="18" charset="0"/>
              </a:rPr>
              <a:t>.</a:t>
            </a:r>
          </a:p>
          <a:p>
            <a:pPr marL="540000" lvl="1">
              <a:lnSpc>
                <a:spcPct val="115000"/>
              </a:lnSpc>
              <a:spcBef>
                <a:spcPts val="0"/>
              </a:spcBef>
              <a:spcAft>
                <a:spcPts val="0"/>
              </a:spcAft>
            </a:pPr>
            <a:r>
              <a:rPr lang="en-US" sz="2000" b="1" dirty="0">
                <a:solidFill>
                  <a:srgbClr val="4D9BFF"/>
                </a:solidFill>
                <a:effectLst/>
                <a:ea typeface="Times New Roman" panose="02020603050405020304" pitchFamily="18" charset="0"/>
                <a:cs typeface="Times New Roman" panose="02020603050405020304" pitchFamily="18" charset="0"/>
              </a:rPr>
              <a:t> </a:t>
            </a:r>
            <a:r>
              <a:rPr lang="en-US" sz="2000" dirty="0">
                <a:solidFill>
                  <a:srgbClr val="000000"/>
                </a:solidFill>
                <a:effectLst/>
                <a:ea typeface="Times New Roman" panose="02020603050405020304" pitchFamily="18" charset="0"/>
                <a:cs typeface="Times New Roman" panose="02020603050405020304" pitchFamily="18" charset="0"/>
              </a:rPr>
              <a:t>(The C++ programming language refers to the superclass as the </a:t>
            </a:r>
            <a:r>
              <a:rPr lang="en-US" sz="2000" b="1" dirty="0">
                <a:solidFill>
                  <a:srgbClr val="FF0000"/>
                </a:solidFill>
                <a:effectLst/>
                <a:ea typeface="Times New Roman" panose="02020603050405020304" pitchFamily="18" charset="0"/>
                <a:cs typeface="Times New Roman" panose="02020603050405020304" pitchFamily="18" charset="0"/>
              </a:rPr>
              <a:t>base class</a:t>
            </a:r>
            <a:r>
              <a:rPr lang="en-US" sz="2000" b="1" dirty="0">
                <a:solidFill>
                  <a:srgbClr val="4D9BFF"/>
                </a:solidFill>
                <a:effectLst/>
                <a:ea typeface="Times New Roman" panose="02020603050405020304" pitchFamily="18" charset="0"/>
                <a:cs typeface="Times New Roman" panose="02020603050405020304" pitchFamily="18" charset="0"/>
              </a:rPr>
              <a:t> </a:t>
            </a:r>
            <a:r>
              <a:rPr lang="en-US" sz="2000" dirty="0">
                <a:solidFill>
                  <a:srgbClr val="000000"/>
                </a:solidFill>
                <a:effectLst/>
                <a:ea typeface="Times New Roman" panose="02020603050405020304" pitchFamily="18" charset="0"/>
                <a:cs typeface="Times New Roman" panose="02020603050405020304" pitchFamily="18" charset="0"/>
              </a:rPr>
              <a:t>and the subclass as the </a:t>
            </a:r>
            <a:r>
              <a:rPr lang="en-US" sz="2000" b="1" dirty="0">
                <a:solidFill>
                  <a:srgbClr val="FF0000"/>
                </a:solidFill>
                <a:effectLst/>
                <a:ea typeface="Times New Roman" panose="02020603050405020304" pitchFamily="18" charset="0"/>
                <a:cs typeface="Times New Roman" panose="02020603050405020304" pitchFamily="18" charset="0"/>
              </a:rPr>
              <a:t>derived class</a:t>
            </a:r>
            <a:r>
              <a:rPr lang="en-US" sz="2000" dirty="0">
                <a:solidFill>
                  <a:srgbClr val="000000"/>
                </a:solidFill>
                <a:effectLst/>
                <a:ea typeface="Times New Roman" panose="02020603050405020304" pitchFamily="18" charset="0"/>
                <a:cs typeface="Times New Roman" panose="02020603050405020304" pitchFamily="18" charset="0"/>
              </a:rPr>
              <a:t>). </a:t>
            </a: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BD4F60DC-59F3-77E8-1AA2-BC6143153B36}"/>
              </a:ext>
            </a:extLst>
          </p:cNvPr>
          <p:cNvPicPr>
            <a:picLocks noChangeAspect="1" noChangeArrowheads="1"/>
          </p:cNvPicPr>
          <p:nvPr/>
        </p:nvPicPr>
        <p:blipFill>
          <a:blip r:embed="rId2"/>
          <a:srcRect/>
          <a:stretch>
            <a:fillRect/>
          </a:stretch>
        </p:blipFill>
        <p:spPr bwMode="auto">
          <a:xfrm>
            <a:off x="7765961" y="3429000"/>
            <a:ext cx="4323008" cy="2958921"/>
          </a:xfrm>
          <a:prstGeom prst="rect">
            <a:avLst/>
          </a:prstGeom>
          <a:ln>
            <a:solidFill>
              <a:srgbClr val="C00000"/>
            </a:solid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89B78E9A-E147-3F55-8E99-12B5FB44C056}"/>
              </a:ext>
            </a:extLst>
          </p:cNvPr>
          <p:cNvPicPr>
            <a:picLocks noChangeAspect="1" noChangeArrowheads="1"/>
          </p:cNvPicPr>
          <p:nvPr/>
        </p:nvPicPr>
        <p:blipFill>
          <a:blip r:embed="rId3"/>
          <a:srcRect/>
          <a:stretch>
            <a:fillRect/>
          </a:stretch>
        </p:blipFill>
        <p:spPr bwMode="auto">
          <a:xfrm>
            <a:off x="3451539" y="3429000"/>
            <a:ext cx="4143090" cy="2928313"/>
          </a:xfrm>
          <a:prstGeom prst="rect">
            <a:avLst/>
          </a:prstGeom>
          <a:ln>
            <a:solidFill>
              <a:srgbClr val="C00000"/>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1815467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B61B3-C854-4FE2-B924-353632976BEE}"/>
              </a:ext>
            </a:extLst>
          </p:cNvPr>
          <p:cNvSpPr>
            <a:spLocks noGrp="1"/>
          </p:cNvSpPr>
          <p:nvPr>
            <p:ph type="title"/>
          </p:nvPr>
        </p:nvSpPr>
        <p:spPr/>
        <p:txBody>
          <a:bodyPr/>
          <a:lstStyle/>
          <a:p>
            <a:r>
              <a:rPr lang="en-US" dirty="0"/>
              <a:t>What is inheritance ?</a:t>
            </a:r>
          </a:p>
        </p:txBody>
      </p:sp>
      <p:sp>
        <p:nvSpPr>
          <p:cNvPr id="3" name="Content Placeholder 2">
            <a:extLst>
              <a:ext uri="{FF2B5EF4-FFF2-40B4-BE49-F238E27FC236}">
                <a16:creationId xmlns:a16="http://schemas.microsoft.com/office/drawing/2014/main" id="{EE37AE6A-2E22-497A-9DB4-06BF7A4756DE}"/>
              </a:ext>
            </a:extLst>
          </p:cNvPr>
          <p:cNvSpPr>
            <a:spLocks noGrp="1"/>
          </p:cNvSpPr>
          <p:nvPr>
            <p:ph idx="1"/>
          </p:nvPr>
        </p:nvSpPr>
        <p:spPr/>
        <p:txBody>
          <a:bodyPr/>
          <a:lstStyle/>
          <a:p>
            <a:r>
              <a:rPr lang="en-US" dirty="0"/>
              <a:t>Each </a:t>
            </a:r>
            <a:r>
              <a:rPr lang="en-US" b="1" dirty="0">
                <a:solidFill>
                  <a:srgbClr val="4A8EF2"/>
                </a:solidFill>
              </a:rPr>
              <a:t>subclass</a:t>
            </a:r>
            <a:r>
              <a:rPr lang="en-US" dirty="0"/>
              <a:t> can become a </a:t>
            </a:r>
            <a:r>
              <a:rPr lang="en-US" b="1" dirty="0">
                <a:solidFill>
                  <a:srgbClr val="C00000"/>
                </a:solidFill>
              </a:rPr>
              <a:t>superclass</a:t>
            </a:r>
            <a:r>
              <a:rPr lang="en-US" dirty="0"/>
              <a:t> for future </a:t>
            </a:r>
            <a:r>
              <a:rPr lang="en-US" b="1" dirty="0">
                <a:solidFill>
                  <a:srgbClr val="4A8EF2"/>
                </a:solidFill>
              </a:rPr>
              <a:t>subclasses</a:t>
            </a:r>
            <a:r>
              <a:rPr lang="en-US" dirty="0"/>
              <a:t>. </a:t>
            </a:r>
          </a:p>
          <a:p>
            <a:r>
              <a:rPr lang="en-US" b="1" dirty="0">
                <a:solidFill>
                  <a:srgbClr val="4A8EF2"/>
                </a:solidFill>
              </a:rPr>
              <a:t>Subclasses</a:t>
            </a:r>
            <a:r>
              <a:rPr lang="en-US" dirty="0"/>
              <a:t> can add their own fields and methods. Therefore, </a:t>
            </a:r>
            <a:r>
              <a:rPr lang="en-US" b="1" dirty="0">
                <a:solidFill>
                  <a:srgbClr val="4A8EF2"/>
                </a:solidFill>
              </a:rPr>
              <a:t>subclasses </a:t>
            </a:r>
            <a:r>
              <a:rPr lang="en-US" dirty="0"/>
              <a:t>are more specific than their </a:t>
            </a:r>
            <a:r>
              <a:rPr lang="en-US" b="1" dirty="0">
                <a:solidFill>
                  <a:srgbClr val="C00000"/>
                </a:solidFill>
              </a:rPr>
              <a:t>superclass</a:t>
            </a:r>
            <a:r>
              <a:rPr lang="en-US" dirty="0"/>
              <a:t> and represents a more specialized group of objects.</a:t>
            </a:r>
          </a:p>
          <a:p>
            <a:r>
              <a:rPr lang="en-US" dirty="0"/>
              <a:t>NOTE: in Java </a:t>
            </a:r>
            <a:r>
              <a:rPr lang="en-US" b="1" dirty="0"/>
              <a:t>every class has one and only one direct superclass. </a:t>
            </a:r>
            <a:r>
              <a:rPr lang="en-US" i="1" dirty="0"/>
              <a:t>(explained more later)</a:t>
            </a:r>
          </a:p>
        </p:txBody>
      </p:sp>
      <p:sp>
        <p:nvSpPr>
          <p:cNvPr id="4" name="Footer Placeholder 3">
            <a:extLst>
              <a:ext uri="{FF2B5EF4-FFF2-40B4-BE49-F238E27FC236}">
                <a16:creationId xmlns:a16="http://schemas.microsoft.com/office/drawing/2014/main" id="{1BE4EF05-5738-46DA-839C-533D11A02EE7}"/>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49933578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54EE7-0E37-9946-42DF-0FA3AE4A5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AE8F4-316D-38C3-42E4-6D3B2AC2A9DB}"/>
              </a:ext>
            </a:extLst>
          </p:cNvPr>
          <p:cNvSpPr>
            <a:spLocks noGrp="1"/>
          </p:cNvSpPr>
          <p:nvPr>
            <p:ph type="title"/>
          </p:nvPr>
        </p:nvSpPr>
        <p:spPr>
          <a:xfrm>
            <a:off x="348791" y="286603"/>
            <a:ext cx="11481847" cy="1450757"/>
          </a:xfrm>
        </p:spPr>
        <p:txBody>
          <a:bodyPr/>
          <a:lstStyle/>
          <a:p>
            <a:r>
              <a:rPr lang="en-US" dirty="0"/>
              <a:t>What is inheritance ?</a:t>
            </a:r>
          </a:p>
        </p:txBody>
      </p:sp>
      <p:sp>
        <p:nvSpPr>
          <p:cNvPr id="4" name="Footer Placeholder 3">
            <a:extLst>
              <a:ext uri="{FF2B5EF4-FFF2-40B4-BE49-F238E27FC236}">
                <a16:creationId xmlns:a16="http://schemas.microsoft.com/office/drawing/2014/main" id="{80D1F534-CDA8-5AEA-4735-1A495D2C606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3858C91C-7536-D931-3591-90385838EDAC}"/>
              </a:ext>
            </a:extLst>
          </p:cNvPr>
          <p:cNvSpPr>
            <a:spLocks noGrp="1"/>
          </p:cNvSpPr>
          <p:nvPr>
            <p:ph idx="1"/>
          </p:nvPr>
        </p:nvSpPr>
        <p:spPr/>
        <p:txBody>
          <a:bodyPr>
            <a:normAutofit/>
          </a:bodyPr>
          <a:lstStyle/>
          <a:p>
            <a:pPr marL="342900" indent="-342900">
              <a:lnSpc>
                <a:spcPct val="150000"/>
              </a:lnSpc>
              <a:buFont typeface="Wingdings" panose="05000000000000000000" pitchFamily="2" charset="2"/>
              <a:buChar char="§"/>
            </a:pPr>
            <a:r>
              <a:rPr lang="en-US" sz="2400" dirty="0">
                <a:cs typeface="Times New Roman" pitchFamily="18" charset="0"/>
              </a:rPr>
              <a:t>Typically, the </a:t>
            </a:r>
            <a:r>
              <a:rPr lang="en-US" sz="2400" b="1" dirty="0">
                <a:solidFill>
                  <a:schemeClr val="bg2">
                    <a:lumMod val="75000"/>
                  </a:schemeClr>
                </a:solidFill>
                <a:cs typeface="Times New Roman" pitchFamily="18" charset="0"/>
              </a:rPr>
              <a:t>subclass</a:t>
            </a:r>
            <a:r>
              <a:rPr lang="en-US" sz="2400" b="1" dirty="0">
                <a:cs typeface="Times New Roman" pitchFamily="18" charset="0"/>
              </a:rPr>
              <a:t> </a:t>
            </a:r>
            <a:r>
              <a:rPr lang="en-US" sz="2400" dirty="0">
                <a:cs typeface="Times New Roman" pitchFamily="18" charset="0"/>
              </a:rPr>
              <a:t>exhibits the behaviors of its  </a:t>
            </a:r>
            <a:r>
              <a:rPr lang="en-US" sz="2400" b="1" dirty="0">
                <a:solidFill>
                  <a:srgbClr val="C00000"/>
                </a:solidFill>
                <a:cs typeface="Times New Roman" pitchFamily="18" charset="0"/>
              </a:rPr>
              <a:t>superclass</a:t>
            </a:r>
            <a:r>
              <a:rPr lang="en-US" sz="2400" b="1" dirty="0">
                <a:cs typeface="Times New Roman" pitchFamily="18" charset="0"/>
              </a:rPr>
              <a:t> </a:t>
            </a:r>
            <a:r>
              <a:rPr lang="en-US" sz="2400" dirty="0">
                <a:cs typeface="Times New Roman" pitchFamily="18" charset="0"/>
              </a:rPr>
              <a:t>and additional behaviors that are specific to the </a:t>
            </a:r>
            <a:r>
              <a:rPr lang="en-US" sz="2400" b="1" dirty="0">
                <a:solidFill>
                  <a:schemeClr val="bg2">
                    <a:lumMod val="75000"/>
                  </a:schemeClr>
                </a:solidFill>
                <a:cs typeface="Times New Roman" pitchFamily="18" charset="0"/>
              </a:rPr>
              <a:t>subclass</a:t>
            </a:r>
            <a:r>
              <a:rPr lang="en-US" sz="2400" dirty="0">
                <a:cs typeface="Times New Roman" pitchFamily="18" charset="0"/>
              </a:rPr>
              <a:t>.</a:t>
            </a: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7" name="Picture 6" descr="A diagram of a vehicle and a car&#10;&#10;Description automatically generated">
            <a:extLst>
              <a:ext uri="{FF2B5EF4-FFF2-40B4-BE49-F238E27FC236}">
                <a16:creationId xmlns:a16="http://schemas.microsoft.com/office/drawing/2014/main" id="{062FEA90-97F8-3914-487F-6BB1BB98A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003" y="2370522"/>
            <a:ext cx="5670997" cy="4023360"/>
          </a:xfrm>
          <a:prstGeom prst="rect">
            <a:avLst/>
          </a:prstGeom>
        </p:spPr>
      </p:pic>
    </p:spTree>
    <p:extLst>
      <p:ext uri="{BB962C8B-B14F-4D97-AF65-F5344CB8AC3E}">
        <p14:creationId xmlns:p14="http://schemas.microsoft.com/office/powerpoint/2010/main" val="135548433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29EE-1024-1C9A-8A2E-D0D7970F2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AD20D-7E32-A5DA-A2DD-249900130056}"/>
              </a:ext>
            </a:extLst>
          </p:cNvPr>
          <p:cNvSpPr>
            <a:spLocks noGrp="1"/>
          </p:cNvSpPr>
          <p:nvPr>
            <p:ph type="title"/>
          </p:nvPr>
        </p:nvSpPr>
        <p:spPr>
          <a:xfrm>
            <a:off x="348791" y="286603"/>
            <a:ext cx="11481847" cy="1450757"/>
          </a:xfrm>
        </p:spPr>
        <p:txBody>
          <a:bodyPr/>
          <a:lstStyle/>
          <a:p>
            <a:r>
              <a:rPr lang="en-US" dirty="0"/>
              <a:t>Direct inheritance and indirect inheritance</a:t>
            </a:r>
          </a:p>
        </p:txBody>
      </p:sp>
      <p:sp>
        <p:nvSpPr>
          <p:cNvPr id="4" name="Footer Placeholder 3">
            <a:extLst>
              <a:ext uri="{FF2B5EF4-FFF2-40B4-BE49-F238E27FC236}">
                <a16:creationId xmlns:a16="http://schemas.microsoft.com/office/drawing/2014/main" id="{1BB469AE-5428-BD7C-B764-C1600185DE1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43B6E7DB-41C2-8772-D19F-C6C9C5977764}"/>
              </a:ext>
            </a:extLst>
          </p:cNvPr>
          <p:cNvSpPr>
            <a:spLocks noGrp="1"/>
          </p:cNvSpPr>
          <p:nvPr>
            <p:ph idx="1"/>
          </p:nvPr>
        </p:nvSpPr>
        <p:spPr>
          <a:xfrm>
            <a:off x="348791" y="1845734"/>
            <a:ext cx="11529823" cy="4023360"/>
          </a:xfrm>
        </p:spPr>
        <p:txBody>
          <a:bodyPr>
            <a:noAutofit/>
          </a:bodyPr>
          <a:lstStyle/>
          <a:p>
            <a:pPr marL="342900" indent="-342900" algn="just" rtl="0">
              <a:lnSpc>
                <a:spcPct val="150000"/>
              </a:lnSpc>
            </a:pPr>
            <a:r>
              <a:rPr lang="en-US" dirty="0">
                <a:solidFill>
                  <a:srgbClr val="404040"/>
                </a:solidFill>
                <a:cs typeface="Times New Roman" pitchFamily="18" charset="0"/>
              </a:rPr>
              <a:t>A direct </a:t>
            </a:r>
            <a:r>
              <a:rPr lang="en-US" b="1" dirty="0">
                <a:solidFill>
                  <a:srgbClr val="C00000"/>
                </a:solidFill>
                <a:cs typeface="Times New Roman" pitchFamily="18" charset="0"/>
              </a:rPr>
              <a:t>superclass</a:t>
            </a:r>
            <a:r>
              <a:rPr lang="en-US" dirty="0">
                <a:solidFill>
                  <a:schemeClr val="bg2">
                    <a:lumMod val="75000"/>
                  </a:schemeClr>
                </a:solidFill>
                <a:cs typeface="Times New Roman" pitchFamily="18" charset="0"/>
              </a:rPr>
              <a:t> </a:t>
            </a:r>
            <a:r>
              <a:rPr lang="en-US" dirty="0">
                <a:cs typeface="Times New Roman" pitchFamily="18" charset="0"/>
              </a:rPr>
              <a:t>is the super class from which the </a:t>
            </a:r>
            <a:r>
              <a:rPr lang="en-US" b="1" dirty="0">
                <a:solidFill>
                  <a:srgbClr val="4A8EF2"/>
                </a:solidFill>
                <a:cs typeface="Times New Roman" pitchFamily="18" charset="0"/>
              </a:rPr>
              <a:t>subclass</a:t>
            </a:r>
            <a:r>
              <a:rPr lang="en-US" dirty="0">
                <a:cs typeface="Times New Roman" pitchFamily="18" charset="0"/>
              </a:rPr>
              <a:t> explicitly inherits. </a:t>
            </a:r>
          </a:p>
          <a:p>
            <a:pPr marL="342900" indent="-342900" algn="just" rtl="0">
              <a:lnSpc>
                <a:spcPct val="150000"/>
              </a:lnSpc>
            </a:pPr>
            <a:r>
              <a:rPr lang="en-US" dirty="0">
                <a:solidFill>
                  <a:schemeClr val="tx1"/>
                </a:solidFill>
                <a:cs typeface="Times New Roman" pitchFamily="18" charset="0"/>
              </a:rPr>
              <a:t>An indirect </a:t>
            </a:r>
            <a:r>
              <a:rPr lang="en-US" b="1" dirty="0">
                <a:solidFill>
                  <a:srgbClr val="C00000"/>
                </a:solidFill>
                <a:cs typeface="Times New Roman" pitchFamily="18" charset="0"/>
              </a:rPr>
              <a:t>superclass</a:t>
            </a:r>
            <a:r>
              <a:rPr lang="en-US" dirty="0">
                <a:solidFill>
                  <a:schemeClr val="bg2">
                    <a:lumMod val="75000"/>
                  </a:schemeClr>
                </a:solidFill>
                <a:cs typeface="Times New Roman" pitchFamily="18" charset="0"/>
              </a:rPr>
              <a:t> </a:t>
            </a:r>
            <a:r>
              <a:rPr lang="en-US" dirty="0">
                <a:cs typeface="Times New Roman" pitchFamily="18" charset="0"/>
              </a:rPr>
              <a:t>is any class above the direct </a:t>
            </a:r>
            <a:r>
              <a:rPr lang="en-US" b="1" dirty="0">
                <a:solidFill>
                  <a:srgbClr val="C00000"/>
                </a:solidFill>
                <a:cs typeface="Times New Roman" pitchFamily="18" charset="0"/>
              </a:rPr>
              <a:t>superclass</a:t>
            </a:r>
            <a:r>
              <a:rPr lang="en-US" dirty="0">
                <a:cs typeface="Times New Roman" pitchFamily="18" charset="0"/>
              </a:rPr>
              <a:t> in the class hierarchy, which defines the inheritance relationships between classes.</a:t>
            </a:r>
          </a:p>
          <a:p>
            <a:pPr marL="882900" lvl="1" indent="-342900" algn="just">
              <a:lnSpc>
                <a:spcPct val="150000"/>
              </a:lnSpc>
            </a:pPr>
            <a:r>
              <a:rPr lang="en-US" dirty="0">
                <a:cs typeface="Times New Roman" pitchFamily="18" charset="0"/>
              </a:rPr>
              <a:t>In fact, every class you define in Java is inherited from an existing class, either </a:t>
            </a:r>
            <a:r>
              <a:rPr lang="en-US" b="1" dirty="0">
                <a:cs typeface="Times New Roman" pitchFamily="18" charset="0"/>
              </a:rPr>
              <a:t>explicitly</a:t>
            </a:r>
            <a:r>
              <a:rPr lang="en-US" dirty="0">
                <a:cs typeface="Times New Roman" pitchFamily="18" charset="0"/>
              </a:rPr>
              <a:t> or </a:t>
            </a:r>
            <a:r>
              <a:rPr lang="en-US" b="1" dirty="0">
                <a:cs typeface="Times New Roman" pitchFamily="18" charset="0"/>
              </a:rPr>
              <a:t>implicitly</a:t>
            </a:r>
            <a:r>
              <a:rPr lang="en-US" dirty="0">
                <a:cs typeface="Times New Roman" pitchFamily="18" charset="0"/>
              </a:rPr>
              <a:t>.</a:t>
            </a:r>
          </a:p>
          <a:p>
            <a:pPr marL="882900" lvl="1" indent="-342900" algn="just">
              <a:lnSpc>
                <a:spcPct val="150000"/>
              </a:lnSpc>
            </a:pPr>
            <a:r>
              <a:rPr lang="en-US" dirty="0">
                <a:cs typeface="Times New Roman" pitchFamily="18" charset="0"/>
              </a:rPr>
              <a:t>All the classes that we created were all extended </a:t>
            </a:r>
            <a:r>
              <a:rPr lang="en-US" b="1" dirty="0">
                <a:cs typeface="Times New Roman" pitchFamily="18" charset="0"/>
              </a:rPr>
              <a:t>implicitly</a:t>
            </a:r>
            <a:r>
              <a:rPr lang="en-US" dirty="0">
                <a:cs typeface="Times New Roman" pitchFamily="18" charset="0"/>
              </a:rPr>
              <a:t> from (</a:t>
            </a:r>
            <a:r>
              <a:rPr lang="en-US" b="1" dirty="0" err="1">
                <a:cs typeface="Times New Roman" pitchFamily="18" charset="0"/>
              </a:rPr>
              <a:t>java.lang.Object</a:t>
            </a:r>
            <a:r>
              <a:rPr lang="en-US" dirty="0">
                <a:cs typeface="Times New Roman" pitchFamily="18" charset="0"/>
              </a:rPr>
              <a:t>).</a:t>
            </a:r>
          </a:p>
        </p:txBody>
      </p:sp>
    </p:spTree>
    <p:extLst>
      <p:ext uri="{BB962C8B-B14F-4D97-AF65-F5344CB8AC3E}">
        <p14:creationId xmlns:p14="http://schemas.microsoft.com/office/powerpoint/2010/main" val="415890651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273C-B89C-41D0-B6AC-C8F2C74B25D5}"/>
              </a:ext>
            </a:extLst>
          </p:cNvPr>
          <p:cNvSpPr>
            <a:spLocks noGrp="1"/>
          </p:cNvSpPr>
          <p:nvPr>
            <p:ph type="title"/>
          </p:nvPr>
        </p:nvSpPr>
        <p:spPr/>
        <p:txBody>
          <a:bodyPr/>
          <a:lstStyle/>
          <a:p>
            <a:r>
              <a:rPr lang="en-US" dirty="0"/>
              <a:t>Single and multiple inheritance</a:t>
            </a:r>
          </a:p>
        </p:txBody>
      </p:sp>
      <p:sp>
        <p:nvSpPr>
          <p:cNvPr id="3" name="Content Placeholder 2">
            <a:extLst>
              <a:ext uri="{FF2B5EF4-FFF2-40B4-BE49-F238E27FC236}">
                <a16:creationId xmlns:a16="http://schemas.microsoft.com/office/drawing/2014/main" id="{F7E82465-2479-4062-A67C-237F140823E6}"/>
              </a:ext>
            </a:extLst>
          </p:cNvPr>
          <p:cNvSpPr>
            <a:spLocks noGrp="1"/>
          </p:cNvSpPr>
          <p:nvPr>
            <p:ph idx="1"/>
          </p:nvPr>
        </p:nvSpPr>
        <p:spPr/>
        <p:txBody>
          <a:bodyPr/>
          <a:lstStyle/>
          <a:p>
            <a:r>
              <a:rPr lang="en-US" dirty="0"/>
              <a:t>When a subclass is derived from one direct superclass it is called  single inheritance.</a:t>
            </a:r>
          </a:p>
          <a:p>
            <a:r>
              <a:rPr lang="en-US" dirty="0"/>
              <a:t>When a subclass is derived from more than one direct superclass it is called</a:t>
            </a:r>
          </a:p>
          <a:p>
            <a:r>
              <a:rPr lang="en-US" dirty="0"/>
              <a:t> Multiple inheritance.</a:t>
            </a:r>
            <a:br>
              <a:rPr lang="en-US" dirty="0"/>
            </a:br>
            <a:r>
              <a:rPr lang="en-US" sz="2000" b="1" dirty="0">
                <a:solidFill>
                  <a:srgbClr val="C00000"/>
                </a:solidFill>
              </a:rPr>
              <a:t>Note: Java, unlike C++, does not support multiple inheritance.</a:t>
            </a:r>
          </a:p>
        </p:txBody>
      </p:sp>
      <p:sp>
        <p:nvSpPr>
          <p:cNvPr id="4" name="Footer Placeholder 3">
            <a:extLst>
              <a:ext uri="{FF2B5EF4-FFF2-40B4-BE49-F238E27FC236}">
                <a16:creationId xmlns:a16="http://schemas.microsoft.com/office/drawing/2014/main" id="{73E78FAE-7A17-4EBF-9399-9C670E8681F2}"/>
              </a:ext>
            </a:extLst>
          </p:cNvPr>
          <p:cNvSpPr>
            <a:spLocks noGrp="1"/>
          </p:cNvSpPr>
          <p:nvPr>
            <p:ph type="ftr" sz="quarter" idx="11"/>
          </p:nvPr>
        </p:nvSpPr>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797F8B9B-3D9C-4A93-B9B0-8AFE4029AEC6}"/>
              </a:ext>
            </a:extLst>
          </p:cNvPr>
          <p:cNvGrpSpPr/>
          <p:nvPr/>
        </p:nvGrpSpPr>
        <p:grpSpPr>
          <a:xfrm>
            <a:off x="2196343" y="4112655"/>
            <a:ext cx="7786742" cy="2242008"/>
            <a:chOff x="642910" y="3071810"/>
            <a:chExt cx="8215370" cy="2143140"/>
          </a:xfrm>
        </p:grpSpPr>
        <p:pic>
          <p:nvPicPr>
            <p:cNvPr id="6" name="Picture 2" descr="H:\1-Java2_ Preparing Material\img\3.png">
              <a:extLst>
                <a:ext uri="{FF2B5EF4-FFF2-40B4-BE49-F238E27FC236}">
                  <a16:creationId xmlns:a16="http://schemas.microsoft.com/office/drawing/2014/main" id="{4DC625BC-5DEF-41FF-8BB0-3B5B03397783}"/>
                </a:ext>
              </a:extLst>
            </p:cNvPr>
            <p:cNvPicPr>
              <a:picLocks noChangeAspect="1" noChangeArrowheads="1"/>
            </p:cNvPicPr>
            <p:nvPr/>
          </p:nvPicPr>
          <p:blipFill>
            <a:blip r:embed="rId2"/>
            <a:srcRect/>
            <a:stretch>
              <a:fillRect/>
            </a:stretch>
          </p:blipFill>
          <p:spPr bwMode="auto">
            <a:xfrm>
              <a:off x="3232556" y="3071810"/>
              <a:ext cx="2768204" cy="2143140"/>
            </a:xfrm>
            <a:prstGeom prst="rect">
              <a:avLst/>
            </a:prstGeom>
            <a:ln>
              <a:noFill/>
            </a:ln>
            <a:effectLst>
              <a:outerShdw blurRad="292100" dist="139700" dir="2700000" algn="tl" rotWithShape="0">
                <a:srgbClr val="333333">
                  <a:alpha val="65000"/>
                </a:srgbClr>
              </a:outerShdw>
            </a:effectLst>
          </p:spPr>
        </p:pic>
        <p:pic>
          <p:nvPicPr>
            <p:cNvPr id="7" name="Picture 3" descr="H:\1-Java2_ Preparing Material\img\1.png">
              <a:extLst>
                <a:ext uri="{FF2B5EF4-FFF2-40B4-BE49-F238E27FC236}">
                  <a16:creationId xmlns:a16="http://schemas.microsoft.com/office/drawing/2014/main" id="{18C9F509-CBAB-42E8-A95E-DD8EF7A64F59}"/>
                </a:ext>
              </a:extLst>
            </p:cNvPr>
            <p:cNvPicPr>
              <a:picLocks noChangeAspect="1" noChangeArrowheads="1"/>
            </p:cNvPicPr>
            <p:nvPr/>
          </p:nvPicPr>
          <p:blipFill>
            <a:blip r:embed="rId3"/>
            <a:srcRect/>
            <a:stretch>
              <a:fillRect/>
            </a:stretch>
          </p:blipFill>
          <p:spPr bwMode="auto">
            <a:xfrm>
              <a:off x="642910" y="3071810"/>
              <a:ext cx="2500330" cy="2143140"/>
            </a:xfrm>
            <a:prstGeom prst="rect">
              <a:avLst/>
            </a:prstGeom>
            <a:ln>
              <a:noFill/>
            </a:ln>
            <a:effectLst>
              <a:outerShdw blurRad="292100" dist="139700" dir="2700000" algn="tl" rotWithShape="0">
                <a:srgbClr val="333333">
                  <a:alpha val="65000"/>
                </a:srgbClr>
              </a:outerShdw>
            </a:effectLst>
          </p:spPr>
        </p:pic>
        <p:pic>
          <p:nvPicPr>
            <p:cNvPr id="8" name="Picture 4" descr="H:\1-Java2_ Preparing Material\img\2.png">
              <a:extLst>
                <a:ext uri="{FF2B5EF4-FFF2-40B4-BE49-F238E27FC236}">
                  <a16:creationId xmlns:a16="http://schemas.microsoft.com/office/drawing/2014/main" id="{1A1082D2-5C05-4228-A09A-CDD9D7B83FE5}"/>
                </a:ext>
              </a:extLst>
            </p:cNvPr>
            <p:cNvPicPr>
              <a:picLocks noChangeAspect="1" noChangeArrowheads="1"/>
            </p:cNvPicPr>
            <p:nvPr/>
          </p:nvPicPr>
          <p:blipFill>
            <a:blip r:embed="rId4"/>
            <a:srcRect/>
            <a:stretch>
              <a:fillRect/>
            </a:stretch>
          </p:blipFill>
          <p:spPr bwMode="auto">
            <a:xfrm>
              <a:off x="6072198" y="3071810"/>
              <a:ext cx="2786082" cy="2143140"/>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49209842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E086-F167-4019-B5D4-A87227E00FA0}"/>
              </a:ext>
            </a:extLst>
          </p:cNvPr>
          <p:cNvSpPr>
            <a:spLocks noGrp="1"/>
          </p:cNvSpPr>
          <p:nvPr>
            <p:ph type="title"/>
          </p:nvPr>
        </p:nvSpPr>
        <p:spPr/>
        <p:txBody>
          <a:bodyPr/>
          <a:lstStyle/>
          <a:p>
            <a:r>
              <a:rPr lang="en-US" dirty="0"/>
              <a:t>Inheritance Example</a:t>
            </a:r>
          </a:p>
        </p:txBody>
      </p:sp>
      <p:sp>
        <p:nvSpPr>
          <p:cNvPr id="3" name="Content Placeholder 2">
            <a:extLst>
              <a:ext uri="{FF2B5EF4-FFF2-40B4-BE49-F238E27FC236}">
                <a16:creationId xmlns:a16="http://schemas.microsoft.com/office/drawing/2014/main" id="{F3DF0832-9FA0-4A6A-B18B-56EF675D2A67}"/>
              </a:ext>
            </a:extLst>
          </p:cNvPr>
          <p:cNvSpPr>
            <a:spLocks noGrp="1"/>
          </p:cNvSpPr>
          <p:nvPr>
            <p:ph idx="1"/>
          </p:nvPr>
        </p:nvSpPr>
        <p:spPr>
          <a:xfrm>
            <a:off x="348792" y="1845734"/>
            <a:ext cx="5489632" cy="4456328"/>
          </a:xfrm>
        </p:spPr>
        <p:txBody>
          <a:bodyPr>
            <a:normAutofit/>
          </a:bodyPr>
          <a:lstStyle/>
          <a:p>
            <a:r>
              <a:rPr lang="en-US" sz="2200" dirty="0"/>
              <a:t>Imagine the positions Programmer and Manager within an organization.</a:t>
            </a:r>
          </a:p>
          <a:p>
            <a:r>
              <a:rPr lang="en-US" sz="2200" b="1" dirty="0"/>
              <a:t>Both positions have a common set of properties</a:t>
            </a:r>
            <a:r>
              <a:rPr lang="en-US" sz="2200" dirty="0"/>
              <a:t>, including </a:t>
            </a:r>
            <a:r>
              <a:rPr lang="en-US" sz="2200" b="1" dirty="0"/>
              <a:t>name</a:t>
            </a:r>
            <a:r>
              <a:rPr lang="en-US" sz="2200" dirty="0"/>
              <a:t>, </a:t>
            </a:r>
            <a:r>
              <a:rPr lang="en-US" sz="2200" b="1" dirty="0"/>
              <a:t>address</a:t>
            </a:r>
            <a:r>
              <a:rPr lang="en-US" sz="2200" dirty="0"/>
              <a:t>, and </a:t>
            </a:r>
            <a:r>
              <a:rPr lang="en-US" sz="2200" b="1" dirty="0"/>
              <a:t>phone number</a:t>
            </a:r>
            <a:r>
              <a:rPr lang="en-US" sz="2200" dirty="0"/>
              <a:t>.</a:t>
            </a:r>
          </a:p>
          <a:p>
            <a:r>
              <a:rPr lang="en-US" sz="2200" dirty="0"/>
              <a:t>These positions </a:t>
            </a:r>
            <a:r>
              <a:rPr lang="en-US" sz="2200" b="1" dirty="0"/>
              <a:t>also have different properties.</a:t>
            </a:r>
          </a:p>
          <a:p>
            <a:r>
              <a:rPr lang="en-US" sz="2200" dirty="0"/>
              <a:t>A Programmer may be concerned with a project’s programming languages, whereas a Manager may be concerned with project status reports.</a:t>
            </a:r>
          </a:p>
        </p:txBody>
      </p:sp>
      <p:sp>
        <p:nvSpPr>
          <p:cNvPr id="4" name="Footer Placeholder 3">
            <a:extLst>
              <a:ext uri="{FF2B5EF4-FFF2-40B4-BE49-F238E27FC236}">
                <a16:creationId xmlns:a16="http://schemas.microsoft.com/office/drawing/2014/main" id="{3ACF6A29-24BC-4BEE-A0AE-B2B092A9D97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descr="A screenshot of a computer program&#10;&#10;Description automatically generated">
            <a:extLst>
              <a:ext uri="{FF2B5EF4-FFF2-40B4-BE49-F238E27FC236}">
                <a16:creationId xmlns:a16="http://schemas.microsoft.com/office/drawing/2014/main" id="{29C610AB-8AE6-49E4-B950-C9C7C594E1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8423" y="1755344"/>
            <a:ext cx="6447563" cy="4585354"/>
          </a:xfrm>
          <a:prstGeom prst="rect">
            <a:avLst/>
          </a:prstGeom>
        </p:spPr>
      </p:pic>
    </p:spTree>
    <p:extLst>
      <p:ext uri="{BB962C8B-B14F-4D97-AF65-F5344CB8AC3E}">
        <p14:creationId xmlns:p14="http://schemas.microsoft.com/office/powerpoint/2010/main" val="273191121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96C8-012B-2F03-3769-4D6CA55A9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9B39B-8C2D-B58A-1221-83C6E4C38065}"/>
              </a:ext>
            </a:extLst>
          </p:cNvPr>
          <p:cNvSpPr>
            <a:spLocks noGrp="1"/>
          </p:cNvSpPr>
          <p:nvPr>
            <p:ph type="title"/>
          </p:nvPr>
        </p:nvSpPr>
        <p:spPr>
          <a:xfrm>
            <a:off x="348791" y="286603"/>
            <a:ext cx="11481847" cy="1450757"/>
          </a:xfrm>
        </p:spPr>
        <p:txBody>
          <a:bodyPr/>
          <a:lstStyle/>
          <a:p>
            <a:r>
              <a:rPr lang="en-US" dirty="0"/>
              <a:t>Inheritance Example</a:t>
            </a:r>
          </a:p>
        </p:txBody>
      </p:sp>
      <p:sp>
        <p:nvSpPr>
          <p:cNvPr id="4" name="Footer Placeholder 3">
            <a:extLst>
              <a:ext uri="{FF2B5EF4-FFF2-40B4-BE49-F238E27FC236}">
                <a16:creationId xmlns:a16="http://schemas.microsoft.com/office/drawing/2014/main" id="{044713DB-C298-8B9B-9FC1-DF46A797D10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0DEA349F-0246-4EC8-CC6F-DC22F064D59A}"/>
              </a:ext>
            </a:extLst>
          </p:cNvPr>
          <p:cNvSpPr>
            <a:spLocks noGrp="1"/>
          </p:cNvSpPr>
          <p:nvPr>
            <p:ph idx="1"/>
          </p:nvPr>
        </p:nvSpPr>
        <p:spPr>
          <a:xfrm>
            <a:off x="348790" y="1737360"/>
            <a:ext cx="11481847" cy="4023360"/>
          </a:xfrm>
        </p:spPr>
        <p:txBody>
          <a:bodyPr>
            <a:normAutofit/>
          </a:bodyPr>
          <a:lstStyle/>
          <a:p>
            <a:pPr marL="0" indent="0" algn="just" rtl="0">
              <a:lnSpc>
                <a:spcPct val="150000"/>
              </a:lnSpc>
              <a:buNone/>
            </a:pPr>
            <a:endParaRPr lang="en-US" sz="2000" dirty="0">
              <a:cs typeface="Times New Roman" pitchFamily="18" charset="0"/>
            </a:endParaRPr>
          </a:p>
          <a:p>
            <a:pPr algn="just" rtl="0">
              <a:lnSpc>
                <a:spcPct val="150000"/>
              </a:lnSpc>
            </a:pPr>
            <a:endParaRPr lang="en-US" sz="2000" dirty="0">
              <a:cs typeface="Times New Roman" pitchFamily="18" charset="0"/>
            </a:endParaRPr>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14" name="Picture 13" descr="A diagram of a person's name&#10;&#10;Description automatically generated">
            <a:extLst>
              <a:ext uri="{FF2B5EF4-FFF2-40B4-BE49-F238E27FC236}">
                <a16:creationId xmlns:a16="http://schemas.microsoft.com/office/drawing/2014/main" id="{2BC8EA7B-4484-810D-DF70-FFDD12485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126070"/>
            <a:ext cx="5619483" cy="4266436"/>
          </a:xfrm>
          <a:prstGeom prst="rect">
            <a:avLst/>
          </a:prstGeom>
        </p:spPr>
      </p:pic>
      <p:pic>
        <p:nvPicPr>
          <p:cNvPr id="5" name="Picture 4" descr="A diagram of a company&#10;&#10;Description automatically generated">
            <a:extLst>
              <a:ext uri="{FF2B5EF4-FFF2-40B4-BE49-F238E27FC236}">
                <a16:creationId xmlns:a16="http://schemas.microsoft.com/office/drawing/2014/main" id="{1EFABC26-090A-6A0C-B5A1-2B7DA44B6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389" y="1748761"/>
            <a:ext cx="6855853" cy="4653258"/>
          </a:xfrm>
          <a:prstGeom prst="rect">
            <a:avLst/>
          </a:prstGeom>
        </p:spPr>
      </p:pic>
      <p:sp>
        <p:nvSpPr>
          <p:cNvPr id="13" name="TextBox 12">
            <a:extLst>
              <a:ext uri="{FF2B5EF4-FFF2-40B4-BE49-F238E27FC236}">
                <a16:creationId xmlns:a16="http://schemas.microsoft.com/office/drawing/2014/main" id="{48C513DD-6B20-8D9C-5C6A-52A83FA04908}"/>
              </a:ext>
            </a:extLst>
          </p:cNvPr>
          <p:cNvSpPr txBox="1"/>
          <p:nvPr/>
        </p:nvSpPr>
        <p:spPr>
          <a:xfrm>
            <a:off x="336218" y="1725959"/>
            <a:ext cx="6657009" cy="400110"/>
          </a:xfrm>
          <a:prstGeom prst="rect">
            <a:avLst/>
          </a:prstGeom>
          <a:noFill/>
        </p:spPr>
        <p:txBody>
          <a:bodyPr wrap="square">
            <a:spAutoFit/>
          </a:bodyPr>
          <a:lstStyle/>
          <a:p>
            <a:r>
              <a:rPr lang="en-US" sz="2000" b="1" dirty="0"/>
              <a:t>P</a:t>
            </a:r>
            <a:r>
              <a:rPr lang="en-US" sz="2000" b="1" dirty="0">
                <a:effectLst/>
              </a:rPr>
              <a:t>ut the common information in a base(general) class:</a:t>
            </a:r>
            <a:endParaRPr lang="en-US" sz="2000" b="1" dirty="0"/>
          </a:p>
        </p:txBody>
      </p:sp>
    </p:spTree>
    <p:extLst>
      <p:ext uri="{BB962C8B-B14F-4D97-AF65-F5344CB8AC3E}">
        <p14:creationId xmlns:p14="http://schemas.microsoft.com/office/powerpoint/2010/main" val="374554267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560B5-A994-A03D-2A71-A59D20E89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FD0BC-77CB-CC1E-A056-B62E87D8ADE2}"/>
              </a:ext>
            </a:extLst>
          </p:cNvPr>
          <p:cNvSpPr>
            <a:spLocks noGrp="1"/>
          </p:cNvSpPr>
          <p:nvPr>
            <p:ph type="title"/>
          </p:nvPr>
        </p:nvSpPr>
        <p:spPr>
          <a:xfrm>
            <a:off x="348791" y="286603"/>
            <a:ext cx="11481847" cy="1450757"/>
          </a:xfrm>
        </p:spPr>
        <p:txBody>
          <a:bodyPr/>
          <a:lstStyle/>
          <a:p>
            <a:r>
              <a:rPr lang="en-US" dirty="0"/>
              <a:t>Inheritance Benefits</a:t>
            </a:r>
            <a:endParaRPr lang="en-US" sz="2400" dirty="0"/>
          </a:p>
        </p:txBody>
      </p:sp>
      <p:sp>
        <p:nvSpPr>
          <p:cNvPr id="4" name="Footer Placeholder 3">
            <a:extLst>
              <a:ext uri="{FF2B5EF4-FFF2-40B4-BE49-F238E27FC236}">
                <a16:creationId xmlns:a16="http://schemas.microsoft.com/office/drawing/2014/main" id="{37E107B6-5A39-7ADD-2B8B-8F3900AEF85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1B7BED15-4EDE-B36A-E113-7EA3AE5CD52C}"/>
              </a:ext>
            </a:extLst>
          </p:cNvPr>
          <p:cNvSpPr>
            <a:spLocks noGrp="1"/>
          </p:cNvSpPr>
          <p:nvPr>
            <p:ph idx="1"/>
          </p:nvPr>
        </p:nvSpPr>
        <p:spPr>
          <a:xfrm>
            <a:off x="348791" y="1737360"/>
            <a:ext cx="11481847" cy="4131734"/>
          </a:xfrm>
        </p:spPr>
        <p:txBody>
          <a:bodyPr>
            <a:normAutofit/>
          </a:bodyPr>
          <a:lstStyle/>
          <a:p>
            <a:pPr marL="285750" indent="-285750" algn="just">
              <a:lnSpc>
                <a:spcPct val="150000"/>
              </a:lnSpc>
            </a:pPr>
            <a:r>
              <a:rPr lang="en-US" b="1" dirty="0">
                <a:effectLst/>
                <a:latin typeface="+mj-lt"/>
              </a:rPr>
              <a:t>Less code redundancy:</a:t>
            </a:r>
            <a:endParaRPr lang="en-US" b="1" dirty="0">
              <a:latin typeface="+mj-lt"/>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27" name="Picture 26" descr="A diagram of a company&#10;&#10;Description automatically generated">
            <a:extLst>
              <a:ext uri="{FF2B5EF4-FFF2-40B4-BE49-F238E27FC236}">
                <a16:creationId xmlns:a16="http://schemas.microsoft.com/office/drawing/2014/main" id="{3D54BD3F-7CD0-71E2-B60A-CFFBF87D7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050" y="2328051"/>
            <a:ext cx="10298097" cy="4035079"/>
          </a:xfrm>
          <a:prstGeom prst="rect">
            <a:avLst/>
          </a:prstGeom>
        </p:spPr>
      </p:pic>
      <p:sp>
        <p:nvSpPr>
          <p:cNvPr id="32" name="TextBox 31">
            <a:extLst>
              <a:ext uri="{FF2B5EF4-FFF2-40B4-BE49-F238E27FC236}">
                <a16:creationId xmlns:a16="http://schemas.microsoft.com/office/drawing/2014/main" id="{E2D18078-D131-5F6B-18F1-BEBD8477F8D1}"/>
              </a:ext>
            </a:extLst>
          </p:cNvPr>
          <p:cNvSpPr txBox="1"/>
          <p:nvPr/>
        </p:nvSpPr>
        <p:spPr>
          <a:xfrm>
            <a:off x="6400801" y="1767710"/>
            <a:ext cx="5632960" cy="400110"/>
          </a:xfrm>
          <a:prstGeom prst="rect">
            <a:avLst/>
          </a:prstGeom>
          <a:noFill/>
        </p:spPr>
        <p:txBody>
          <a:bodyPr wrap="square" rtlCol="0">
            <a:spAutoFit/>
          </a:bodyPr>
          <a:lstStyle/>
          <a:p>
            <a:r>
              <a:rPr lang="en-US" sz="2000" dirty="0">
                <a:solidFill>
                  <a:schemeClr val="bg2">
                    <a:lumMod val="75000"/>
                  </a:schemeClr>
                </a:solidFill>
              </a:rPr>
              <a:t>Common list of attributes among all subclasses </a:t>
            </a:r>
          </a:p>
        </p:txBody>
      </p:sp>
      <p:cxnSp>
        <p:nvCxnSpPr>
          <p:cNvPr id="34" name="Straight Arrow Connector 33">
            <a:extLst>
              <a:ext uri="{FF2B5EF4-FFF2-40B4-BE49-F238E27FC236}">
                <a16:creationId xmlns:a16="http://schemas.microsoft.com/office/drawing/2014/main" id="{842E9380-F350-523A-6129-61348D104C04}"/>
              </a:ext>
            </a:extLst>
          </p:cNvPr>
          <p:cNvCxnSpPr/>
          <p:nvPr/>
        </p:nvCxnSpPr>
        <p:spPr>
          <a:xfrm flipH="1">
            <a:off x="9365942" y="2167820"/>
            <a:ext cx="656947" cy="1019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753159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E8F8-58A2-490D-A9F4-F236CE6C184C}"/>
              </a:ext>
            </a:extLst>
          </p:cNvPr>
          <p:cNvSpPr>
            <a:spLocks noGrp="1"/>
          </p:cNvSpPr>
          <p:nvPr>
            <p:ph type="title"/>
          </p:nvPr>
        </p:nvSpPr>
        <p:spPr/>
        <p:txBody>
          <a:bodyPr/>
          <a:lstStyle/>
          <a:p>
            <a:r>
              <a:rPr lang="en-US" dirty="0"/>
              <a:t>Inheritance Benefits</a:t>
            </a:r>
          </a:p>
        </p:txBody>
      </p:sp>
      <p:sp>
        <p:nvSpPr>
          <p:cNvPr id="3" name="Content Placeholder 2">
            <a:extLst>
              <a:ext uri="{FF2B5EF4-FFF2-40B4-BE49-F238E27FC236}">
                <a16:creationId xmlns:a16="http://schemas.microsoft.com/office/drawing/2014/main" id="{463C0CE8-0A63-4776-81FC-90AABE69B1ED}"/>
              </a:ext>
            </a:extLst>
          </p:cNvPr>
          <p:cNvSpPr>
            <a:spLocks noGrp="1"/>
          </p:cNvSpPr>
          <p:nvPr>
            <p:ph idx="1"/>
          </p:nvPr>
        </p:nvSpPr>
        <p:spPr>
          <a:xfrm>
            <a:off x="348791" y="1737360"/>
            <a:ext cx="11481847" cy="4474550"/>
          </a:xfrm>
        </p:spPr>
        <p:txBody>
          <a:bodyPr/>
          <a:lstStyle/>
          <a:p>
            <a:r>
              <a:rPr lang="en-US" b="1" dirty="0"/>
              <a:t>Ease of Modification</a:t>
            </a:r>
            <a:r>
              <a:rPr lang="en-US" dirty="0"/>
              <a:t>: Suppose you need to add new attribute </a:t>
            </a:r>
            <a:r>
              <a:rPr lang="en-US" dirty="0">
                <a:solidFill>
                  <a:srgbClr val="4A8EF2"/>
                </a:solidFill>
              </a:rPr>
              <a:t>(</a:t>
            </a:r>
            <a:r>
              <a:rPr lang="en-US" b="1" dirty="0" err="1">
                <a:solidFill>
                  <a:srgbClr val="4A8EF2"/>
                </a:solidFill>
              </a:rPr>
              <a:t>facebookid</a:t>
            </a:r>
            <a:r>
              <a:rPr lang="en-US" b="1" dirty="0">
                <a:solidFill>
                  <a:srgbClr val="4A8EF2"/>
                </a:solidFill>
              </a:rPr>
              <a:t>)</a:t>
            </a:r>
            <a:r>
              <a:rPr lang="en-US" dirty="0"/>
              <a:t>.</a:t>
            </a:r>
          </a:p>
        </p:txBody>
      </p:sp>
      <p:sp>
        <p:nvSpPr>
          <p:cNvPr id="4" name="Footer Placeholder 3">
            <a:extLst>
              <a:ext uri="{FF2B5EF4-FFF2-40B4-BE49-F238E27FC236}">
                <a16:creationId xmlns:a16="http://schemas.microsoft.com/office/drawing/2014/main" id="{841B6496-2A22-4450-8743-0BB363261C00}"/>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0AD1F836-2BF8-4C55-BA82-DD8A93561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177" y="2245217"/>
            <a:ext cx="10941688" cy="432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52556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589F-A326-490E-804A-87C6842FCB39}"/>
              </a:ext>
            </a:extLst>
          </p:cNvPr>
          <p:cNvSpPr>
            <a:spLocks noGrp="1"/>
          </p:cNvSpPr>
          <p:nvPr>
            <p:ph type="title"/>
          </p:nvPr>
        </p:nvSpPr>
        <p:spPr/>
        <p:txBody>
          <a:bodyPr/>
          <a:lstStyle/>
          <a:p>
            <a:r>
              <a:rPr lang="en-US" dirty="0"/>
              <a:t>Inheritance Benefits</a:t>
            </a:r>
          </a:p>
        </p:txBody>
      </p:sp>
      <p:sp>
        <p:nvSpPr>
          <p:cNvPr id="3" name="Content Placeholder 2">
            <a:extLst>
              <a:ext uri="{FF2B5EF4-FFF2-40B4-BE49-F238E27FC236}">
                <a16:creationId xmlns:a16="http://schemas.microsoft.com/office/drawing/2014/main" id="{4C9574B2-D39F-4ED8-95C6-4D8439FEA2A4}"/>
              </a:ext>
            </a:extLst>
          </p:cNvPr>
          <p:cNvSpPr>
            <a:spLocks noGrp="1"/>
          </p:cNvSpPr>
          <p:nvPr>
            <p:ph idx="1"/>
          </p:nvPr>
        </p:nvSpPr>
        <p:spPr/>
        <p:txBody>
          <a:bodyPr/>
          <a:lstStyle/>
          <a:p>
            <a:r>
              <a:rPr lang="en-US" b="1" dirty="0"/>
              <a:t>Extensibility</a:t>
            </a:r>
            <a:r>
              <a:rPr lang="en-US" dirty="0"/>
              <a:t>: Code that works with the base class in a hierarchy tree can work with all classes that are added using inheritance later.</a:t>
            </a:r>
          </a:p>
          <a:p>
            <a:pPr lvl="1"/>
            <a:r>
              <a:rPr lang="en-US" dirty="0"/>
              <a:t>Assume that an organization needs to </a:t>
            </a:r>
            <a:r>
              <a:rPr lang="en-US" b="1" dirty="0"/>
              <a:t>send out invitations </a:t>
            </a:r>
            <a:r>
              <a:rPr lang="en-US" dirty="0"/>
              <a:t>to all its employees and that it uses the following method to do so:</a:t>
            </a:r>
          </a:p>
          <a:p>
            <a:pPr lvl="1"/>
            <a:endParaRPr lang="en-US" dirty="0"/>
          </a:p>
          <a:p>
            <a:endParaRPr lang="en-US" dirty="0"/>
          </a:p>
        </p:txBody>
      </p:sp>
      <p:sp>
        <p:nvSpPr>
          <p:cNvPr id="4" name="Footer Placeholder 3">
            <a:extLst>
              <a:ext uri="{FF2B5EF4-FFF2-40B4-BE49-F238E27FC236}">
                <a16:creationId xmlns:a16="http://schemas.microsoft.com/office/drawing/2014/main" id="{F93F6FF3-211D-47A2-96AF-91FB7C11C852}"/>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2A94DFF0-C90F-4EF4-9051-ECAA2846E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817" y="3468710"/>
            <a:ext cx="9127775" cy="2060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11985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11EE-39C3-496A-9CBB-5F3B87F9F66D}"/>
              </a:ext>
            </a:extLst>
          </p:cNvPr>
          <p:cNvSpPr>
            <a:spLocks noGrp="1"/>
          </p:cNvSpPr>
          <p:nvPr>
            <p:ph type="title"/>
          </p:nvPr>
        </p:nvSpPr>
        <p:spPr/>
        <p:txBody>
          <a:bodyPr/>
          <a:lstStyle/>
          <a:p>
            <a:r>
              <a:rPr lang="en-US" dirty="0"/>
              <a:t>Inheritance Benefits</a:t>
            </a:r>
          </a:p>
        </p:txBody>
      </p:sp>
      <p:sp>
        <p:nvSpPr>
          <p:cNvPr id="3" name="Content Placeholder 2">
            <a:extLst>
              <a:ext uri="{FF2B5EF4-FFF2-40B4-BE49-F238E27FC236}">
                <a16:creationId xmlns:a16="http://schemas.microsoft.com/office/drawing/2014/main" id="{0BC295F6-EF4C-4D98-A272-2BCDE5170351}"/>
              </a:ext>
            </a:extLst>
          </p:cNvPr>
          <p:cNvSpPr>
            <a:spLocks noGrp="1"/>
          </p:cNvSpPr>
          <p:nvPr>
            <p:ph idx="1"/>
          </p:nvPr>
        </p:nvSpPr>
        <p:spPr/>
        <p:txBody>
          <a:bodyPr/>
          <a:lstStyle/>
          <a:p>
            <a:r>
              <a:rPr lang="en-US" dirty="0"/>
              <a:t>Because the method </a:t>
            </a:r>
            <a:r>
              <a:rPr lang="en-US" b="1" dirty="0" err="1"/>
              <a:t>sendInvitation</a:t>
            </a:r>
            <a:r>
              <a:rPr lang="en-US" dirty="0"/>
              <a:t> accepts an argument of type Employee, you can also pass to it a subclass of Employee. Essentially, this design means that </a:t>
            </a:r>
            <a:r>
              <a:rPr lang="en-US" b="1" dirty="0"/>
              <a:t>you can use the previous method with a class defined later that has Employee as its base class.</a:t>
            </a:r>
            <a:r>
              <a:rPr lang="en-US" dirty="0"/>
              <a:t> Inheritance makes code extensible.</a:t>
            </a:r>
          </a:p>
          <a:p>
            <a:endParaRPr lang="en-US" dirty="0"/>
          </a:p>
        </p:txBody>
      </p:sp>
      <p:sp>
        <p:nvSpPr>
          <p:cNvPr id="4" name="Footer Placeholder 3">
            <a:extLst>
              <a:ext uri="{FF2B5EF4-FFF2-40B4-BE49-F238E27FC236}">
                <a16:creationId xmlns:a16="http://schemas.microsoft.com/office/drawing/2014/main" id="{4B4A4D91-D34F-4553-876E-33A63ED6905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FF388893-73C9-489E-9D6F-6146B147C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9014" y="3429000"/>
            <a:ext cx="7548278" cy="2788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729031"/>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650-F504-4890-AAD1-104E395F46BC}"/>
              </a:ext>
            </a:extLst>
          </p:cNvPr>
          <p:cNvSpPr>
            <a:spLocks noGrp="1"/>
          </p:cNvSpPr>
          <p:nvPr>
            <p:ph type="title"/>
          </p:nvPr>
        </p:nvSpPr>
        <p:spPr/>
        <p:txBody>
          <a:bodyPr/>
          <a:lstStyle/>
          <a:p>
            <a:r>
              <a:rPr lang="en-US" dirty="0"/>
              <a:t> Inheritance (Design Phase)</a:t>
            </a:r>
          </a:p>
        </p:txBody>
      </p:sp>
      <p:sp>
        <p:nvSpPr>
          <p:cNvPr id="4" name="Footer Placeholder 3">
            <a:extLst>
              <a:ext uri="{FF2B5EF4-FFF2-40B4-BE49-F238E27FC236}">
                <a16:creationId xmlns:a16="http://schemas.microsoft.com/office/drawing/2014/main" id="{1D3C6398-4B91-4BF7-853C-5C5EE020BF17}"/>
              </a:ext>
            </a:extLst>
          </p:cNvPr>
          <p:cNvSpPr>
            <a:spLocks noGrp="1"/>
          </p:cNvSpPr>
          <p:nvPr>
            <p:ph type="ftr" sz="quarter" idx="11"/>
          </p:nvPr>
        </p:nvSpPr>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7EFE7825-64E0-4E50-98C8-C9A3FF1568DE}"/>
              </a:ext>
            </a:extLst>
          </p:cNvPr>
          <p:cNvGrpSpPr/>
          <p:nvPr/>
        </p:nvGrpSpPr>
        <p:grpSpPr>
          <a:xfrm>
            <a:off x="589512" y="2020332"/>
            <a:ext cx="10576228" cy="4002688"/>
            <a:chOff x="-330572" y="1357298"/>
            <a:chExt cx="9289691" cy="3214710"/>
          </a:xfrm>
        </p:grpSpPr>
        <p:grpSp>
          <p:nvGrpSpPr>
            <p:cNvPr id="6" name="Group 20">
              <a:extLst>
                <a:ext uri="{FF2B5EF4-FFF2-40B4-BE49-F238E27FC236}">
                  <a16:creationId xmlns:a16="http://schemas.microsoft.com/office/drawing/2014/main" id="{387A5996-64B1-402B-A94B-509F639D01DF}"/>
                </a:ext>
              </a:extLst>
            </p:cNvPr>
            <p:cNvGrpSpPr/>
            <p:nvPr/>
          </p:nvGrpSpPr>
          <p:grpSpPr>
            <a:xfrm>
              <a:off x="1812335" y="1357298"/>
              <a:ext cx="4902805" cy="1214446"/>
              <a:chOff x="-687995" y="2626866"/>
              <a:chExt cx="4902805" cy="1214446"/>
            </a:xfrm>
          </p:grpSpPr>
          <p:sp>
            <p:nvSpPr>
              <p:cNvPr id="36" name="Rectangle 9">
                <a:extLst>
                  <a:ext uri="{FF2B5EF4-FFF2-40B4-BE49-F238E27FC236}">
                    <a16:creationId xmlns:a16="http://schemas.microsoft.com/office/drawing/2014/main" id="{7B4C37F5-D116-492B-A3EE-8DDD732AC41F}"/>
                  </a:ext>
                </a:extLst>
              </p:cNvPr>
              <p:cNvSpPr>
                <a:spLocks noChangeArrowheads="1"/>
              </p:cNvSpPr>
              <p:nvPr/>
            </p:nvSpPr>
            <p:spPr bwMode="auto">
              <a:xfrm>
                <a:off x="1071538" y="2626866"/>
                <a:ext cx="3143272" cy="12144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lang="en-US" b="1" dirty="0" err="1">
                    <a:solidFill>
                      <a:srgbClr val="C00000"/>
                    </a:solidFill>
                    <a:latin typeface="Times New Roman" pitchFamily="18" charset="0"/>
                    <a:ea typeface="Arial" pitchFamily="34" charset="0"/>
                    <a:cs typeface="Times New Roman" pitchFamily="18" charset="0"/>
                  </a:rPr>
                  <a:t>s</a:t>
                </a:r>
                <a:r>
                  <a:rPr kumimoji="0" lang="en-US" b="1" i="0" u="none" strike="noStrike" cap="none" normalizeH="0" baseline="0" dirty="0" err="1">
                    <a:ln>
                      <a:noFill/>
                    </a:ln>
                    <a:solidFill>
                      <a:srgbClr val="C00000"/>
                    </a:solidFill>
                    <a:effectLst/>
                    <a:latin typeface="Times New Roman" pitchFamily="18" charset="0"/>
                    <a:ea typeface="Arial" pitchFamily="34" charset="0"/>
                    <a:cs typeface="Times New Roman" pitchFamily="18" charset="0"/>
                  </a:rPr>
                  <a:t>uperclass</a:t>
                </a:r>
                <a:r>
                  <a:rPr kumimoji="0" lang="en-US" b="1" i="0" u="none" strike="noStrike" cap="none" normalizeH="0" baseline="0" dirty="0">
                    <a:ln>
                      <a:noFill/>
                    </a:ln>
                    <a:solidFill>
                      <a:srgbClr val="C00000"/>
                    </a:solidFill>
                    <a:effectLst/>
                    <a:latin typeface="Times New Roman" pitchFamily="18" charset="0"/>
                    <a:ea typeface="Arial" pitchFamily="34" charset="0"/>
                    <a:cs typeface="Times New Roman" pitchFamily="18" charset="0"/>
                  </a:rPr>
                  <a:t> Name</a:t>
                </a:r>
              </a:p>
              <a:p>
                <a:pPr marL="0" marR="0" lvl="0" indent="0" algn="l" defTabSz="914400" rtl="0" eaLnBrk="1" fontAlgn="base" latinLnBrk="0" hangingPunct="1">
                  <a:spcBef>
                    <a:spcPct val="0"/>
                  </a:spcBef>
                  <a:spcAft>
                    <a:spcPts val="200"/>
                  </a:spcAft>
                  <a:buClrTx/>
                  <a:buSzTx/>
                  <a:buFontTx/>
                  <a:buNone/>
                  <a:tabLst/>
                </a:pPr>
                <a:endParaRPr lang="en-US" b="1" dirty="0">
                  <a:latin typeface="Times New Roman" pitchFamily="18" charset="0"/>
                  <a:cs typeface="Times New Roman" pitchFamily="18" charset="0"/>
                </a:endParaRPr>
              </a:p>
              <a:p>
                <a:pPr algn="l" rtl="0" fontAlgn="base">
                  <a:spcBef>
                    <a:spcPct val="0"/>
                  </a:spcBef>
                  <a:spcAft>
                    <a:spcPts val="200"/>
                  </a:spcAft>
                </a:pPr>
                <a:r>
                  <a:rPr lang="en-US" b="1" dirty="0">
                    <a:solidFill>
                      <a:srgbClr val="006600"/>
                    </a:solidFill>
                    <a:latin typeface="Times New Roman" pitchFamily="18" charset="0"/>
                    <a:cs typeface="Times New Roman" pitchFamily="18" charset="0"/>
                  </a:rPr>
                  <a:t>Common</a:t>
                </a:r>
                <a:r>
                  <a:rPr lang="en-US" b="1" dirty="0">
                    <a:latin typeface="Times New Roman" pitchFamily="18" charset="0"/>
                    <a:cs typeface="Times New Roman" pitchFamily="18" charset="0"/>
                  </a:rPr>
                  <a:t> List of Attributes …</a:t>
                </a:r>
              </a:p>
              <a:p>
                <a:pPr marL="0" marR="0" lvl="0" indent="0" algn="l" defTabSz="914400" rtl="0" eaLnBrk="1" fontAlgn="base" latinLnBrk="0" hangingPunct="1">
                  <a:spcBef>
                    <a:spcPct val="0"/>
                  </a:spcBef>
                  <a:spcAft>
                    <a:spcPts val="200"/>
                  </a:spcAft>
                  <a:buClrTx/>
                  <a:buSzTx/>
                  <a:buFontTx/>
                  <a:buNone/>
                  <a:tabLst/>
                </a:pPr>
                <a:endParaRPr lang="en-US" b="1" dirty="0">
                  <a:latin typeface="Times New Roman" pitchFamily="18" charset="0"/>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endParaRPr lang="en-US" dirty="0"/>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37" name="AutoShape 11">
                <a:extLst>
                  <a:ext uri="{FF2B5EF4-FFF2-40B4-BE49-F238E27FC236}">
                    <a16:creationId xmlns:a16="http://schemas.microsoft.com/office/drawing/2014/main" id="{D902F3D5-2976-4B21-930F-F1B270A6FBA4}"/>
                  </a:ext>
                </a:extLst>
              </p:cNvPr>
              <p:cNvCxnSpPr>
                <a:cxnSpLocks noChangeShapeType="1"/>
              </p:cNvCxnSpPr>
              <p:nvPr/>
            </p:nvCxnSpPr>
            <p:spPr bwMode="auto">
              <a:xfrm>
                <a:off x="1071538" y="3412684"/>
                <a:ext cx="3143272" cy="1588"/>
              </a:xfrm>
              <a:prstGeom prst="straightConnector1">
                <a:avLst/>
              </a:prstGeom>
              <a:noFill/>
              <a:ln w="9525">
                <a:solidFill>
                  <a:srgbClr val="000000"/>
                </a:solidFill>
                <a:round/>
                <a:headEnd/>
                <a:tailEnd/>
              </a:ln>
            </p:spPr>
          </p:cxnSp>
          <p:sp>
            <p:nvSpPr>
              <p:cNvPr id="38" name="Rectangle 37">
                <a:extLst>
                  <a:ext uri="{FF2B5EF4-FFF2-40B4-BE49-F238E27FC236}">
                    <a16:creationId xmlns:a16="http://schemas.microsoft.com/office/drawing/2014/main" id="{B85DFF1D-E1BA-41D8-B328-B49D0767E5AB}"/>
                  </a:ext>
                </a:extLst>
              </p:cNvPr>
              <p:cNvSpPr/>
              <p:nvPr/>
            </p:nvSpPr>
            <p:spPr>
              <a:xfrm>
                <a:off x="1071538" y="3484122"/>
                <a:ext cx="2606502" cy="296624"/>
              </a:xfrm>
              <a:prstGeom prst="rect">
                <a:avLst/>
              </a:prstGeom>
            </p:spPr>
            <p:txBody>
              <a:bodyPr wrap="none">
                <a:spAutoFit/>
              </a:bodyPr>
              <a:lstStyle/>
              <a:p>
                <a:pPr algn="l" rtl="0"/>
                <a:r>
                  <a:rPr lang="en-US" b="1" dirty="0">
                    <a:solidFill>
                      <a:srgbClr val="006600"/>
                    </a:solidFill>
                    <a:latin typeface="Times New Roman" pitchFamily="18" charset="0"/>
                    <a:cs typeface="Times New Roman" pitchFamily="18" charset="0"/>
                  </a:rPr>
                  <a:t>Common</a:t>
                </a:r>
                <a:r>
                  <a:rPr lang="en-US" b="1" dirty="0">
                    <a:latin typeface="Times New Roman" pitchFamily="18" charset="0"/>
                    <a:cs typeface="Times New Roman" pitchFamily="18" charset="0"/>
                  </a:rPr>
                  <a:t> List of methods… </a:t>
                </a:r>
              </a:p>
            </p:txBody>
          </p:sp>
          <p:sp>
            <p:nvSpPr>
              <p:cNvPr id="39" name="Left Brace 38">
                <a:extLst>
                  <a:ext uri="{FF2B5EF4-FFF2-40B4-BE49-F238E27FC236}">
                    <a16:creationId xmlns:a16="http://schemas.microsoft.com/office/drawing/2014/main" id="{A025E239-340C-4302-A1E9-34A2D9BF6DFD}"/>
                  </a:ext>
                </a:extLst>
              </p:cNvPr>
              <p:cNvSpPr/>
              <p:nvPr/>
            </p:nvSpPr>
            <p:spPr>
              <a:xfrm>
                <a:off x="642910" y="2626866"/>
                <a:ext cx="357190" cy="1214446"/>
              </a:xfrm>
              <a:prstGeom prst="leftBrace">
                <a:avLst/>
              </a:prstGeom>
              <a:ln w="19050">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endParaRPr>
              </a:p>
            </p:txBody>
          </p:sp>
          <p:sp>
            <p:nvSpPr>
              <p:cNvPr id="40" name="Rectangle 39">
                <a:extLst>
                  <a:ext uri="{FF2B5EF4-FFF2-40B4-BE49-F238E27FC236}">
                    <a16:creationId xmlns:a16="http://schemas.microsoft.com/office/drawing/2014/main" id="{21CA704A-294D-498F-805C-DACB982DF816}"/>
                  </a:ext>
                </a:extLst>
              </p:cNvPr>
              <p:cNvSpPr/>
              <p:nvPr/>
            </p:nvSpPr>
            <p:spPr>
              <a:xfrm>
                <a:off x="-687995" y="2846803"/>
                <a:ext cx="1415772" cy="774571"/>
              </a:xfrm>
              <a:prstGeom prst="rect">
                <a:avLst/>
              </a:prstGeom>
            </p:spPr>
            <p:txBody>
              <a:bodyPr wrap="none">
                <a:spAutoFit/>
              </a:bodyPr>
              <a:lstStyle/>
              <a:p>
                <a:pPr lvl="0" algn="ctr" rtl="0" fontAlgn="base">
                  <a:spcBef>
                    <a:spcPct val="0"/>
                  </a:spcBef>
                  <a:spcAft>
                    <a:spcPts val="1000"/>
                  </a:spcAft>
                </a:pPr>
                <a:r>
                  <a:rPr lang="en-US" b="1" dirty="0" err="1">
                    <a:solidFill>
                      <a:srgbClr val="0070C0"/>
                    </a:solidFill>
                    <a:latin typeface="+mj-lt"/>
                    <a:cs typeface="Times New Roman" pitchFamily="18" charset="0"/>
                  </a:rPr>
                  <a:t>Superclass</a:t>
                </a:r>
                <a:endParaRPr lang="en-US" b="1" dirty="0">
                  <a:solidFill>
                    <a:srgbClr val="0070C0"/>
                  </a:solidFill>
                  <a:latin typeface="+mj-lt"/>
                  <a:cs typeface="Times New Roman" pitchFamily="18" charset="0"/>
                </a:endParaRPr>
              </a:p>
              <a:p>
                <a:pPr lvl="0" algn="ctr" rtl="0" fontAlgn="base">
                  <a:spcBef>
                    <a:spcPct val="0"/>
                  </a:spcBef>
                  <a:spcAft>
                    <a:spcPts val="1000"/>
                  </a:spcAft>
                </a:pPr>
                <a:r>
                  <a:rPr lang="en-US" b="1" dirty="0">
                    <a:solidFill>
                      <a:srgbClr val="0070C0"/>
                    </a:solidFill>
                    <a:latin typeface="+mj-lt"/>
                    <a:cs typeface="Times New Roman" pitchFamily="18" charset="0"/>
                  </a:rPr>
                  <a:t> Template</a:t>
                </a:r>
              </a:p>
            </p:txBody>
          </p:sp>
          <p:cxnSp>
            <p:nvCxnSpPr>
              <p:cNvPr id="41" name="AutoShape 11">
                <a:extLst>
                  <a:ext uri="{FF2B5EF4-FFF2-40B4-BE49-F238E27FC236}">
                    <a16:creationId xmlns:a16="http://schemas.microsoft.com/office/drawing/2014/main" id="{AD758D70-5B06-4D99-8FB5-DF2969420FF4}"/>
                  </a:ext>
                </a:extLst>
              </p:cNvPr>
              <p:cNvCxnSpPr>
                <a:cxnSpLocks noChangeShapeType="1"/>
              </p:cNvCxnSpPr>
              <p:nvPr/>
            </p:nvCxnSpPr>
            <p:spPr bwMode="auto">
              <a:xfrm>
                <a:off x="1071538" y="2984056"/>
                <a:ext cx="3143272" cy="1588"/>
              </a:xfrm>
              <a:prstGeom prst="straightConnector1">
                <a:avLst/>
              </a:prstGeom>
              <a:noFill/>
              <a:ln w="9525">
                <a:solidFill>
                  <a:srgbClr val="000000"/>
                </a:solidFill>
                <a:round/>
                <a:headEnd/>
                <a:tailEnd/>
              </a:ln>
            </p:spPr>
          </p:cxnSp>
        </p:grpSp>
        <p:grpSp>
          <p:nvGrpSpPr>
            <p:cNvPr id="7" name="Group 6">
              <a:extLst>
                <a:ext uri="{FF2B5EF4-FFF2-40B4-BE49-F238E27FC236}">
                  <a16:creationId xmlns:a16="http://schemas.microsoft.com/office/drawing/2014/main" id="{20022DA5-A9E1-49E0-B94D-FAF330F9C923}"/>
                </a:ext>
              </a:extLst>
            </p:cNvPr>
            <p:cNvGrpSpPr/>
            <p:nvPr/>
          </p:nvGrpSpPr>
          <p:grpSpPr>
            <a:xfrm>
              <a:off x="-330572" y="3214686"/>
              <a:ext cx="9289691" cy="1357322"/>
              <a:chOff x="-473448" y="3214686"/>
              <a:chExt cx="9289691" cy="1357322"/>
            </a:xfrm>
          </p:grpSpPr>
          <p:sp>
            <p:nvSpPr>
              <p:cNvPr id="15" name="Left Brace 14">
                <a:extLst>
                  <a:ext uri="{FF2B5EF4-FFF2-40B4-BE49-F238E27FC236}">
                    <a16:creationId xmlns:a16="http://schemas.microsoft.com/office/drawing/2014/main" id="{794F5A1F-B4DB-4E4B-BCA1-C6466B3691A0}"/>
                  </a:ext>
                </a:extLst>
              </p:cNvPr>
              <p:cNvSpPr/>
              <p:nvPr/>
            </p:nvSpPr>
            <p:spPr>
              <a:xfrm>
                <a:off x="714348" y="3214686"/>
                <a:ext cx="214313" cy="1357322"/>
              </a:xfrm>
              <a:prstGeom prst="leftBrace">
                <a:avLst/>
              </a:prstGeom>
              <a:ln w="19050">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endParaRPr>
              </a:p>
            </p:txBody>
          </p:sp>
          <p:grpSp>
            <p:nvGrpSpPr>
              <p:cNvPr id="16" name="Group 88">
                <a:extLst>
                  <a:ext uri="{FF2B5EF4-FFF2-40B4-BE49-F238E27FC236}">
                    <a16:creationId xmlns:a16="http://schemas.microsoft.com/office/drawing/2014/main" id="{937C229A-6B3D-4292-9A40-B29C6F570292}"/>
                  </a:ext>
                </a:extLst>
              </p:cNvPr>
              <p:cNvGrpSpPr/>
              <p:nvPr/>
            </p:nvGrpSpPr>
            <p:grpSpPr>
              <a:xfrm>
                <a:off x="-473448" y="3214686"/>
                <a:ext cx="9289691" cy="1357322"/>
                <a:chOff x="-473448" y="3214686"/>
                <a:chExt cx="9289691" cy="1357322"/>
              </a:xfrm>
            </p:grpSpPr>
            <p:sp>
              <p:nvSpPr>
                <p:cNvPr id="17" name="Rectangle 16">
                  <a:extLst>
                    <a:ext uri="{FF2B5EF4-FFF2-40B4-BE49-F238E27FC236}">
                      <a16:creationId xmlns:a16="http://schemas.microsoft.com/office/drawing/2014/main" id="{3E5ADE6E-0228-4748-A5F2-85174B6247E6}"/>
                    </a:ext>
                  </a:extLst>
                </p:cNvPr>
                <p:cNvSpPr/>
                <p:nvPr/>
              </p:nvSpPr>
              <p:spPr>
                <a:xfrm>
                  <a:off x="-473448" y="3521293"/>
                  <a:ext cx="1277345" cy="622087"/>
                </a:xfrm>
                <a:prstGeom prst="rect">
                  <a:avLst/>
                </a:prstGeom>
              </p:spPr>
              <p:txBody>
                <a:bodyPr wrap="none">
                  <a:spAutoFit/>
                </a:bodyPr>
                <a:lstStyle/>
                <a:p>
                  <a:pPr lvl="0" algn="ctr" rtl="0" fontAlgn="base">
                    <a:spcBef>
                      <a:spcPct val="0"/>
                    </a:spcBef>
                    <a:spcAft>
                      <a:spcPts val="1000"/>
                    </a:spcAft>
                  </a:pPr>
                  <a:r>
                    <a:rPr lang="en-US" b="1" dirty="0">
                      <a:solidFill>
                        <a:srgbClr val="0070C0"/>
                      </a:solidFill>
                      <a:latin typeface="+mj-lt"/>
                      <a:cs typeface="Times New Roman" pitchFamily="18" charset="0"/>
                    </a:rPr>
                    <a:t>Subclasses</a:t>
                  </a:r>
                </a:p>
                <a:p>
                  <a:pPr lvl="0" algn="ctr" rtl="0" fontAlgn="base">
                    <a:spcBef>
                      <a:spcPct val="0"/>
                    </a:spcBef>
                    <a:spcAft>
                      <a:spcPts val="1000"/>
                    </a:spcAft>
                  </a:pPr>
                  <a:r>
                    <a:rPr lang="en-US" b="1" dirty="0">
                      <a:solidFill>
                        <a:srgbClr val="0070C0"/>
                      </a:solidFill>
                      <a:latin typeface="+mj-lt"/>
                      <a:cs typeface="Times New Roman" pitchFamily="18" charset="0"/>
                    </a:rPr>
                    <a:t> Template</a:t>
                  </a:r>
                </a:p>
              </p:txBody>
            </p:sp>
            <p:grpSp>
              <p:nvGrpSpPr>
                <p:cNvPr id="18" name="Group 69">
                  <a:extLst>
                    <a:ext uri="{FF2B5EF4-FFF2-40B4-BE49-F238E27FC236}">
                      <a16:creationId xmlns:a16="http://schemas.microsoft.com/office/drawing/2014/main" id="{AA1C181B-562C-4BFD-BC95-48AF5BE907A5}"/>
                    </a:ext>
                  </a:extLst>
                </p:cNvPr>
                <p:cNvGrpSpPr/>
                <p:nvPr/>
              </p:nvGrpSpPr>
              <p:grpSpPr>
                <a:xfrm>
                  <a:off x="928661" y="3214686"/>
                  <a:ext cx="7887582" cy="1357322"/>
                  <a:chOff x="928661" y="3214686"/>
                  <a:chExt cx="7887582" cy="1357322"/>
                </a:xfrm>
              </p:grpSpPr>
              <p:sp>
                <p:nvSpPr>
                  <p:cNvPr id="19" name="Rectangle 18">
                    <a:extLst>
                      <a:ext uri="{FF2B5EF4-FFF2-40B4-BE49-F238E27FC236}">
                        <a16:creationId xmlns:a16="http://schemas.microsoft.com/office/drawing/2014/main" id="{D1E5ECD0-E3F0-417E-9D67-E046A0D7FD3C}"/>
                      </a:ext>
                    </a:extLst>
                  </p:cNvPr>
                  <p:cNvSpPr/>
                  <p:nvPr/>
                </p:nvSpPr>
                <p:spPr>
                  <a:xfrm>
                    <a:off x="1000100" y="3214686"/>
                    <a:ext cx="7786742" cy="1357322"/>
                  </a:xfrm>
                  <a:prstGeom prst="rect">
                    <a:avLst/>
                  </a:prstGeom>
                  <a:solidFill>
                    <a:schemeClr val="accent1">
                      <a:alpha val="0"/>
                    </a:schemeClr>
                  </a:solidFill>
                  <a:ln>
                    <a:solidFill>
                      <a:srgbClr val="8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20">
                    <a:extLst>
                      <a:ext uri="{FF2B5EF4-FFF2-40B4-BE49-F238E27FC236}">
                        <a16:creationId xmlns:a16="http://schemas.microsoft.com/office/drawing/2014/main" id="{3F48EC23-FA1C-4EAB-86F6-1D08ECE7D086}"/>
                      </a:ext>
                    </a:extLst>
                  </p:cNvPr>
                  <p:cNvGrpSpPr/>
                  <p:nvPr/>
                </p:nvGrpSpPr>
                <p:grpSpPr>
                  <a:xfrm>
                    <a:off x="3330025" y="3286124"/>
                    <a:ext cx="2544180" cy="1214446"/>
                    <a:chOff x="856446" y="2626866"/>
                    <a:chExt cx="3478346" cy="1214446"/>
                  </a:xfrm>
                </p:grpSpPr>
                <p:sp>
                  <p:nvSpPr>
                    <p:cNvPr id="32" name="Rectangle 9">
                      <a:extLst>
                        <a:ext uri="{FF2B5EF4-FFF2-40B4-BE49-F238E27FC236}">
                          <a16:creationId xmlns:a16="http://schemas.microsoft.com/office/drawing/2014/main" id="{5938B4AA-6505-461F-AA89-17F8ED7DEE5D}"/>
                        </a:ext>
                      </a:extLst>
                    </p:cNvPr>
                    <p:cNvSpPr>
                      <a:spLocks noChangeArrowheads="1"/>
                    </p:cNvSpPr>
                    <p:nvPr/>
                  </p:nvSpPr>
                  <p:spPr bwMode="auto">
                    <a:xfrm>
                      <a:off x="856446" y="2626866"/>
                      <a:ext cx="3376247" cy="12144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lang="en-US" b="1" dirty="0">
                          <a:solidFill>
                            <a:srgbClr val="0000FF"/>
                          </a:solidFill>
                          <a:latin typeface="Times New Roman" pitchFamily="18" charset="0"/>
                          <a:ea typeface="Arial" pitchFamily="34" charset="0"/>
                          <a:cs typeface="Times New Roman" pitchFamily="18" charset="0"/>
                        </a:rPr>
                        <a:t>s</a:t>
                      </a:r>
                      <a:r>
                        <a:rPr kumimoji="0" lang="en-US" b="1" i="0" u="none" strike="noStrike" cap="none" normalizeH="0" baseline="0" dirty="0">
                          <a:ln>
                            <a:noFill/>
                          </a:ln>
                          <a:solidFill>
                            <a:srgbClr val="0000FF"/>
                          </a:solidFill>
                          <a:effectLst/>
                          <a:latin typeface="Times New Roman" pitchFamily="18" charset="0"/>
                          <a:ea typeface="Arial" pitchFamily="34" charset="0"/>
                          <a:cs typeface="Times New Roman" pitchFamily="18" charset="0"/>
                        </a:rPr>
                        <a:t>ubclass</a:t>
                      </a:r>
                      <a:r>
                        <a:rPr kumimoji="0" lang="en-US" b="1" i="0" u="none" strike="noStrike" cap="none" normalizeH="0" baseline="-25000" dirty="0">
                          <a:ln>
                            <a:noFill/>
                          </a:ln>
                          <a:solidFill>
                            <a:srgbClr val="0000FF"/>
                          </a:solidFill>
                          <a:effectLst/>
                          <a:latin typeface="Times New Roman" pitchFamily="18" charset="0"/>
                          <a:ea typeface="Arial" pitchFamily="34" charset="0"/>
                          <a:cs typeface="Times New Roman" pitchFamily="18" charset="0"/>
                        </a:rPr>
                        <a:t>2</a:t>
                      </a:r>
                      <a:r>
                        <a:rPr kumimoji="0" lang="en-US" b="1" i="0" u="none" strike="noStrike" cap="none" normalizeH="0" baseline="0" dirty="0">
                          <a:ln>
                            <a:noFill/>
                          </a:ln>
                          <a:solidFill>
                            <a:srgbClr val="0000FF"/>
                          </a:solidFill>
                          <a:effectLst/>
                          <a:latin typeface="Times New Roman" pitchFamily="18" charset="0"/>
                          <a:ea typeface="Arial" pitchFamily="34" charset="0"/>
                          <a:cs typeface="Times New Roman" pitchFamily="18" charset="0"/>
                        </a:rPr>
                        <a:t> Name</a:t>
                      </a:r>
                    </a:p>
                    <a:p>
                      <a:pPr marL="0" marR="0" lvl="0" indent="0" algn="l" defTabSz="914400" rtl="0" eaLnBrk="1" fontAlgn="base" latinLnBrk="0" hangingPunct="1">
                        <a:spcBef>
                          <a:spcPct val="0"/>
                        </a:spcBef>
                        <a:spcAft>
                          <a:spcPts val="200"/>
                        </a:spcAft>
                        <a:buClrTx/>
                        <a:buSzTx/>
                        <a:buFontTx/>
                        <a:buNone/>
                        <a:tabLst/>
                      </a:pPr>
                      <a:endParaRPr lang="en-US" b="1" dirty="0">
                        <a:latin typeface="Times New Roman" pitchFamily="18" charset="0"/>
                        <a:cs typeface="Times New Roman" pitchFamily="18" charset="0"/>
                      </a:endParaRPr>
                    </a:p>
                    <a:p>
                      <a:pPr algn="l" rtl="0" fontAlgn="base">
                        <a:spcBef>
                          <a:spcPct val="0"/>
                        </a:spcBef>
                        <a:spcAft>
                          <a:spcPts val="200"/>
                        </a:spcAft>
                      </a:pPr>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Attributes</a:t>
                      </a:r>
                      <a:endParaRPr kumimoji="0" lang="en-US"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33" name="AutoShape 11">
                      <a:extLst>
                        <a:ext uri="{FF2B5EF4-FFF2-40B4-BE49-F238E27FC236}">
                          <a16:creationId xmlns:a16="http://schemas.microsoft.com/office/drawing/2014/main" id="{8D71C3E0-AA70-45BA-9864-9F4AF1923C72}"/>
                        </a:ext>
                      </a:extLst>
                    </p:cNvPr>
                    <p:cNvCxnSpPr>
                      <a:cxnSpLocks noChangeShapeType="1"/>
                    </p:cNvCxnSpPr>
                    <p:nvPr/>
                  </p:nvCxnSpPr>
                  <p:spPr bwMode="auto">
                    <a:xfrm>
                      <a:off x="1071538" y="3412684"/>
                      <a:ext cx="3143272" cy="1588"/>
                    </a:xfrm>
                    <a:prstGeom prst="straightConnector1">
                      <a:avLst/>
                    </a:prstGeom>
                    <a:noFill/>
                    <a:ln w="9525">
                      <a:solidFill>
                        <a:srgbClr val="000000"/>
                      </a:solidFill>
                      <a:round/>
                      <a:headEnd/>
                      <a:tailEnd/>
                    </a:ln>
                  </p:spPr>
                </p:cxnSp>
                <p:sp>
                  <p:nvSpPr>
                    <p:cNvPr id="34" name="Rectangle 33">
                      <a:extLst>
                        <a:ext uri="{FF2B5EF4-FFF2-40B4-BE49-F238E27FC236}">
                          <a16:creationId xmlns:a16="http://schemas.microsoft.com/office/drawing/2014/main" id="{96B286EC-0EFB-4D4B-B443-818E3E04FED4}"/>
                        </a:ext>
                      </a:extLst>
                    </p:cNvPr>
                    <p:cNvSpPr/>
                    <p:nvPr/>
                  </p:nvSpPr>
                  <p:spPr>
                    <a:xfrm>
                      <a:off x="958545" y="3484122"/>
                      <a:ext cx="3376247" cy="296624"/>
                    </a:xfrm>
                    <a:prstGeom prst="rect">
                      <a:avLst/>
                    </a:prstGeom>
                  </p:spPr>
                  <p:txBody>
                    <a:bodyPr wrap="square">
                      <a:spAutoFit/>
                    </a:bodyPr>
                    <a:lstStyle/>
                    <a:p>
                      <a:pPr algn="l" rtl="0"/>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methods.. </a:t>
                      </a:r>
                    </a:p>
                  </p:txBody>
                </p:sp>
                <p:cxnSp>
                  <p:nvCxnSpPr>
                    <p:cNvPr id="35" name="AutoShape 11">
                      <a:extLst>
                        <a:ext uri="{FF2B5EF4-FFF2-40B4-BE49-F238E27FC236}">
                          <a16:creationId xmlns:a16="http://schemas.microsoft.com/office/drawing/2014/main" id="{3D3E13D4-0176-406D-8710-58E9FC3C8744}"/>
                        </a:ext>
                      </a:extLst>
                    </p:cNvPr>
                    <p:cNvCxnSpPr>
                      <a:cxnSpLocks noChangeShapeType="1"/>
                    </p:cNvCxnSpPr>
                    <p:nvPr/>
                  </p:nvCxnSpPr>
                  <p:spPr bwMode="auto">
                    <a:xfrm>
                      <a:off x="1071538" y="2984056"/>
                      <a:ext cx="3143272" cy="1588"/>
                    </a:xfrm>
                    <a:prstGeom prst="straightConnector1">
                      <a:avLst/>
                    </a:prstGeom>
                    <a:noFill/>
                    <a:ln w="9525">
                      <a:solidFill>
                        <a:srgbClr val="000000"/>
                      </a:solidFill>
                      <a:round/>
                      <a:headEnd/>
                      <a:tailEnd/>
                    </a:ln>
                  </p:spPr>
                </p:cxnSp>
              </p:grpSp>
              <p:grpSp>
                <p:nvGrpSpPr>
                  <p:cNvPr id="21" name="Group 20">
                    <a:extLst>
                      <a:ext uri="{FF2B5EF4-FFF2-40B4-BE49-F238E27FC236}">
                        <a16:creationId xmlns:a16="http://schemas.microsoft.com/office/drawing/2014/main" id="{FA6D4E63-F01B-49C5-88C9-539F69C14DB8}"/>
                      </a:ext>
                    </a:extLst>
                  </p:cNvPr>
                  <p:cNvGrpSpPr/>
                  <p:nvPr/>
                </p:nvGrpSpPr>
                <p:grpSpPr>
                  <a:xfrm>
                    <a:off x="6071356" y="3286124"/>
                    <a:ext cx="2744887" cy="1214446"/>
                    <a:chOff x="582044" y="2626866"/>
                    <a:chExt cx="3752748" cy="1214446"/>
                  </a:xfrm>
                </p:grpSpPr>
                <p:sp>
                  <p:nvSpPr>
                    <p:cNvPr id="28" name="Rectangle 9">
                      <a:extLst>
                        <a:ext uri="{FF2B5EF4-FFF2-40B4-BE49-F238E27FC236}">
                          <a16:creationId xmlns:a16="http://schemas.microsoft.com/office/drawing/2014/main" id="{1C8D1AA5-6AB1-4369-B8CC-0E82D7EC9CCA}"/>
                        </a:ext>
                      </a:extLst>
                    </p:cNvPr>
                    <p:cNvSpPr>
                      <a:spLocks noChangeArrowheads="1"/>
                    </p:cNvSpPr>
                    <p:nvPr/>
                  </p:nvSpPr>
                  <p:spPr bwMode="auto">
                    <a:xfrm>
                      <a:off x="582044" y="2626866"/>
                      <a:ext cx="3632766" cy="12144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lang="en-US" b="1" dirty="0" err="1">
                          <a:solidFill>
                            <a:srgbClr val="0000FF"/>
                          </a:solidFill>
                          <a:latin typeface="Times New Roman" pitchFamily="18" charset="0"/>
                          <a:ea typeface="Arial" pitchFamily="34" charset="0"/>
                          <a:cs typeface="Times New Roman" pitchFamily="18" charset="0"/>
                        </a:rPr>
                        <a:t>s</a:t>
                      </a:r>
                      <a:r>
                        <a:rPr kumimoji="0" lang="en-US" b="1" i="0" u="none" strike="noStrike" cap="none" normalizeH="0" baseline="0" dirty="0" err="1">
                          <a:ln>
                            <a:noFill/>
                          </a:ln>
                          <a:solidFill>
                            <a:srgbClr val="0000FF"/>
                          </a:solidFill>
                          <a:effectLst/>
                          <a:latin typeface="Times New Roman" pitchFamily="18" charset="0"/>
                          <a:ea typeface="Arial" pitchFamily="34" charset="0"/>
                          <a:cs typeface="Times New Roman" pitchFamily="18" charset="0"/>
                        </a:rPr>
                        <a:t>ubclass</a:t>
                      </a:r>
                      <a:r>
                        <a:rPr lang="en-US" b="1" baseline="-25000" dirty="0" err="1">
                          <a:solidFill>
                            <a:srgbClr val="0000FF"/>
                          </a:solidFill>
                          <a:latin typeface="Times New Roman" pitchFamily="18" charset="0"/>
                          <a:ea typeface="Arial" pitchFamily="34" charset="0"/>
                          <a:cs typeface="Times New Roman" pitchFamily="18" charset="0"/>
                        </a:rPr>
                        <a:t>n</a:t>
                      </a:r>
                      <a:r>
                        <a:rPr kumimoji="0" lang="en-US" b="1" i="0" u="none" strike="noStrike" cap="none" normalizeH="0" baseline="0" dirty="0">
                          <a:ln>
                            <a:noFill/>
                          </a:ln>
                          <a:solidFill>
                            <a:srgbClr val="0000FF"/>
                          </a:solidFill>
                          <a:effectLst/>
                          <a:latin typeface="Times New Roman" pitchFamily="18" charset="0"/>
                          <a:ea typeface="Arial" pitchFamily="34" charset="0"/>
                          <a:cs typeface="Times New Roman" pitchFamily="18" charset="0"/>
                        </a:rPr>
                        <a:t> Name</a:t>
                      </a:r>
                    </a:p>
                    <a:p>
                      <a:pPr marL="0" marR="0" lvl="0" indent="0" algn="l" defTabSz="914400" rtl="0" eaLnBrk="1" fontAlgn="base" latinLnBrk="0" hangingPunct="1">
                        <a:spcBef>
                          <a:spcPct val="0"/>
                        </a:spcBef>
                        <a:spcAft>
                          <a:spcPts val="200"/>
                        </a:spcAft>
                        <a:buClrTx/>
                        <a:buSzTx/>
                        <a:buFontTx/>
                        <a:buNone/>
                        <a:tabLst/>
                      </a:pPr>
                      <a:endParaRPr lang="en-US" b="1" dirty="0">
                        <a:latin typeface="Times New Roman" pitchFamily="18" charset="0"/>
                        <a:cs typeface="Times New Roman" pitchFamily="18" charset="0"/>
                      </a:endParaRPr>
                    </a:p>
                    <a:p>
                      <a:pPr algn="ctr" rtl="0" fontAlgn="base">
                        <a:spcBef>
                          <a:spcPct val="0"/>
                        </a:spcBef>
                        <a:spcAft>
                          <a:spcPts val="200"/>
                        </a:spcAft>
                      </a:pPr>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Attributes …</a:t>
                      </a:r>
                      <a:endParaRPr kumimoji="0" lang="en-US"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29" name="AutoShape 11">
                      <a:extLst>
                        <a:ext uri="{FF2B5EF4-FFF2-40B4-BE49-F238E27FC236}">
                          <a16:creationId xmlns:a16="http://schemas.microsoft.com/office/drawing/2014/main" id="{9F460ECA-E104-4A1A-9948-49232BBDA903}"/>
                        </a:ext>
                      </a:extLst>
                    </p:cNvPr>
                    <p:cNvCxnSpPr>
                      <a:cxnSpLocks noChangeShapeType="1"/>
                    </p:cNvCxnSpPr>
                    <p:nvPr/>
                  </p:nvCxnSpPr>
                  <p:spPr bwMode="auto">
                    <a:xfrm>
                      <a:off x="1071538" y="3412684"/>
                      <a:ext cx="3143272" cy="1588"/>
                    </a:xfrm>
                    <a:prstGeom prst="straightConnector1">
                      <a:avLst/>
                    </a:prstGeom>
                    <a:noFill/>
                    <a:ln w="9525">
                      <a:solidFill>
                        <a:srgbClr val="000000"/>
                      </a:solidFill>
                      <a:round/>
                      <a:headEnd/>
                      <a:tailEnd/>
                    </a:ln>
                  </p:spPr>
                </p:cxnSp>
                <p:sp>
                  <p:nvSpPr>
                    <p:cNvPr id="30" name="Rectangle 29">
                      <a:extLst>
                        <a:ext uri="{FF2B5EF4-FFF2-40B4-BE49-F238E27FC236}">
                          <a16:creationId xmlns:a16="http://schemas.microsoft.com/office/drawing/2014/main" id="{58CB82FA-EA9E-4429-9055-703984A6AC6E}"/>
                        </a:ext>
                      </a:extLst>
                    </p:cNvPr>
                    <p:cNvSpPr/>
                    <p:nvPr/>
                  </p:nvSpPr>
                  <p:spPr>
                    <a:xfrm>
                      <a:off x="1071538" y="3484122"/>
                      <a:ext cx="3263254" cy="296624"/>
                    </a:xfrm>
                    <a:prstGeom prst="rect">
                      <a:avLst/>
                    </a:prstGeom>
                  </p:spPr>
                  <p:txBody>
                    <a:bodyPr wrap="none">
                      <a:spAutoFit/>
                    </a:bodyPr>
                    <a:lstStyle/>
                    <a:p>
                      <a:pPr algn="l" rtl="0"/>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methods.. </a:t>
                      </a:r>
                    </a:p>
                  </p:txBody>
                </p:sp>
                <p:cxnSp>
                  <p:nvCxnSpPr>
                    <p:cNvPr id="31" name="AutoShape 11">
                      <a:extLst>
                        <a:ext uri="{FF2B5EF4-FFF2-40B4-BE49-F238E27FC236}">
                          <a16:creationId xmlns:a16="http://schemas.microsoft.com/office/drawing/2014/main" id="{F606F721-2A06-407A-9E71-E1194F053216}"/>
                        </a:ext>
                      </a:extLst>
                    </p:cNvPr>
                    <p:cNvCxnSpPr>
                      <a:cxnSpLocks noChangeShapeType="1"/>
                    </p:cNvCxnSpPr>
                    <p:nvPr/>
                  </p:nvCxnSpPr>
                  <p:spPr bwMode="auto">
                    <a:xfrm>
                      <a:off x="1071538" y="2984056"/>
                      <a:ext cx="3143272" cy="1588"/>
                    </a:xfrm>
                    <a:prstGeom prst="straightConnector1">
                      <a:avLst/>
                    </a:prstGeom>
                    <a:noFill/>
                    <a:ln w="9525">
                      <a:solidFill>
                        <a:srgbClr val="000000"/>
                      </a:solidFill>
                      <a:round/>
                      <a:headEnd/>
                      <a:tailEnd/>
                    </a:ln>
                  </p:spPr>
                </p:cxnSp>
              </p:grpSp>
              <p:grpSp>
                <p:nvGrpSpPr>
                  <p:cNvPr id="22" name="Group 20">
                    <a:extLst>
                      <a:ext uri="{FF2B5EF4-FFF2-40B4-BE49-F238E27FC236}">
                        <a16:creationId xmlns:a16="http://schemas.microsoft.com/office/drawing/2014/main" id="{954C1C15-298D-4DF5-899F-671AD344B54D}"/>
                      </a:ext>
                    </a:extLst>
                  </p:cNvPr>
                  <p:cNvGrpSpPr/>
                  <p:nvPr/>
                </p:nvGrpSpPr>
                <p:grpSpPr>
                  <a:xfrm>
                    <a:off x="928661" y="3286124"/>
                    <a:ext cx="2529730" cy="1214446"/>
                    <a:chOff x="876200" y="2626866"/>
                    <a:chExt cx="3458591" cy="1214446"/>
                  </a:xfrm>
                </p:grpSpPr>
                <p:sp>
                  <p:nvSpPr>
                    <p:cNvPr id="24" name="Rectangle 9">
                      <a:extLst>
                        <a:ext uri="{FF2B5EF4-FFF2-40B4-BE49-F238E27FC236}">
                          <a16:creationId xmlns:a16="http://schemas.microsoft.com/office/drawing/2014/main" id="{B49FA8FD-C0E3-4229-8221-D8527A9A0742}"/>
                        </a:ext>
                      </a:extLst>
                    </p:cNvPr>
                    <p:cNvSpPr>
                      <a:spLocks noChangeArrowheads="1"/>
                    </p:cNvSpPr>
                    <p:nvPr/>
                  </p:nvSpPr>
                  <p:spPr bwMode="auto">
                    <a:xfrm>
                      <a:off x="876200" y="2626866"/>
                      <a:ext cx="3338611" cy="12144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lang="en-US" b="1" dirty="0">
                          <a:solidFill>
                            <a:srgbClr val="0000FF"/>
                          </a:solidFill>
                          <a:latin typeface="Times New Roman" pitchFamily="18" charset="0"/>
                          <a:ea typeface="Arial" pitchFamily="34" charset="0"/>
                          <a:cs typeface="Times New Roman" pitchFamily="18" charset="0"/>
                        </a:rPr>
                        <a:t>s</a:t>
                      </a:r>
                      <a:r>
                        <a:rPr kumimoji="0" lang="en-US" b="1" i="0" u="none" strike="noStrike" cap="none" normalizeH="0" baseline="0" dirty="0">
                          <a:ln>
                            <a:noFill/>
                          </a:ln>
                          <a:solidFill>
                            <a:srgbClr val="0000FF"/>
                          </a:solidFill>
                          <a:effectLst/>
                          <a:latin typeface="Times New Roman" pitchFamily="18" charset="0"/>
                          <a:ea typeface="Arial" pitchFamily="34" charset="0"/>
                          <a:cs typeface="Times New Roman" pitchFamily="18" charset="0"/>
                        </a:rPr>
                        <a:t>ubclass</a:t>
                      </a:r>
                      <a:r>
                        <a:rPr kumimoji="0" lang="en-US" b="1" i="0" u="none" strike="noStrike" cap="none" normalizeH="0" baseline="-25000" dirty="0">
                          <a:ln>
                            <a:noFill/>
                          </a:ln>
                          <a:solidFill>
                            <a:srgbClr val="0000FF"/>
                          </a:solidFill>
                          <a:effectLst/>
                          <a:latin typeface="Times New Roman" pitchFamily="18" charset="0"/>
                          <a:ea typeface="Arial" pitchFamily="34" charset="0"/>
                          <a:cs typeface="Times New Roman" pitchFamily="18" charset="0"/>
                        </a:rPr>
                        <a:t>1</a:t>
                      </a:r>
                      <a:r>
                        <a:rPr kumimoji="0" lang="en-US" b="1" i="0" u="none" strike="noStrike" cap="none" normalizeH="0" baseline="0" dirty="0">
                          <a:ln>
                            <a:noFill/>
                          </a:ln>
                          <a:solidFill>
                            <a:srgbClr val="0000FF"/>
                          </a:solidFill>
                          <a:effectLst/>
                          <a:latin typeface="Times New Roman" pitchFamily="18" charset="0"/>
                          <a:ea typeface="Arial" pitchFamily="34" charset="0"/>
                          <a:cs typeface="Times New Roman" pitchFamily="18" charset="0"/>
                        </a:rPr>
                        <a:t> Name</a:t>
                      </a:r>
                    </a:p>
                    <a:p>
                      <a:pPr marL="0" marR="0" lvl="0" indent="0" algn="l" defTabSz="914400" rtl="0" eaLnBrk="1" fontAlgn="base" latinLnBrk="0" hangingPunct="1">
                        <a:spcBef>
                          <a:spcPct val="0"/>
                        </a:spcBef>
                        <a:spcAft>
                          <a:spcPts val="200"/>
                        </a:spcAft>
                        <a:buClrTx/>
                        <a:buSzTx/>
                        <a:buFontTx/>
                        <a:buNone/>
                        <a:tabLst/>
                      </a:pPr>
                      <a:endParaRPr lang="en-US" b="1" dirty="0">
                        <a:latin typeface="Times New Roman" pitchFamily="18" charset="0"/>
                        <a:cs typeface="Times New Roman" pitchFamily="18" charset="0"/>
                      </a:endParaRPr>
                    </a:p>
                    <a:p>
                      <a:pPr algn="l" rtl="0" fontAlgn="base">
                        <a:spcBef>
                          <a:spcPct val="0"/>
                        </a:spcBef>
                        <a:spcAft>
                          <a:spcPts val="200"/>
                        </a:spcAft>
                      </a:pPr>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Attributes</a:t>
                      </a:r>
                      <a:endParaRPr kumimoji="0" lang="en-US"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25" name="AutoShape 11">
                      <a:extLst>
                        <a:ext uri="{FF2B5EF4-FFF2-40B4-BE49-F238E27FC236}">
                          <a16:creationId xmlns:a16="http://schemas.microsoft.com/office/drawing/2014/main" id="{EBE1D591-79D8-4C4C-A3ED-3DDDFBA626D8}"/>
                        </a:ext>
                      </a:extLst>
                    </p:cNvPr>
                    <p:cNvCxnSpPr>
                      <a:cxnSpLocks noChangeShapeType="1"/>
                    </p:cNvCxnSpPr>
                    <p:nvPr/>
                  </p:nvCxnSpPr>
                  <p:spPr bwMode="auto">
                    <a:xfrm>
                      <a:off x="1071538" y="3412684"/>
                      <a:ext cx="3143272" cy="1588"/>
                    </a:xfrm>
                    <a:prstGeom prst="straightConnector1">
                      <a:avLst/>
                    </a:prstGeom>
                    <a:noFill/>
                    <a:ln w="9525">
                      <a:solidFill>
                        <a:srgbClr val="000000"/>
                      </a:solidFill>
                      <a:round/>
                      <a:headEnd/>
                      <a:tailEnd/>
                    </a:ln>
                  </p:spPr>
                </p:cxnSp>
                <p:sp>
                  <p:nvSpPr>
                    <p:cNvPr id="26" name="Rectangle 25">
                      <a:extLst>
                        <a:ext uri="{FF2B5EF4-FFF2-40B4-BE49-F238E27FC236}">
                          <a16:creationId xmlns:a16="http://schemas.microsoft.com/office/drawing/2014/main" id="{96C5722D-65BC-4C45-AE1D-400C78C2C8F0}"/>
                        </a:ext>
                      </a:extLst>
                    </p:cNvPr>
                    <p:cNvSpPr/>
                    <p:nvPr/>
                  </p:nvSpPr>
                  <p:spPr>
                    <a:xfrm>
                      <a:off x="1071538" y="3484122"/>
                      <a:ext cx="3263253" cy="296624"/>
                    </a:xfrm>
                    <a:prstGeom prst="rect">
                      <a:avLst/>
                    </a:prstGeom>
                  </p:spPr>
                  <p:txBody>
                    <a:bodyPr wrap="none">
                      <a:spAutoFit/>
                    </a:bodyPr>
                    <a:lstStyle/>
                    <a:p>
                      <a:pPr algn="l" rtl="0"/>
                      <a:r>
                        <a:rPr lang="en-US" b="1" dirty="0">
                          <a:solidFill>
                            <a:srgbClr val="006600"/>
                          </a:solidFill>
                          <a:latin typeface="Times New Roman" pitchFamily="18" charset="0"/>
                          <a:cs typeface="Times New Roman" pitchFamily="18" charset="0"/>
                        </a:rPr>
                        <a:t>Specific</a:t>
                      </a:r>
                      <a:r>
                        <a:rPr lang="en-US" dirty="0"/>
                        <a:t> </a:t>
                      </a:r>
                      <a:r>
                        <a:rPr lang="en-US" b="1" dirty="0">
                          <a:latin typeface="Times New Roman" pitchFamily="18" charset="0"/>
                          <a:cs typeface="Times New Roman" pitchFamily="18" charset="0"/>
                        </a:rPr>
                        <a:t>List of methods.. </a:t>
                      </a:r>
                    </a:p>
                  </p:txBody>
                </p:sp>
                <p:cxnSp>
                  <p:nvCxnSpPr>
                    <p:cNvPr id="27" name="AutoShape 11">
                      <a:extLst>
                        <a:ext uri="{FF2B5EF4-FFF2-40B4-BE49-F238E27FC236}">
                          <a16:creationId xmlns:a16="http://schemas.microsoft.com/office/drawing/2014/main" id="{84882846-AB12-4F9D-A7A7-60733D4DA26C}"/>
                        </a:ext>
                      </a:extLst>
                    </p:cNvPr>
                    <p:cNvCxnSpPr>
                      <a:cxnSpLocks noChangeShapeType="1"/>
                    </p:cNvCxnSpPr>
                    <p:nvPr/>
                  </p:nvCxnSpPr>
                  <p:spPr bwMode="auto">
                    <a:xfrm>
                      <a:off x="1071538" y="2984056"/>
                      <a:ext cx="3143272" cy="1588"/>
                    </a:xfrm>
                    <a:prstGeom prst="straightConnector1">
                      <a:avLst/>
                    </a:prstGeom>
                    <a:noFill/>
                    <a:ln w="9525">
                      <a:solidFill>
                        <a:srgbClr val="000000"/>
                      </a:solidFill>
                      <a:round/>
                      <a:headEnd/>
                      <a:tailEnd/>
                    </a:ln>
                  </p:spPr>
                </p:cxnSp>
              </p:grpSp>
              <p:sp>
                <p:nvSpPr>
                  <p:cNvPr id="23" name="TextBox 22">
                    <a:extLst>
                      <a:ext uri="{FF2B5EF4-FFF2-40B4-BE49-F238E27FC236}">
                        <a16:creationId xmlns:a16="http://schemas.microsoft.com/office/drawing/2014/main" id="{669683C5-E184-400C-B3E1-82430E3BADBF}"/>
                      </a:ext>
                    </a:extLst>
                  </p:cNvPr>
                  <p:cNvSpPr txBox="1"/>
                  <p:nvPr/>
                </p:nvSpPr>
                <p:spPr>
                  <a:xfrm>
                    <a:off x="5714517" y="3785367"/>
                    <a:ext cx="410690" cy="369332"/>
                  </a:xfrm>
                  <a:prstGeom prst="rect">
                    <a:avLst/>
                  </a:prstGeom>
                  <a:noFill/>
                </p:spPr>
                <p:txBody>
                  <a:bodyPr wrap="none" rtlCol="0">
                    <a:spAutoFit/>
                  </a:bodyPr>
                  <a:lstStyle/>
                  <a:p>
                    <a:r>
                      <a:rPr lang="en-US" dirty="0"/>
                      <a:t>….</a:t>
                    </a:r>
                  </a:p>
                </p:txBody>
              </p:sp>
            </p:grpSp>
          </p:grpSp>
        </p:grpSp>
        <p:cxnSp>
          <p:nvCxnSpPr>
            <p:cNvPr id="8" name="Straight Arrow Connector 7">
              <a:extLst>
                <a:ext uri="{FF2B5EF4-FFF2-40B4-BE49-F238E27FC236}">
                  <a16:creationId xmlns:a16="http://schemas.microsoft.com/office/drawing/2014/main" id="{B1AA0E32-5DD7-4D76-B77D-5756E1B81ACC}"/>
                </a:ext>
              </a:extLst>
            </p:cNvPr>
            <p:cNvCxnSpPr/>
            <p:nvPr/>
          </p:nvCxnSpPr>
          <p:spPr>
            <a:xfrm rot="16200000" flipV="1">
              <a:off x="4500564" y="2928933"/>
              <a:ext cx="571503" cy="3"/>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B01DDE3-6457-4158-A33B-1303E5EC8F67}"/>
                </a:ext>
              </a:extLst>
            </p:cNvPr>
            <p:cNvCxnSpPr/>
            <p:nvPr/>
          </p:nvCxnSpPr>
          <p:spPr>
            <a:xfrm rot="10800000">
              <a:off x="6000760" y="2643182"/>
              <a:ext cx="1143008" cy="642942"/>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D3A4280-EE92-4777-AD05-09080DC3B7F7}"/>
                </a:ext>
              </a:extLst>
            </p:cNvPr>
            <p:cNvCxnSpPr/>
            <p:nvPr/>
          </p:nvCxnSpPr>
          <p:spPr>
            <a:xfrm flipV="1">
              <a:off x="2786050" y="2643182"/>
              <a:ext cx="1143008" cy="642942"/>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621F14-78E5-44B2-97C2-70BD8CC6B38D}"/>
                </a:ext>
              </a:extLst>
            </p:cNvPr>
            <p:cNvSpPr txBox="1"/>
            <p:nvPr/>
          </p:nvSpPr>
          <p:spPr>
            <a:xfrm>
              <a:off x="99954" y="4209382"/>
              <a:ext cx="792989" cy="296624"/>
            </a:xfrm>
            <a:prstGeom prst="rect">
              <a:avLst/>
            </a:prstGeom>
            <a:noFill/>
          </p:spPr>
          <p:txBody>
            <a:bodyPr wrap="none" rtlCol="0">
              <a:spAutoFit/>
            </a:bodyPr>
            <a:lstStyle/>
            <a:p>
              <a:pPr algn="l" rtl="0"/>
              <a:r>
                <a:rPr lang="en-US" b="1" dirty="0">
                  <a:solidFill>
                    <a:srgbClr val="C00000"/>
                  </a:solidFill>
                </a:rPr>
                <a:t>Level1</a:t>
              </a:r>
            </a:p>
          </p:txBody>
        </p:sp>
        <p:sp>
          <p:nvSpPr>
            <p:cNvPr id="12" name="Rectangle 11">
              <a:extLst>
                <a:ext uri="{FF2B5EF4-FFF2-40B4-BE49-F238E27FC236}">
                  <a16:creationId xmlns:a16="http://schemas.microsoft.com/office/drawing/2014/main" id="{B76A43C7-2423-4535-818A-6557A1990DB3}"/>
                </a:ext>
              </a:extLst>
            </p:cNvPr>
            <p:cNvSpPr/>
            <p:nvPr/>
          </p:nvSpPr>
          <p:spPr>
            <a:xfrm rot="1824120">
              <a:off x="6115073" y="2697113"/>
              <a:ext cx="950687" cy="296624"/>
            </a:xfrm>
            <a:prstGeom prst="rect">
              <a:avLst/>
            </a:prstGeom>
          </p:spPr>
          <p:txBody>
            <a:bodyPr wrap="none">
              <a:spAutoFit/>
            </a:bodyPr>
            <a:lstStyle/>
            <a:p>
              <a:pPr algn="l" rtl="0"/>
              <a:r>
                <a:rPr lang="en-US" b="1" dirty="0">
                  <a:solidFill>
                    <a:srgbClr val="C00000"/>
                  </a:solidFill>
                </a:rPr>
                <a:t>Extends</a:t>
              </a:r>
            </a:p>
          </p:txBody>
        </p:sp>
        <p:sp>
          <p:nvSpPr>
            <p:cNvPr id="13" name="Rectangle 12">
              <a:extLst>
                <a:ext uri="{FF2B5EF4-FFF2-40B4-BE49-F238E27FC236}">
                  <a16:creationId xmlns:a16="http://schemas.microsoft.com/office/drawing/2014/main" id="{D355DA4F-611A-4E07-8FAD-37BC68A4A27D}"/>
                </a:ext>
              </a:extLst>
            </p:cNvPr>
            <p:cNvSpPr/>
            <p:nvPr/>
          </p:nvSpPr>
          <p:spPr>
            <a:xfrm rot="19723792">
              <a:off x="2827843" y="2721287"/>
              <a:ext cx="950687" cy="296624"/>
            </a:xfrm>
            <a:prstGeom prst="rect">
              <a:avLst/>
            </a:prstGeom>
          </p:spPr>
          <p:txBody>
            <a:bodyPr wrap="none">
              <a:spAutoFit/>
            </a:bodyPr>
            <a:lstStyle/>
            <a:p>
              <a:pPr algn="l" rtl="0"/>
              <a:r>
                <a:rPr lang="en-US" b="1" dirty="0">
                  <a:solidFill>
                    <a:srgbClr val="C00000"/>
                  </a:solidFill>
                </a:rPr>
                <a:t>Extends</a:t>
              </a:r>
            </a:p>
          </p:txBody>
        </p:sp>
        <p:sp>
          <p:nvSpPr>
            <p:cNvPr id="14" name="Rectangle 13">
              <a:extLst>
                <a:ext uri="{FF2B5EF4-FFF2-40B4-BE49-F238E27FC236}">
                  <a16:creationId xmlns:a16="http://schemas.microsoft.com/office/drawing/2014/main" id="{CD10C421-CECD-4960-985C-A26930DA9405}"/>
                </a:ext>
              </a:extLst>
            </p:cNvPr>
            <p:cNvSpPr/>
            <p:nvPr/>
          </p:nvSpPr>
          <p:spPr>
            <a:xfrm rot="16200000">
              <a:off x="4268168" y="2765490"/>
              <a:ext cx="869275" cy="324405"/>
            </a:xfrm>
            <a:prstGeom prst="rect">
              <a:avLst/>
            </a:prstGeom>
          </p:spPr>
          <p:txBody>
            <a:bodyPr wrap="none">
              <a:spAutoFit/>
            </a:bodyPr>
            <a:lstStyle/>
            <a:p>
              <a:pPr algn="l" rtl="0"/>
              <a:r>
                <a:rPr lang="en-US" b="1" dirty="0">
                  <a:solidFill>
                    <a:srgbClr val="C00000"/>
                  </a:solidFill>
                </a:rPr>
                <a:t>Extends</a:t>
              </a:r>
            </a:p>
          </p:txBody>
        </p:sp>
      </p:grpSp>
    </p:spTree>
    <p:extLst>
      <p:ext uri="{BB962C8B-B14F-4D97-AF65-F5344CB8AC3E}">
        <p14:creationId xmlns:p14="http://schemas.microsoft.com/office/powerpoint/2010/main" val="167284899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09A0-9DB2-4972-AE98-3E03D58D27D6}"/>
              </a:ext>
            </a:extLst>
          </p:cNvPr>
          <p:cNvSpPr>
            <a:spLocks noGrp="1"/>
          </p:cNvSpPr>
          <p:nvPr>
            <p:ph type="title"/>
          </p:nvPr>
        </p:nvSpPr>
        <p:spPr/>
        <p:txBody>
          <a:bodyPr/>
          <a:lstStyle/>
          <a:p>
            <a:r>
              <a:rPr lang="en-US" dirty="0"/>
              <a:t>Using The Keyword extends</a:t>
            </a:r>
          </a:p>
        </p:txBody>
      </p:sp>
      <p:sp>
        <p:nvSpPr>
          <p:cNvPr id="3" name="Content Placeholder 2">
            <a:extLst>
              <a:ext uri="{FF2B5EF4-FFF2-40B4-BE49-F238E27FC236}">
                <a16:creationId xmlns:a16="http://schemas.microsoft.com/office/drawing/2014/main" id="{77B73279-442E-4A0D-80B2-85401547DA51}"/>
              </a:ext>
            </a:extLst>
          </p:cNvPr>
          <p:cNvSpPr>
            <a:spLocks noGrp="1"/>
          </p:cNvSpPr>
          <p:nvPr>
            <p:ph idx="1"/>
          </p:nvPr>
        </p:nvSpPr>
        <p:spPr/>
        <p:txBody>
          <a:bodyPr/>
          <a:lstStyle/>
          <a:p>
            <a:r>
              <a:rPr lang="en-US" dirty="0"/>
              <a:t>The keyword </a:t>
            </a:r>
            <a:r>
              <a:rPr lang="en-US" b="1" dirty="0">
                <a:solidFill>
                  <a:srgbClr val="4A8EF2"/>
                </a:solidFill>
              </a:rPr>
              <a:t>extends</a:t>
            </a:r>
            <a:r>
              <a:rPr lang="en-US" dirty="0"/>
              <a:t> is used for inheritance.</a:t>
            </a:r>
          </a:p>
          <a:p>
            <a:r>
              <a:rPr lang="en-US" dirty="0"/>
              <a:t>Examples:</a:t>
            </a:r>
          </a:p>
          <a:p>
            <a:pPr marL="0" indent="0">
              <a:buNone/>
            </a:pPr>
            <a:r>
              <a:rPr lang="en-US" b="1" dirty="0">
                <a:latin typeface="Courier New" panose="02070309020205020404" pitchFamily="49" charset="0"/>
                <a:cs typeface="Courier New" panose="02070309020205020404" pitchFamily="49" charset="0"/>
              </a:rPr>
              <a:t> class Car extends Vehicle {….. }</a:t>
            </a:r>
          </a:p>
          <a:p>
            <a:pPr marL="0" indent="0">
              <a:buNone/>
            </a:pPr>
            <a:r>
              <a:rPr lang="en-US" b="1" dirty="0">
                <a:latin typeface="Courier New" panose="02070309020205020404" pitchFamily="49" charset="0"/>
                <a:cs typeface="Courier New" panose="02070309020205020404" pitchFamily="49" charset="0"/>
              </a:rPr>
              <a:t> //</a:t>
            </a:r>
            <a:r>
              <a:rPr lang="en-US" dirty="0"/>
              <a:t>Car is </a:t>
            </a:r>
            <a:r>
              <a:rPr lang="en-US" dirty="0">
                <a:solidFill>
                  <a:srgbClr val="4A8EF2"/>
                </a:solidFill>
              </a:rPr>
              <a:t>subclass</a:t>
            </a:r>
            <a:r>
              <a:rPr lang="en-US" dirty="0"/>
              <a:t>, while Vehicle is </a:t>
            </a:r>
            <a:r>
              <a:rPr lang="en-US" dirty="0">
                <a:solidFill>
                  <a:srgbClr val="C00000"/>
                </a:solidFill>
              </a:rPr>
              <a:t>superclass</a:t>
            </a:r>
          </a:p>
          <a:p>
            <a:pPr marL="0" indent="0">
              <a:buNone/>
            </a:pPr>
            <a:r>
              <a:rPr lang="en-US" b="1" dirty="0">
                <a:latin typeface="Courier New" panose="02070309020205020404" pitchFamily="49" charset="0"/>
                <a:cs typeface="Courier New" panose="02070309020205020404" pitchFamily="49" charset="0"/>
              </a:rPr>
              <a:t>class Circle extends Shape {…. }</a:t>
            </a:r>
          </a:p>
          <a:p>
            <a:pPr marL="0" indent="0">
              <a:buNone/>
            </a:pPr>
            <a:r>
              <a:rPr lang="en-US" b="1"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Circle is </a:t>
            </a:r>
            <a:r>
              <a:rPr lang="en-US" dirty="0">
                <a:solidFill>
                  <a:srgbClr val="4A8EF2"/>
                </a:solidFill>
                <a:latin typeface="+mj-lt"/>
                <a:cs typeface="Courier New" panose="02070309020205020404" pitchFamily="49" charset="0"/>
              </a:rPr>
              <a:t>subclass</a:t>
            </a:r>
            <a:r>
              <a:rPr lang="en-US" dirty="0">
                <a:latin typeface="+mj-lt"/>
                <a:cs typeface="Courier New" panose="02070309020205020404" pitchFamily="49" charset="0"/>
              </a:rPr>
              <a:t>, while Shape is </a:t>
            </a:r>
            <a:r>
              <a:rPr lang="en-US" dirty="0">
                <a:solidFill>
                  <a:srgbClr val="C00000"/>
                </a:solidFill>
                <a:latin typeface="+mj-lt"/>
                <a:cs typeface="Courier New" panose="02070309020205020404" pitchFamily="49" charset="0"/>
              </a:rPr>
              <a:t>superclass</a:t>
            </a:r>
          </a:p>
          <a:p>
            <a:pPr marL="0" indent="0">
              <a:buNone/>
            </a:pPr>
            <a:endParaRPr lang="en-US" b="1" dirty="0">
              <a:latin typeface="Courier New" panose="02070309020205020404" pitchFamily="49" charset="0"/>
              <a:cs typeface="Courier New" panose="02070309020205020404" pitchFamily="49" charset="0"/>
            </a:endParaRPr>
          </a:p>
          <a:p>
            <a:pPr marL="0" indent="0">
              <a:buNone/>
            </a:pPr>
            <a:endParaRPr lang="en-US" dirty="0"/>
          </a:p>
          <a:p>
            <a:endParaRPr lang="en-US" dirty="0"/>
          </a:p>
        </p:txBody>
      </p:sp>
      <p:sp>
        <p:nvSpPr>
          <p:cNvPr id="4" name="Footer Placeholder 3">
            <a:extLst>
              <a:ext uri="{FF2B5EF4-FFF2-40B4-BE49-F238E27FC236}">
                <a16:creationId xmlns:a16="http://schemas.microsoft.com/office/drawing/2014/main" id="{4ECCCAD3-89DC-4188-8F0E-BC0F5EF74929}"/>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66107815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E457-D3FF-4DF1-94D2-846D475A6718}"/>
              </a:ext>
            </a:extLst>
          </p:cNvPr>
          <p:cNvSpPr>
            <a:spLocks noGrp="1"/>
          </p:cNvSpPr>
          <p:nvPr>
            <p:ph type="title"/>
          </p:nvPr>
        </p:nvSpPr>
        <p:spPr/>
        <p:txBody>
          <a:bodyPr/>
          <a:lstStyle/>
          <a:p>
            <a:r>
              <a:rPr lang="en-US" dirty="0"/>
              <a:t>Inheritance Example (Design Phase)</a:t>
            </a:r>
          </a:p>
        </p:txBody>
      </p:sp>
      <p:sp>
        <p:nvSpPr>
          <p:cNvPr id="4" name="Footer Placeholder 3">
            <a:extLst>
              <a:ext uri="{FF2B5EF4-FFF2-40B4-BE49-F238E27FC236}">
                <a16:creationId xmlns:a16="http://schemas.microsoft.com/office/drawing/2014/main" id="{219A73E2-8FE6-4D93-88EF-44AF1CB2BAE6}"/>
              </a:ext>
            </a:extLst>
          </p:cNvPr>
          <p:cNvSpPr>
            <a:spLocks noGrp="1"/>
          </p:cNvSpPr>
          <p:nvPr>
            <p:ph type="ftr" sz="quarter" idx="11"/>
          </p:nvPr>
        </p:nvSpPr>
        <p:spPr/>
        <p:txBody>
          <a:bodyPr/>
          <a:lstStyle/>
          <a:p>
            <a:r>
              <a:rPr lang="en-US"/>
              <a:t>Edited and Reviewed By: I. Bara' Qadomi &amp; I. Bara' Hamadah (FIT, Applied Science Private University)</a:t>
            </a:r>
          </a:p>
        </p:txBody>
      </p:sp>
      <p:cxnSp>
        <p:nvCxnSpPr>
          <p:cNvPr id="5" name="Straight Arrow Connector 4">
            <a:extLst>
              <a:ext uri="{FF2B5EF4-FFF2-40B4-BE49-F238E27FC236}">
                <a16:creationId xmlns:a16="http://schemas.microsoft.com/office/drawing/2014/main" id="{4795837C-216A-46C2-8CE3-5C4D2A506540}"/>
              </a:ext>
            </a:extLst>
          </p:cNvPr>
          <p:cNvCxnSpPr>
            <a:cxnSpLocks/>
          </p:cNvCxnSpPr>
          <p:nvPr/>
        </p:nvCxnSpPr>
        <p:spPr>
          <a:xfrm flipV="1">
            <a:off x="6134075" y="4277408"/>
            <a:ext cx="0" cy="324043"/>
          </a:xfrm>
          <a:prstGeom prst="straightConnector1">
            <a:avLst/>
          </a:prstGeom>
          <a:ln w="28575">
            <a:solidFill>
              <a:srgbClr val="800000"/>
            </a:solidFill>
            <a:tailEnd type="arrow"/>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B0E3BDA-49F5-47DC-94AF-C39951CDBEE8}"/>
              </a:ext>
            </a:extLst>
          </p:cNvPr>
          <p:cNvGrpSpPr/>
          <p:nvPr/>
        </p:nvGrpSpPr>
        <p:grpSpPr>
          <a:xfrm>
            <a:off x="4388165" y="1753392"/>
            <a:ext cx="3630318" cy="2497400"/>
            <a:chOff x="3450142" y="893745"/>
            <a:chExt cx="2214578" cy="1645337"/>
          </a:xfrm>
        </p:grpSpPr>
        <p:sp>
          <p:nvSpPr>
            <p:cNvPr id="7" name="Rectangle 9">
              <a:extLst>
                <a:ext uri="{FF2B5EF4-FFF2-40B4-BE49-F238E27FC236}">
                  <a16:creationId xmlns:a16="http://schemas.microsoft.com/office/drawing/2014/main" id="{E4C3E505-C217-4D1D-AEFD-5058CC019F07}"/>
                </a:ext>
              </a:extLst>
            </p:cNvPr>
            <p:cNvSpPr>
              <a:spLocks noChangeArrowheads="1"/>
            </p:cNvSpPr>
            <p:nvPr/>
          </p:nvSpPr>
          <p:spPr bwMode="auto">
            <a:xfrm>
              <a:off x="3454295" y="893745"/>
              <a:ext cx="2206271" cy="164307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2000" b="1" dirty="0">
                  <a:solidFill>
                    <a:srgbClr val="C00000"/>
                  </a:solidFill>
                  <a:latin typeface="+mj-lt"/>
                  <a:ea typeface="Arial" pitchFamily="34" charset="0"/>
                  <a:cs typeface="Times New Roman" pitchFamily="18" charset="0"/>
                </a:rPr>
                <a:t>Shape</a:t>
              </a:r>
            </a:p>
            <a:p>
              <a:pPr rtl="0" fontAlgn="base">
                <a:spcBef>
                  <a:spcPct val="0"/>
                </a:spcBef>
                <a:spcAft>
                  <a:spcPts val="200"/>
                </a:spcAft>
              </a:pPr>
              <a:r>
                <a:rPr lang="en-US" dirty="0">
                  <a:latin typeface="+mj-lt"/>
                </a:rPr>
                <a:t>- color: String </a:t>
              </a:r>
            </a:p>
            <a:p>
              <a:pPr lvl="0" algn="l" rtl="0"/>
              <a:r>
                <a:rPr lang="en-US" dirty="0">
                  <a:latin typeface="+mj-lt"/>
                </a:rPr>
                <a:t>- name: String</a:t>
              </a:r>
              <a:endParaRPr kumimoji="0" lang="en-US" sz="1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8" name="AutoShape 11">
              <a:extLst>
                <a:ext uri="{FF2B5EF4-FFF2-40B4-BE49-F238E27FC236}">
                  <a16:creationId xmlns:a16="http://schemas.microsoft.com/office/drawing/2014/main" id="{E478A58F-EE0E-4D8B-8A37-DEAA03674711}"/>
                </a:ext>
              </a:extLst>
            </p:cNvPr>
            <p:cNvCxnSpPr>
              <a:cxnSpLocks noChangeShapeType="1"/>
            </p:cNvCxnSpPr>
            <p:nvPr/>
          </p:nvCxnSpPr>
          <p:spPr bwMode="auto">
            <a:xfrm>
              <a:off x="3454295" y="1168710"/>
              <a:ext cx="2206271" cy="1588"/>
            </a:xfrm>
            <a:prstGeom prst="straightConnector1">
              <a:avLst/>
            </a:prstGeom>
            <a:noFill/>
            <a:ln w="9525">
              <a:solidFill>
                <a:srgbClr val="000000"/>
              </a:solidFill>
              <a:round/>
              <a:headEnd/>
              <a:tailEnd/>
            </a:ln>
          </p:spPr>
        </p:cxnSp>
        <p:cxnSp>
          <p:nvCxnSpPr>
            <p:cNvPr id="9" name="AutoShape 11">
              <a:extLst>
                <a:ext uri="{FF2B5EF4-FFF2-40B4-BE49-F238E27FC236}">
                  <a16:creationId xmlns:a16="http://schemas.microsoft.com/office/drawing/2014/main" id="{E04C8409-D2AA-4D6D-A1D7-8C411992A06C}"/>
                </a:ext>
              </a:extLst>
            </p:cNvPr>
            <p:cNvCxnSpPr>
              <a:cxnSpLocks noChangeShapeType="1"/>
            </p:cNvCxnSpPr>
            <p:nvPr/>
          </p:nvCxnSpPr>
          <p:spPr bwMode="auto">
            <a:xfrm>
              <a:off x="3450142" y="1572773"/>
              <a:ext cx="2214578" cy="1588"/>
            </a:xfrm>
            <a:prstGeom prst="straightConnector1">
              <a:avLst/>
            </a:prstGeom>
            <a:noFill/>
            <a:ln w="9525">
              <a:solidFill>
                <a:srgbClr val="000000"/>
              </a:solidFill>
              <a:round/>
              <a:headEnd/>
              <a:tailEnd/>
            </a:ln>
          </p:spPr>
        </p:cxnSp>
        <p:sp>
          <p:nvSpPr>
            <p:cNvPr id="10" name="Rectangle 9">
              <a:extLst>
                <a:ext uri="{FF2B5EF4-FFF2-40B4-BE49-F238E27FC236}">
                  <a16:creationId xmlns:a16="http://schemas.microsoft.com/office/drawing/2014/main" id="{2D73BE6D-A3C5-4E4B-B3D1-5D5B8E0D7150}"/>
                </a:ext>
              </a:extLst>
            </p:cNvPr>
            <p:cNvSpPr/>
            <p:nvPr/>
          </p:nvSpPr>
          <p:spPr>
            <a:xfrm>
              <a:off x="3466398" y="1565789"/>
              <a:ext cx="2175375" cy="973293"/>
            </a:xfrm>
            <a:prstGeom prst="rect">
              <a:avLst/>
            </a:prstGeom>
          </p:spPr>
          <p:txBody>
            <a:bodyPr wrap="square">
              <a:spAutoFit/>
            </a:bodyPr>
            <a:lstStyle/>
            <a:p>
              <a:pPr algn="l" rtl="0"/>
              <a:r>
                <a:rPr lang="en-US" dirty="0">
                  <a:latin typeface="+mj-lt"/>
                  <a:cs typeface="Times New Roman" pitchFamily="18" charset="0"/>
                </a:rPr>
                <a:t>+ </a:t>
              </a:r>
              <a:r>
                <a:rPr lang="en-US" dirty="0" err="1">
                  <a:latin typeface="+mj-lt"/>
                  <a:cs typeface="Times New Roman" pitchFamily="18" charset="0"/>
                </a:rPr>
                <a:t>setColor</a:t>
              </a:r>
              <a:r>
                <a:rPr lang="en-US" dirty="0">
                  <a:latin typeface="+mj-lt"/>
                  <a:cs typeface="Times New Roman" pitchFamily="18" charset="0"/>
                </a:rPr>
                <a:t> (String color): void</a:t>
              </a:r>
            </a:p>
            <a:p>
              <a:pPr algn="l" rtl="0"/>
              <a:r>
                <a:rPr lang="en-US" dirty="0">
                  <a:latin typeface="+mj-lt"/>
                  <a:cs typeface="Times New Roman" pitchFamily="18" charset="0"/>
                </a:rPr>
                <a:t>+ </a:t>
              </a:r>
              <a:r>
                <a:rPr lang="en-US" dirty="0" err="1">
                  <a:latin typeface="+mj-lt"/>
                  <a:cs typeface="Times New Roman" pitchFamily="18" charset="0"/>
                </a:rPr>
                <a:t>setName</a:t>
              </a:r>
              <a:r>
                <a:rPr lang="en-US" dirty="0">
                  <a:latin typeface="+mj-lt"/>
                  <a:cs typeface="Times New Roman" pitchFamily="18" charset="0"/>
                </a:rPr>
                <a:t> (String name): void</a:t>
              </a:r>
            </a:p>
            <a:p>
              <a:pPr algn="l" rtl="0"/>
              <a:r>
                <a:rPr lang="en-US" dirty="0">
                  <a:latin typeface="+mj-lt"/>
                  <a:cs typeface="Times New Roman" pitchFamily="18" charset="0"/>
                </a:rPr>
                <a:t>+ </a:t>
              </a:r>
              <a:r>
                <a:rPr lang="en-US" dirty="0" err="1">
                  <a:latin typeface="+mj-lt"/>
                  <a:cs typeface="Times New Roman" pitchFamily="18" charset="0"/>
                </a:rPr>
                <a:t>getColor</a:t>
              </a:r>
              <a:r>
                <a:rPr lang="en-US" dirty="0">
                  <a:latin typeface="+mj-lt"/>
                  <a:cs typeface="Times New Roman" pitchFamily="18" charset="0"/>
                </a:rPr>
                <a:t> (): String</a:t>
              </a:r>
            </a:p>
            <a:p>
              <a:pPr algn="l" rtl="0"/>
              <a:r>
                <a:rPr lang="en-US" dirty="0">
                  <a:latin typeface="+mj-lt"/>
                  <a:cs typeface="Times New Roman" pitchFamily="18" charset="0"/>
                </a:rPr>
                <a:t>+ </a:t>
              </a:r>
              <a:r>
                <a:rPr lang="en-US" dirty="0" err="1">
                  <a:latin typeface="+mj-lt"/>
                  <a:cs typeface="Times New Roman" pitchFamily="18" charset="0"/>
                </a:rPr>
                <a:t>getName</a:t>
              </a:r>
              <a:r>
                <a:rPr lang="en-US" dirty="0">
                  <a:latin typeface="+mj-lt"/>
                  <a:cs typeface="Times New Roman" pitchFamily="18" charset="0"/>
                </a:rPr>
                <a:t> (): String</a:t>
              </a:r>
            </a:p>
            <a:p>
              <a:pPr algn="l" rtl="0"/>
              <a:r>
                <a:rPr lang="en-US" dirty="0">
                  <a:latin typeface="+mj-lt"/>
                  <a:cs typeface="Times New Roman" pitchFamily="18" charset="0"/>
                </a:rPr>
                <a:t>+ </a:t>
              </a:r>
              <a:r>
                <a:rPr lang="en-US" dirty="0" err="1">
                  <a:latin typeface="+mj-lt"/>
                  <a:cs typeface="Times New Roman" pitchFamily="18" charset="0"/>
                </a:rPr>
                <a:t>toString</a:t>
              </a:r>
              <a:r>
                <a:rPr lang="en-US" dirty="0">
                  <a:latin typeface="+mj-lt"/>
                  <a:cs typeface="Times New Roman" pitchFamily="18" charset="0"/>
                </a:rPr>
                <a:t>(): String</a:t>
              </a:r>
              <a:endParaRPr lang="en-US" b="1" dirty="0">
                <a:solidFill>
                  <a:srgbClr val="006600"/>
                </a:solidFill>
                <a:latin typeface="+mj-lt"/>
                <a:cs typeface="Times New Roman" pitchFamily="18" charset="0"/>
              </a:endParaRPr>
            </a:p>
          </p:txBody>
        </p:sp>
      </p:grpSp>
      <p:grpSp>
        <p:nvGrpSpPr>
          <p:cNvPr id="11" name="Group 10">
            <a:extLst>
              <a:ext uri="{FF2B5EF4-FFF2-40B4-BE49-F238E27FC236}">
                <a16:creationId xmlns:a16="http://schemas.microsoft.com/office/drawing/2014/main" id="{8723CE89-54A8-4622-8861-3EB93308F5E4}"/>
              </a:ext>
            </a:extLst>
          </p:cNvPr>
          <p:cNvGrpSpPr/>
          <p:nvPr/>
        </p:nvGrpSpPr>
        <p:grpSpPr>
          <a:xfrm>
            <a:off x="4381355" y="4633526"/>
            <a:ext cx="3630318" cy="1650609"/>
            <a:chOff x="3857620" y="1214422"/>
            <a:chExt cx="2143140" cy="1428760"/>
          </a:xfrm>
        </p:grpSpPr>
        <p:sp>
          <p:nvSpPr>
            <p:cNvPr id="12" name="Rectangle 9">
              <a:extLst>
                <a:ext uri="{FF2B5EF4-FFF2-40B4-BE49-F238E27FC236}">
                  <a16:creationId xmlns:a16="http://schemas.microsoft.com/office/drawing/2014/main" id="{AF54E456-7BA6-4C0D-A0E9-18831BEAC8FA}"/>
                </a:ext>
              </a:extLst>
            </p:cNvPr>
            <p:cNvSpPr>
              <a:spLocks noChangeArrowheads="1"/>
            </p:cNvSpPr>
            <p:nvPr/>
          </p:nvSpPr>
          <p:spPr bwMode="auto">
            <a:xfrm>
              <a:off x="3865927" y="1214422"/>
              <a:ext cx="2134833" cy="14287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ctr" rtl="0" fontAlgn="base">
                <a:spcBef>
                  <a:spcPct val="0"/>
                </a:spcBef>
                <a:spcAft>
                  <a:spcPts val="200"/>
                </a:spcAft>
              </a:pPr>
              <a:r>
                <a:rPr lang="en-US" sz="2000" b="1" dirty="0">
                  <a:solidFill>
                    <a:srgbClr val="0000FF"/>
                  </a:solidFill>
                  <a:latin typeface="+mj-lt"/>
                  <a:ea typeface="Arial" pitchFamily="34" charset="0"/>
                  <a:cs typeface="Times New Roman" pitchFamily="18" charset="0"/>
                </a:rPr>
                <a:t>Rectangle</a:t>
              </a:r>
              <a:endParaRPr lang="en-US" sz="2000" b="1" dirty="0">
                <a:solidFill>
                  <a:srgbClr val="C00000"/>
                </a:solidFill>
                <a:latin typeface="+mj-lt"/>
                <a:ea typeface="Arial" pitchFamily="34" charset="0"/>
                <a:cs typeface="Times New Roman" pitchFamily="18" charset="0"/>
              </a:endParaRPr>
            </a:p>
            <a:p>
              <a:pPr algn="l" rtl="0"/>
              <a:r>
                <a:rPr lang="en-US" dirty="0">
                  <a:latin typeface="+mj-lt"/>
                </a:rPr>
                <a:t>length: </a:t>
              </a:r>
              <a:r>
                <a:rPr lang="en-US" dirty="0" err="1">
                  <a:latin typeface="+mj-lt"/>
                </a:rPr>
                <a:t>int</a:t>
              </a:r>
              <a:endParaRPr lang="en-US" dirty="0">
                <a:latin typeface="+mj-lt"/>
              </a:endParaRPr>
            </a:p>
            <a:p>
              <a:pPr algn="l" rtl="0"/>
              <a:r>
                <a:rPr lang="en-US" dirty="0">
                  <a:latin typeface="+mj-lt"/>
                </a:rPr>
                <a:t>width: </a:t>
              </a:r>
              <a:r>
                <a:rPr lang="en-US" dirty="0" err="1">
                  <a:latin typeface="+mj-lt"/>
                </a:rPr>
                <a:t>int</a:t>
              </a:r>
              <a:endParaRPr lang="en-US" dirty="0">
                <a:latin typeface="+mj-lt"/>
              </a:endParaRPr>
            </a:p>
            <a:p>
              <a:pPr marL="0" marR="0" lvl="0" indent="0" algn="l" defTabSz="914400" rtl="0" eaLnBrk="1" fontAlgn="base" latinLnBrk="0" hangingPunct="1">
                <a:spcBef>
                  <a:spcPct val="0"/>
                </a:spcBef>
                <a:spcAft>
                  <a:spcPts val="200"/>
                </a:spcAft>
                <a:buClrTx/>
                <a:buSzTx/>
                <a:buFontTx/>
                <a:buNone/>
                <a:tabLst/>
              </a:pPr>
              <a:endParaRPr lang="en-US" sz="2000" dirty="0">
                <a:latin typeface="+mj-lt"/>
              </a:endParaRPr>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mj-lt"/>
                <a:ea typeface="Arial" pitchFamily="34" charset="0"/>
                <a:cs typeface="Arial" pitchFamily="34" charset="0"/>
              </a:endParaRPr>
            </a:p>
          </p:txBody>
        </p:sp>
        <p:cxnSp>
          <p:nvCxnSpPr>
            <p:cNvPr id="13" name="AutoShape 11">
              <a:extLst>
                <a:ext uri="{FF2B5EF4-FFF2-40B4-BE49-F238E27FC236}">
                  <a16:creationId xmlns:a16="http://schemas.microsoft.com/office/drawing/2014/main" id="{FE6058CD-BF31-45A0-AC1F-320C93FEC040}"/>
                </a:ext>
              </a:extLst>
            </p:cNvPr>
            <p:cNvCxnSpPr>
              <a:cxnSpLocks noChangeShapeType="1"/>
            </p:cNvCxnSpPr>
            <p:nvPr/>
          </p:nvCxnSpPr>
          <p:spPr bwMode="auto">
            <a:xfrm>
              <a:off x="3865927" y="1500174"/>
              <a:ext cx="2134833" cy="1588"/>
            </a:xfrm>
            <a:prstGeom prst="straightConnector1">
              <a:avLst/>
            </a:prstGeom>
            <a:noFill/>
            <a:ln w="9525">
              <a:solidFill>
                <a:srgbClr val="000000"/>
              </a:solidFill>
              <a:round/>
              <a:headEnd/>
              <a:tailEnd/>
            </a:ln>
          </p:spPr>
        </p:cxnSp>
        <p:cxnSp>
          <p:nvCxnSpPr>
            <p:cNvPr id="14" name="AutoShape 11">
              <a:extLst>
                <a:ext uri="{FF2B5EF4-FFF2-40B4-BE49-F238E27FC236}">
                  <a16:creationId xmlns:a16="http://schemas.microsoft.com/office/drawing/2014/main" id="{76911A93-3A71-48BA-BC22-5CABB7E122B5}"/>
                </a:ext>
              </a:extLst>
            </p:cNvPr>
            <p:cNvCxnSpPr>
              <a:cxnSpLocks noChangeShapeType="1"/>
            </p:cNvCxnSpPr>
            <p:nvPr/>
          </p:nvCxnSpPr>
          <p:spPr bwMode="auto">
            <a:xfrm>
              <a:off x="3857620" y="2040010"/>
              <a:ext cx="2143140" cy="1588"/>
            </a:xfrm>
            <a:prstGeom prst="straightConnector1">
              <a:avLst/>
            </a:prstGeom>
            <a:noFill/>
            <a:ln w="9525">
              <a:solidFill>
                <a:srgbClr val="000000"/>
              </a:solidFill>
              <a:round/>
              <a:headEnd/>
              <a:tailEnd/>
            </a:ln>
          </p:spPr>
        </p:cxnSp>
        <p:sp>
          <p:nvSpPr>
            <p:cNvPr id="15" name="Rectangle 14">
              <a:extLst>
                <a:ext uri="{FF2B5EF4-FFF2-40B4-BE49-F238E27FC236}">
                  <a16:creationId xmlns:a16="http://schemas.microsoft.com/office/drawing/2014/main" id="{3AAB8325-7A71-4579-9345-5B39F48201BC}"/>
                </a:ext>
              </a:extLst>
            </p:cNvPr>
            <p:cNvSpPr/>
            <p:nvPr/>
          </p:nvSpPr>
          <p:spPr>
            <a:xfrm>
              <a:off x="3857620" y="2000343"/>
              <a:ext cx="2143140" cy="559461"/>
            </a:xfrm>
            <a:prstGeom prst="rect">
              <a:avLst/>
            </a:prstGeom>
          </p:spPr>
          <p:txBody>
            <a:bodyPr wrap="square">
              <a:spAutoFit/>
            </a:bodyPr>
            <a:lstStyle/>
            <a:p>
              <a:pPr algn="l" rtl="0"/>
              <a:r>
                <a:rPr lang="en-US" dirty="0">
                  <a:latin typeface="+mj-lt"/>
                  <a:cs typeface="Times New Roman" pitchFamily="18" charset="0"/>
                </a:rPr>
                <a:t>+ area (): </a:t>
              </a:r>
              <a:r>
                <a:rPr lang="en-US" dirty="0" err="1">
                  <a:latin typeface="+mj-lt"/>
                  <a:cs typeface="Times New Roman" pitchFamily="18" charset="0"/>
                </a:rPr>
                <a:t>int</a:t>
              </a:r>
              <a:r>
                <a:rPr lang="en-US" dirty="0">
                  <a:latin typeface="+mj-lt"/>
                  <a:cs typeface="Times New Roman" pitchFamily="18" charset="0"/>
                </a:rPr>
                <a:t> </a:t>
              </a:r>
            </a:p>
            <a:p>
              <a:pPr algn="l" rtl="0"/>
              <a:r>
                <a:rPr lang="en-US" dirty="0">
                  <a:latin typeface="+mj-lt"/>
                  <a:cs typeface="Times New Roman" pitchFamily="18" charset="0"/>
                </a:rPr>
                <a:t>+ </a:t>
              </a:r>
              <a:r>
                <a:rPr lang="en-US" dirty="0" err="1">
                  <a:latin typeface="+mj-lt"/>
                  <a:cs typeface="Times New Roman" pitchFamily="18" charset="0"/>
                </a:rPr>
                <a:t>toString</a:t>
              </a:r>
              <a:r>
                <a:rPr lang="en-US" dirty="0">
                  <a:latin typeface="+mj-lt"/>
                  <a:cs typeface="Times New Roman" pitchFamily="18" charset="0"/>
                </a:rPr>
                <a:t>(): String</a:t>
              </a:r>
            </a:p>
          </p:txBody>
        </p:sp>
      </p:grpSp>
    </p:spTree>
    <p:extLst>
      <p:ext uri="{BB962C8B-B14F-4D97-AF65-F5344CB8AC3E}">
        <p14:creationId xmlns:p14="http://schemas.microsoft.com/office/powerpoint/2010/main" val="18830826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75EA5-230C-4605-89C4-5BA77494B6DA}"/>
              </a:ext>
            </a:extLst>
          </p:cNvPr>
          <p:cNvSpPr>
            <a:spLocks noGrp="1"/>
          </p:cNvSpPr>
          <p:nvPr>
            <p:ph type="title"/>
          </p:nvPr>
        </p:nvSpPr>
        <p:spPr/>
        <p:txBody>
          <a:bodyPr>
            <a:normAutofit/>
          </a:bodyPr>
          <a:lstStyle/>
          <a:p>
            <a:r>
              <a:rPr lang="en-US" dirty="0"/>
              <a:t>Inheritance Example (Implementation Phase)</a:t>
            </a:r>
          </a:p>
        </p:txBody>
      </p:sp>
      <p:sp>
        <p:nvSpPr>
          <p:cNvPr id="4" name="Footer Placeholder 3">
            <a:extLst>
              <a:ext uri="{FF2B5EF4-FFF2-40B4-BE49-F238E27FC236}">
                <a16:creationId xmlns:a16="http://schemas.microsoft.com/office/drawing/2014/main" id="{7E932DF3-700C-4310-94DC-C21867BA670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5CC81F63-AF15-48EF-8A08-7B1C5AE6F3D7}"/>
              </a:ext>
            </a:extLst>
          </p:cNvPr>
          <p:cNvPicPr>
            <a:picLocks noChangeAspect="1" noChangeArrowheads="1"/>
          </p:cNvPicPr>
          <p:nvPr/>
        </p:nvPicPr>
        <p:blipFill rotWithShape="1">
          <a:blip r:embed="rId2"/>
          <a:srcRect l="7754"/>
          <a:stretch/>
        </p:blipFill>
        <p:spPr bwMode="auto">
          <a:xfrm>
            <a:off x="30051" y="1857142"/>
            <a:ext cx="5774694" cy="4140122"/>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pic>
        <p:nvPicPr>
          <p:cNvPr id="6" name="Picture 3">
            <a:extLst>
              <a:ext uri="{FF2B5EF4-FFF2-40B4-BE49-F238E27FC236}">
                <a16:creationId xmlns:a16="http://schemas.microsoft.com/office/drawing/2014/main" id="{43317205-D35D-4F2E-AB56-CC30B81F15B4}"/>
              </a:ext>
            </a:extLst>
          </p:cNvPr>
          <p:cNvPicPr>
            <a:picLocks noChangeAspect="1" noChangeArrowheads="1"/>
          </p:cNvPicPr>
          <p:nvPr/>
        </p:nvPicPr>
        <p:blipFill rotWithShape="1">
          <a:blip r:embed="rId3"/>
          <a:srcRect l="6163"/>
          <a:stretch/>
        </p:blipFill>
        <p:spPr bwMode="auto">
          <a:xfrm>
            <a:off x="5849355" y="1857142"/>
            <a:ext cx="6286835" cy="4140122"/>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272D3E4A-C81D-40F7-B79A-CD589C69C4BD}"/>
              </a:ext>
            </a:extLst>
          </p:cNvPr>
          <p:cNvSpPr/>
          <p:nvPr/>
        </p:nvSpPr>
        <p:spPr>
          <a:xfrm>
            <a:off x="7684394" y="1884718"/>
            <a:ext cx="622479" cy="223123"/>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018291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7C2C-8748-4064-8EA4-948DF02F31CF}"/>
              </a:ext>
            </a:extLst>
          </p:cNvPr>
          <p:cNvSpPr>
            <a:spLocks noGrp="1"/>
          </p:cNvSpPr>
          <p:nvPr>
            <p:ph type="title"/>
          </p:nvPr>
        </p:nvSpPr>
        <p:spPr/>
        <p:txBody>
          <a:bodyPr/>
          <a:lstStyle/>
          <a:p>
            <a:r>
              <a:rPr lang="en-US" dirty="0"/>
              <a:t>Inheritance Example (</a:t>
            </a:r>
            <a:r>
              <a:rPr lang="en-US" i="1" dirty="0"/>
              <a:t>explanation)</a:t>
            </a:r>
          </a:p>
        </p:txBody>
      </p:sp>
      <p:sp>
        <p:nvSpPr>
          <p:cNvPr id="3" name="Content Placeholder 2">
            <a:extLst>
              <a:ext uri="{FF2B5EF4-FFF2-40B4-BE49-F238E27FC236}">
                <a16:creationId xmlns:a16="http://schemas.microsoft.com/office/drawing/2014/main" id="{43406E22-62CC-4580-B216-574534311EF8}"/>
              </a:ext>
            </a:extLst>
          </p:cNvPr>
          <p:cNvSpPr>
            <a:spLocks noGrp="1"/>
          </p:cNvSpPr>
          <p:nvPr>
            <p:ph idx="1"/>
          </p:nvPr>
        </p:nvSpPr>
        <p:spPr>
          <a:xfrm>
            <a:off x="348791" y="1845733"/>
            <a:ext cx="11481847" cy="4280317"/>
          </a:xfrm>
        </p:spPr>
        <p:txBody>
          <a:bodyPr>
            <a:normAutofit/>
          </a:bodyPr>
          <a:lstStyle/>
          <a:p>
            <a:r>
              <a:rPr lang="en-US" dirty="0"/>
              <a:t>In the previous inheritance example code:</a:t>
            </a:r>
          </a:p>
          <a:p>
            <a:r>
              <a:rPr lang="en-US" dirty="0"/>
              <a:t>The Rectangle subclass can access all the public and protected members in the Shape class (superclass). On the contrary, the Shape superclass can access nothing from the Rectangle subclass.</a:t>
            </a:r>
          </a:p>
          <a:p>
            <a:r>
              <a:rPr lang="en-US" dirty="0"/>
              <a:t>The Shape superclass has two data fields (color and name) and five methods (</a:t>
            </a:r>
            <a:r>
              <a:rPr lang="en-US" dirty="0" err="1"/>
              <a:t>setColor</a:t>
            </a:r>
            <a:r>
              <a:rPr lang="en-US" dirty="0"/>
              <a:t>(), </a:t>
            </a:r>
            <a:r>
              <a:rPr lang="en-US" dirty="0" err="1"/>
              <a:t>setName</a:t>
            </a:r>
            <a:r>
              <a:rPr lang="en-US" dirty="0"/>
              <a:t>(), </a:t>
            </a:r>
            <a:r>
              <a:rPr lang="en-US" dirty="0" err="1"/>
              <a:t>getColor</a:t>
            </a:r>
            <a:r>
              <a:rPr lang="en-US" dirty="0"/>
              <a:t> (), </a:t>
            </a:r>
            <a:r>
              <a:rPr lang="en-US" dirty="0" err="1"/>
              <a:t>getName</a:t>
            </a:r>
            <a:r>
              <a:rPr lang="en-US" dirty="0"/>
              <a:t>(), and </a:t>
            </a:r>
            <a:r>
              <a:rPr lang="en-US" dirty="0" err="1"/>
              <a:t>toString</a:t>
            </a:r>
            <a:r>
              <a:rPr lang="en-US" dirty="0"/>
              <a:t>()).</a:t>
            </a:r>
          </a:p>
          <a:p>
            <a:r>
              <a:rPr lang="en-US" dirty="0"/>
              <a:t>The Rectangle subclass has four data fields (color, name, length, and width) and seven methods (all the superclass methods, area() and </a:t>
            </a:r>
            <a:r>
              <a:rPr lang="en-US" dirty="0" err="1"/>
              <a:t>toString</a:t>
            </a:r>
            <a:r>
              <a:rPr lang="en-US" dirty="0"/>
              <a:t>()).</a:t>
            </a:r>
          </a:p>
          <a:p>
            <a:r>
              <a:rPr lang="en-US" dirty="0"/>
              <a:t>The extends keyword indicates that a class is inherited from another class. </a:t>
            </a:r>
          </a:p>
          <a:p>
            <a:endParaRPr lang="en-US" dirty="0"/>
          </a:p>
        </p:txBody>
      </p:sp>
      <p:sp>
        <p:nvSpPr>
          <p:cNvPr id="4" name="Footer Placeholder 3">
            <a:extLst>
              <a:ext uri="{FF2B5EF4-FFF2-40B4-BE49-F238E27FC236}">
                <a16:creationId xmlns:a16="http://schemas.microsoft.com/office/drawing/2014/main" id="{3BCE5215-6910-49E5-BB99-29E51276F0C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36591474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B4631-10F1-4352-B29A-B646841D50E7}"/>
              </a:ext>
            </a:extLst>
          </p:cNvPr>
          <p:cNvSpPr>
            <a:spLocks noGrp="1"/>
          </p:cNvSpPr>
          <p:nvPr>
            <p:ph type="title"/>
          </p:nvPr>
        </p:nvSpPr>
        <p:spPr/>
        <p:txBody>
          <a:bodyPr/>
          <a:lstStyle/>
          <a:p>
            <a:r>
              <a:rPr lang="en-US" dirty="0"/>
              <a:t>Inheritance Explanation</a:t>
            </a:r>
          </a:p>
        </p:txBody>
      </p:sp>
      <p:sp>
        <p:nvSpPr>
          <p:cNvPr id="3" name="Content Placeholder 2">
            <a:extLst>
              <a:ext uri="{FF2B5EF4-FFF2-40B4-BE49-F238E27FC236}">
                <a16:creationId xmlns:a16="http://schemas.microsoft.com/office/drawing/2014/main" id="{6F15CF83-EB3C-49A2-9D2E-A946738D5225}"/>
              </a:ext>
            </a:extLst>
          </p:cNvPr>
          <p:cNvSpPr>
            <a:spLocks noGrp="1"/>
          </p:cNvSpPr>
          <p:nvPr>
            <p:ph idx="1"/>
          </p:nvPr>
        </p:nvSpPr>
        <p:spPr/>
        <p:txBody>
          <a:bodyPr/>
          <a:lstStyle/>
          <a:p>
            <a:r>
              <a:rPr lang="en-US" dirty="0"/>
              <a:t>The following steps are taken by the Java compiler when creating an object from a superclass, a subclass, or both of them:</a:t>
            </a:r>
          </a:p>
          <a:p>
            <a:pPr lvl="1"/>
            <a:r>
              <a:rPr lang="en-US" dirty="0"/>
              <a:t>The process of creating an object from the </a:t>
            </a:r>
            <a:r>
              <a:rPr lang="en-US" b="1" dirty="0">
                <a:solidFill>
                  <a:srgbClr val="C00000"/>
                </a:solidFill>
              </a:rPr>
              <a:t>superclass</a:t>
            </a:r>
            <a:r>
              <a:rPr lang="en-US" dirty="0"/>
              <a:t> implements </a:t>
            </a:r>
            <a:r>
              <a:rPr lang="en-US" b="1" dirty="0"/>
              <a:t>only</a:t>
            </a:r>
            <a:r>
              <a:rPr lang="en-US" dirty="0"/>
              <a:t> the </a:t>
            </a:r>
            <a:r>
              <a:rPr lang="en-US" b="1" dirty="0">
                <a:solidFill>
                  <a:srgbClr val="C00000"/>
                </a:solidFill>
              </a:rPr>
              <a:t>superclass </a:t>
            </a:r>
            <a:r>
              <a:rPr lang="en-US" dirty="0"/>
              <a:t>constructor without invoking the </a:t>
            </a:r>
            <a:r>
              <a:rPr lang="en-US" dirty="0">
                <a:solidFill>
                  <a:srgbClr val="4A8EF2"/>
                </a:solidFill>
              </a:rPr>
              <a:t>subclass(es)</a:t>
            </a:r>
            <a:r>
              <a:rPr lang="en-US" dirty="0"/>
              <a:t>.</a:t>
            </a:r>
          </a:p>
          <a:p>
            <a:pPr lvl="1"/>
            <a:r>
              <a:rPr lang="en-US" dirty="0"/>
              <a:t>Creating an object from a </a:t>
            </a:r>
            <a:r>
              <a:rPr lang="en-US" dirty="0">
                <a:solidFill>
                  <a:srgbClr val="4A8EF2"/>
                </a:solidFill>
              </a:rPr>
              <a:t>subclass</a:t>
            </a:r>
            <a:r>
              <a:rPr lang="en-US" dirty="0"/>
              <a:t> </a:t>
            </a:r>
            <a:r>
              <a:rPr lang="en-US" b="1" u="sng" dirty="0">
                <a:solidFill>
                  <a:schemeClr val="tx1"/>
                </a:solidFill>
              </a:rPr>
              <a:t>implicitly</a:t>
            </a:r>
            <a:r>
              <a:rPr lang="en-US" dirty="0"/>
              <a:t> calls the no-argument constructor in the </a:t>
            </a:r>
            <a:r>
              <a:rPr lang="en-US" dirty="0">
                <a:solidFill>
                  <a:srgbClr val="C00000"/>
                </a:solidFill>
              </a:rPr>
              <a:t>superclass</a:t>
            </a:r>
            <a:r>
              <a:rPr lang="en-US" dirty="0"/>
              <a:t> first and then implements the used constructor in the </a:t>
            </a:r>
            <a:r>
              <a:rPr lang="en-US" dirty="0">
                <a:solidFill>
                  <a:srgbClr val="4A8EF2"/>
                </a:solidFill>
              </a:rPr>
              <a:t>subclass</a:t>
            </a:r>
            <a:r>
              <a:rPr lang="en-US" dirty="0"/>
              <a:t>.</a:t>
            </a:r>
          </a:p>
          <a:p>
            <a:pPr lvl="1"/>
            <a:r>
              <a:rPr lang="en-US" dirty="0"/>
              <a:t>If the superclass doesn't have a no-argument constructor and only has constructors with arguments, then the subclass constructor must </a:t>
            </a:r>
            <a:r>
              <a:rPr lang="en-US" b="1" u="sng" dirty="0"/>
              <a:t>explicitly</a:t>
            </a:r>
            <a:r>
              <a:rPr lang="en-US" dirty="0"/>
              <a:t> call one of the superclass constructors.</a:t>
            </a:r>
          </a:p>
        </p:txBody>
      </p:sp>
      <p:sp>
        <p:nvSpPr>
          <p:cNvPr id="4" name="Footer Placeholder 3">
            <a:extLst>
              <a:ext uri="{FF2B5EF4-FFF2-40B4-BE49-F238E27FC236}">
                <a16:creationId xmlns:a16="http://schemas.microsoft.com/office/drawing/2014/main" id="{46CA8B28-FEC0-4429-BD8B-9095BE424430}"/>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501140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3FC8-EFFB-9B90-1CF2-959CFDFD2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BBF6C-37E0-048D-9B03-5E059ECFEC10}"/>
              </a:ext>
            </a:extLst>
          </p:cNvPr>
          <p:cNvSpPr>
            <a:spLocks noGrp="1"/>
          </p:cNvSpPr>
          <p:nvPr>
            <p:ph type="title"/>
          </p:nvPr>
        </p:nvSpPr>
        <p:spPr>
          <a:xfrm>
            <a:off x="348791" y="286603"/>
            <a:ext cx="11481847" cy="1450757"/>
          </a:xfrm>
        </p:spPr>
        <p:txBody>
          <a:bodyPr/>
          <a:lstStyle/>
          <a:p>
            <a:r>
              <a:rPr lang="en-US" dirty="0"/>
              <a:t>Inheritance Example of (main class)</a:t>
            </a:r>
          </a:p>
        </p:txBody>
      </p:sp>
      <p:sp>
        <p:nvSpPr>
          <p:cNvPr id="4" name="Footer Placeholder 3">
            <a:extLst>
              <a:ext uri="{FF2B5EF4-FFF2-40B4-BE49-F238E27FC236}">
                <a16:creationId xmlns:a16="http://schemas.microsoft.com/office/drawing/2014/main" id="{681E0916-6837-014A-509B-152E3A41BD67}"/>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6" name="Picture 2">
            <a:extLst>
              <a:ext uri="{FF2B5EF4-FFF2-40B4-BE49-F238E27FC236}">
                <a16:creationId xmlns:a16="http://schemas.microsoft.com/office/drawing/2014/main" id="{12E458B3-DFB3-1927-DD58-E489636D6545}"/>
              </a:ext>
            </a:extLst>
          </p:cNvPr>
          <p:cNvPicPr>
            <a:picLocks noChangeAspect="1" noChangeArrowheads="1"/>
          </p:cNvPicPr>
          <p:nvPr/>
        </p:nvPicPr>
        <p:blipFill rotWithShape="1">
          <a:blip r:embed="rId2"/>
          <a:srcRect l="9031" b="1456"/>
          <a:stretch/>
        </p:blipFill>
        <p:spPr bwMode="auto">
          <a:xfrm>
            <a:off x="103031" y="1737359"/>
            <a:ext cx="5542208" cy="4551823"/>
          </a:xfrm>
          <a:prstGeom prst="rect">
            <a:avLst/>
          </a:prstGeom>
          <a:ln w="6350" cap="sq">
            <a:solidFill>
              <a:schemeClr val="tx1"/>
            </a:solidFill>
            <a:prstDash val="dash"/>
            <a:miter lim="800000"/>
          </a:ln>
          <a:effectLst>
            <a:outerShdw blurRad="50800" dist="38100" dir="2700000" algn="tl" rotWithShape="0">
              <a:srgbClr val="000000">
                <a:alpha val="43000"/>
              </a:srgbClr>
            </a:outerShdw>
          </a:effectLst>
        </p:spPr>
      </p:pic>
      <p:sp>
        <p:nvSpPr>
          <p:cNvPr id="8" name="Rectangle 7">
            <a:extLst>
              <a:ext uri="{FF2B5EF4-FFF2-40B4-BE49-F238E27FC236}">
                <a16:creationId xmlns:a16="http://schemas.microsoft.com/office/drawing/2014/main" id="{56A1B514-7997-7400-C847-73C10C5B5DBE}"/>
              </a:ext>
            </a:extLst>
          </p:cNvPr>
          <p:cNvSpPr/>
          <p:nvPr/>
        </p:nvSpPr>
        <p:spPr>
          <a:xfrm>
            <a:off x="5686334" y="1737359"/>
            <a:ext cx="6462736" cy="4611519"/>
          </a:xfrm>
          <a:prstGeom prst="rect">
            <a:avLst/>
          </a:prstGeom>
          <a:ln w="6350">
            <a:solidFill>
              <a:schemeClr val="tx1"/>
            </a:solidFill>
          </a:ln>
        </p:spPr>
        <p:txBody>
          <a:bodyPr wrap="square">
            <a:spAutoFit/>
          </a:bodyPr>
          <a:lstStyle/>
          <a:p>
            <a:pPr marL="285750" indent="-285750" algn="just" rtl="0" fontAlgn="base">
              <a:lnSpc>
                <a:spcPct val="150000"/>
              </a:lnSpc>
              <a:spcBef>
                <a:spcPct val="0"/>
              </a:spcBef>
              <a:spcAft>
                <a:spcPct val="0"/>
              </a:spcAft>
              <a:buFont typeface="Wingdings" panose="05000000000000000000" pitchFamily="2" charset="2"/>
              <a:buChar char="§"/>
            </a:pPr>
            <a:r>
              <a:rPr lang="en-US" dirty="0">
                <a:cs typeface="Times New Roman" pitchFamily="18" charset="0"/>
              </a:rPr>
              <a:t>Creating an object from the superclass (Shape) in line 4 should </a:t>
            </a:r>
            <a:r>
              <a:rPr lang="en-US" b="1" dirty="0">
                <a:cs typeface="Times New Roman" pitchFamily="18" charset="0"/>
              </a:rPr>
              <a:t>only</a:t>
            </a:r>
            <a:r>
              <a:rPr lang="en-US" dirty="0">
                <a:cs typeface="Times New Roman" pitchFamily="18" charset="0"/>
              </a:rPr>
              <a:t> implements the required constructor (</a:t>
            </a:r>
            <a:r>
              <a:rPr lang="en-US" dirty="0">
                <a:ea typeface="Times New Roman" pitchFamily="18" charset="0"/>
                <a:cs typeface="Times New Roman" pitchFamily="18" charset="0"/>
              </a:rPr>
              <a:t>Note that there is no zero constructor in the </a:t>
            </a:r>
            <a:r>
              <a:rPr lang="en-US" dirty="0">
                <a:cs typeface="Times New Roman" pitchFamily="18" charset="0"/>
              </a:rPr>
              <a:t>Shape </a:t>
            </a:r>
            <a:r>
              <a:rPr lang="en-US" dirty="0">
                <a:ea typeface="Times New Roman" pitchFamily="18" charset="0"/>
                <a:cs typeface="Times New Roman" pitchFamily="18" charset="0"/>
              </a:rPr>
              <a:t>class, so the default constructor will be invoked</a:t>
            </a:r>
            <a:r>
              <a:rPr lang="en-US" dirty="0">
                <a:cs typeface="Times New Roman" pitchFamily="18" charset="0"/>
              </a:rPr>
              <a:t>).</a:t>
            </a:r>
          </a:p>
          <a:p>
            <a:pPr marL="285750" indent="-285750" algn="just" rtl="0" fontAlgn="base">
              <a:lnSpc>
                <a:spcPct val="150000"/>
              </a:lnSpc>
              <a:spcBef>
                <a:spcPct val="0"/>
              </a:spcBef>
              <a:spcAft>
                <a:spcPct val="0"/>
              </a:spcAft>
              <a:buFont typeface="Wingdings" panose="05000000000000000000" pitchFamily="2" charset="2"/>
              <a:buChar char="§"/>
            </a:pPr>
            <a:r>
              <a:rPr lang="en-US" dirty="0">
                <a:cs typeface="Times New Roman" pitchFamily="18" charset="0"/>
              </a:rPr>
              <a:t>Creating an object from the subclass (Rectangle) in line 5 should implement the constructor without parameters in the Rectangle class in line3. But before that, the default constructor in the (Shape) class should be invoked to provide the default values for the data fields of the superclass, and then complete implementing the constructor in line 3.</a:t>
            </a:r>
          </a:p>
        </p:txBody>
      </p:sp>
    </p:spTree>
    <p:extLst>
      <p:ext uri="{BB962C8B-B14F-4D97-AF65-F5344CB8AC3E}">
        <p14:creationId xmlns:p14="http://schemas.microsoft.com/office/powerpoint/2010/main" val="32933806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7E803-2749-7985-E12B-FF20F4721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D5028-352E-008F-E19F-BC96AA75BCAB}"/>
              </a:ext>
            </a:extLst>
          </p:cNvPr>
          <p:cNvSpPr>
            <a:spLocks noGrp="1"/>
          </p:cNvSpPr>
          <p:nvPr>
            <p:ph type="title"/>
          </p:nvPr>
        </p:nvSpPr>
        <p:spPr>
          <a:xfrm>
            <a:off x="348791" y="286603"/>
            <a:ext cx="11481847" cy="1450757"/>
          </a:xfrm>
        </p:spPr>
        <p:txBody>
          <a:bodyPr/>
          <a:lstStyle/>
          <a:p>
            <a:r>
              <a:rPr lang="en-US" dirty="0"/>
              <a:t>Inheritance Example of (main class)</a:t>
            </a:r>
          </a:p>
        </p:txBody>
      </p:sp>
      <p:sp>
        <p:nvSpPr>
          <p:cNvPr id="4" name="Footer Placeholder 3">
            <a:extLst>
              <a:ext uri="{FF2B5EF4-FFF2-40B4-BE49-F238E27FC236}">
                <a16:creationId xmlns:a16="http://schemas.microsoft.com/office/drawing/2014/main" id="{7671047B-9A29-F800-2AA7-316EC208449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FADDF017-F2B0-7AC1-9339-3CC8EB2C69A5}"/>
              </a:ext>
            </a:extLst>
          </p:cNvPr>
          <p:cNvPicPr>
            <a:picLocks noChangeAspect="1" noChangeArrowheads="1"/>
          </p:cNvPicPr>
          <p:nvPr/>
        </p:nvPicPr>
        <p:blipFill rotWithShape="1">
          <a:blip r:embed="rId2"/>
          <a:srcRect l="9296"/>
          <a:stretch/>
        </p:blipFill>
        <p:spPr bwMode="auto">
          <a:xfrm>
            <a:off x="0" y="1776836"/>
            <a:ext cx="4657655" cy="2769406"/>
          </a:xfrm>
          <a:prstGeom prst="rect">
            <a:avLst/>
          </a:prstGeom>
          <a:ln w="6350" cap="sq">
            <a:solidFill>
              <a:schemeClr val="tx1"/>
            </a:solidFill>
            <a:prstDash val="dash"/>
            <a:miter lim="800000"/>
          </a:ln>
          <a:effectLst>
            <a:outerShdw blurRad="50800" dist="38100" dir="2700000" algn="tl" rotWithShape="0">
              <a:srgbClr val="000000">
                <a:alpha val="43000"/>
              </a:srgbClr>
            </a:outerShdw>
          </a:effectLst>
        </p:spPr>
      </p:pic>
      <p:pic>
        <p:nvPicPr>
          <p:cNvPr id="7" name="Picture 2">
            <a:extLst>
              <a:ext uri="{FF2B5EF4-FFF2-40B4-BE49-F238E27FC236}">
                <a16:creationId xmlns:a16="http://schemas.microsoft.com/office/drawing/2014/main" id="{32B48BE0-4C27-1D0D-352B-3516526E8A9B}"/>
              </a:ext>
            </a:extLst>
          </p:cNvPr>
          <p:cNvPicPr>
            <a:picLocks noChangeAspect="1" noChangeArrowheads="1"/>
          </p:cNvPicPr>
          <p:nvPr/>
        </p:nvPicPr>
        <p:blipFill>
          <a:blip r:embed="rId3"/>
          <a:srcRect/>
          <a:stretch>
            <a:fillRect/>
          </a:stretch>
        </p:blipFill>
        <p:spPr bwMode="auto">
          <a:xfrm>
            <a:off x="0" y="4621481"/>
            <a:ext cx="4633311" cy="1808414"/>
          </a:xfrm>
          <a:prstGeom prst="rect">
            <a:avLst/>
          </a:prstGeom>
          <a:ln w="6350" cap="sq">
            <a:solidFill>
              <a:srgbClr val="0000FF"/>
            </a:solidFill>
            <a:prstDash val="dash"/>
            <a:miter lim="800000"/>
          </a:ln>
          <a:effectLst>
            <a:outerShdw blurRad="50800" dist="38100" dir="2700000" algn="tl" rotWithShape="0">
              <a:srgbClr val="000000">
                <a:alpha val="43000"/>
              </a:srgbClr>
            </a:outerShdw>
          </a:effectLst>
        </p:spPr>
      </p:pic>
      <p:sp>
        <p:nvSpPr>
          <p:cNvPr id="9" name="Rectangle 8">
            <a:extLst>
              <a:ext uri="{FF2B5EF4-FFF2-40B4-BE49-F238E27FC236}">
                <a16:creationId xmlns:a16="http://schemas.microsoft.com/office/drawing/2014/main" id="{6306DBEE-B279-A979-CEFE-38F1E5B12F56}"/>
              </a:ext>
            </a:extLst>
          </p:cNvPr>
          <p:cNvSpPr/>
          <p:nvPr/>
        </p:nvSpPr>
        <p:spPr>
          <a:xfrm>
            <a:off x="4680430" y="1776836"/>
            <a:ext cx="7325795" cy="4464165"/>
          </a:xfrm>
          <a:prstGeom prst="rect">
            <a:avLst/>
          </a:prstGeom>
          <a:ln>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Rectangle 4">
            <a:extLst>
              <a:ext uri="{FF2B5EF4-FFF2-40B4-BE49-F238E27FC236}">
                <a16:creationId xmlns:a16="http://schemas.microsoft.com/office/drawing/2014/main" id="{B268FE1D-F27F-80C1-C935-F3523BAB9154}"/>
              </a:ext>
            </a:extLst>
          </p:cNvPr>
          <p:cNvSpPr>
            <a:spLocks noChangeArrowheads="1"/>
          </p:cNvSpPr>
          <p:nvPr/>
        </p:nvSpPr>
        <p:spPr bwMode="auto">
          <a:xfrm>
            <a:off x="5032269" y="4432204"/>
            <a:ext cx="6793133" cy="1703030"/>
          </a:xfrm>
          <a:prstGeom prst="rect">
            <a:avLst/>
          </a:prstGeom>
          <a:ln>
            <a:prstDash val="dash"/>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algn="just" rtl="0" fontAlgn="base">
              <a:lnSpc>
                <a:spcPct val="150000"/>
              </a:lnSpc>
              <a:spcBef>
                <a:spcPct val="0"/>
              </a:spcBef>
              <a:spcAft>
                <a:spcPct val="0"/>
              </a:spcAft>
            </a:pPr>
            <a:r>
              <a:rPr lang="en-US" dirty="0">
                <a:solidFill>
                  <a:schemeClr val="tx1"/>
                </a:solidFill>
                <a:latin typeface="+mj-lt"/>
                <a:cs typeface="Times New Roman" pitchFamily="18" charset="0"/>
              </a:rPr>
              <a:t>These values are filled by contacting the superclass's default constructor (since there are no constructors in the superclass) as a first step before implementing the required constructor (Rectangle()) in the subclass (Rectangle class).</a:t>
            </a:r>
            <a:endParaRPr lang="en-US" dirty="0">
              <a:solidFill>
                <a:schemeClr val="tx1"/>
              </a:solidFill>
              <a:latin typeface="+mj-lt"/>
            </a:endParaRPr>
          </a:p>
        </p:txBody>
      </p:sp>
      <p:grpSp>
        <p:nvGrpSpPr>
          <p:cNvPr id="11" name="Group 10">
            <a:extLst>
              <a:ext uri="{FF2B5EF4-FFF2-40B4-BE49-F238E27FC236}">
                <a16:creationId xmlns:a16="http://schemas.microsoft.com/office/drawing/2014/main" id="{BCE5F768-8018-0B07-5B22-E17E638F37D9}"/>
              </a:ext>
            </a:extLst>
          </p:cNvPr>
          <p:cNvGrpSpPr/>
          <p:nvPr/>
        </p:nvGrpSpPr>
        <p:grpSpPr>
          <a:xfrm>
            <a:off x="4849063" y="1857480"/>
            <a:ext cx="3663872" cy="2182193"/>
            <a:chOff x="4857752" y="1428736"/>
            <a:chExt cx="2714644" cy="1963525"/>
          </a:xfrm>
        </p:grpSpPr>
        <p:cxnSp>
          <p:nvCxnSpPr>
            <p:cNvPr id="12" name="AutoShape 9">
              <a:extLst>
                <a:ext uri="{FF2B5EF4-FFF2-40B4-BE49-F238E27FC236}">
                  <a16:creationId xmlns:a16="http://schemas.microsoft.com/office/drawing/2014/main" id="{B4E64F4D-8F6F-AD10-89C1-3252BD969676}"/>
                </a:ext>
              </a:extLst>
            </p:cNvPr>
            <p:cNvCxnSpPr>
              <a:cxnSpLocks noChangeShapeType="1"/>
            </p:cNvCxnSpPr>
            <p:nvPr/>
          </p:nvCxnSpPr>
          <p:spPr bwMode="auto">
            <a:xfrm>
              <a:off x="5250713" y="1603795"/>
              <a:ext cx="321419" cy="467883"/>
            </a:xfrm>
            <a:prstGeom prst="straightConnector1">
              <a:avLst/>
            </a:prstGeom>
            <a:noFill/>
            <a:ln w="9525">
              <a:solidFill>
                <a:srgbClr val="000000"/>
              </a:solidFill>
              <a:round/>
              <a:headEnd/>
              <a:tailEnd type="triangle" w="med" len="med"/>
            </a:ln>
          </p:spPr>
        </p:cxnSp>
        <p:sp>
          <p:nvSpPr>
            <p:cNvPr id="13" name="Rectangle 12">
              <a:extLst>
                <a:ext uri="{FF2B5EF4-FFF2-40B4-BE49-F238E27FC236}">
                  <a16:creationId xmlns:a16="http://schemas.microsoft.com/office/drawing/2014/main" id="{47BB908A-7693-D7EF-64D0-89C79341A258}"/>
                </a:ext>
              </a:extLst>
            </p:cNvPr>
            <p:cNvSpPr/>
            <p:nvPr/>
          </p:nvSpPr>
          <p:spPr>
            <a:xfrm>
              <a:off x="5000628" y="1428736"/>
              <a:ext cx="317353" cy="332323"/>
            </a:xfrm>
            <a:prstGeom prst="rect">
              <a:avLst/>
            </a:prstGeom>
          </p:spPr>
          <p:txBody>
            <a:bodyPr wrap="none">
              <a:spAutoFit/>
            </a:bodyPr>
            <a:lstStyle/>
            <a:p>
              <a:pPr algn="l" rtl="0" fontAlgn="base">
                <a:spcBef>
                  <a:spcPct val="0"/>
                </a:spcBef>
                <a:spcAft>
                  <a:spcPts val="1000"/>
                </a:spcAft>
              </a:pPr>
              <a:r>
                <a:rPr lang="en-US" b="1" dirty="0">
                  <a:solidFill>
                    <a:srgbClr val="C00000"/>
                  </a:solidFill>
                  <a:latin typeface="Times New Roman" pitchFamily="18" charset="0"/>
                  <a:ea typeface="Arial" pitchFamily="34" charset="0"/>
                  <a:cs typeface="Times New Roman" pitchFamily="18" charset="0"/>
                </a:rPr>
                <a:t>S1</a:t>
              </a:r>
            </a:p>
          </p:txBody>
        </p:sp>
        <p:sp>
          <p:nvSpPr>
            <p:cNvPr id="14" name="Rectangle 9">
              <a:extLst>
                <a:ext uri="{FF2B5EF4-FFF2-40B4-BE49-F238E27FC236}">
                  <a16:creationId xmlns:a16="http://schemas.microsoft.com/office/drawing/2014/main" id="{2E868D61-95B2-B5D1-E3E5-42CF933FC688}"/>
                </a:ext>
              </a:extLst>
            </p:cNvPr>
            <p:cNvSpPr>
              <a:spLocks noChangeArrowheads="1"/>
            </p:cNvSpPr>
            <p:nvPr/>
          </p:nvSpPr>
          <p:spPr bwMode="auto">
            <a:xfrm>
              <a:off x="4857752" y="2071678"/>
              <a:ext cx="1428760" cy="1245063"/>
            </a:xfrm>
            <a:prstGeom prst="ellips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l" rtl="0" fontAlgn="base">
                <a:lnSpc>
                  <a:spcPct val="150000"/>
                </a:lnSpc>
                <a:spcBef>
                  <a:spcPct val="0"/>
                </a:spcBef>
                <a:spcAft>
                  <a:spcPts val="200"/>
                </a:spcAft>
              </a:pPr>
              <a:r>
                <a:rPr lang="en-US" b="1" dirty="0">
                  <a:latin typeface="Times New Roman" pitchFamily="18" charset="0"/>
                  <a:cs typeface="Times New Roman" pitchFamily="18" charset="0"/>
                </a:rPr>
                <a:t>color</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 </a:t>
              </a:r>
              <a:r>
                <a:rPr lang="en-US" b="1" dirty="0">
                  <a:solidFill>
                    <a:srgbClr val="0000FF"/>
                  </a:solidFill>
                  <a:latin typeface="Times New Roman" pitchFamily="18" charset="0"/>
                  <a:cs typeface="Times New Roman" pitchFamily="18" charset="0"/>
                </a:rPr>
                <a:t>null</a:t>
              </a:r>
            </a:p>
            <a:p>
              <a:pPr lvl="0" algn="l" rtl="0" fontAlgn="base">
                <a:lnSpc>
                  <a:spcPct val="150000"/>
                </a:lnSpc>
                <a:spcBef>
                  <a:spcPct val="0"/>
                </a:spcBef>
                <a:spcAft>
                  <a:spcPts val="200"/>
                </a:spcAft>
              </a:pPr>
              <a:r>
                <a:rPr lang="en-US" b="1" dirty="0">
                  <a:latin typeface="Times New Roman" pitchFamily="18" charset="0"/>
                  <a:cs typeface="Times New Roman" pitchFamily="18" charset="0"/>
                </a:rPr>
                <a:t>name: </a:t>
              </a:r>
              <a:r>
                <a:rPr lang="en-US" b="1" dirty="0">
                  <a:solidFill>
                    <a:srgbClr val="0000FF"/>
                  </a:solidFill>
                  <a:latin typeface="Times New Roman" pitchFamily="18" charset="0"/>
                  <a:cs typeface="Times New Roman" pitchFamily="18" charset="0"/>
                </a:rPr>
                <a:t>null</a:t>
              </a:r>
            </a:p>
          </p:txBody>
        </p:sp>
        <p:cxnSp>
          <p:nvCxnSpPr>
            <p:cNvPr id="15" name="AutoShape 9">
              <a:extLst>
                <a:ext uri="{FF2B5EF4-FFF2-40B4-BE49-F238E27FC236}">
                  <a16:creationId xmlns:a16="http://schemas.microsoft.com/office/drawing/2014/main" id="{693393FF-7F26-8946-EF12-B0B9717C470C}"/>
                </a:ext>
              </a:extLst>
            </p:cNvPr>
            <p:cNvCxnSpPr>
              <a:cxnSpLocks noChangeShapeType="1"/>
            </p:cNvCxnSpPr>
            <p:nvPr/>
          </p:nvCxnSpPr>
          <p:spPr bwMode="auto">
            <a:xfrm>
              <a:off x="6393721" y="1631272"/>
              <a:ext cx="321419" cy="440405"/>
            </a:xfrm>
            <a:prstGeom prst="straightConnector1">
              <a:avLst/>
            </a:prstGeom>
            <a:noFill/>
            <a:ln w="9525">
              <a:solidFill>
                <a:srgbClr val="000000"/>
              </a:solidFill>
              <a:round/>
              <a:headEnd/>
              <a:tailEnd type="triangle" w="med" len="med"/>
            </a:ln>
          </p:spPr>
        </p:cxnSp>
        <p:sp>
          <p:nvSpPr>
            <p:cNvPr id="16" name="Rectangle 15">
              <a:extLst>
                <a:ext uri="{FF2B5EF4-FFF2-40B4-BE49-F238E27FC236}">
                  <a16:creationId xmlns:a16="http://schemas.microsoft.com/office/drawing/2014/main" id="{2800C2DF-19B8-5EDC-FC09-5132E4677373}"/>
                </a:ext>
              </a:extLst>
            </p:cNvPr>
            <p:cNvSpPr/>
            <p:nvPr/>
          </p:nvSpPr>
          <p:spPr>
            <a:xfrm>
              <a:off x="6143636" y="1428736"/>
              <a:ext cx="298350" cy="332323"/>
            </a:xfrm>
            <a:prstGeom prst="rect">
              <a:avLst/>
            </a:prstGeom>
          </p:spPr>
          <p:txBody>
            <a:bodyPr wrap="none">
              <a:spAutoFit/>
            </a:bodyPr>
            <a:lstStyle/>
            <a:p>
              <a:pPr algn="l" rtl="0" fontAlgn="base">
                <a:spcBef>
                  <a:spcPct val="0"/>
                </a:spcBef>
                <a:spcAft>
                  <a:spcPts val="1000"/>
                </a:spcAft>
              </a:pPr>
              <a:r>
                <a:rPr lang="en-US" b="1" dirty="0">
                  <a:solidFill>
                    <a:srgbClr val="C00000"/>
                  </a:solidFill>
                  <a:latin typeface="Times New Roman" pitchFamily="18" charset="0"/>
                  <a:ea typeface="Arial" pitchFamily="34" charset="0"/>
                  <a:cs typeface="Times New Roman" pitchFamily="18" charset="0"/>
                </a:rPr>
                <a:t>r1</a:t>
              </a:r>
            </a:p>
          </p:txBody>
        </p:sp>
        <p:sp>
          <p:nvSpPr>
            <p:cNvPr id="17" name="Rectangle 9">
              <a:extLst>
                <a:ext uri="{FF2B5EF4-FFF2-40B4-BE49-F238E27FC236}">
                  <a16:creationId xmlns:a16="http://schemas.microsoft.com/office/drawing/2014/main" id="{50289A2A-035D-5027-3792-377AE5BBDDA2}"/>
                </a:ext>
              </a:extLst>
            </p:cNvPr>
            <p:cNvSpPr>
              <a:spLocks noChangeArrowheads="1"/>
            </p:cNvSpPr>
            <p:nvPr/>
          </p:nvSpPr>
          <p:spPr bwMode="auto">
            <a:xfrm>
              <a:off x="6429388" y="2071678"/>
              <a:ext cx="1143008" cy="1320583"/>
            </a:xfrm>
            <a:prstGeom prst="ellips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spcBef>
                  <a:spcPct val="0"/>
                </a:spcBef>
                <a:spcAft>
                  <a:spcPts val="200"/>
                </a:spcAft>
                <a:buClrTx/>
                <a:buSzTx/>
                <a:buFontTx/>
                <a:buNone/>
                <a:tabLst/>
              </a:pPr>
              <a:endParaRPr lang="en-US" sz="1200" dirty="0"/>
            </a:p>
            <a:p>
              <a:pPr marL="0" marR="0" lvl="0" indent="0" algn="l" defTabSz="914400" rtl="0" eaLnBrk="1" fontAlgn="base" latinLnBrk="0" hangingPunct="1">
                <a:spcBef>
                  <a:spcPct val="0"/>
                </a:spcBef>
                <a:spcAft>
                  <a:spcPts val="200"/>
                </a:spcAft>
                <a:buClrTx/>
                <a:buSzTx/>
                <a:buFontTx/>
                <a:buNone/>
                <a:tabLst/>
              </a:pPr>
              <a:endParaRPr kumimoji="0" lang="en-US" sz="1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grpSp>
      <p:sp>
        <p:nvSpPr>
          <p:cNvPr id="18" name="TextBox 17">
            <a:extLst>
              <a:ext uri="{FF2B5EF4-FFF2-40B4-BE49-F238E27FC236}">
                <a16:creationId xmlns:a16="http://schemas.microsoft.com/office/drawing/2014/main" id="{FBA34E44-8DBA-503A-18AA-5391A9CA49D4}"/>
              </a:ext>
            </a:extLst>
          </p:cNvPr>
          <p:cNvSpPr txBox="1"/>
          <p:nvPr/>
        </p:nvSpPr>
        <p:spPr>
          <a:xfrm>
            <a:off x="7154083" y="2614143"/>
            <a:ext cx="1675588" cy="1579920"/>
          </a:xfrm>
          <a:prstGeom prst="rect">
            <a:avLst/>
          </a:prstGeom>
          <a:noFill/>
        </p:spPr>
        <p:txBody>
          <a:bodyPr wrap="square" rtlCol="0">
            <a:spAutoFit/>
          </a:bodyPr>
          <a:lstStyle/>
          <a:p>
            <a:pPr lvl="0" algn="l" rtl="0" fontAlgn="base">
              <a:spcBef>
                <a:spcPct val="0"/>
              </a:spcBef>
              <a:spcAft>
                <a:spcPts val="200"/>
              </a:spcAft>
            </a:pPr>
            <a:r>
              <a:rPr lang="en-US" b="1" dirty="0">
                <a:latin typeface="Times New Roman" pitchFamily="18" charset="0"/>
                <a:cs typeface="Times New Roman" pitchFamily="18" charset="0"/>
              </a:rPr>
              <a:t>color: </a:t>
            </a:r>
            <a:r>
              <a:rPr lang="en-US" b="1" dirty="0">
                <a:solidFill>
                  <a:srgbClr val="0000FF"/>
                </a:solidFill>
                <a:latin typeface="Times New Roman" pitchFamily="18" charset="0"/>
                <a:cs typeface="Times New Roman" pitchFamily="18" charset="0"/>
              </a:rPr>
              <a:t>null</a:t>
            </a:r>
          </a:p>
          <a:p>
            <a:pPr lvl="0" algn="l" rtl="0" fontAlgn="base">
              <a:spcBef>
                <a:spcPct val="0"/>
              </a:spcBef>
              <a:spcAft>
                <a:spcPts val="200"/>
              </a:spcAft>
            </a:pPr>
            <a:r>
              <a:rPr lang="en-US" b="1" dirty="0">
                <a:latin typeface="Times New Roman" pitchFamily="18" charset="0"/>
                <a:cs typeface="Times New Roman" pitchFamily="18" charset="0"/>
              </a:rPr>
              <a:t>name: </a:t>
            </a:r>
            <a:r>
              <a:rPr lang="en-US" b="1" dirty="0">
                <a:solidFill>
                  <a:srgbClr val="0000FF"/>
                </a:solidFill>
                <a:latin typeface="Times New Roman" pitchFamily="18" charset="0"/>
                <a:cs typeface="Times New Roman" pitchFamily="18" charset="0"/>
              </a:rPr>
              <a:t>null</a:t>
            </a:r>
          </a:p>
          <a:p>
            <a:pPr lvl="0" algn="l" rtl="0" fontAlgn="base">
              <a:spcBef>
                <a:spcPct val="0"/>
              </a:spcBef>
              <a:spcAft>
                <a:spcPts val="200"/>
              </a:spcAft>
            </a:pPr>
            <a:r>
              <a:rPr lang="en-US" b="1" dirty="0">
                <a:latin typeface="Times New Roman" pitchFamily="18" charset="0"/>
                <a:cs typeface="Times New Roman" pitchFamily="18" charset="0"/>
              </a:rPr>
              <a:t>length: </a:t>
            </a:r>
            <a:r>
              <a:rPr lang="en-US" b="1" dirty="0">
                <a:solidFill>
                  <a:srgbClr val="0000FF"/>
                </a:solidFill>
                <a:latin typeface="Times New Roman" pitchFamily="18" charset="0"/>
                <a:cs typeface="Times New Roman" pitchFamily="18" charset="0"/>
              </a:rPr>
              <a:t>0</a:t>
            </a:r>
          </a:p>
          <a:p>
            <a:pPr lvl="0" algn="l" rtl="0" fontAlgn="base">
              <a:spcBef>
                <a:spcPct val="0"/>
              </a:spcBef>
              <a:spcAft>
                <a:spcPts val="200"/>
              </a:spcAft>
            </a:pPr>
            <a:r>
              <a:rPr lang="en-US" b="1" dirty="0">
                <a:latin typeface="Times New Roman" pitchFamily="18" charset="0"/>
                <a:cs typeface="Times New Roman" pitchFamily="18" charset="0"/>
              </a:rPr>
              <a:t>width: </a:t>
            </a:r>
            <a:r>
              <a:rPr lang="en-US" b="1" dirty="0">
                <a:solidFill>
                  <a:srgbClr val="0000FF"/>
                </a:solidFill>
                <a:latin typeface="Times New Roman" pitchFamily="18" charset="0"/>
                <a:cs typeface="Times New Roman" pitchFamily="18" charset="0"/>
              </a:rPr>
              <a:t>0</a:t>
            </a:r>
          </a:p>
          <a:p>
            <a:endParaRPr lang="en-US" dirty="0"/>
          </a:p>
        </p:txBody>
      </p:sp>
      <p:sp>
        <p:nvSpPr>
          <p:cNvPr id="19" name="Rectangle 18">
            <a:extLst>
              <a:ext uri="{FF2B5EF4-FFF2-40B4-BE49-F238E27FC236}">
                <a16:creationId xmlns:a16="http://schemas.microsoft.com/office/drawing/2014/main" id="{08C1033C-0BC9-ED84-6CE7-DCDB7A121A5E}"/>
              </a:ext>
            </a:extLst>
          </p:cNvPr>
          <p:cNvSpPr/>
          <p:nvPr/>
        </p:nvSpPr>
        <p:spPr>
          <a:xfrm>
            <a:off x="7207851" y="2649961"/>
            <a:ext cx="1135477" cy="599808"/>
          </a:xfrm>
          <a:prstGeom prst="rect">
            <a:avLst/>
          </a:prstGeom>
          <a:solidFill>
            <a:schemeClr val="accent2">
              <a:alpha val="1700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B3074D5-0642-6892-2148-A8E0C74AAF0C}"/>
              </a:ext>
            </a:extLst>
          </p:cNvPr>
          <p:cNvSpPr txBox="1"/>
          <p:nvPr/>
        </p:nvSpPr>
        <p:spPr>
          <a:xfrm>
            <a:off x="0" y="4546242"/>
            <a:ext cx="1050288" cy="369332"/>
          </a:xfrm>
          <a:prstGeom prst="rect">
            <a:avLst/>
          </a:prstGeom>
          <a:solidFill>
            <a:schemeClr val="bg1"/>
          </a:solidFill>
        </p:spPr>
        <p:txBody>
          <a:bodyPr wrap="square" rtlCol="0">
            <a:spAutoFit/>
          </a:bodyPr>
          <a:lstStyle/>
          <a:p>
            <a:pPr algn="just" rtl="0"/>
            <a:r>
              <a:rPr lang="en-GB" sz="1400" b="1" dirty="0">
                <a:solidFill>
                  <a:srgbClr val="800000"/>
                </a:solidFill>
              </a:rPr>
              <a:t>Output</a:t>
            </a:r>
            <a:r>
              <a:rPr lang="en-GB" b="1" dirty="0">
                <a:solidFill>
                  <a:srgbClr val="800000"/>
                </a:solidFill>
              </a:rPr>
              <a:t>:</a:t>
            </a:r>
            <a:endParaRPr lang="en-US" b="1" dirty="0">
              <a:solidFill>
                <a:srgbClr val="800000"/>
              </a:solidFill>
            </a:endParaRPr>
          </a:p>
        </p:txBody>
      </p:sp>
      <p:cxnSp>
        <p:nvCxnSpPr>
          <p:cNvPr id="31" name="Connector: Elbow 30">
            <a:extLst>
              <a:ext uri="{FF2B5EF4-FFF2-40B4-BE49-F238E27FC236}">
                <a16:creationId xmlns:a16="http://schemas.microsoft.com/office/drawing/2014/main" id="{CFC2BFEB-E9FB-4C31-A2BC-620105FB38B8}"/>
              </a:ext>
            </a:extLst>
          </p:cNvPr>
          <p:cNvCxnSpPr>
            <a:cxnSpLocks/>
            <a:stCxn id="18" idx="3"/>
            <a:endCxn id="10" idx="0"/>
          </p:cNvCxnSpPr>
          <p:nvPr/>
        </p:nvCxnSpPr>
        <p:spPr>
          <a:xfrm flipH="1">
            <a:off x="8428836" y="3404103"/>
            <a:ext cx="400835" cy="1028101"/>
          </a:xfrm>
          <a:prstGeom prst="bentConnector4">
            <a:avLst>
              <a:gd name="adj1" fmla="val -57031"/>
              <a:gd name="adj2" fmla="val 88418"/>
            </a:avLst>
          </a:prstGeom>
          <a:ln>
            <a:solidFill>
              <a:srgbClr val="C00000"/>
            </a:solidFill>
            <a:tailEnd type="triangle"/>
          </a:ln>
        </p:spPr>
        <p:style>
          <a:lnRef idx="2">
            <a:schemeClr val="accent3"/>
          </a:lnRef>
          <a:fillRef idx="0">
            <a:schemeClr val="accent3"/>
          </a:fillRef>
          <a:effectRef idx="1">
            <a:schemeClr val="accent3"/>
          </a:effectRef>
          <a:fontRef idx="minor">
            <a:schemeClr val="tx1"/>
          </a:fontRef>
        </p:style>
      </p:cxnSp>
      <p:cxnSp>
        <p:nvCxnSpPr>
          <p:cNvPr id="36" name="Straight Connector 35">
            <a:extLst>
              <a:ext uri="{FF2B5EF4-FFF2-40B4-BE49-F238E27FC236}">
                <a16:creationId xmlns:a16="http://schemas.microsoft.com/office/drawing/2014/main" id="{BB827186-7EAC-481B-B678-F0598CBC6B3D}"/>
              </a:ext>
            </a:extLst>
          </p:cNvPr>
          <p:cNvCxnSpPr>
            <a:cxnSpLocks/>
          </p:cNvCxnSpPr>
          <p:nvPr/>
        </p:nvCxnSpPr>
        <p:spPr>
          <a:xfrm flipH="1">
            <a:off x="8512935" y="3404103"/>
            <a:ext cx="502277" cy="0"/>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84995659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87058-1DED-41BD-E9C2-1581195BA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B8A2F-A565-D25D-8029-C1D3F78363DA}"/>
              </a:ext>
            </a:extLst>
          </p:cNvPr>
          <p:cNvSpPr>
            <a:spLocks noGrp="1"/>
          </p:cNvSpPr>
          <p:nvPr>
            <p:ph type="title"/>
          </p:nvPr>
        </p:nvSpPr>
        <p:spPr>
          <a:xfrm>
            <a:off x="348791" y="286603"/>
            <a:ext cx="11481847" cy="1450757"/>
          </a:xfrm>
        </p:spPr>
        <p:txBody>
          <a:bodyPr/>
          <a:lstStyle/>
          <a:p>
            <a:r>
              <a:rPr lang="en-US" dirty="0"/>
              <a:t>Inheritance (Constructors)</a:t>
            </a:r>
          </a:p>
        </p:txBody>
      </p:sp>
      <p:sp>
        <p:nvSpPr>
          <p:cNvPr id="4" name="Footer Placeholder 3">
            <a:extLst>
              <a:ext uri="{FF2B5EF4-FFF2-40B4-BE49-F238E27FC236}">
                <a16:creationId xmlns:a16="http://schemas.microsoft.com/office/drawing/2014/main" id="{D2FD38A6-F59D-F2E9-B46D-0BB826E337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6" name="Picture 3">
            <a:extLst>
              <a:ext uri="{FF2B5EF4-FFF2-40B4-BE49-F238E27FC236}">
                <a16:creationId xmlns:a16="http://schemas.microsoft.com/office/drawing/2014/main" id="{0A931B44-5CE7-E4C3-BFF2-B6A4969254BF}"/>
              </a:ext>
            </a:extLst>
          </p:cNvPr>
          <p:cNvPicPr>
            <a:picLocks noChangeAspect="1" noChangeArrowheads="1"/>
          </p:cNvPicPr>
          <p:nvPr/>
        </p:nvPicPr>
        <p:blipFill>
          <a:blip r:embed="rId2"/>
          <a:srcRect/>
          <a:stretch>
            <a:fillRect/>
          </a:stretch>
        </p:blipFill>
        <p:spPr bwMode="auto">
          <a:xfrm>
            <a:off x="5005588" y="1737360"/>
            <a:ext cx="6215033" cy="466530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20" name="TextBox 19">
            <a:extLst>
              <a:ext uri="{FF2B5EF4-FFF2-40B4-BE49-F238E27FC236}">
                <a16:creationId xmlns:a16="http://schemas.microsoft.com/office/drawing/2014/main" id="{6C39987F-C9E6-FEC8-BA50-BE8E436D70B6}"/>
              </a:ext>
            </a:extLst>
          </p:cNvPr>
          <p:cNvSpPr txBox="1"/>
          <p:nvPr/>
        </p:nvSpPr>
        <p:spPr>
          <a:xfrm>
            <a:off x="235579" y="1831907"/>
            <a:ext cx="5001829" cy="1261884"/>
          </a:xfrm>
          <a:prstGeom prst="rect">
            <a:avLst/>
          </a:prstGeom>
          <a:noFill/>
        </p:spPr>
        <p:txBody>
          <a:bodyPr wrap="square">
            <a:spAutoFit/>
          </a:bodyPr>
          <a:lstStyle/>
          <a:p>
            <a:pPr algn="l" rtl="0"/>
            <a:r>
              <a:rPr lang="en-US" sz="2000" b="1" dirty="0">
                <a:solidFill>
                  <a:srgbClr val="C00000"/>
                </a:solidFill>
                <a:cs typeface="Times New Roman" pitchFamily="18" charset="0"/>
              </a:rPr>
              <a:t>But what if we add the following constructor to</a:t>
            </a:r>
          </a:p>
          <a:p>
            <a:pPr algn="l" rtl="0"/>
            <a:r>
              <a:rPr lang="en-US" sz="2000" b="1" dirty="0">
                <a:solidFill>
                  <a:srgbClr val="C00000"/>
                </a:solidFill>
                <a:cs typeface="Times New Roman" pitchFamily="18" charset="0"/>
              </a:rPr>
              <a:t> the class (Shape) ???</a:t>
            </a:r>
          </a:p>
          <a:p>
            <a:pPr algn="l" rtl="0"/>
            <a:r>
              <a:rPr lang="en-US" sz="1600" b="1" i="1" u="sng" dirty="0">
                <a:solidFill>
                  <a:srgbClr val="C00000"/>
                </a:solidFill>
                <a:cs typeface="Times New Roman" pitchFamily="18" charset="0"/>
              </a:rPr>
              <a:t>Followed up in the next slide</a:t>
            </a:r>
          </a:p>
        </p:txBody>
      </p:sp>
      <p:sp>
        <p:nvSpPr>
          <p:cNvPr id="22" name="Rectangle 21">
            <a:extLst>
              <a:ext uri="{FF2B5EF4-FFF2-40B4-BE49-F238E27FC236}">
                <a16:creationId xmlns:a16="http://schemas.microsoft.com/office/drawing/2014/main" id="{9E555244-867B-0A98-11C1-D40832A4D695}"/>
              </a:ext>
            </a:extLst>
          </p:cNvPr>
          <p:cNvSpPr/>
          <p:nvPr/>
        </p:nvSpPr>
        <p:spPr>
          <a:xfrm>
            <a:off x="6027089" y="2452480"/>
            <a:ext cx="3786214" cy="642942"/>
          </a:xfrm>
          <a:prstGeom prst="rect">
            <a:avLst/>
          </a:prstGeom>
          <a:solidFill>
            <a:schemeClr val="accent2">
              <a:alpha val="1700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7004326"/>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FD44-70D2-0621-D453-ED0B5DDCD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E6A4D-CE84-7713-78AC-680DE3F07B92}"/>
              </a:ext>
            </a:extLst>
          </p:cNvPr>
          <p:cNvSpPr>
            <a:spLocks noGrp="1"/>
          </p:cNvSpPr>
          <p:nvPr>
            <p:ph type="title"/>
          </p:nvPr>
        </p:nvSpPr>
        <p:spPr>
          <a:xfrm>
            <a:off x="348791" y="286603"/>
            <a:ext cx="11481847" cy="1450757"/>
          </a:xfrm>
        </p:spPr>
        <p:txBody>
          <a:bodyPr/>
          <a:lstStyle/>
          <a:p>
            <a:r>
              <a:rPr lang="en-US" dirty="0"/>
              <a:t>Inheritance (Constructors)</a:t>
            </a:r>
          </a:p>
        </p:txBody>
      </p:sp>
      <p:sp>
        <p:nvSpPr>
          <p:cNvPr id="4" name="Footer Placeholder 3">
            <a:extLst>
              <a:ext uri="{FF2B5EF4-FFF2-40B4-BE49-F238E27FC236}">
                <a16:creationId xmlns:a16="http://schemas.microsoft.com/office/drawing/2014/main" id="{26353858-EFA4-2106-C9A5-115290D3009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20" name="TextBox 19">
            <a:extLst>
              <a:ext uri="{FF2B5EF4-FFF2-40B4-BE49-F238E27FC236}">
                <a16:creationId xmlns:a16="http://schemas.microsoft.com/office/drawing/2014/main" id="{C4062595-1271-3238-D149-81A085903CC0}"/>
              </a:ext>
            </a:extLst>
          </p:cNvPr>
          <p:cNvSpPr txBox="1"/>
          <p:nvPr/>
        </p:nvSpPr>
        <p:spPr>
          <a:xfrm>
            <a:off x="235578" y="1731908"/>
            <a:ext cx="7399217" cy="369332"/>
          </a:xfrm>
          <a:prstGeom prst="rect">
            <a:avLst/>
          </a:prstGeom>
          <a:noFill/>
        </p:spPr>
        <p:txBody>
          <a:bodyPr wrap="square">
            <a:spAutoFit/>
          </a:bodyPr>
          <a:lstStyle/>
          <a:p>
            <a:r>
              <a:rPr lang="en-US" b="1" dirty="0">
                <a:solidFill>
                  <a:srgbClr val="FF0000"/>
                </a:solidFill>
                <a:cs typeface="Times New Roman" pitchFamily="18" charset="0"/>
              </a:rPr>
              <a:t>Lots of errors occurred in the subclass (Rectangle):</a:t>
            </a:r>
            <a:endParaRPr lang="en-US" sz="1800" b="1" dirty="0">
              <a:solidFill>
                <a:srgbClr val="FF0000"/>
              </a:solidFill>
              <a:cs typeface="Times New Roman" pitchFamily="18" charset="0"/>
            </a:endParaRPr>
          </a:p>
        </p:txBody>
      </p:sp>
      <p:pic>
        <p:nvPicPr>
          <p:cNvPr id="5" name="Picture 5">
            <a:extLst>
              <a:ext uri="{FF2B5EF4-FFF2-40B4-BE49-F238E27FC236}">
                <a16:creationId xmlns:a16="http://schemas.microsoft.com/office/drawing/2014/main" id="{D98F4EF9-AC3D-171A-1478-50EE27A238AC}"/>
              </a:ext>
            </a:extLst>
          </p:cNvPr>
          <p:cNvPicPr>
            <a:picLocks noChangeAspect="1" noChangeArrowheads="1"/>
          </p:cNvPicPr>
          <p:nvPr/>
        </p:nvPicPr>
        <p:blipFill rotWithShape="1">
          <a:blip r:embed="rId2"/>
          <a:srcRect l="9450"/>
          <a:stretch/>
        </p:blipFill>
        <p:spPr bwMode="auto">
          <a:xfrm>
            <a:off x="81566" y="2139877"/>
            <a:ext cx="5130085" cy="421211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AEC601C8-210F-EA43-4CA3-CB61158F1090}"/>
              </a:ext>
            </a:extLst>
          </p:cNvPr>
          <p:cNvSpPr/>
          <p:nvPr/>
        </p:nvSpPr>
        <p:spPr>
          <a:xfrm>
            <a:off x="5448190" y="2360950"/>
            <a:ext cx="5625974" cy="3728649"/>
          </a:xfrm>
          <a:prstGeom prst="rect">
            <a:avLst/>
          </a:prstGeom>
          <a:ln w="6350">
            <a:solidFill>
              <a:schemeClr val="tx1"/>
            </a:solidFill>
          </a:ln>
        </p:spPr>
        <p:txBody>
          <a:bodyPr wrap="square">
            <a:spAutoFit/>
          </a:bodyPr>
          <a:lstStyle/>
          <a:p>
            <a:pPr algn="just" rtl="0" fontAlgn="base">
              <a:lnSpc>
                <a:spcPct val="150000"/>
              </a:lnSpc>
              <a:spcBef>
                <a:spcPct val="0"/>
              </a:spcBef>
              <a:spcAft>
                <a:spcPct val="0"/>
              </a:spcAft>
            </a:pPr>
            <a:r>
              <a:rPr lang="en-US" sz="2000" b="1" dirty="0">
                <a:cs typeface="Times New Roman" pitchFamily="18" charset="0"/>
              </a:rPr>
              <a:t>In this case</a:t>
            </a:r>
            <a:r>
              <a:rPr lang="en-US" sz="2000" dirty="0">
                <a:cs typeface="Times New Roman" pitchFamily="18" charset="0"/>
              </a:rPr>
              <a:t> error messages appear in </a:t>
            </a:r>
            <a:r>
              <a:rPr lang="en-US" sz="2000" b="1" dirty="0">
                <a:solidFill>
                  <a:srgbClr val="C00000"/>
                </a:solidFill>
                <a:cs typeface="Times New Roman" pitchFamily="18" charset="0"/>
              </a:rPr>
              <a:t>all the constructors </a:t>
            </a:r>
            <a:r>
              <a:rPr lang="en-US" sz="2000" dirty="0">
                <a:cs typeface="Times New Roman" pitchFamily="18" charset="0"/>
              </a:rPr>
              <a:t>in the subclass saying (cannot find constructor Shape()). This is because the default constructor in the </a:t>
            </a:r>
            <a:r>
              <a:rPr lang="en-US" sz="2000" dirty="0" err="1">
                <a:cs typeface="Times New Roman" pitchFamily="18" charset="0"/>
              </a:rPr>
              <a:t>superclass</a:t>
            </a:r>
            <a:r>
              <a:rPr lang="en-US" sz="2000" dirty="0">
                <a:cs typeface="Times New Roman" pitchFamily="18" charset="0"/>
              </a:rPr>
              <a:t> has no longer existed and there is no constructor without parameters in the </a:t>
            </a:r>
            <a:r>
              <a:rPr lang="en-US" sz="2000" dirty="0" err="1">
                <a:cs typeface="Times New Roman" pitchFamily="18" charset="0"/>
              </a:rPr>
              <a:t>superclass</a:t>
            </a:r>
            <a:r>
              <a:rPr lang="en-US" sz="2000" dirty="0">
                <a:cs typeface="Times New Roman" pitchFamily="18" charset="0"/>
              </a:rPr>
              <a:t>. </a:t>
            </a:r>
            <a:r>
              <a:rPr lang="en-US" sz="2000" b="1" dirty="0">
                <a:cs typeface="Times New Roman" pitchFamily="18" charset="0"/>
              </a:rPr>
              <a:t>To solve this problem,</a:t>
            </a:r>
            <a:r>
              <a:rPr lang="en-US" sz="2000" dirty="0">
                <a:cs typeface="Times New Roman" pitchFamily="18" charset="0"/>
              </a:rPr>
              <a:t> We have </a:t>
            </a:r>
            <a:r>
              <a:rPr lang="en-US" sz="2000" b="1" dirty="0">
                <a:solidFill>
                  <a:srgbClr val="C00000"/>
                </a:solidFill>
                <a:cs typeface="Times New Roman" pitchFamily="18" charset="0"/>
              </a:rPr>
              <a:t>two ways</a:t>
            </a:r>
            <a:r>
              <a:rPr lang="en-US" sz="2000" dirty="0">
                <a:cs typeface="Times New Roman" pitchFamily="18" charset="0"/>
              </a:rPr>
              <a:t>, and we will explain each of them in detail….</a:t>
            </a:r>
          </a:p>
        </p:txBody>
      </p:sp>
    </p:spTree>
    <p:extLst>
      <p:ext uri="{BB962C8B-B14F-4D97-AF65-F5344CB8AC3E}">
        <p14:creationId xmlns:p14="http://schemas.microsoft.com/office/powerpoint/2010/main" val="336951836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6BB3-116D-47A2-B2F6-620188DF8062}"/>
              </a:ext>
            </a:extLst>
          </p:cNvPr>
          <p:cNvSpPr>
            <a:spLocks noGrp="1"/>
          </p:cNvSpPr>
          <p:nvPr>
            <p:ph type="title"/>
          </p:nvPr>
        </p:nvSpPr>
        <p:spPr/>
        <p:txBody>
          <a:bodyPr/>
          <a:lstStyle/>
          <a:p>
            <a:r>
              <a:rPr lang="en-US" dirty="0"/>
              <a:t>Using the keyword super</a:t>
            </a:r>
          </a:p>
        </p:txBody>
      </p:sp>
      <p:sp>
        <p:nvSpPr>
          <p:cNvPr id="3" name="Content Placeholder 2">
            <a:extLst>
              <a:ext uri="{FF2B5EF4-FFF2-40B4-BE49-F238E27FC236}">
                <a16:creationId xmlns:a16="http://schemas.microsoft.com/office/drawing/2014/main" id="{EEBF940B-5FA9-4896-8DA4-4647BF9A76A2}"/>
              </a:ext>
            </a:extLst>
          </p:cNvPr>
          <p:cNvSpPr>
            <a:spLocks noGrp="1"/>
          </p:cNvSpPr>
          <p:nvPr>
            <p:ph idx="1"/>
          </p:nvPr>
        </p:nvSpPr>
        <p:spPr>
          <a:xfrm>
            <a:off x="348791" y="1845734"/>
            <a:ext cx="11481847" cy="4374762"/>
          </a:xfrm>
        </p:spPr>
        <p:txBody>
          <a:bodyPr>
            <a:normAutofit/>
          </a:bodyPr>
          <a:lstStyle/>
          <a:p>
            <a:r>
              <a:rPr lang="en-US" dirty="0"/>
              <a:t>The keyword super refers to the superclass of the class in which super appears. This keyword can be used in three ways:</a:t>
            </a:r>
          </a:p>
          <a:p>
            <a:pPr lvl="1"/>
            <a:r>
              <a:rPr lang="en-US" dirty="0"/>
              <a:t>To call a superclass instance variables.</a:t>
            </a:r>
          </a:p>
          <a:p>
            <a:pPr lvl="1"/>
            <a:r>
              <a:rPr lang="en-US" dirty="0"/>
              <a:t>To call a superclass methods.</a:t>
            </a:r>
          </a:p>
          <a:p>
            <a:pPr lvl="1"/>
            <a:r>
              <a:rPr lang="en-US" dirty="0"/>
              <a:t>To call a superclass constructors.</a:t>
            </a:r>
          </a:p>
          <a:p>
            <a:r>
              <a:rPr lang="en-US" dirty="0"/>
              <a:t>The syntax of the (super) to call a superclass</a:t>
            </a:r>
            <a:br>
              <a:rPr lang="en-US" dirty="0"/>
            </a:br>
            <a:r>
              <a:rPr lang="en-US" dirty="0"/>
              <a:t>construct is:</a:t>
            </a:r>
          </a:p>
          <a:p>
            <a:pPr lvl="1"/>
            <a:r>
              <a:rPr lang="en-US" dirty="0">
                <a:solidFill>
                  <a:srgbClr val="C00000"/>
                </a:solidFill>
              </a:rPr>
              <a:t>super()</a:t>
            </a:r>
            <a:r>
              <a:rPr lang="en-US" dirty="0"/>
              <a:t>, or </a:t>
            </a:r>
            <a:r>
              <a:rPr lang="en-US" dirty="0">
                <a:solidFill>
                  <a:srgbClr val="C00000"/>
                </a:solidFill>
              </a:rPr>
              <a:t>super(parameter list)</a:t>
            </a:r>
            <a:r>
              <a:rPr lang="en-US" dirty="0"/>
              <a:t> just like </a:t>
            </a:r>
            <a:r>
              <a:rPr lang="en-US" dirty="0">
                <a:solidFill>
                  <a:srgbClr val="4A8EF2"/>
                </a:solidFill>
              </a:rPr>
              <a:t>this( ) </a:t>
            </a:r>
            <a:br>
              <a:rPr lang="en-US" dirty="0"/>
            </a:br>
            <a:r>
              <a:rPr lang="en-US" dirty="0"/>
              <a:t>keyword, </a:t>
            </a:r>
            <a:r>
              <a:rPr lang="en-US" dirty="0">
                <a:solidFill>
                  <a:srgbClr val="C00000"/>
                </a:solidFill>
              </a:rPr>
              <a:t>super</a:t>
            </a:r>
            <a:r>
              <a:rPr lang="en-US" dirty="0"/>
              <a:t> should be written as </a:t>
            </a:r>
            <a:br>
              <a:rPr lang="en-US" dirty="0"/>
            </a:br>
            <a:r>
              <a:rPr lang="en-US" dirty="0"/>
              <a:t>the first statement in the constructor.</a:t>
            </a:r>
          </a:p>
        </p:txBody>
      </p:sp>
      <p:sp>
        <p:nvSpPr>
          <p:cNvPr id="4" name="Footer Placeholder 3">
            <a:extLst>
              <a:ext uri="{FF2B5EF4-FFF2-40B4-BE49-F238E27FC236}">
                <a16:creationId xmlns:a16="http://schemas.microsoft.com/office/drawing/2014/main" id="{FB63A242-0D68-42AF-B3F1-C37D8BF45FA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D0429E90-1C51-48EB-8114-51E16D46A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2067" y="2316779"/>
            <a:ext cx="4924023" cy="4062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59951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15D0-073C-6BE4-8015-B3B115301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67DFA-7CCD-5942-E368-4E7043B5F216}"/>
              </a:ext>
            </a:extLst>
          </p:cNvPr>
          <p:cNvSpPr>
            <a:spLocks noGrp="1"/>
          </p:cNvSpPr>
          <p:nvPr>
            <p:ph type="title"/>
          </p:nvPr>
        </p:nvSpPr>
        <p:spPr>
          <a:xfrm>
            <a:off x="348791" y="286603"/>
            <a:ext cx="11481847" cy="1450757"/>
          </a:xfrm>
        </p:spPr>
        <p:txBody>
          <a:bodyPr/>
          <a:lstStyle/>
          <a:p>
            <a:pPr algn="l"/>
            <a:r>
              <a:rPr lang="en-US" altLang="en-US" dirty="0">
                <a:solidFill>
                  <a:schemeClr val="tx1"/>
                </a:solidFill>
              </a:rPr>
              <a:t>Using the keyword super to invoke superclass constructor</a:t>
            </a:r>
            <a:endParaRPr lang="en-US" i="0" dirty="0">
              <a:effectLst/>
              <a:latin typeface="__Source_Sans_Pro_fa6df0"/>
            </a:endParaRPr>
          </a:p>
        </p:txBody>
      </p:sp>
      <p:sp>
        <p:nvSpPr>
          <p:cNvPr id="4" name="Footer Placeholder 3">
            <a:extLst>
              <a:ext uri="{FF2B5EF4-FFF2-40B4-BE49-F238E27FC236}">
                <a16:creationId xmlns:a16="http://schemas.microsoft.com/office/drawing/2014/main" id="{6ED299E4-60EB-A0B6-7567-B7EA753EEFE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3" name="Picture 2">
            <a:extLst>
              <a:ext uri="{FF2B5EF4-FFF2-40B4-BE49-F238E27FC236}">
                <a16:creationId xmlns:a16="http://schemas.microsoft.com/office/drawing/2014/main" id="{1BF9BD2C-F78D-B7F0-5FA9-EE5568680BCF}"/>
              </a:ext>
            </a:extLst>
          </p:cNvPr>
          <p:cNvPicPr>
            <a:picLocks noChangeAspect="1" noChangeArrowheads="1"/>
          </p:cNvPicPr>
          <p:nvPr/>
        </p:nvPicPr>
        <p:blipFill rotWithShape="1">
          <a:blip r:embed="rId2"/>
          <a:srcRect l="9236"/>
          <a:stretch/>
        </p:blipFill>
        <p:spPr bwMode="auto">
          <a:xfrm>
            <a:off x="348791" y="1777285"/>
            <a:ext cx="4819930" cy="4721463"/>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pic>
        <p:nvPicPr>
          <p:cNvPr id="7" name="Picture 2">
            <a:extLst>
              <a:ext uri="{FF2B5EF4-FFF2-40B4-BE49-F238E27FC236}">
                <a16:creationId xmlns:a16="http://schemas.microsoft.com/office/drawing/2014/main" id="{D135D52A-50B0-F593-FCCB-78A68792436D}"/>
              </a:ext>
            </a:extLst>
          </p:cNvPr>
          <p:cNvPicPr>
            <a:picLocks noChangeAspect="1" noChangeArrowheads="1"/>
          </p:cNvPicPr>
          <p:nvPr/>
        </p:nvPicPr>
        <p:blipFill rotWithShape="1">
          <a:blip r:embed="rId3"/>
          <a:srcRect l="6969"/>
          <a:stretch/>
        </p:blipFill>
        <p:spPr bwMode="auto">
          <a:xfrm>
            <a:off x="5776149" y="1698397"/>
            <a:ext cx="6282768" cy="480035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9" name="Rectangle 8">
            <a:extLst>
              <a:ext uri="{FF2B5EF4-FFF2-40B4-BE49-F238E27FC236}">
                <a16:creationId xmlns:a16="http://schemas.microsoft.com/office/drawing/2014/main" id="{7FA15BFC-340E-BE53-D720-B9523F968326}"/>
              </a:ext>
            </a:extLst>
          </p:cNvPr>
          <p:cNvSpPr/>
          <p:nvPr/>
        </p:nvSpPr>
        <p:spPr>
          <a:xfrm>
            <a:off x="6089714" y="2349515"/>
            <a:ext cx="2714644" cy="198563"/>
          </a:xfrm>
          <a:prstGeom prst="rect">
            <a:avLst/>
          </a:prstGeom>
          <a:solidFill>
            <a:schemeClr val="accent2">
              <a:alpha val="1700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ADB555-1CB9-DC07-94E0-6FA3E42397A7}"/>
              </a:ext>
            </a:extLst>
          </p:cNvPr>
          <p:cNvSpPr/>
          <p:nvPr/>
        </p:nvSpPr>
        <p:spPr>
          <a:xfrm>
            <a:off x="6158401" y="3796870"/>
            <a:ext cx="2714644" cy="238340"/>
          </a:xfrm>
          <a:prstGeom prst="rect">
            <a:avLst/>
          </a:prstGeom>
          <a:solidFill>
            <a:schemeClr val="accent2">
              <a:alpha val="1700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211529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7924E-9BAC-B7DA-A84F-DAA521496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32FDF-043C-BB1E-CCE1-6BC760FEE011}"/>
              </a:ext>
            </a:extLst>
          </p:cNvPr>
          <p:cNvSpPr>
            <a:spLocks noGrp="1"/>
          </p:cNvSpPr>
          <p:nvPr>
            <p:ph type="title"/>
          </p:nvPr>
        </p:nvSpPr>
        <p:spPr>
          <a:xfrm>
            <a:off x="348791" y="286603"/>
            <a:ext cx="11481847" cy="1450757"/>
          </a:xfrm>
        </p:spPr>
        <p:txBody>
          <a:bodyPr/>
          <a:lstStyle/>
          <a:p>
            <a:pPr algn="l"/>
            <a:r>
              <a:rPr lang="en-US" altLang="en-US" dirty="0">
                <a:solidFill>
                  <a:schemeClr val="tx1"/>
                </a:solidFill>
              </a:rPr>
              <a:t>Using the keyword</a:t>
            </a:r>
            <a:r>
              <a:rPr lang="en-US" altLang="en-US" dirty="0">
                <a:solidFill>
                  <a:srgbClr val="00B050"/>
                </a:solidFill>
              </a:rPr>
              <a:t> </a:t>
            </a:r>
            <a:r>
              <a:rPr lang="en-US" altLang="en-US" dirty="0"/>
              <a:t>super</a:t>
            </a:r>
            <a:endParaRPr lang="en-US" i="0" dirty="0">
              <a:effectLst/>
              <a:latin typeface="__Source_Sans_Pro_fa6df0"/>
            </a:endParaRPr>
          </a:p>
        </p:txBody>
      </p:sp>
      <p:sp>
        <p:nvSpPr>
          <p:cNvPr id="4" name="Footer Placeholder 3">
            <a:extLst>
              <a:ext uri="{FF2B5EF4-FFF2-40B4-BE49-F238E27FC236}">
                <a16:creationId xmlns:a16="http://schemas.microsoft.com/office/drawing/2014/main" id="{8591B527-38B4-AFC7-0972-DAF72DF97FE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TextBox 7">
            <a:extLst>
              <a:ext uri="{FF2B5EF4-FFF2-40B4-BE49-F238E27FC236}">
                <a16:creationId xmlns:a16="http://schemas.microsoft.com/office/drawing/2014/main" id="{F396B3BA-B396-3BD3-698F-FB4C77903BD4}"/>
              </a:ext>
            </a:extLst>
          </p:cNvPr>
          <p:cNvSpPr txBox="1"/>
          <p:nvPr/>
        </p:nvSpPr>
        <p:spPr>
          <a:xfrm>
            <a:off x="854475" y="2992214"/>
            <a:ext cx="6094520" cy="873572"/>
          </a:xfrm>
          <a:prstGeom prst="rect">
            <a:avLst/>
          </a:prstGeom>
          <a:noFill/>
        </p:spPr>
        <p:txBody>
          <a:bodyPr wrap="square">
            <a:spAutoFit/>
          </a:bodyPr>
          <a:lstStyle/>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p:txBody>
      </p:sp>
      <p:pic>
        <p:nvPicPr>
          <p:cNvPr id="5" name="Picture 5">
            <a:extLst>
              <a:ext uri="{FF2B5EF4-FFF2-40B4-BE49-F238E27FC236}">
                <a16:creationId xmlns:a16="http://schemas.microsoft.com/office/drawing/2014/main" id="{961B21BE-618B-02B0-2257-BFF1B41CF651}"/>
              </a:ext>
            </a:extLst>
          </p:cNvPr>
          <p:cNvPicPr>
            <a:picLocks noChangeAspect="1" noChangeArrowheads="1"/>
          </p:cNvPicPr>
          <p:nvPr/>
        </p:nvPicPr>
        <p:blipFill>
          <a:blip r:embed="rId2"/>
          <a:srcRect/>
          <a:stretch>
            <a:fillRect/>
          </a:stretch>
        </p:blipFill>
        <p:spPr bwMode="auto">
          <a:xfrm>
            <a:off x="361361" y="1884925"/>
            <a:ext cx="6613342" cy="4043650"/>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1" name="Rectangle 10">
            <a:extLst>
              <a:ext uri="{FF2B5EF4-FFF2-40B4-BE49-F238E27FC236}">
                <a16:creationId xmlns:a16="http://schemas.microsoft.com/office/drawing/2014/main" id="{9CD1F159-8C69-C207-5166-EB137604BE9D}"/>
              </a:ext>
            </a:extLst>
          </p:cNvPr>
          <p:cNvSpPr/>
          <p:nvPr/>
        </p:nvSpPr>
        <p:spPr>
          <a:xfrm>
            <a:off x="7493296" y="1898120"/>
            <a:ext cx="4286280" cy="3728649"/>
          </a:xfrm>
          <a:prstGeom prst="rect">
            <a:avLst/>
          </a:prstGeom>
          <a:ln w="9525">
            <a:solidFill>
              <a:schemeClr val="tx1"/>
            </a:solidFill>
          </a:ln>
        </p:spPr>
        <p:txBody>
          <a:bodyPr wrap="square">
            <a:spAutoFit/>
          </a:bodyPr>
          <a:lstStyle/>
          <a:p>
            <a:pPr algn="just" rtl="0">
              <a:lnSpc>
                <a:spcPct val="150000"/>
              </a:lnSpc>
            </a:pPr>
            <a:r>
              <a:rPr lang="en-US" sz="2000" dirty="0">
                <a:cs typeface="Times New Roman" pitchFamily="18" charset="0"/>
              </a:rPr>
              <a:t>As shown in </a:t>
            </a:r>
            <a:r>
              <a:rPr lang="en-US" sz="2000" b="1" dirty="0">
                <a:cs typeface="Times New Roman" pitchFamily="18" charset="0"/>
              </a:rPr>
              <a:t>Main</a:t>
            </a:r>
            <a:r>
              <a:rPr lang="en-US" sz="2000" dirty="0">
                <a:cs typeface="Times New Roman" pitchFamily="18" charset="0"/>
              </a:rPr>
              <a:t> class, </a:t>
            </a:r>
          </a:p>
          <a:p>
            <a:pPr marL="342900" indent="-342900" algn="just" rtl="0">
              <a:lnSpc>
                <a:spcPct val="150000"/>
              </a:lnSpc>
              <a:buFont typeface="Arial" panose="020B0604020202020204" pitchFamily="34" charset="0"/>
              <a:buChar char="•"/>
            </a:pPr>
            <a:r>
              <a:rPr lang="en-US" sz="2000" dirty="0">
                <a:cs typeface="Times New Roman" pitchFamily="18" charset="0"/>
              </a:rPr>
              <a:t>The process of creating (r1) using the constructor with 4 parameters (line 10) requires calling the constructor with 2 parameters in the </a:t>
            </a:r>
            <a:r>
              <a:rPr lang="en-US" sz="2000" dirty="0" err="1">
                <a:cs typeface="Times New Roman" pitchFamily="18" charset="0"/>
              </a:rPr>
              <a:t>superclass</a:t>
            </a:r>
            <a:r>
              <a:rPr lang="en-US" sz="2000" dirty="0">
                <a:cs typeface="Times New Roman" pitchFamily="18" charset="0"/>
              </a:rPr>
              <a:t> (line 9), passing the actual values ("red", "Rectangle") to it.</a:t>
            </a:r>
          </a:p>
        </p:txBody>
      </p:sp>
    </p:spTree>
    <p:extLst>
      <p:ext uri="{BB962C8B-B14F-4D97-AF65-F5344CB8AC3E}">
        <p14:creationId xmlns:p14="http://schemas.microsoft.com/office/powerpoint/2010/main" val="943518425"/>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13C1-2736-7B5A-8D86-86F594C5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91DF2-3698-0532-CF60-6D0CB493D682}"/>
              </a:ext>
            </a:extLst>
          </p:cNvPr>
          <p:cNvSpPr>
            <a:spLocks noGrp="1"/>
          </p:cNvSpPr>
          <p:nvPr>
            <p:ph type="title"/>
          </p:nvPr>
        </p:nvSpPr>
        <p:spPr>
          <a:xfrm>
            <a:off x="348791" y="286603"/>
            <a:ext cx="11481847" cy="1450757"/>
          </a:xfrm>
        </p:spPr>
        <p:txBody>
          <a:bodyPr/>
          <a:lstStyle/>
          <a:p>
            <a:pPr algn="l"/>
            <a:r>
              <a:rPr lang="en-US" altLang="en-US" dirty="0">
                <a:solidFill>
                  <a:schemeClr val="tx1"/>
                </a:solidFill>
              </a:rPr>
              <a:t>Inheritance – Calling superclass methods</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5DDD309A-54B5-2E0D-791F-CA68704E203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TextBox 7">
            <a:extLst>
              <a:ext uri="{FF2B5EF4-FFF2-40B4-BE49-F238E27FC236}">
                <a16:creationId xmlns:a16="http://schemas.microsoft.com/office/drawing/2014/main" id="{68749082-429B-D356-19AA-4726102BBDB4}"/>
              </a:ext>
            </a:extLst>
          </p:cNvPr>
          <p:cNvSpPr txBox="1"/>
          <p:nvPr/>
        </p:nvSpPr>
        <p:spPr>
          <a:xfrm>
            <a:off x="854475" y="2992214"/>
            <a:ext cx="6094520" cy="873572"/>
          </a:xfrm>
          <a:prstGeom prst="rect">
            <a:avLst/>
          </a:prstGeom>
          <a:noFill/>
        </p:spPr>
        <p:txBody>
          <a:bodyPr wrap="square">
            <a:spAutoFit/>
          </a:bodyPr>
          <a:lstStyle/>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p:txBody>
      </p:sp>
      <p:pic>
        <p:nvPicPr>
          <p:cNvPr id="7" name="Picture 2">
            <a:extLst>
              <a:ext uri="{FF2B5EF4-FFF2-40B4-BE49-F238E27FC236}">
                <a16:creationId xmlns:a16="http://schemas.microsoft.com/office/drawing/2014/main" id="{87AB120C-77A2-E2D7-6E0D-AD8C5F5FF8DA}"/>
              </a:ext>
            </a:extLst>
          </p:cNvPr>
          <p:cNvPicPr>
            <a:picLocks noChangeAspect="1" noChangeArrowheads="1"/>
          </p:cNvPicPr>
          <p:nvPr/>
        </p:nvPicPr>
        <p:blipFill rotWithShape="1">
          <a:blip r:embed="rId2"/>
          <a:srcRect l="6265"/>
          <a:stretch/>
        </p:blipFill>
        <p:spPr bwMode="auto">
          <a:xfrm>
            <a:off x="61970" y="1737360"/>
            <a:ext cx="6254900" cy="4751879"/>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cxnSp>
        <p:nvCxnSpPr>
          <p:cNvPr id="5" name="Connector: Curved 4">
            <a:extLst>
              <a:ext uri="{FF2B5EF4-FFF2-40B4-BE49-F238E27FC236}">
                <a16:creationId xmlns:a16="http://schemas.microsoft.com/office/drawing/2014/main" id="{B688BEAF-E7CB-4234-92EA-98030099DF2B}"/>
              </a:ext>
            </a:extLst>
          </p:cNvPr>
          <p:cNvCxnSpPr>
            <a:cxnSpLocks/>
            <a:endCxn id="16" idx="1"/>
          </p:cNvCxnSpPr>
          <p:nvPr/>
        </p:nvCxnSpPr>
        <p:spPr>
          <a:xfrm flipV="1">
            <a:off x="2614411" y="4604450"/>
            <a:ext cx="4327302" cy="1379934"/>
          </a:xfrm>
          <a:prstGeom prst="curvedConnector3">
            <a:avLst>
              <a:gd name="adj1" fmla="val 4365"/>
            </a:avLst>
          </a:prstGeom>
          <a:ln w="28575">
            <a:solidFill>
              <a:srgbClr val="C00000">
                <a:alpha val="45000"/>
              </a:srgb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1B84971-DCD1-41FF-A824-DC9A3CAF7331}"/>
              </a:ext>
            </a:extLst>
          </p:cNvPr>
          <p:cNvSpPr txBox="1"/>
          <p:nvPr/>
        </p:nvSpPr>
        <p:spPr>
          <a:xfrm>
            <a:off x="6941713" y="3865786"/>
            <a:ext cx="5250287" cy="1477328"/>
          </a:xfrm>
          <a:prstGeom prst="rect">
            <a:avLst/>
          </a:prstGeom>
          <a:noFill/>
        </p:spPr>
        <p:txBody>
          <a:bodyPr wrap="square" rtlCol="0">
            <a:spAutoFit/>
          </a:bodyPr>
          <a:lstStyle/>
          <a:p>
            <a:r>
              <a:rPr lang="en-US" dirty="0">
                <a:cs typeface="Times New Roman" pitchFamily="18" charset="0"/>
              </a:rPr>
              <a:t>The (</a:t>
            </a:r>
            <a:r>
              <a:rPr lang="en-US" b="1" dirty="0" err="1">
                <a:solidFill>
                  <a:srgbClr val="000099"/>
                </a:solidFill>
                <a:cs typeface="Times New Roman" pitchFamily="18" charset="0"/>
              </a:rPr>
              <a:t>super.toString</a:t>
            </a:r>
            <a:r>
              <a:rPr lang="en-US" b="1" dirty="0">
                <a:solidFill>
                  <a:srgbClr val="000099"/>
                </a:solidFill>
                <a:cs typeface="Times New Roman" pitchFamily="18" charset="0"/>
              </a:rPr>
              <a:t>()</a:t>
            </a:r>
            <a:r>
              <a:rPr lang="en-US" dirty="0">
                <a:cs typeface="Times New Roman" pitchFamily="18" charset="0"/>
              </a:rPr>
              <a:t>) implements the superclass’s (</a:t>
            </a:r>
            <a:r>
              <a:rPr lang="en-US" dirty="0" err="1">
                <a:cs typeface="Times New Roman" pitchFamily="18" charset="0"/>
              </a:rPr>
              <a:t>toString</a:t>
            </a:r>
            <a:r>
              <a:rPr lang="en-US" dirty="0">
                <a:cs typeface="Times New Roman" pitchFamily="18" charset="0"/>
              </a:rPr>
              <a:t>) method and the returned value added to the implementation of the rest of the string. </a:t>
            </a:r>
          </a:p>
          <a:p>
            <a:endParaRPr lang="en-US" dirty="0"/>
          </a:p>
        </p:txBody>
      </p:sp>
      <p:sp>
        <p:nvSpPr>
          <p:cNvPr id="19" name="TextBox 18">
            <a:extLst>
              <a:ext uri="{FF2B5EF4-FFF2-40B4-BE49-F238E27FC236}">
                <a16:creationId xmlns:a16="http://schemas.microsoft.com/office/drawing/2014/main" id="{BAE3D048-9843-435B-8D61-14D26946E983}"/>
              </a:ext>
            </a:extLst>
          </p:cNvPr>
          <p:cNvSpPr txBox="1"/>
          <p:nvPr/>
        </p:nvSpPr>
        <p:spPr>
          <a:xfrm>
            <a:off x="6888504" y="1848757"/>
            <a:ext cx="4960731" cy="1200329"/>
          </a:xfrm>
          <a:prstGeom prst="rect">
            <a:avLst/>
          </a:prstGeom>
          <a:noFill/>
        </p:spPr>
        <p:txBody>
          <a:bodyPr wrap="square" rtlCol="0">
            <a:spAutoFit/>
          </a:bodyPr>
          <a:lstStyle/>
          <a:p>
            <a:r>
              <a:rPr lang="en-US" dirty="0">
                <a:cs typeface="Times New Roman" pitchFamily="18" charset="0"/>
              </a:rPr>
              <a:t>To invoke a method in the superclass. The code of the (</a:t>
            </a:r>
            <a:r>
              <a:rPr lang="en-US" dirty="0" err="1">
                <a:cs typeface="Times New Roman" pitchFamily="18" charset="0"/>
              </a:rPr>
              <a:t>toString</a:t>
            </a:r>
            <a:r>
              <a:rPr lang="en-US" dirty="0">
                <a:cs typeface="Times New Roman" pitchFamily="18" charset="0"/>
              </a:rPr>
              <a:t>) method in the subclass could be written as follows:</a:t>
            </a:r>
            <a:endParaRPr lang="en-US" b="1" dirty="0">
              <a:cs typeface="Times New Roman" pitchFamily="18" charset="0"/>
            </a:endParaRPr>
          </a:p>
          <a:p>
            <a:endParaRPr lang="en-US" dirty="0"/>
          </a:p>
        </p:txBody>
      </p:sp>
    </p:spTree>
    <p:extLst>
      <p:ext uri="{BB962C8B-B14F-4D97-AF65-F5344CB8AC3E}">
        <p14:creationId xmlns:p14="http://schemas.microsoft.com/office/powerpoint/2010/main" val="275005163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A6472-09B1-F623-D0B2-123981B1F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B7560-056B-C75D-FA4B-7D108A6AB446}"/>
              </a:ext>
            </a:extLst>
          </p:cNvPr>
          <p:cNvSpPr>
            <a:spLocks noGrp="1"/>
          </p:cNvSpPr>
          <p:nvPr>
            <p:ph type="title"/>
          </p:nvPr>
        </p:nvSpPr>
        <p:spPr>
          <a:xfrm>
            <a:off x="348791" y="286603"/>
            <a:ext cx="11481847" cy="1450757"/>
          </a:xfrm>
        </p:spPr>
        <p:txBody>
          <a:bodyPr/>
          <a:lstStyle/>
          <a:p>
            <a:pPr algn="l"/>
            <a:r>
              <a:rPr lang="en-US" altLang="en-US" dirty="0">
                <a:solidFill>
                  <a:schemeClr val="tx1"/>
                </a:solidFill>
              </a:rPr>
              <a:t>Inheritance main class</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F4701BFC-878F-7F55-023A-1ED306288CC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TextBox 7">
            <a:extLst>
              <a:ext uri="{FF2B5EF4-FFF2-40B4-BE49-F238E27FC236}">
                <a16:creationId xmlns:a16="http://schemas.microsoft.com/office/drawing/2014/main" id="{9EE2C137-A4FD-48AA-F12D-45D31D4FAF87}"/>
              </a:ext>
            </a:extLst>
          </p:cNvPr>
          <p:cNvSpPr txBox="1"/>
          <p:nvPr/>
        </p:nvSpPr>
        <p:spPr>
          <a:xfrm>
            <a:off x="854475" y="2992214"/>
            <a:ext cx="6094520" cy="873572"/>
          </a:xfrm>
          <a:prstGeom prst="rect">
            <a:avLst/>
          </a:prstGeom>
          <a:noFill/>
        </p:spPr>
        <p:txBody>
          <a:bodyPr wrap="square">
            <a:spAutoFit/>
          </a:bodyPr>
          <a:lstStyle/>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a:p>
            <a:pPr lvl="0" algn="justLow" rtl="0" eaLnBrk="0" fontAlgn="base" hangingPunct="0">
              <a:lnSpc>
                <a:spcPct val="150000"/>
              </a:lnSpc>
              <a:spcBef>
                <a:spcPct val="0"/>
              </a:spcBef>
              <a:spcAft>
                <a:spcPct val="0"/>
              </a:spcAft>
            </a:pPr>
            <a:endParaRPr lang="en-US" sz="1800" dirty="0">
              <a:latin typeface="Times New Roman" pitchFamily="18" charset="0"/>
              <a:cs typeface="Times New Roman" pitchFamily="18" charset="0"/>
            </a:endParaRPr>
          </a:p>
        </p:txBody>
      </p:sp>
      <p:pic>
        <p:nvPicPr>
          <p:cNvPr id="3" name="Picture 5">
            <a:extLst>
              <a:ext uri="{FF2B5EF4-FFF2-40B4-BE49-F238E27FC236}">
                <a16:creationId xmlns:a16="http://schemas.microsoft.com/office/drawing/2014/main" id="{BD7B4E8B-D956-B3F8-768A-07E38AABE39E}"/>
              </a:ext>
            </a:extLst>
          </p:cNvPr>
          <p:cNvPicPr>
            <a:picLocks noChangeAspect="1" noChangeArrowheads="1"/>
          </p:cNvPicPr>
          <p:nvPr/>
        </p:nvPicPr>
        <p:blipFill>
          <a:blip r:embed="rId2"/>
          <a:srcRect/>
          <a:stretch>
            <a:fillRect/>
          </a:stretch>
        </p:blipFill>
        <p:spPr bwMode="auto">
          <a:xfrm>
            <a:off x="430472" y="1737360"/>
            <a:ext cx="7858179" cy="2035092"/>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8D2D7497-D9A4-977A-7EA4-955A30829E59}"/>
              </a:ext>
            </a:extLst>
          </p:cNvPr>
          <p:cNvSpPr txBox="1"/>
          <p:nvPr/>
        </p:nvSpPr>
        <p:spPr>
          <a:xfrm>
            <a:off x="430472" y="3901031"/>
            <a:ext cx="1050288" cy="307777"/>
          </a:xfrm>
          <a:prstGeom prst="rect">
            <a:avLst/>
          </a:prstGeom>
          <a:noFill/>
        </p:spPr>
        <p:txBody>
          <a:bodyPr wrap="square" rtlCol="0">
            <a:spAutoFit/>
          </a:bodyPr>
          <a:lstStyle/>
          <a:p>
            <a:pPr algn="just" rtl="0"/>
            <a:r>
              <a:rPr lang="en-GB" sz="1400" b="1" dirty="0">
                <a:solidFill>
                  <a:srgbClr val="800000"/>
                </a:solidFill>
              </a:rPr>
              <a:t>Output:</a:t>
            </a:r>
            <a:endParaRPr lang="en-US" sz="1400" b="1" dirty="0">
              <a:solidFill>
                <a:srgbClr val="800000"/>
              </a:solidFill>
            </a:endParaRPr>
          </a:p>
        </p:txBody>
      </p:sp>
      <p:pic>
        <p:nvPicPr>
          <p:cNvPr id="11" name="Picture 2" descr="I:\1-Java2_ Preparing Material\img\Untitled999999.png">
            <a:extLst>
              <a:ext uri="{FF2B5EF4-FFF2-40B4-BE49-F238E27FC236}">
                <a16:creationId xmlns:a16="http://schemas.microsoft.com/office/drawing/2014/main" id="{79C24EE8-561E-0D1D-DB37-E925821E2EAE}"/>
              </a:ext>
            </a:extLst>
          </p:cNvPr>
          <p:cNvPicPr>
            <a:picLocks noChangeAspect="1" noChangeArrowheads="1"/>
          </p:cNvPicPr>
          <p:nvPr/>
        </p:nvPicPr>
        <p:blipFill>
          <a:blip r:embed="rId3"/>
          <a:srcRect/>
          <a:stretch>
            <a:fillRect/>
          </a:stretch>
        </p:blipFill>
        <p:spPr bwMode="auto">
          <a:xfrm>
            <a:off x="430472" y="4244054"/>
            <a:ext cx="7944901" cy="1648746"/>
          </a:xfrm>
          <a:prstGeom prst="rect">
            <a:avLst/>
          </a:prstGeom>
          <a:ln w="6350" cap="sq">
            <a:solidFill>
              <a:srgbClr val="0000FF"/>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492992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6AB6E-0848-D50B-1050-72A4E20F8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97DD5-651D-B85B-4FA3-2E22DE3DA49B}"/>
              </a:ext>
            </a:extLst>
          </p:cNvPr>
          <p:cNvSpPr>
            <a:spLocks noGrp="1"/>
          </p:cNvSpPr>
          <p:nvPr>
            <p:ph type="title"/>
          </p:nvPr>
        </p:nvSpPr>
        <p:spPr>
          <a:xfrm>
            <a:off x="348791" y="286603"/>
            <a:ext cx="11481847" cy="1450757"/>
          </a:xfrm>
        </p:spPr>
        <p:txBody>
          <a:bodyPr/>
          <a:lstStyle/>
          <a:p>
            <a:pPr algn="l"/>
            <a:r>
              <a:rPr lang="en-US" altLang="en-US" sz="4800" dirty="0"/>
              <a:t>Are superclass’s Constructor Inherited?</a:t>
            </a:r>
            <a:endParaRPr lang="en-US" i="0" dirty="0">
              <a:effectLst/>
              <a:latin typeface="__Source_Sans_Pro_fa6df0"/>
            </a:endParaRPr>
          </a:p>
        </p:txBody>
      </p:sp>
      <p:sp>
        <p:nvSpPr>
          <p:cNvPr id="4" name="Footer Placeholder 3">
            <a:extLst>
              <a:ext uri="{FF2B5EF4-FFF2-40B4-BE49-F238E27FC236}">
                <a16:creationId xmlns:a16="http://schemas.microsoft.com/office/drawing/2014/main" id="{0A9EC82C-55F4-70ED-1C6D-F9DFD7B97F1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C46A4578-6E0B-5A40-6750-8F2315E3C8E3}"/>
              </a:ext>
            </a:extLst>
          </p:cNvPr>
          <p:cNvSpPr>
            <a:spLocks noGrp="1"/>
          </p:cNvSpPr>
          <p:nvPr>
            <p:ph idx="1"/>
          </p:nvPr>
        </p:nvSpPr>
        <p:spPr>
          <a:xfrm>
            <a:off x="348791" y="1845733"/>
            <a:ext cx="11481847" cy="4502057"/>
          </a:xfrm>
        </p:spPr>
        <p:txBody>
          <a:bodyPr>
            <a:normAutofit/>
          </a:bodyPr>
          <a:lstStyle/>
          <a:p>
            <a:pPr marL="342900" indent="-342900">
              <a:spcBef>
                <a:spcPct val="50000"/>
              </a:spcBef>
              <a:buClrTx/>
              <a:buSzTx/>
            </a:pPr>
            <a:r>
              <a:rPr lang="en-US" altLang="en-US" sz="2400" dirty="0"/>
              <a:t>No. They are not </a:t>
            </a:r>
            <a:r>
              <a:rPr lang="en-US" altLang="en-US" sz="2400" dirty="0" err="1"/>
              <a:t>inherited,they</a:t>
            </a:r>
            <a:r>
              <a:rPr lang="en-US" altLang="en-US" sz="2400" dirty="0"/>
              <a:t> are invoked explicitly or implicitly. </a:t>
            </a:r>
          </a:p>
          <a:p>
            <a:pPr marL="342900" indent="-342900">
              <a:spcBef>
                <a:spcPct val="50000"/>
              </a:spcBef>
              <a:buClrTx/>
              <a:buSzTx/>
            </a:pPr>
            <a:r>
              <a:rPr lang="en-US" altLang="en-US" sz="2400" dirty="0"/>
              <a:t>Explicitly using the super keyword.</a:t>
            </a:r>
          </a:p>
          <a:p>
            <a:pPr marL="342900" indent="-342900">
              <a:spcBef>
                <a:spcPct val="50000"/>
              </a:spcBef>
              <a:defRPr/>
            </a:pPr>
            <a:r>
              <a:rPr lang="en-US" altLang="en-US" dirty="0">
                <a:cs typeface="Times New Roman" panose="02020603050405020304" pitchFamily="18" charset="0"/>
              </a:rPr>
              <a:t>A constructor is used to construct an instance of a class. </a:t>
            </a:r>
          </a:p>
          <a:p>
            <a:pPr marL="342900" indent="-342900" algn="just">
              <a:spcBef>
                <a:spcPct val="50000"/>
              </a:spcBef>
              <a:defRPr/>
            </a:pPr>
            <a:r>
              <a:rPr lang="en-US" altLang="en-US" dirty="0">
                <a:cs typeface="Times New Roman" panose="02020603050405020304" pitchFamily="18" charset="0"/>
              </a:rPr>
              <a:t>Unlike properties and methods, a superclass's constructors are not inherited in the subclass.</a:t>
            </a:r>
          </a:p>
          <a:p>
            <a:pPr marL="342900" indent="-342900">
              <a:spcBef>
                <a:spcPct val="50000"/>
              </a:spcBef>
              <a:defRPr/>
            </a:pPr>
            <a:r>
              <a:rPr lang="en-US" altLang="en-US" dirty="0">
                <a:cs typeface="Times New Roman" panose="02020603050405020304" pitchFamily="18" charset="0"/>
              </a:rPr>
              <a:t> They can only be invoked from the subclasses' constructors, using the keyword </a:t>
            </a:r>
            <a:r>
              <a:rPr lang="en-US" altLang="en-US" u="sng" dirty="0">
                <a:cs typeface="Times New Roman" panose="02020603050405020304" pitchFamily="18" charset="0"/>
              </a:rPr>
              <a:t>super</a:t>
            </a:r>
            <a:r>
              <a:rPr lang="en-US" altLang="en-US" dirty="0">
                <a:cs typeface="Times New Roman" panose="02020603050405020304" pitchFamily="18" charset="0"/>
              </a:rPr>
              <a:t>.</a:t>
            </a:r>
          </a:p>
          <a:p>
            <a:pPr marL="342900" indent="-342900">
              <a:spcBef>
                <a:spcPct val="50000"/>
              </a:spcBef>
              <a:defRPr/>
            </a:pPr>
            <a:r>
              <a:rPr lang="en-US" altLang="en-US" dirty="0">
                <a:cs typeface="Times New Roman" panose="02020603050405020304" pitchFamily="18" charset="0"/>
              </a:rPr>
              <a:t> </a:t>
            </a:r>
            <a:r>
              <a:rPr lang="en-US" altLang="en-US" i="1" dirty="0">
                <a:cs typeface="Times New Roman" panose="02020603050405020304" pitchFamily="18" charset="0"/>
              </a:rPr>
              <a:t>If the keyword </a:t>
            </a:r>
            <a:r>
              <a:rPr lang="en-US" altLang="en-US" i="1" u="sng" dirty="0">
                <a:cs typeface="Times New Roman" panose="02020603050405020304" pitchFamily="18" charset="0"/>
              </a:rPr>
              <a:t>super</a:t>
            </a:r>
            <a:r>
              <a:rPr lang="en-US" altLang="en-US" i="1" dirty="0">
                <a:cs typeface="Times New Roman" panose="02020603050405020304" pitchFamily="18" charset="0"/>
              </a:rPr>
              <a:t> is not explicitly used, the superclass's no-</a:t>
            </a:r>
            <a:r>
              <a:rPr lang="en-US" altLang="en-US" i="1" dirty="0" err="1">
                <a:cs typeface="Times New Roman" panose="02020603050405020304" pitchFamily="18" charset="0"/>
              </a:rPr>
              <a:t>arg</a:t>
            </a:r>
            <a:r>
              <a:rPr lang="en-US" altLang="en-US" i="1" dirty="0">
                <a:cs typeface="Times New Roman" panose="02020603050405020304" pitchFamily="18" charset="0"/>
              </a:rPr>
              <a:t> constructor is automatically invoked.</a:t>
            </a:r>
          </a:p>
          <a:p>
            <a:pPr>
              <a:spcBef>
                <a:spcPct val="50000"/>
              </a:spcBef>
              <a:buClrTx/>
              <a:buSzTx/>
              <a:buFontTx/>
              <a:buNone/>
            </a:pPr>
            <a:endParaRPr lang="en-US" altLang="en-US" sz="2400" dirty="0"/>
          </a:p>
        </p:txBody>
      </p:sp>
      <p:sp>
        <p:nvSpPr>
          <p:cNvPr id="8" name="Rectangle 3">
            <a:extLst>
              <a:ext uri="{FF2B5EF4-FFF2-40B4-BE49-F238E27FC236}">
                <a16:creationId xmlns:a16="http://schemas.microsoft.com/office/drawing/2014/main" id="{4CC33B29-E44C-379D-90ED-3FF411065D8B}"/>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40758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C60352A7-3031-879A-3D88-60DE62D6A6F2}"/>
              </a:ext>
            </a:extLst>
          </p:cNvPr>
          <p:cNvSpPr>
            <a:spLocks noGrp="1" noChangeArrowheads="1"/>
          </p:cNvSpPr>
          <p:nvPr>
            <p:ph type="title"/>
          </p:nvPr>
        </p:nvSpPr>
        <p:spPr>
          <a:xfrm>
            <a:off x="426750" y="553457"/>
            <a:ext cx="7772400" cy="1143000"/>
          </a:xfrm>
        </p:spPr>
        <p:txBody>
          <a:bodyPr/>
          <a:lstStyle/>
          <a:p>
            <a:r>
              <a:rPr lang="en-US" altLang="en-US" dirty="0"/>
              <a:t>Constructor Chaining </a:t>
            </a:r>
          </a:p>
        </p:txBody>
      </p:sp>
      <p:sp>
        <p:nvSpPr>
          <p:cNvPr id="3" name="Content Placeholder 2">
            <a:extLst>
              <a:ext uri="{FF2B5EF4-FFF2-40B4-BE49-F238E27FC236}">
                <a16:creationId xmlns:a16="http://schemas.microsoft.com/office/drawing/2014/main" id="{D52F5A2D-C9EF-7063-12EB-564B0500C548}"/>
              </a:ext>
            </a:extLst>
          </p:cNvPr>
          <p:cNvSpPr>
            <a:spLocks noGrp="1"/>
          </p:cNvSpPr>
          <p:nvPr>
            <p:ph idx="1"/>
          </p:nvPr>
        </p:nvSpPr>
        <p:spPr>
          <a:xfrm>
            <a:off x="5084643" y="3298029"/>
            <a:ext cx="4572000" cy="1527657"/>
          </a:xfrm>
          <a:solidFill>
            <a:schemeClr val="bg2">
              <a:lumMod val="20000"/>
              <a:lumOff val="80000"/>
            </a:schemeClr>
          </a:solidFill>
          <a:ln>
            <a:solidFill>
              <a:schemeClr val="tx1"/>
            </a:solidFill>
          </a:ln>
        </p:spPr>
        <p:txBody>
          <a:bodyPr>
            <a:noAutofit/>
          </a:bodyPr>
          <a:lstStyle/>
          <a:p>
            <a:pPr marL="0" indent="0">
              <a:buNone/>
              <a:defRPr/>
            </a:pPr>
            <a:r>
              <a:rPr lang="en-US" sz="1800" dirty="0">
                <a:latin typeface="Courier New" panose="02070309020205020404" pitchFamily="49" charset="0"/>
                <a:cs typeface="Courier New" panose="02070309020205020404" pitchFamily="49" charset="0"/>
              </a:rPr>
              <a:t>class Project {</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public static void main(String[] </a:t>
            </a:r>
            <a:r>
              <a:rPr lang="en-US" sz="1800" dirty="0" err="1">
                <a:latin typeface="Courier New" panose="02070309020205020404" pitchFamily="49" charset="0"/>
                <a:cs typeface="Courier New" panose="02070309020205020404" pitchFamily="49" charset="0"/>
              </a:rPr>
              <a:t>args</a:t>
            </a:r>
            <a:r>
              <a:rPr lang="en-US" sz="1800" dirty="0">
                <a:latin typeface="Courier New" panose="02070309020205020404" pitchFamily="49" charset="0"/>
                <a:cs typeface="Courier New" panose="02070309020205020404" pitchFamily="49" charset="0"/>
              </a:rPr>
              <a:t>) {</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Cylinder </a:t>
            </a:r>
            <a:r>
              <a:rPr lang="en-US" sz="1800" dirty="0" err="1">
                <a:latin typeface="Courier New" panose="02070309020205020404" pitchFamily="49" charset="0"/>
                <a:cs typeface="Courier New" panose="02070309020205020404" pitchFamily="49" charset="0"/>
              </a:rPr>
              <a:t>ob</a:t>
            </a:r>
            <a:r>
              <a:rPr lang="en-US" sz="1800" dirty="0">
                <a:latin typeface="Courier New" panose="02070309020205020404" pitchFamily="49" charset="0"/>
                <a:cs typeface="Courier New" panose="02070309020205020404" pitchFamily="49" charset="0"/>
              </a:rPr>
              <a:t> = new Cylinder();    }}</a:t>
            </a:r>
          </a:p>
        </p:txBody>
      </p:sp>
      <p:sp>
        <p:nvSpPr>
          <p:cNvPr id="21510" name="TextBox 7">
            <a:extLst>
              <a:ext uri="{FF2B5EF4-FFF2-40B4-BE49-F238E27FC236}">
                <a16:creationId xmlns:a16="http://schemas.microsoft.com/office/drawing/2014/main" id="{059D5C05-A7C9-A732-C150-368D89787031}"/>
              </a:ext>
            </a:extLst>
          </p:cNvPr>
          <p:cNvSpPr txBox="1">
            <a:spLocks noChangeArrowheads="1"/>
          </p:cNvSpPr>
          <p:nvPr/>
        </p:nvSpPr>
        <p:spPr bwMode="auto">
          <a:xfrm>
            <a:off x="893427" y="5258015"/>
            <a:ext cx="10405145" cy="707886"/>
          </a:xfrm>
          <a:prstGeom prst="rect">
            <a:avLst/>
          </a:prstGeom>
          <a:solidFill>
            <a:schemeClr val="bg1"/>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latin typeface="Courier New" panose="02070309020205020404" pitchFamily="49" charset="0"/>
                <a:cs typeface="Courier New" panose="02070309020205020404" pitchFamily="49" charset="0"/>
              </a:rPr>
              <a:t>Output:</a:t>
            </a:r>
          </a:p>
          <a:p>
            <a:pPr>
              <a:spcBef>
                <a:spcPct val="0"/>
              </a:spcBef>
              <a:buClrTx/>
              <a:buSzTx/>
              <a:buFontTx/>
              <a:buNone/>
            </a:pPr>
            <a:r>
              <a:rPr lang="en-US" altLang="en-US" sz="2000" dirty="0">
                <a:latin typeface="Courier New" panose="02070309020205020404" pitchFamily="49" charset="0"/>
                <a:cs typeface="Courier New" panose="02070309020205020404" pitchFamily="49" charset="0"/>
              </a:rPr>
              <a:t>Point Constructor ==&gt; Circle Constructor ==&gt; Cylinder Constructor.</a:t>
            </a:r>
          </a:p>
        </p:txBody>
      </p:sp>
      <p:sp>
        <p:nvSpPr>
          <p:cNvPr id="7" name="TextBox 5">
            <a:extLst>
              <a:ext uri="{FF2B5EF4-FFF2-40B4-BE49-F238E27FC236}">
                <a16:creationId xmlns:a16="http://schemas.microsoft.com/office/drawing/2014/main" id="{51ABC518-19D0-4814-8353-683237F762C2}"/>
              </a:ext>
            </a:extLst>
          </p:cNvPr>
          <p:cNvSpPr txBox="1">
            <a:spLocks noChangeArrowheads="1"/>
          </p:cNvSpPr>
          <p:nvPr/>
        </p:nvSpPr>
        <p:spPr bwMode="auto">
          <a:xfrm>
            <a:off x="382576" y="1820701"/>
            <a:ext cx="4572000" cy="1477328"/>
          </a:xfrm>
          <a:prstGeom prst="rect">
            <a:avLst/>
          </a:prstGeom>
          <a:solidFill>
            <a:schemeClr val="accent3">
              <a:lumMod val="60000"/>
              <a:lumOff val="40000"/>
            </a:schemeClr>
          </a:solidFill>
          <a:ln w="9525">
            <a:solidFill>
              <a:schemeClr val="tx1"/>
            </a:solidFill>
            <a:miter lim="800000"/>
            <a:headEnd/>
            <a:tailEnd/>
          </a:ln>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None/>
            </a:pPr>
            <a:r>
              <a:rPr lang="en-US" sz="1800" dirty="0">
                <a:solidFill>
                  <a:schemeClr val="bg1"/>
                </a:solidFill>
                <a:latin typeface="Courier New" panose="02070309020205020404" pitchFamily="49" charset="0"/>
                <a:cs typeface="Courier New" panose="02070309020205020404" pitchFamily="49" charset="0"/>
              </a:rPr>
              <a:t>class Point {</a:t>
            </a:r>
            <a:br>
              <a:rPr lang="en-US" sz="1800" dirty="0">
                <a:solidFill>
                  <a:schemeClr val="bg1"/>
                </a:solidFill>
                <a:latin typeface="Courier New" panose="02070309020205020404" pitchFamily="49" charset="0"/>
                <a:cs typeface="Courier New" panose="02070309020205020404" pitchFamily="49" charset="0"/>
              </a:rPr>
            </a:br>
            <a:r>
              <a:rPr lang="en-US" sz="1800" dirty="0">
                <a:solidFill>
                  <a:schemeClr val="bg1"/>
                </a:solidFill>
                <a:latin typeface="Courier New" panose="02070309020205020404" pitchFamily="49" charset="0"/>
                <a:cs typeface="Courier New" panose="02070309020205020404" pitchFamily="49" charset="0"/>
              </a:rPr>
              <a:t>Point(){         </a:t>
            </a:r>
            <a:r>
              <a:rPr lang="en-US" sz="1800" dirty="0" err="1">
                <a:solidFill>
                  <a:schemeClr val="bg1"/>
                </a:solidFill>
                <a:latin typeface="Courier New" panose="02070309020205020404" pitchFamily="49" charset="0"/>
                <a:cs typeface="Courier New" panose="02070309020205020404" pitchFamily="49" charset="0"/>
              </a:rPr>
              <a:t>System.out.print</a:t>
            </a:r>
            <a:r>
              <a:rPr lang="en-US" sz="1800" dirty="0">
                <a:solidFill>
                  <a:schemeClr val="bg1"/>
                </a:solidFill>
                <a:latin typeface="Courier New" panose="02070309020205020404" pitchFamily="49" charset="0"/>
                <a:cs typeface="Courier New" panose="02070309020205020404" pitchFamily="49" charset="0"/>
              </a:rPr>
              <a:t>("Point Constructor ==&gt; " );</a:t>
            </a:r>
            <a:br>
              <a:rPr lang="en-US" sz="1800" dirty="0">
                <a:solidFill>
                  <a:schemeClr val="bg1"/>
                </a:solidFill>
                <a:latin typeface="Courier New" panose="02070309020205020404" pitchFamily="49" charset="0"/>
                <a:cs typeface="Courier New" panose="02070309020205020404" pitchFamily="49" charset="0"/>
              </a:rPr>
            </a:br>
            <a:r>
              <a:rPr lang="en-US" sz="1800" dirty="0">
                <a:solidFill>
                  <a:schemeClr val="bg1"/>
                </a:solidFill>
                <a:latin typeface="Courier New" panose="02070309020205020404" pitchFamily="49" charset="0"/>
                <a:cs typeface="Courier New" panose="02070309020205020404" pitchFamily="49" charset="0"/>
              </a:rPr>
              <a:t>}}</a:t>
            </a:r>
            <a:endParaRPr lang="en-US" sz="1800" dirty="0">
              <a:solidFill>
                <a:schemeClr val="bg1"/>
              </a:solidFill>
              <a:effectLst/>
              <a:latin typeface="Courier New" panose="02070309020205020404" pitchFamily="49" charset="0"/>
              <a:cs typeface="Courier New" panose="02070309020205020404" pitchFamily="49" charset="0"/>
            </a:endParaRPr>
          </a:p>
        </p:txBody>
      </p:sp>
      <p:sp>
        <p:nvSpPr>
          <p:cNvPr id="9" name="TextBox 5">
            <a:extLst>
              <a:ext uri="{FF2B5EF4-FFF2-40B4-BE49-F238E27FC236}">
                <a16:creationId xmlns:a16="http://schemas.microsoft.com/office/drawing/2014/main" id="{CA3F7EAC-6C68-4FAC-8AD8-F77894179D47}"/>
              </a:ext>
            </a:extLst>
          </p:cNvPr>
          <p:cNvSpPr txBox="1">
            <a:spLocks noChangeArrowheads="1"/>
          </p:cNvSpPr>
          <p:nvPr/>
        </p:nvSpPr>
        <p:spPr bwMode="auto">
          <a:xfrm>
            <a:off x="5084643" y="1899926"/>
            <a:ext cx="4572000" cy="1200329"/>
          </a:xfrm>
          <a:prstGeom prst="rect">
            <a:avLst/>
          </a:prstGeom>
          <a:solidFill>
            <a:srgbClr val="1F5FA0"/>
          </a:solidFill>
          <a:ln w="9525">
            <a:solidFill>
              <a:schemeClr val="tx1"/>
            </a:solidFill>
            <a:miter lim="800000"/>
            <a:headEnd/>
            <a:tailEnd/>
          </a:ln>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dirty="0">
                <a:solidFill>
                  <a:schemeClr val="bg1"/>
                </a:solidFill>
                <a:latin typeface="Courier New" panose="02070309020205020404" pitchFamily="49" charset="0"/>
                <a:cs typeface="Courier New" panose="02070309020205020404" pitchFamily="49" charset="0"/>
              </a:rPr>
              <a:t>class Cylinder extends Circle {</a:t>
            </a:r>
          </a:p>
          <a:p>
            <a:pPr>
              <a:spcBef>
                <a:spcPct val="0"/>
              </a:spcBef>
              <a:buClrTx/>
              <a:buSzTx/>
              <a:buFontTx/>
              <a:buNone/>
            </a:pPr>
            <a:r>
              <a:rPr lang="en-US" altLang="en-US" sz="1800" dirty="0">
                <a:solidFill>
                  <a:schemeClr val="bg1"/>
                </a:solidFill>
                <a:latin typeface="Courier New" panose="02070309020205020404" pitchFamily="49" charset="0"/>
                <a:cs typeface="Courier New" panose="02070309020205020404" pitchFamily="49" charset="0"/>
              </a:rPr>
              <a:t>public Cylinder(){  </a:t>
            </a:r>
            <a:r>
              <a:rPr lang="en-US" altLang="en-US" sz="1800" dirty="0" err="1">
                <a:solidFill>
                  <a:schemeClr val="bg1"/>
                </a:solidFill>
                <a:latin typeface="Courier New" panose="02070309020205020404" pitchFamily="49" charset="0"/>
                <a:cs typeface="Courier New" panose="02070309020205020404" pitchFamily="49" charset="0"/>
              </a:rPr>
              <a:t>System.out.print</a:t>
            </a:r>
            <a:r>
              <a:rPr lang="en-US" altLang="en-US" sz="1800" dirty="0">
                <a:solidFill>
                  <a:schemeClr val="bg1"/>
                </a:solidFill>
                <a:latin typeface="Courier New" panose="02070309020205020404" pitchFamily="49" charset="0"/>
                <a:cs typeface="Courier New" panose="02070309020205020404" pitchFamily="49" charset="0"/>
              </a:rPr>
              <a:t>("Cylinder Constructor." ); } }</a:t>
            </a:r>
          </a:p>
        </p:txBody>
      </p:sp>
      <p:sp>
        <p:nvSpPr>
          <p:cNvPr id="10" name="TextBox 5">
            <a:extLst>
              <a:ext uri="{FF2B5EF4-FFF2-40B4-BE49-F238E27FC236}">
                <a16:creationId xmlns:a16="http://schemas.microsoft.com/office/drawing/2014/main" id="{401BDDDC-2A54-46DA-8014-668AC5BCEFF1}"/>
              </a:ext>
            </a:extLst>
          </p:cNvPr>
          <p:cNvSpPr txBox="1">
            <a:spLocks noChangeArrowheads="1"/>
          </p:cNvSpPr>
          <p:nvPr/>
        </p:nvSpPr>
        <p:spPr bwMode="auto">
          <a:xfrm>
            <a:off x="382576" y="3346909"/>
            <a:ext cx="4572000" cy="1200329"/>
          </a:xfrm>
          <a:prstGeom prst="rect">
            <a:avLst/>
          </a:prstGeom>
          <a:solidFill>
            <a:schemeClr val="accent2"/>
          </a:solidFill>
          <a:ln w="9525">
            <a:solidFill>
              <a:schemeClr val="tx1"/>
            </a:solidFill>
            <a:miter lim="800000"/>
            <a:headEnd/>
            <a:tailEnd/>
          </a:ln>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dirty="0">
                <a:solidFill>
                  <a:schemeClr val="bg1"/>
                </a:solidFill>
                <a:latin typeface="Courier New" panose="02070309020205020404" pitchFamily="49" charset="0"/>
                <a:cs typeface="Courier New" panose="02070309020205020404" pitchFamily="49" charset="0"/>
              </a:rPr>
              <a:t>class Circle extends Point{</a:t>
            </a:r>
          </a:p>
          <a:p>
            <a:pPr>
              <a:spcBef>
                <a:spcPct val="0"/>
              </a:spcBef>
              <a:buClrTx/>
              <a:buSzTx/>
              <a:buFontTx/>
              <a:buNone/>
            </a:pPr>
            <a:r>
              <a:rPr lang="en-US" altLang="en-US" sz="1800" dirty="0">
                <a:solidFill>
                  <a:schemeClr val="bg1"/>
                </a:solidFill>
                <a:latin typeface="Courier New" panose="02070309020205020404" pitchFamily="49" charset="0"/>
                <a:cs typeface="Courier New" panose="02070309020205020404" pitchFamily="49" charset="0"/>
              </a:rPr>
              <a:t>public Circle(){ </a:t>
            </a:r>
          </a:p>
          <a:p>
            <a:pPr>
              <a:spcBef>
                <a:spcPct val="0"/>
              </a:spcBef>
              <a:buClrTx/>
              <a:buSzTx/>
              <a:buFontTx/>
              <a:buNone/>
            </a:pPr>
            <a:r>
              <a:rPr lang="en-US" altLang="en-US" sz="1800" dirty="0" err="1">
                <a:solidFill>
                  <a:schemeClr val="bg1"/>
                </a:solidFill>
                <a:latin typeface="Courier New" panose="02070309020205020404" pitchFamily="49" charset="0"/>
                <a:cs typeface="Courier New" panose="02070309020205020404" pitchFamily="49" charset="0"/>
              </a:rPr>
              <a:t>System.out.print</a:t>
            </a:r>
            <a:r>
              <a:rPr lang="en-US" altLang="en-US" sz="1800" dirty="0">
                <a:solidFill>
                  <a:schemeClr val="bg1"/>
                </a:solidFill>
                <a:latin typeface="Courier New" panose="02070309020205020404" pitchFamily="49" charset="0"/>
                <a:cs typeface="Courier New" panose="02070309020205020404" pitchFamily="49" charset="0"/>
              </a:rPr>
              <a:t>("Circle Constructor ==&gt; " ); } }</a:t>
            </a:r>
            <a:endParaRPr lang="en-US" sz="1800" dirty="0">
              <a:effectLst/>
              <a:latin typeface="Courier New" panose="02070309020205020404" pitchFamily="49" charset="0"/>
              <a:cs typeface="Courier New" panose="02070309020205020404" pitchFamily="49" charset="0"/>
            </a:endParaRPr>
          </a:p>
        </p:txBody>
      </p:sp>
      <p:sp>
        <p:nvSpPr>
          <p:cNvPr id="2" name="Footer Placeholder 1">
            <a:extLst>
              <a:ext uri="{FF2B5EF4-FFF2-40B4-BE49-F238E27FC236}">
                <a16:creationId xmlns:a16="http://schemas.microsoft.com/office/drawing/2014/main" id="{2909D877-DEB4-4D2A-96B6-C0FB97BF0299}"/>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C897F-9FFE-47BC-AEB9-330E2C379F79}"/>
              </a:ext>
            </a:extLst>
          </p:cNvPr>
          <p:cNvSpPr>
            <a:spLocks noGrp="1"/>
          </p:cNvSpPr>
          <p:nvPr>
            <p:ph type="title"/>
          </p:nvPr>
        </p:nvSpPr>
        <p:spPr/>
        <p:txBody>
          <a:bodyPr/>
          <a:lstStyle/>
          <a:p>
            <a:r>
              <a:rPr lang="en-US" altLang="en-US" dirty="0"/>
              <a:t>Constructor Chaining (Code Tracing)</a:t>
            </a:r>
            <a:endParaRPr lang="en-US" dirty="0"/>
          </a:p>
        </p:txBody>
      </p:sp>
      <p:sp>
        <p:nvSpPr>
          <p:cNvPr id="4" name="Footer Placeholder 3">
            <a:extLst>
              <a:ext uri="{FF2B5EF4-FFF2-40B4-BE49-F238E27FC236}">
                <a16:creationId xmlns:a16="http://schemas.microsoft.com/office/drawing/2014/main" id="{C92FAB6D-D7D1-45F5-91CE-C69A7AE37FE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Content Placeholder 2">
            <a:extLst>
              <a:ext uri="{FF2B5EF4-FFF2-40B4-BE49-F238E27FC236}">
                <a16:creationId xmlns:a16="http://schemas.microsoft.com/office/drawing/2014/main" id="{09CC5B1E-C153-4B00-AD51-B63B93653DB7}"/>
              </a:ext>
            </a:extLst>
          </p:cNvPr>
          <p:cNvSpPr txBox="1">
            <a:spLocks/>
          </p:cNvSpPr>
          <p:nvPr/>
        </p:nvSpPr>
        <p:spPr>
          <a:xfrm>
            <a:off x="4297404" y="2752824"/>
            <a:ext cx="7010400" cy="2278523"/>
          </a:xfrm>
          <a:prstGeom prst="rect">
            <a:avLst/>
          </a:prstGeom>
          <a:solidFill>
            <a:schemeClr val="bg2">
              <a:lumMod val="20000"/>
              <a:lumOff val="80000"/>
            </a:schemeClr>
          </a:solidFill>
          <a:ln>
            <a:solidFill>
              <a:schemeClr val="tx1"/>
            </a:solidFill>
          </a:ln>
        </p:spPr>
        <p:txBody>
          <a:bodyPr vert="horz" lIns="0" tIns="45720" rIns="0" bIns="45720" rtlCol="0">
            <a:no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defRPr/>
            </a:pPr>
            <a:r>
              <a:rPr lang="en-US" dirty="0">
                <a:solidFill>
                  <a:schemeClr val="tx1"/>
                </a:solidFill>
                <a:latin typeface="Courier New" panose="02070309020205020404" pitchFamily="49" charset="0"/>
                <a:cs typeface="Courier New" panose="02070309020205020404" pitchFamily="49" charset="0"/>
              </a:rPr>
              <a:t>class Project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public static void main(String[] </a:t>
            </a:r>
            <a:r>
              <a:rPr lang="en-US" dirty="0" err="1">
                <a:solidFill>
                  <a:schemeClr val="tx1"/>
                </a:solidFill>
                <a:latin typeface="Courier New" panose="02070309020205020404" pitchFamily="49" charset="0"/>
                <a:cs typeface="Courier New" panose="02070309020205020404" pitchFamily="49" charset="0"/>
              </a:rPr>
              <a:t>args</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highlight>
                  <a:srgbClr val="FFFF00"/>
                </a:highlight>
                <a:latin typeface="Courier New" panose="02070309020205020404" pitchFamily="49" charset="0"/>
                <a:cs typeface="Courier New" panose="02070309020205020404" pitchFamily="49" charset="0"/>
              </a:rPr>
              <a:t>Cylinder obj = new Cylinder();</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30E3C24B-0BCA-4F57-BE1B-CCB448CDDDFC}"/>
              </a:ext>
            </a:extLst>
          </p:cNvPr>
          <p:cNvSpPr txBox="1"/>
          <p:nvPr/>
        </p:nvSpPr>
        <p:spPr>
          <a:xfrm>
            <a:off x="566669" y="2799008"/>
            <a:ext cx="2691685" cy="1323439"/>
          </a:xfrm>
          <a:prstGeom prst="rect">
            <a:avLst/>
          </a:prstGeom>
          <a:noFill/>
          <a:ln>
            <a:solidFill>
              <a:srgbClr val="C00000"/>
            </a:solidFill>
          </a:ln>
        </p:spPr>
        <p:txBody>
          <a:bodyPr wrap="square" rtlCol="0">
            <a:spAutoFit/>
          </a:bodyPr>
          <a:lstStyle/>
          <a:p>
            <a:r>
              <a:rPr lang="en-US" sz="2000" dirty="0"/>
              <a:t>An object of type Cylinder is created using the empty constructor</a:t>
            </a:r>
          </a:p>
        </p:txBody>
      </p:sp>
      <p:sp>
        <p:nvSpPr>
          <p:cNvPr id="7" name="Oval 6">
            <a:extLst>
              <a:ext uri="{FF2B5EF4-FFF2-40B4-BE49-F238E27FC236}">
                <a16:creationId xmlns:a16="http://schemas.microsoft.com/office/drawing/2014/main" id="{70785789-9A54-48D8-80BD-8B4CD0E1D1E5}"/>
              </a:ext>
            </a:extLst>
          </p:cNvPr>
          <p:cNvSpPr>
            <a:spLocks noChangeArrowheads="1"/>
          </p:cNvSpPr>
          <p:nvPr/>
        </p:nvSpPr>
        <p:spPr bwMode="auto">
          <a:xfrm>
            <a:off x="1536182" y="2144811"/>
            <a:ext cx="609600" cy="608013"/>
          </a:xfrm>
          <a:prstGeom prst="ellipse">
            <a:avLst/>
          </a:prstGeom>
          <a:solidFill>
            <a:srgbClr val="EEF5FE"/>
          </a:solidFill>
          <a:ln w="12700" algn="ctr">
            <a:solidFill>
              <a:schemeClr val="tx1"/>
            </a:solidFill>
            <a:round/>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a:t>1</a:t>
            </a:r>
          </a:p>
        </p:txBody>
      </p:sp>
      <p:cxnSp>
        <p:nvCxnSpPr>
          <p:cNvPr id="11" name="Straight Arrow Connector 10">
            <a:extLst>
              <a:ext uri="{FF2B5EF4-FFF2-40B4-BE49-F238E27FC236}">
                <a16:creationId xmlns:a16="http://schemas.microsoft.com/office/drawing/2014/main" id="{77752706-5875-46E7-A11D-0CB14FE30D78}"/>
              </a:ext>
            </a:extLst>
          </p:cNvPr>
          <p:cNvCxnSpPr/>
          <p:nvPr/>
        </p:nvCxnSpPr>
        <p:spPr>
          <a:xfrm>
            <a:off x="2197994" y="2562896"/>
            <a:ext cx="2099410" cy="144672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33122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5">
            <a:extLst>
              <a:ext uri="{FF2B5EF4-FFF2-40B4-BE49-F238E27FC236}">
                <a16:creationId xmlns:a16="http://schemas.microsoft.com/office/drawing/2014/main" id="{5055DAF2-844D-4CC7-AE9C-763A26E520C0}"/>
              </a:ext>
            </a:extLst>
          </p:cNvPr>
          <p:cNvSpPr txBox="1">
            <a:spLocks noChangeArrowheads="1"/>
          </p:cNvSpPr>
          <p:nvPr/>
        </p:nvSpPr>
        <p:spPr bwMode="auto">
          <a:xfrm>
            <a:off x="3817695" y="2830119"/>
            <a:ext cx="8374305" cy="1717393"/>
          </a:xfrm>
          <a:prstGeom prst="rect">
            <a:avLst/>
          </a:prstGeom>
          <a:solidFill>
            <a:schemeClr val="accent3">
              <a:lumMod val="60000"/>
              <a:lumOff val="40000"/>
            </a:schemeClr>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None/>
            </a:pPr>
            <a:r>
              <a:rPr lang="en-US" sz="2400" dirty="0">
                <a:solidFill>
                  <a:schemeClr val="bg1"/>
                </a:solidFill>
                <a:latin typeface="Courier New" panose="02070309020205020404" pitchFamily="49" charset="0"/>
                <a:cs typeface="Courier New" panose="02070309020205020404" pitchFamily="49" charset="0"/>
              </a:rPr>
              <a:t>class Point {</a:t>
            </a:r>
            <a:br>
              <a:rPr lang="en-US" sz="2400" dirty="0">
                <a:solidFill>
                  <a:schemeClr val="bg1"/>
                </a:solidFill>
                <a:latin typeface="Courier New" panose="02070309020205020404" pitchFamily="49" charset="0"/>
                <a:cs typeface="Courier New" panose="02070309020205020404" pitchFamily="49" charset="0"/>
              </a:rPr>
            </a:br>
            <a:r>
              <a:rPr lang="en-US" sz="2400" dirty="0">
                <a:solidFill>
                  <a:schemeClr val="bg1"/>
                </a:solidFill>
                <a:latin typeface="Courier New" panose="02070309020205020404" pitchFamily="49" charset="0"/>
                <a:cs typeface="Courier New" panose="02070309020205020404" pitchFamily="49" charset="0"/>
              </a:rPr>
              <a:t>Point(){</a:t>
            </a:r>
          </a:p>
          <a:p>
            <a:pPr>
              <a:buNone/>
            </a:pPr>
            <a:r>
              <a:rPr lang="en-US" sz="2400" dirty="0">
                <a:solidFill>
                  <a:srgbClr val="00B050"/>
                </a:solidFill>
                <a:highlight>
                  <a:srgbClr val="FFFF00"/>
                </a:highlight>
                <a:latin typeface="Courier New" panose="02070309020205020404" pitchFamily="49" charset="0"/>
                <a:cs typeface="Courier New" panose="02070309020205020404" pitchFamily="49" charset="0"/>
              </a:rPr>
              <a:t>System.out.print("Point Constructor ==&gt; " );</a:t>
            </a:r>
          </a:p>
          <a:p>
            <a:pPr>
              <a:buNone/>
            </a:pPr>
            <a:r>
              <a:rPr lang="en-US" sz="2400" dirty="0">
                <a:solidFill>
                  <a:schemeClr val="bg1"/>
                </a:solidFill>
                <a:latin typeface="Courier New" panose="02070309020205020404" pitchFamily="49" charset="0"/>
                <a:cs typeface="Courier New" panose="02070309020205020404" pitchFamily="49" charset="0"/>
              </a:rPr>
              <a:t>}}</a:t>
            </a:r>
            <a:endParaRPr lang="en-US" sz="2400" dirty="0">
              <a:solidFill>
                <a:schemeClr val="bg1"/>
              </a:solidFill>
              <a:effectLst/>
              <a:latin typeface="Courier New" panose="02070309020205020404" pitchFamily="49" charset="0"/>
              <a:cs typeface="Courier New" panose="02070309020205020404" pitchFamily="49" charset="0"/>
            </a:endParaRPr>
          </a:p>
        </p:txBody>
      </p:sp>
      <p:sp>
        <p:nvSpPr>
          <p:cNvPr id="2" name="Title 1">
            <a:extLst>
              <a:ext uri="{FF2B5EF4-FFF2-40B4-BE49-F238E27FC236}">
                <a16:creationId xmlns:a16="http://schemas.microsoft.com/office/drawing/2014/main" id="{41AC897F-9FFE-47BC-AEB9-330E2C379F79}"/>
              </a:ext>
            </a:extLst>
          </p:cNvPr>
          <p:cNvSpPr>
            <a:spLocks noGrp="1"/>
          </p:cNvSpPr>
          <p:nvPr>
            <p:ph type="title"/>
          </p:nvPr>
        </p:nvSpPr>
        <p:spPr/>
        <p:txBody>
          <a:bodyPr/>
          <a:lstStyle/>
          <a:p>
            <a:r>
              <a:rPr lang="en-US" altLang="en-US" dirty="0"/>
              <a:t>Constructor Chaining (Code Tracing)</a:t>
            </a:r>
            <a:endParaRPr lang="en-US" dirty="0"/>
          </a:p>
        </p:txBody>
      </p:sp>
      <p:sp>
        <p:nvSpPr>
          <p:cNvPr id="4" name="Footer Placeholder 3">
            <a:extLst>
              <a:ext uri="{FF2B5EF4-FFF2-40B4-BE49-F238E27FC236}">
                <a16:creationId xmlns:a16="http://schemas.microsoft.com/office/drawing/2014/main" id="{C92FAB6D-D7D1-45F5-91CE-C69A7AE37FE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30E3C24B-0BCA-4F57-BE1B-CCB448CDDDFC}"/>
              </a:ext>
            </a:extLst>
          </p:cNvPr>
          <p:cNvSpPr txBox="1"/>
          <p:nvPr/>
        </p:nvSpPr>
        <p:spPr>
          <a:xfrm>
            <a:off x="550947" y="3040095"/>
            <a:ext cx="2691685" cy="1323439"/>
          </a:xfrm>
          <a:prstGeom prst="rect">
            <a:avLst/>
          </a:prstGeom>
          <a:noFill/>
          <a:ln>
            <a:solidFill>
              <a:srgbClr val="C00000"/>
            </a:solidFill>
          </a:ln>
        </p:spPr>
        <p:txBody>
          <a:bodyPr wrap="square" rtlCol="0">
            <a:spAutoFit/>
          </a:bodyPr>
          <a:lstStyle/>
          <a:p>
            <a:r>
              <a:rPr lang="en-US" sz="2000" dirty="0"/>
              <a:t>The output statement of the </a:t>
            </a:r>
            <a:r>
              <a:rPr lang="en-US" sz="2000" b="1" dirty="0"/>
              <a:t>Point</a:t>
            </a:r>
            <a:r>
              <a:rPr lang="en-US" sz="2000" dirty="0"/>
              <a:t> class in the empty constructer is executed</a:t>
            </a:r>
          </a:p>
        </p:txBody>
      </p:sp>
      <p:sp>
        <p:nvSpPr>
          <p:cNvPr id="7" name="Oval 6">
            <a:extLst>
              <a:ext uri="{FF2B5EF4-FFF2-40B4-BE49-F238E27FC236}">
                <a16:creationId xmlns:a16="http://schemas.microsoft.com/office/drawing/2014/main" id="{70785789-9A54-48D8-80BD-8B4CD0E1D1E5}"/>
              </a:ext>
            </a:extLst>
          </p:cNvPr>
          <p:cNvSpPr>
            <a:spLocks noChangeArrowheads="1"/>
          </p:cNvSpPr>
          <p:nvPr/>
        </p:nvSpPr>
        <p:spPr bwMode="auto">
          <a:xfrm>
            <a:off x="1536182" y="2144811"/>
            <a:ext cx="609600" cy="608013"/>
          </a:xfrm>
          <a:prstGeom prst="ellipse">
            <a:avLst/>
          </a:prstGeom>
          <a:solidFill>
            <a:srgbClr val="7EB2E6"/>
          </a:solidFill>
          <a:ln w="12700" algn="ctr">
            <a:solidFill>
              <a:schemeClr val="tx1"/>
            </a:solidFill>
            <a:round/>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dirty="0">
                <a:solidFill>
                  <a:schemeClr val="bg1"/>
                </a:solidFill>
              </a:rPr>
              <a:t>2</a:t>
            </a:r>
          </a:p>
        </p:txBody>
      </p:sp>
      <p:cxnSp>
        <p:nvCxnSpPr>
          <p:cNvPr id="11" name="Straight Arrow Connector 10">
            <a:extLst>
              <a:ext uri="{FF2B5EF4-FFF2-40B4-BE49-F238E27FC236}">
                <a16:creationId xmlns:a16="http://schemas.microsoft.com/office/drawing/2014/main" id="{77752706-5875-46E7-A11D-0CB14FE30D78}"/>
              </a:ext>
            </a:extLst>
          </p:cNvPr>
          <p:cNvCxnSpPr>
            <a:cxnSpLocks/>
          </p:cNvCxnSpPr>
          <p:nvPr/>
        </p:nvCxnSpPr>
        <p:spPr>
          <a:xfrm>
            <a:off x="2197994" y="2562896"/>
            <a:ext cx="1738648" cy="12707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7">
            <a:extLst>
              <a:ext uri="{FF2B5EF4-FFF2-40B4-BE49-F238E27FC236}">
                <a16:creationId xmlns:a16="http://schemas.microsoft.com/office/drawing/2014/main" id="{9FEB2984-A99B-4AA5-B659-7EFCFD8D7AC7}"/>
              </a:ext>
            </a:extLst>
          </p:cNvPr>
          <p:cNvSpPr txBox="1">
            <a:spLocks noChangeArrowheads="1"/>
          </p:cNvSpPr>
          <p:nvPr/>
        </p:nvSpPr>
        <p:spPr bwMode="auto">
          <a:xfrm>
            <a:off x="893427" y="5258015"/>
            <a:ext cx="10405145" cy="707886"/>
          </a:xfrm>
          <a:prstGeom prst="rect">
            <a:avLst/>
          </a:prstGeom>
          <a:solidFill>
            <a:schemeClr val="bg1"/>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latin typeface="Courier New" panose="02070309020205020404" pitchFamily="49" charset="0"/>
                <a:cs typeface="Courier New" panose="02070309020205020404" pitchFamily="49" charset="0"/>
              </a:rPr>
              <a:t>Output:</a:t>
            </a:r>
          </a:p>
          <a:p>
            <a:pPr>
              <a:spcBef>
                <a:spcPct val="0"/>
              </a:spcBef>
              <a:buClrTx/>
              <a:buSzTx/>
              <a:buFontTx/>
              <a:buNone/>
            </a:pPr>
            <a:r>
              <a:rPr lang="en-US" altLang="en-US" sz="2000" dirty="0">
                <a:latin typeface="Courier New" panose="02070309020205020404" pitchFamily="49" charset="0"/>
                <a:cs typeface="Courier New" panose="02070309020205020404" pitchFamily="49" charset="0"/>
              </a:rPr>
              <a:t>Point Constructor ==&gt;</a:t>
            </a:r>
          </a:p>
        </p:txBody>
      </p:sp>
    </p:spTree>
    <p:extLst>
      <p:ext uri="{BB962C8B-B14F-4D97-AF65-F5344CB8AC3E}">
        <p14:creationId xmlns:p14="http://schemas.microsoft.com/office/powerpoint/2010/main" val="414951050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5">
            <a:extLst>
              <a:ext uri="{FF2B5EF4-FFF2-40B4-BE49-F238E27FC236}">
                <a16:creationId xmlns:a16="http://schemas.microsoft.com/office/drawing/2014/main" id="{5055DAF2-844D-4CC7-AE9C-763A26E520C0}"/>
              </a:ext>
            </a:extLst>
          </p:cNvPr>
          <p:cNvSpPr txBox="1">
            <a:spLocks noChangeArrowheads="1"/>
          </p:cNvSpPr>
          <p:nvPr/>
        </p:nvSpPr>
        <p:spPr bwMode="auto">
          <a:xfrm>
            <a:off x="3584621" y="2830119"/>
            <a:ext cx="8607380" cy="1791260"/>
          </a:xfrm>
          <a:prstGeom prst="rect">
            <a:avLst/>
          </a:prstGeom>
          <a:solidFill>
            <a:srgbClr val="4A8EF2"/>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None/>
            </a:pPr>
            <a:r>
              <a:rPr lang="en-US" sz="2400" dirty="0">
                <a:solidFill>
                  <a:schemeClr val="bg1"/>
                </a:solidFill>
                <a:latin typeface="Courier New" panose="02070309020205020404" pitchFamily="49" charset="0"/>
                <a:cs typeface="Courier New" panose="02070309020205020404" pitchFamily="49" charset="0"/>
              </a:rPr>
              <a:t>class Circle extends Point{</a:t>
            </a:r>
          </a:p>
          <a:p>
            <a:pPr>
              <a:buNone/>
            </a:pPr>
            <a:r>
              <a:rPr lang="en-US" sz="2400" dirty="0">
                <a:solidFill>
                  <a:schemeClr val="bg1"/>
                </a:solidFill>
                <a:latin typeface="Courier New" panose="02070309020205020404" pitchFamily="49" charset="0"/>
                <a:cs typeface="Courier New" panose="02070309020205020404" pitchFamily="49" charset="0"/>
              </a:rPr>
              <a:t>public Circle(){ </a:t>
            </a:r>
          </a:p>
          <a:p>
            <a:pPr>
              <a:buNone/>
            </a:pPr>
            <a:r>
              <a:rPr lang="en-US" altLang="en-US" sz="2400" dirty="0">
                <a:solidFill>
                  <a:schemeClr val="tx1">
                    <a:lumMod val="50000"/>
                    <a:lumOff val="50000"/>
                  </a:schemeClr>
                </a:solidFill>
                <a:highlight>
                  <a:srgbClr val="FFFF00"/>
                </a:highlight>
                <a:latin typeface="Courier New" panose="02070309020205020404" pitchFamily="49" charset="0"/>
                <a:cs typeface="Courier New" panose="02070309020205020404" pitchFamily="49" charset="0"/>
              </a:rPr>
              <a:t> System.out.print("Circle Constructor ==&gt; " );</a:t>
            </a:r>
          </a:p>
          <a:p>
            <a:pPr>
              <a:buNone/>
            </a:pPr>
            <a:r>
              <a:rPr lang="en-US" sz="2400" dirty="0">
                <a:solidFill>
                  <a:schemeClr val="bg1"/>
                </a:solidFill>
                <a:latin typeface="Courier New" panose="02070309020205020404" pitchFamily="49" charset="0"/>
                <a:cs typeface="Courier New" panose="02070309020205020404" pitchFamily="49" charset="0"/>
              </a:rPr>
              <a:t>} }</a:t>
            </a:r>
          </a:p>
        </p:txBody>
      </p:sp>
      <p:sp>
        <p:nvSpPr>
          <p:cNvPr id="2" name="Title 1">
            <a:extLst>
              <a:ext uri="{FF2B5EF4-FFF2-40B4-BE49-F238E27FC236}">
                <a16:creationId xmlns:a16="http://schemas.microsoft.com/office/drawing/2014/main" id="{41AC897F-9FFE-47BC-AEB9-330E2C379F79}"/>
              </a:ext>
            </a:extLst>
          </p:cNvPr>
          <p:cNvSpPr>
            <a:spLocks noGrp="1"/>
          </p:cNvSpPr>
          <p:nvPr>
            <p:ph type="title"/>
          </p:nvPr>
        </p:nvSpPr>
        <p:spPr/>
        <p:txBody>
          <a:bodyPr/>
          <a:lstStyle/>
          <a:p>
            <a:r>
              <a:rPr lang="en-US" altLang="en-US" dirty="0"/>
              <a:t>Constructor Chaining (Code Tracing)</a:t>
            </a:r>
            <a:endParaRPr lang="en-US" dirty="0"/>
          </a:p>
        </p:txBody>
      </p:sp>
      <p:sp>
        <p:nvSpPr>
          <p:cNvPr id="4" name="Footer Placeholder 3">
            <a:extLst>
              <a:ext uri="{FF2B5EF4-FFF2-40B4-BE49-F238E27FC236}">
                <a16:creationId xmlns:a16="http://schemas.microsoft.com/office/drawing/2014/main" id="{C92FAB6D-D7D1-45F5-91CE-C69A7AE37FE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30E3C24B-0BCA-4F57-BE1B-CCB448CDDDFC}"/>
              </a:ext>
            </a:extLst>
          </p:cNvPr>
          <p:cNvSpPr txBox="1"/>
          <p:nvPr/>
        </p:nvSpPr>
        <p:spPr>
          <a:xfrm>
            <a:off x="550947" y="3040095"/>
            <a:ext cx="2691685" cy="1323439"/>
          </a:xfrm>
          <a:prstGeom prst="rect">
            <a:avLst/>
          </a:prstGeom>
          <a:noFill/>
          <a:ln>
            <a:solidFill>
              <a:srgbClr val="C00000"/>
            </a:solidFill>
          </a:ln>
        </p:spPr>
        <p:txBody>
          <a:bodyPr wrap="square" rtlCol="0">
            <a:spAutoFit/>
          </a:bodyPr>
          <a:lstStyle/>
          <a:p>
            <a:r>
              <a:rPr lang="en-US" sz="2000" dirty="0"/>
              <a:t>The output statement of the </a:t>
            </a:r>
            <a:r>
              <a:rPr lang="en-US" sz="2000" b="1" dirty="0"/>
              <a:t>Circle</a:t>
            </a:r>
            <a:r>
              <a:rPr lang="en-US" sz="2000" dirty="0"/>
              <a:t> class in the empty constructer is executed</a:t>
            </a:r>
          </a:p>
        </p:txBody>
      </p:sp>
      <p:sp>
        <p:nvSpPr>
          <p:cNvPr id="7" name="Oval 6">
            <a:extLst>
              <a:ext uri="{FF2B5EF4-FFF2-40B4-BE49-F238E27FC236}">
                <a16:creationId xmlns:a16="http://schemas.microsoft.com/office/drawing/2014/main" id="{70785789-9A54-48D8-80BD-8B4CD0E1D1E5}"/>
              </a:ext>
            </a:extLst>
          </p:cNvPr>
          <p:cNvSpPr>
            <a:spLocks noChangeArrowheads="1"/>
          </p:cNvSpPr>
          <p:nvPr/>
        </p:nvSpPr>
        <p:spPr bwMode="auto">
          <a:xfrm>
            <a:off x="1536182" y="2144811"/>
            <a:ext cx="609600" cy="608013"/>
          </a:xfrm>
          <a:prstGeom prst="ellipse">
            <a:avLst/>
          </a:prstGeom>
          <a:solidFill>
            <a:srgbClr val="4A8EF2"/>
          </a:solidFill>
          <a:ln w="12700" algn="ctr">
            <a:solidFill>
              <a:schemeClr val="tx1"/>
            </a:solidFill>
            <a:round/>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dirty="0">
                <a:solidFill>
                  <a:schemeClr val="bg1"/>
                </a:solidFill>
              </a:rPr>
              <a:t>3</a:t>
            </a:r>
          </a:p>
        </p:txBody>
      </p:sp>
      <p:cxnSp>
        <p:nvCxnSpPr>
          <p:cNvPr id="11" name="Straight Arrow Connector 10">
            <a:extLst>
              <a:ext uri="{FF2B5EF4-FFF2-40B4-BE49-F238E27FC236}">
                <a16:creationId xmlns:a16="http://schemas.microsoft.com/office/drawing/2014/main" id="{77752706-5875-46E7-A11D-0CB14FE30D78}"/>
              </a:ext>
            </a:extLst>
          </p:cNvPr>
          <p:cNvCxnSpPr>
            <a:cxnSpLocks/>
          </p:cNvCxnSpPr>
          <p:nvPr/>
        </p:nvCxnSpPr>
        <p:spPr>
          <a:xfrm>
            <a:off x="2197994" y="2562896"/>
            <a:ext cx="1738648" cy="12707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7">
            <a:extLst>
              <a:ext uri="{FF2B5EF4-FFF2-40B4-BE49-F238E27FC236}">
                <a16:creationId xmlns:a16="http://schemas.microsoft.com/office/drawing/2014/main" id="{9FEB2984-A99B-4AA5-B659-7EFCFD8D7AC7}"/>
              </a:ext>
            </a:extLst>
          </p:cNvPr>
          <p:cNvSpPr txBox="1">
            <a:spLocks noChangeArrowheads="1"/>
          </p:cNvSpPr>
          <p:nvPr/>
        </p:nvSpPr>
        <p:spPr bwMode="auto">
          <a:xfrm>
            <a:off x="893427" y="5258015"/>
            <a:ext cx="10405145" cy="707886"/>
          </a:xfrm>
          <a:prstGeom prst="rect">
            <a:avLst/>
          </a:prstGeom>
          <a:solidFill>
            <a:schemeClr val="bg1"/>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latin typeface="Courier New" panose="02070309020205020404" pitchFamily="49" charset="0"/>
                <a:cs typeface="Courier New" panose="02070309020205020404" pitchFamily="49" charset="0"/>
              </a:rPr>
              <a:t>Output:</a:t>
            </a:r>
          </a:p>
          <a:p>
            <a:pPr>
              <a:spcBef>
                <a:spcPct val="0"/>
              </a:spcBef>
              <a:buClrTx/>
              <a:buSzTx/>
              <a:buFontTx/>
              <a:buNone/>
            </a:pPr>
            <a:r>
              <a:rPr lang="en-US" altLang="en-US" sz="2000" dirty="0">
                <a:latin typeface="Courier New" panose="02070309020205020404" pitchFamily="49" charset="0"/>
                <a:cs typeface="Courier New" panose="02070309020205020404" pitchFamily="49" charset="0"/>
              </a:rPr>
              <a:t>Point Constructor ==&gt; Circle Constructor ==&gt;  </a:t>
            </a:r>
          </a:p>
        </p:txBody>
      </p:sp>
    </p:spTree>
    <p:extLst>
      <p:ext uri="{BB962C8B-B14F-4D97-AF65-F5344CB8AC3E}">
        <p14:creationId xmlns:p14="http://schemas.microsoft.com/office/powerpoint/2010/main" val="661517368"/>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5">
            <a:extLst>
              <a:ext uri="{FF2B5EF4-FFF2-40B4-BE49-F238E27FC236}">
                <a16:creationId xmlns:a16="http://schemas.microsoft.com/office/drawing/2014/main" id="{5055DAF2-844D-4CC7-AE9C-763A26E520C0}"/>
              </a:ext>
            </a:extLst>
          </p:cNvPr>
          <p:cNvSpPr txBox="1">
            <a:spLocks noChangeArrowheads="1"/>
          </p:cNvSpPr>
          <p:nvPr/>
        </p:nvSpPr>
        <p:spPr bwMode="auto">
          <a:xfrm>
            <a:off x="3242632" y="2830119"/>
            <a:ext cx="8949369" cy="1791260"/>
          </a:xfrm>
          <a:prstGeom prst="rect">
            <a:avLst/>
          </a:prstGeom>
          <a:solidFill>
            <a:srgbClr val="1F5FA0"/>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None/>
            </a:pPr>
            <a:r>
              <a:rPr lang="en-US" sz="2400" dirty="0">
                <a:solidFill>
                  <a:schemeClr val="bg1"/>
                </a:solidFill>
                <a:latin typeface="Courier New" panose="02070309020205020404" pitchFamily="49" charset="0"/>
                <a:cs typeface="Courier New" panose="02070309020205020404" pitchFamily="49" charset="0"/>
              </a:rPr>
              <a:t>class Cylinder extends Circle {</a:t>
            </a:r>
          </a:p>
          <a:p>
            <a:pPr>
              <a:buNone/>
            </a:pPr>
            <a:r>
              <a:rPr lang="en-US" sz="2400" dirty="0">
                <a:solidFill>
                  <a:schemeClr val="bg1"/>
                </a:solidFill>
                <a:latin typeface="Courier New" panose="02070309020205020404" pitchFamily="49" charset="0"/>
                <a:cs typeface="Courier New" panose="02070309020205020404" pitchFamily="49" charset="0"/>
              </a:rPr>
              <a:t>public Cylinder(){ </a:t>
            </a:r>
          </a:p>
          <a:p>
            <a:pPr>
              <a:buNone/>
            </a:pPr>
            <a:r>
              <a:rPr lang="en-US" altLang="en-US" sz="2400" dirty="0">
                <a:solidFill>
                  <a:schemeClr val="tx1">
                    <a:lumMod val="50000"/>
                    <a:lumOff val="50000"/>
                  </a:schemeClr>
                </a:solidFill>
                <a:highlight>
                  <a:srgbClr val="FFFF00"/>
                </a:highlight>
                <a:latin typeface="Courier New" panose="02070309020205020404" pitchFamily="49" charset="0"/>
                <a:cs typeface="Courier New" panose="02070309020205020404" pitchFamily="49" charset="0"/>
              </a:rPr>
              <a:t> System.out.print(“Cylinder Constructor ==&gt; " );</a:t>
            </a:r>
          </a:p>
          <a:p>
            <a:pPr>
              <a:buNone/>
            </a:pPr>
            <a:r>
              <a:rPr lang="en-US" sz="2400" dirty="0">
                <a:solidFill>
                  <a:schemeClr val="bg1"/>
                </a:solidFill>
                <a:latin typeface="Courier New" panose="02070309020205020404" pitchFamily="49" charset="0"/>
                <a:cs typeface="Courier New" panose="02070309020205020404" pitchFamily="49" charset="0"/>
              </a:rPr>
              <a:t>} }</a:t>
            </a:r>
          </a:p>
        </p:txBody>
      </p:sp>
      <p:sp>
        <p:nvSpPr>
          <p:cNvPr id="2" name="Title 1">
            <a:extLst>
              <a:ext uri="{FF2B5EF4-FFF2-40B4-BE49-F238E27FC236}">
                <a16:creationId xmlns:a16="http://schemas.microsoft.com/office/drawing/2014/main" id="{41AC897F-9FFE-47BC-AEB9-330E2C379F79}"/>
              </a:ext>
            </a:extLst>
          </p:cNvPr>
          <p:cNvSpPr>
            <a:spLocks noGrp="1"/>
          </p:cNvSpPr>
          <p:nvPr>
            <p:ph type="title"/>
          </p:nvPr>
        </p:nvSpPr>
        <p:spPr/>
        <p:txBody>
          <a:bodyPr/>
          <a:lstStyle/>
          <a:p>
            <a:r>
              <a:rPr lang="en-US" altLang="en-US" dirty="0"/>
              <a:t>Constructor Chaining (Code Tracing)</a:t>
            </a:r>
            <a:endParaRPr lang="en-US" dirty="0"/>
          </a:p>
        </p:txBody>
      </p:sp>
      <p:sp>
        <p:nvSpPr>
          <p:cNvPr id="4" name="Footer Placeholder 3">
            <a:extLst>
              <a:ext uri="{FF2B5EF4-FFF2-40B4-BE49-F238E27FC236}">
                <a16:creationId xmlns:a16="http://schemas.microsoft.com/office/drawing/2014/main" id="{C92FAB6D-D7D1-45F5-91CE-C69A7AE37FE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30E3C24B-0BCA-4F57-BE1B-CCB448CDDDFC}"/>
              </a:ext>
            </a:extLst>
          </p:cNvPr>
          <p:cNvSpPr txBox="1"/>
          <p:nvPr/>
        </p:nvSpPr>
        <p:spPr>
          <a:xfrm>
            <a:off x="141668" y="3040095"/>
            <a:ext cx="2821919" cy="1323439"/>
          </a:xfrm>
          <a:prstGeom prst="rect">
            <a:avLst/>
          </a:prstGeom>
          <a:noFill/>
          <a:ln>
            <a:solidFill>
              <a:srgbClr val="C00000"/>
            </a:solidFill>
          </a:ln>
        </p:spPr>
        <p:txBody>
          <a:bodyPr wrap="square" rtlCol="0">
            <a:spAutoFit/>
          </a:bodyPr>
          <a:lstStyle/>
          <a:p>
            <a:r>
              <a:rPr lang="en-US" sz="2000" dirty="0"/>
              <a:t>The output statement of the </a:t>
            </a:r>
            <a:r>
              <a:rPr lang="en-US" sz="2000" b="1" dirty="0"/>
              <a:t>Cylinder</a:t>
            </a:r>
            <a:r>
              <a:rPr lang="en-US" sz="2000" dirty="0"/>
              <a:t> class in the empty constructer is executed</a:t>
            </a:r>
          </a:p>
        </p:txBody>
      </p:sp>
      <p:sp>
        <p:nvSpPr>
          <p:cNvPr id="7" name="Oval 6">
            <a:extLst>
              <a:ext uri="{FF2B5EF4-FFF2-40B4-BE49-F238E27FC236}">
                <a16:creationId xmlns:a16="http://schemas.microsoft.com/office/drawing/2014/main" id="{70785789-9A54-48D8-80BD-8B4CD0E1D1E5}"/>
              </a:ext>
            </a:extLst>
          </p:cNvPr>
          <p:cNvSpPr>
            <a:spLocks noChangeArrowheads="1"/>
          </p:cNvSpPr>
          <p:nvPr/>
        </p:nvSpPr>
        <p:spPr bwMode="auto">
          <a:xfrm>
            <a:off x="1536182" y="2144811"/>
            <a:ext cx="609600" cy="608013"/>
          </a:xfrm>
          <a:prstGeom prst="ellipse">
            <a:avLst/>
          </a:prstGeom>
          <a:solidFill>
            <a:srgbClr val="1F5FA0"/>
          </a:solidFill>
          <a:ln w="12700" algn="ctr">
            <a:solidFill>
              <a:schemeClr val="tx1"/>
            </a:solidFill>
            <a:round/>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dirty="0">
                <a:solidFill>
                  <a:schemeClr val="bg1"/>
                </a:solidFill>
              </a:rPr>
              <a:t>4</a:t>
            </a:r>
          </a:p>
        </p:txBody>
      </p:sp>
      <p:cxnSp>
        <p:nvCxnSpPr>
          <p:cNvPr id="11" name="Straight Arrow Connector 10">
            <a:extLst>
              <a:ext uri="{FF2B5EF4-FFF2-40B4-BE49-F238E27FC236}">
                <a16:creationId xmlns:a16="http://schemas.microsoft.com/office/drawing/2014/main" id="{77752706-5875-46E7-A11D-0CB14FE30D78}"/>
              </a:ext>
            </a:extLst>
          </p:cNvPr>
          <p:cNvCxnSpPr>
            <a:cxnSpLocks/>
          </p:cNvCxnSpPr>
          <p:nvPr/>
        </p:nvCxnSpPr>
        <p:spPr>
          <a:xfrm>
            <a:off x="2197994" y="2562896"/>
            <a:ext cx="1738648" cy="12707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7">
            <a:extLst>
              <a:ext uri="{FF2B5EF4-FFF2-40B4-BE49-F238E27FC236}">
                <a16:creationId xmlns:a16="http://schemas.microsoft.com/office/drawing/2014/main" id="{9FEB2984-A99B-4AA5-B659-7EFCFD8D7AC7}"/>
              </a:ext>
            </a:extLst>
          </p:cNvPr>
          <p:cNvSpPr txBox="1">
            <a:spLocks noChangeArrowheads="1"/>
          </p:cNvSpPr>
          <p:nvPr/>
        </p:nvSpPr>
        <p:spPr bwMode="auto">
          <a:xfrm>
            <a:off x="893427" y="5258015"/>
            <a:ext cx="10405145" cy="707886"/>
          </a:xfrm>
          <a:prstGeom prst="rect">
            <a:avLst/>
          </a:prstGeom>
          <a:solidFill>
            <a:schemeClr val="bg1"/>
          </a:solidFill>
          <a:ln w="9525">
            <a:solidFill>
              <a:schemeClr val="tx1"/>
            </a:solidFill>
            <a:miter lim="800000"/>
            <a:headEnd/>
            <a:tailEnd/>
          </a:ln>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latin typeface="Courier New" panose="02070309020205020404" pitchFamily="49" charset="0"/>
                <a:cs typeface="Courier New" panose="02070309020205020404" pitchFamily="49" charset="0"/>
              </a:rPr>
              <a:t>Output:</a:t>
            </a:r>
          </a:p>
          <a:p>
            <a:pPr>
              <a:spcBef>
                <a:spcPct val="0"/>
              </a:spcBef>
              <a:buClrTx/>
              <a:buSzTx/>
              <a:buFontTx/>
              <a:buNone/>
            </a:pPr>
            <a:r>
              <a:rPr lang="en-US" altLang="en-US" sz="2000" dirty="0">
                <a:latin typeface="Courier New" panose="02070309020205020404" pitchFamily="49" charset="0"/>
                <a:cs typeface="Courier New" panose="02070309020205020404" pitchFamily="49" charset="0"/>
              </a:rPr>
              <a:t>Point Constructor ==&gt; Circle Constructor ==&gt; Cylinder Constructor.  </a:t>
            </a:r>
          </a:p>
        </p:txBody>
      </p:sp>
    </p:spTree>
    <p:extLst>
      <p:ext uri="{BB962C8B-B14F-4D97-AF65-F5344CB8AC3E}">
        <p14:creationId xmlns:p14="http://schemas.microsoft.com/office/powerpoint/2010/main" val="396406714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EB18-C596-CBF2-965B-5090A3F76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D2F21-3C44-1143-4AAF-AAC6EF017887}"/>
              </a:ext>
            </a:extLst>
          </p:cNvPr>
          <p:cNvSpPr>
            <a:spLocks noGrp="1"/>
          </p:cNvSpPr>
          <p:nvPr>
            <p:ph type="title"/>
          </p:nvPr>
        </p:nvSpPr>
        <p:spPr>
          <a:xfrm>
            <a:off x="348791" y="286603"/>
            <a:ext cx="11481847" cy="1450757"/>
          </a:xfrm>
        </p:spPr>
        <p:txBody>
          <a:bodyPr/>
          <a:lstStyle/>
          <a:p>
            <a:pPr algn="l"/>
            <a:r>
              <a:rPr lang="en-US" altLang="en-US" dirty="0"/>
              <a:t>The </a:t>
            </a:r>
            <a:r>
              <a:rPr lang="en-US" altLang="en-US" sz="4800" dirty="0"/>
              <a:t>protected</a:t>
            </a:r>
            <a:r>
              <a:rPr lang="en-US" altLang="en-US" dirty="0"/>
              <a:t> Modifier</a:t>
            </a:r>
            <a:endParaRPr lang="en-US" i="0" dirty="0">
              <a:effectLst/>
            </a:endParaRPr>
          </a:p>
        </p:txBody>
      </p:sp>
      <p:sp>
        <p:nvSpPr>
          <p:cNvPr id="4" name="Footer Placeholder 3">
            <a:extLst>
              <a:ext uri="{FF2B5EF4-FFF2-40B4-BE49-F238E27FC236}">
                <a16:creationId xmlns:a16="http://schemas.microsoft.com/office/drawing/2014/main" id="{BDAA0D75-A4D2-20D9-38A1-2CBB8069BF4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384B549-3A8D-7D83-5516-66063933EBCD}"/>
              </a:ext>
            </a:extLst>
          </p:cNvPr>
          <p:cNvSpPr>
            <a:spLocks noGrp="1"/>
          </p:cNvSpPr>
          <p:nvPr>
            <p:ph idx="1"/>
          </p:nvPr>
        </p:nvSpPr>
        <p:spPr/>
        <p:txBody>
          <a:bodyPr>
            <a:normAutofit/>
          </a:bodyPr>
          <a:lstStyle/>
          <a:p>
            <a:pPr>
              <a:lnSpc>
                <a:spcPct val="90000"/>
              </a:lnSpc>
              <a:spcAft>
                <a:spcPts val="1200"/>
              </a:spcAft>
            </a:pPr>
            <a:r>
              <a:rPr lang="en-US" altLang="en-US" sz="2400" dirty="0"/>
              <a:t>The </a:t>
            </a:r>
            <a:r>
              <a:rPr lang="en-US" altLang="en-US" sz="2400" b="1" dirty="0"/>
              <a:t>protected</a:t>
            </a:r>
            <a:r>
              <a:rPr lang="en-US" altLang="en-US" sz="2400" dirty="0"/>
              <a:t> modifier can be applied on data and methods in a class. A protected data or a protected method in a public class can be accessed by any class in the same package or its subclasses, even if the subclasses are in a different package.</a:t>
            </a:r>
            <a:r>
              <a:rPr lang="en-US" altLang="en-US" dirty="0"/>
              <a:t> </a:t>
            </a:r>
          </a:p>
          <a:p>
            <a:pPr>
              <a:lnSpc>
                <a:spcPct val="90000"/>
              </a:lnSpc>
              <a:spcAft>
                <a:spcPts val="1200"/>
              </a:spcAft>
            </a:pPr>
            <a:r>
              <a:rPr lang="en-US" altLang="en-US" dirty="0"/>
              <a:t>Access modifiers: </a:t>
            </a:r>
            <a:r>
              <a:rPr lang="en-US" altLang="en-US" b="1" dirty="0"/>
              <a:t>private, default, </a:t>
            </a:r>
            <a:r>
              <a:rPr lang="en-US" altLang="en-US" b="1" dirty="0">
                <a:solidFill>
                  <a:srgbClr val="C00000"/>
                </a:solidFill>
              </a:rPr>
              <a:t>protected </a:t>
            </a:r>
            <a:r>
              <a:rPr lang="en-US" altLang="en-US" b="1" dirty="0"/>
              <a:t>and public.</a:t>
            </a:r>
          </a:p>
        </p:txBody>
      </p:sp>
      <p:sp>
        <p:nvSpPr>
          <p:cNvPr id="8" name="Rectangle 3">
            <a:extLst>
              <a:ext uri="{FF2B5EF4-FFF2-40B4-BE49-F238E27FC236}">
                <a16:creationId xmlns:a16="http://schemas.microsoft.com/office/drawing/2014/main" id="{BE8C1C44-DC32-CE9F-FDD7-F6BE559CD9A6}"/>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9308520"/>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6644-5EAD-3DDF-4892-402CB8A9C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7A2F3-A91A-568A-A186-26EA99938E86}"/>
              </a:ext>
            </a:extLst>
          </p:cNvPr>
          <p:cNvSpPr>
            <a:spLocks noGrp="1"/>
          </p:cNvSpPr>
          <p:nvPr>
            <p:ph type="title"/>
          </p:nvPr>
        </p:nvSpPr>
        <p:spPr>
          <a:xfrm>
            <a:off x="348791" y="286603"/>
            <a:ext cx="11481847" cy="1450757"/>
          </a:xfrm>
        </p:spPr>
        <p:txBody>
          <a:bodyPr/>
          <a:lstStyle/>
          <a:p>
            <a:pPr algn="l"/>
            <a:r>
              <a:rPr lang="en-US" altLang="en-US" dirty="0"/>
              <a:t>Access Modifiers Summary</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617734B4-4ABA-43A9-183A-EF48E4BBFC3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Content Placeholder 4">
            <a:extLst>
              <a:ext uri="{FF2B5EF4-FFF2-40B4-BE49-F238E27FC236}">
                <a16:creationId xmlns:a16="http://schemas.microsoft.com/office/drawing/2014/main" id="{94FC14A8-0685-8125-8571-4AEDAFEF2BF6}"/>
              </a:ext>
            </a:extLst>
          </p:cNvPr>
          <p:cNvPicPr>
            <a:picLocks noGrp="1" noChangeAspect="1"/>
          </p:cNvPicPr>
          <p:nvPr>
            <p:ph idx="1"/>
          </p:nvPr>
        </p:nvPicPr>
        <p:blipFill>
          <a:blip r:embed="rId2">
            <a:duotone>
              <a:prstClr val="black"/>
              <a:schemeClr val="accent3">
                <a:tint val="45000"/>
                <a:satMod val="400000"/>
              </a:schemeClr>
            </a:duotone>
          </a:blip>
          <a:stretch>
            <a:fillRect/>
          </a:stretch>
        </p:blipFill>
        <p:spPr>
          <a:xfrm>
            <a:off x="983771" y="1710314"/>
            <a:ext cx="10211886" cy="4530027"/>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3">
            <a:extLst>
              <a:ext uri="{FF2B5EF4-FFF2-40B4-BE49-F238E27FC236}">
                <a16:creationId xmlns:a16="http://schemas.microsoft.com/office/drawing/2014/main" id="{269623C7-D017-0B24-A7E5-0F98FD614295}"/>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177735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42ACB-26F5-67B3-A519-166A8179D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FDDD5-5C50-0F2D-529D-406CAEC7B763}"/>
              </a:ext>
            </a:extLst>
          </p:cNvPr>
          <p:cNvSpPr>
            <a:spLocks noGrp="1"/>
          </p:cNvSpPr>
          <p:nvPr>
            <p:ph type="title"/>
          </p:nvPr>
        </p:nvSpPr>
        <p:spPr>
          <a:xfrm>
            <a:off x="348791" y="286603"/>
            <a:ext cx="11481847" cy="1450757"/>
          </a:xfrm>
        </p:spPr>
        <p:txBody>
          <a:bodyPr/>
          <a:lstStyle/>
          <a:p>
            <a:r>
              <a:rPr lang="en-US" altLang="en-US" dirty="0"/>
              <a:t>Access Modifiers Summary</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4D9D2CC3-3768-AA6A-3752-6E6430575E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BC223B9D-641D-1A4A-7B93-042CB0BF751D}"/>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55217A04-9A79-1BA0-D2F0-1A38498A2980}"/>
              </a:ext>
            </a:extLst>
          </p:cNvPr>
          <p:cNvPicPr>
            <a:picLocks noChangeAspect="1"/>
          </p:cNvPicPr>
          <p:nvPr/>
        </p:nvPicPr>
        <p:blipFill>
          <a:blip r:embed="rId2"/>
          <a:stretch>
            <a:fillRect/>
          </a:stretch>
        </p:blipFill>
        <p:spPr>
          <a:xfrm>
            <a:off x="446997" y="1682838"/>
            <a:ext cx="11285433" cy="5032094"/>
          </a:xfrm>
          <a:prstGeom prst="rect">
            <a:avLst/>
          </a:prstGeom>
        </p:spPr>
      </p:pic>
    </p:spTree>
    <p:extLst>
      <p:ext uri="{BB962C8B-B14F-4D97-AF65-F5344CB8AC3E}">
        <p14:creationId xmlns:p14="http://schemas.microsoft.com/office/powerpoint/2010/main" val="125042849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48A39-43BA-E43A-2114-E82DAB0AE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B0E89-2E31-6564-F323-DCED3B4ACB8E}"/>
              </a:ext>
            </a:extLst>
          </p:cNvPr>
          <p:cNvSpPr>
            <a:spLocks noGrp="1"/>
          </p:cNvSpPr>
          <p:nvPr>
            <p:ph type="title"/>
          </p:nvPr>
        </p:nvSpPr>
        <p:spPr>
          <a:xfrm>
            <a:off x="348791" y="108737"/>
            <a:ext cx="11481847" cy="1838678"/>
          </a:xfrm>
        </p:spPr>
        <p:txBody>
          <a:bodyPr>
            <a:normAutofit/>
          </a:bodyPr>
          <a:lstStyle/>
          <a:p>
            <a:r>
              <a:rPr lang="en-US" i="0" dirty="0">
                <a:effectLst/>
                <a:latin typeface="__Source_Sans_Pro_fa6df0"/>
              </a:rPr>
              <a:t>Exercise</a:t>
            </a:r>
            <a:r>
              <a:rPr lang="en-US" dirty="0">
                <a:latin typeface="__Source_Sans_Pro_fa6df0"/>
              </a:rPr>
              <a:t>: Design the following classes and write the given methods:</a:t>
            </a:r>
            <a:br>
              <a:rPr lang="en-GB" sz="900" dirty="0">
                <a:solidFill>
                  <a:srgbClr val="000099"/>
                </a:solidFill>
                <a:cs typeface="Times New Roman" pitchFamily="18" charset="0"/>
              </a:rPr>
            </a:b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5237A223-8520-2366-A0EC-225E4E38BB5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9A4D141E-97FD-E786-E35C-7560952A5A33}"/>
              </a:ext>
            </a:extLst>
          </p:cNvPr>
          <p:cNvSpPr>
            <a:spLocks noChangeArrowheads="1"/>
          </p:cNvSpPr>
          <p:nvPr/>
        </p:nvSpPr>
        <p:spPr bwMode="auto">
          <a:xfrm>
            <a:off x="618836" y="750493"/>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32" name="Group 31">
            <a:extLst>
              <a:ext uri="{FF2B5EF4-FFF2-40B4-BE49-F238E27FC236}">
                <a16:creationId xmlns:a16="http://schemas.microsoft.com/office/drawing/2014/main" id="{D88663CD-A8B3-F30D-8710-0B9D3E8D3233}"/>
              </a:ext>
            </a:extLst>
          </p:cNvPr>
          <p:cNvGrpSpPr/>
          <p:nvPr/>
        </p:nvGrpSpPr>
        <p:grpSpPr>
          <a:xfrm>
            <a:off x="2476192" y="1856489"/>
            <a:ext cx="6072230" cy="4714908"/>
            <a:chOff x="357158" y="1285860"/>
            <a:chExt cx="5018935" cy="4714908"/>
          </a:xfrm>
        </p:grpSpPr>
        <p:pic>
          <p:nvPicPr>
            <p:cNvPr id="33" name="Picture 2">
              <a:extLst>
                <a:ext uri="{FF2B5EF4-FFF2-40B4-BE49-F238E27FC236}">
                  <a16:creationId xmlns:a16="http://schemas.microsoft.com/office/drawing/2014/main" id="{0B442A11-DA13-7A5C-EA15-865579F0F0E3}"/>
                </a:ext>
              </a:extLst>
            </p:cNvPr>
            <p:cNvPicPr>
              <a:picLocks noChangeAspect="1" noChangeArrowheads="1"/>
            </p:cNvPicPr>
            <p:nvPr/>
          </p:nvPicPr>
          <p:blipFill>
            <a:blip r:embed="rId2"/>
            <a:srcRect/>
            <a:stretch>
              <a:fillRect/>
            </a:stretch>
          </p:blipFill>
          <p:spPr bwMode="auto">
            <a:xfrm>
              <a:off x="357158" y="1285860"/>
              <a:ext cx="5018935" cy="4714908"/>
            </a:xfrm>
            <a:prstGeom prst="rect">
              <a:avLst/>
            </a:prstGeom>
            <a:noFill/>
            <a:ln w="9525">
              <a:noFill/>
              <a:miter lim="800000"/>
              <a:headEnd/>
              <a:tailEnd/>
            </a:ln>
            <a:effectLst/>
          </p:spPr>
        </p:pic>
        <p:cxnSp>
          <p:nvCxnSpPr>
            <p:cNvPr id="34" name="Straight Connector 33">
              <a:extLst>
                <a:ext uri="{FF2B5EF4-FFF2-40B4-BE49-F238E27FC236}">
                  <a16:creationId xmlns:a16="http://schemas.microsoft.com/office/drawing/2014/main" id="{BB539C45-A38D-70FB-C269-F64254E21741}"/>
                </a:ext>
              </a:extLst>
            </p:cNvPr>
            <p:cNvCxnSpPr/>
            <p:nvPr/>
          </p:nvCxnSpPr>
          <p:spPr>
            <a:xfrm>
              <a:off x="1892362" y="1714488"/>
              <a:ext cx="217957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F9C102F-4657-48CA-DE07-A9434A574C73}"/>
                </a:ext>
              </a:extLst>
            </p:cNvPr>
            <p:cNvCxnSpPr/>
            <p:nvPr/>
          </p:nvCxnSpPr>
          <p:spPr>
            <a:xfrm>
              <a:off x="1892362" y="2428868"/>
              <a:ext cx="217957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BE5C593-539B-12F3-6E5F-15A73214EAA7}"/>
                </a:ext>
              </a:extLst>
            </p:cNvPr>
            <p:cNvCxnSpPr/>
            <p:nvPr/>
          </p:nvCxnSpPr>
          <p:spPr>
            <a:xfrm>
              <a:off x="3071802" y="4286256"/>
              <a:ext cx="218619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ED9939D-59D0-0275-F599-105918818A18}"/>
                </a:ext>
              </a:extLst>
            </p:cNvPr>
            <p:cNvCxnSpPr/>
            <p:nvPr/>
          </p:nvCxnSpPr>
          <p:spPr>
            <a:xfrm>
              <a:off x="428596" y="4286256"/>
              <a:ext cx="221457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DFAE4C1-7F04-C92D-7477-E8A0A9F3CD64}"/>
                </a:ext>
              </a:extLst>
            </p:cNvPr>
            <p:cNvCxnSpPr/>
            <p:nvPr/>
          </p:nvCxnSpPr>
          <p:spPr>
            <a:xfrm>
              <a:off x="428596" y="4572008"/>
              <a:ext cx="221457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6BA51314-8082-9C5B-A3C8-08A59E4351B6}"/>
              </a:ext>
            </a:extLst>
          </p:cNvPr>
          <p:cNvSpPr/>
          <p:nvPr/>
        </p:nvSpPr>
        <p:spPr>
          <a:xfrm>
            <a:off x="7119662" y="2713745"/>
            <a:ext cx="2571736" cy="1569660"/>
          </a:xfrm>
          <a:prstGeom prst="rect">
            <a:avLst/>
          </a:prstGeom>
          <a:ln w="6350">
            <a:solidFill>
              <a:schemeClr val="tx1"/>
            </a:solidFill>
          </a:ln>
        </p:spPr>
        <p:txBody>
          <a:bodyPr wrap="square">
            <a:spAutoFit/>
          </a:bodyPr>
          <a:lstStyle/>
          <a:p>
            <a:pPr algn="just" rtl="0"/>
            <a:r>
              <a:rPr lang="en-US" sz="1600" b="1" dirty="0" err="1">
                <a:latin typeface="Times New Roman" pitchFamily="18" charset="0"/>
                <a:cs typeface="Times New Roman" pitchFamily="18" charset="0"/>
              </a:rPr>
              <a:t>salaryUp</a:t>
            </a:r>
            <a:r>
              <a:rPr lang="en-US" sz="1600" b="1" dirty="0">
                <a:latin typeface="Times New Roman" pitchFamily="18" charset="0"/>
                <a:cs typeface="Times New Roman" pitchFamily="18" charset="0"/>
              </a:rPr>
              <a:t>(</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x):</a:t>
            </a:r>
            <a:r>
              <a:rPr lang="en-US" sz="1600" dirty="0">
                <a:latin typeface="Times New Roman" pitchFamily="18" charset="0"/>
                <a:cs typeface="Times New Roman" pitchFamily="18" charset="0"/>
              </a:rPr>
              <a:t>It takes an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number as input to indicate the increase in pay and computes salary as follows:</a:t>
            </a:r>
          </a:p>
          <a:p>
            <a:pPr algn="just" rtl="0"/>
            <a:r>
              <a:rPr lang="en-US" sz="1600" dirty="0">
                <a:latin typeface="Times New Roman" pitchFamily="18" charset="0"/>
                <a:cs typeface="Times New Roman" pitchFamily="18" charset="0"/>
              </a:rPr>
              <a:t>Salary = salary + x</a:t>
            </a:r>
          </a:p>
        </p:txBody>
      </p:sp>
      <p:sp>
        <p:nvSpPr>
          <p:cNvPr id="40" name="Rectangle 39">
            <a:extLst>
              <a:ext uri="{FF2B5EF4-FFF2-40B4-BE49-F238E27FC236}">
                <a16:creationId xmlns:a16="http://schemas.microsoft.com/office/drawing/2014/main" id="{B17DBDA3-2B97-2298-745B-702667B7F3CC}"/>
              </a:ext>
            </a:extLst>
          </p:cNvPr>
          <p:cNvSpPr/>
          <p:nvPr/>
        </p:nvSpPr>
        <p:spPr>
          <a:xfrm>
            <a:off x="2833382" y="5642703"/>
            <a:ext cx="1643074" cy="214314"/>
          </a:xfrm>
          <a:prstGeom prst="rect">
            <a:avLst/>
          </a:prstGeom>
          <a:solidFill>
            <a:schemeClr val="accent2">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52D5C95-B408-5318-D0BE-CD773B492A65}"/>
              </a:ext>
            </a:extLst>
          </p:cNvPr>
          <p:cNvSpPr/>
          <p:nvPr/>
        </p:nvSpPr>
        <p:spPr>
          <a:xfrm>
            <a:off x="833118" y="3208163"/>
            <a:ext cx="2786082" cy="1077218"/>
          </a:xfrm>
          <a:prstGeom prst="rect">
            <a:avLst/>
          </a:prstGeom>
          <a:ln w="6350">
            <a:solidFill>
              <a:schemeClr val="tx1"/>
            </a:solidFill>
          </a:ln>
        </p:spPr>
        <p:txBody>
          <a:bodyPr wrap="square">
            <a:spAutoFit/>
          </a:bodyPr>
          <a:lstStyle/>
          <a:p>
            <a:pPr algn="just" rtl="0"/>
            <a:r>
              <a:rPr lang="en-US" sz="1600" b="1" dirty="0" err="1">
                <a:latin typeface="Times New Roman" pitchFamily="18" charset="0"/>
                <a:cs typeface="Times New Roman" pitchFamily="18" charset="0"/>
              </a:rPr>
              <a:t>checkAvg</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that returns true if the average is greater than or equal to 50, otherwise, it returns false.</a:t>
            </a:r>
          </a:p>
        </p:txBody>
      </p:sp>
      <p:grpSp>
        <p:nvGrpSpPr>
          <p:cNvPr id="42" name="Group 41">
            <a:extLst>
              <a:ext uri="{FF2B5EF4-FFF2-40B4-BE49-F238E27FC236}">
                <a16:creationId xmlns:a16="http://schemas.microsoft.com/office/drawing/2014/main" id="{206CBB4A-60D1-528D-C340-E94129D40598}"/>
              </a:ext>
            </a:extLst>
          </p:cNvPr>
          <p:cNvGrpSpPr/>
          <p:nvPr/>
        </p:nvGrpSpPr>
        <p:grpSpPr>
          <a:xfrm>
            <a:off x="1476057" y="4285383"/>
            <a:ext cx="1357325" cy="1573223"/>
            <a:chOff x="1778870" y="3492267"/>
            <a:chExt cx="2501622" cy="1016226"/>
          </a:xfrm>
        </p:grpSpPr>
        <p:cxnSp>
          <p:nvCxnSpPr>
            <p:cNvPr id="43" name="Straight Arrow Connector 42">
              <a:extLst>
                <a:ext uri="{FF2B5EF4-FFF2-40B4-BE49-F238E27FC236}">
                  <a16:creationId xmlns:a16="http://schemas.microsoft.com/office/drawing/2014/main" id="{1194D566-0CC7-AE61-043A-78315B4EDB2D}"/>
                </a:ext>
              </a:extLst>
            </p:cNvPr>
            <p:cNvCxnSpPr/>
            <p:nvPr/>
          </p:nvCxnSpPr>
          <p:spPr>
            <a:xfrm>
              <a:off x="1778873" y="4507467"/>
              <a:ext cx="2501619" cy="102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6EA66B-1E4E-AD10-60A7-72CB577F87B9}"/>
                </a:ext>
              </a:extLst>
            </p:cNvPr>
            <p:cNvCxnSpPr/>
            <p:nvPr/>
          </p:nvCxnSpPr>
          <p:spPr>
            <a:xfrm rot="5400000">
              <a:off x="1274719" y="3996418"/>
              <a:ext cx="1008303" cy="2"/>
            </a:xfrm>
            <a:prstGeom prst="line">
              <a:avLst/>
            </a:prstGeom>
            <a:ln w="28575">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265D091B-9528-56ED-2665-2982077D6309}"/>
              </a:ext>
            </a:extLst>
          </p:cNvPr>
          <p:cNvCxnSpPr/>
          <p:nvPr/>
        </p:nvCxnSpPr>
        <p:spPr>
          <a:xfrm>
            <a:off x="5762340" y="5141049"/>
            <a:ext cx="264500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6B1A9D57-0E1F-26E9-D2CA-AC229E69622D}"/>
              </a:ext>
            </a:extLst>
          </p:cNvPr>
          <p:cNvSpPr/>
          <p:nvPr/>
        </p:nvSpPr>
        <p:spPr>
          <a:xfrm>
            <a:off x="5976654" y="5642703"/>
            <a:ext cx="2071702" cy="214314"/>
          </a:xfrm>
          <a:prstGeom prst="rect">
            <a:avLst/>
          </a:prstGeom>
          <a:solidFill>
            <a:schemeClr val="accent2">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8722E0BD-9FDB-5402-2283-2DBE77F21676}"/>
              </a:ext>
            </a:extLst>
          </p:cNvPr>
          <p:cNvGrpSpPr/>
          <p:nvPr/>
        </p:nvGrpSpPr>
        <p:grpSpPr>
          <a:xfrm>
            <a:off x="7976919" y="4285381"/>
            <a:ext cx="1357323" cy="1573223"/>
            <a:chOff x="1778873" y="3492267"/>
            <a:chExt cx="2501619" cy="1016226"/>
          </a:xfrm>
        </p:grpSpPr>
        <p:cxnSp>
          <p:nvCxnSpPr>
            <p:cNvPr id="48" name="Straight Arrow Connector 47">
              <a:extLst>
                <a:ext uri="{FF2B5EF4-FFF2-40B4-BE49-F238E27FC236}">
                  <a16:creationId xmlns:a16="http://schemas.microsoft.com/office/drawing/2014/main" id="{CD23B223-4DCA-C4B8-C2AE-7FA14EB16E2B}"/>
                </a:ext>
              </a:extLst>
            </p:cNvPr>
            <p:cNvCxnSpPr/>
            <p:nvPr/>
          </p:nvCxnSpPr>
          <p:spPr>
            <a:xfrm>
              <a:off x="1778873" y="4507467"/>
              <a:ext cx="2501619" cy="102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34294AA-74F8-B48C-75A4-4BB61B23D172}"/>
                </a:ext>
              </a:extLst>
            </p:cNvPr>
            <p:cNvCxnSpPr/>
            <p:nvPr/>
          </p:nvCxnSpPr>
          <p:spPr>
            <a:xfrm rot="5400000">
              <a:off x="3776336" y="3996418"/>
              <a:ext cx="1008303" cy="2"/>
            </a:xfrm>
            <a:prstGeom prst="line">
              <a:avLst/>
            </a:prstGeom>
            <a:ln w="28575">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770901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02B9-47EF-9ECA-5412-A57A652DA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15A7C-914F-A2E5-E3C7-FFA050674880}"/>
              </a:ext>
            </a:extLst>
          </p:cNvPr>
          <p:cNvSpPr>
            <a:spLocks noGrp="1"/>
          </p:cNvSpPr>
          <p:nvPr>
            <p:ph type="title"/>
          </p:nvPr>
        </p:nvSpPr>
        <p:spPr>
          <a:xfrm>
            <a:off x="348791" y="286603"/>
            <a:ext cx="11481847" cy="1593712"/>
          </a:xfrm>
        </p:spPr>
        <p:txBody>
          <a:bodyPr>
            <a:normAutofit fontScale="90000"/>
          </a:bodyPr>
          <a:lstStyle/>
          <a:p>
            <a:r>
              <a:rPr lang="en-US" i="0" dirty="0">
                <a:effectLst/>
                <a:latin typeface="__Source_Sans_Pro_fa6df0"/>
              </a:rPr>
              <a:t>Examples of possible inheritance relationship between different classes </a:t>
            </a:r>
            <a:br>
              <a:rPr lang="en-GB" sz="900" dirty="0">
                <a:solidFill>
                  <a:srgbClr val="000099"/>
                </a:solidFill>
                <a:cs typeface="Times New Roman" pitchFamily="18" charset="0"/>
              </a:rPr>
            </a:b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90D185F1-7780-8FAB-12B8-F3FBD22B81A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FE72744C-2079-844B-C499-77BE53A6CB42}"/>
              </a:ext>
            </a:extLst>
          </p:cNvPr>
          <p:cNvSpPr>
            <a:spLocks noChangeArrowheads="1"/>
          </p:cNvSpPr>
          <p:nvPr/>
        </p:nvSpPr>
        <p:spPr bwMode="auto">
          <a:xfrm>
            <a:off x="618836" y="750493"/>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9C2395A1-D430-BCAB-03E1-496503DE6518}"/>
              </a:ext>
            </a:extLst>
          </p:cNvPr>
          <p:cNvGraphicFramePr>
            <a:graphicFrameLocks noGrp="1"/>
          </p:cNvGraphicFramePr>
          <p:nvPr>
            <p:extLst>
              <p:ext uri="{D42A27DB-BD31-4B8C-83A1-F6EECF244321}">
                <p14:modId xmlns:p14="http://schemas.microsoft.com/office/powerpoint/2010/main" val="859676247"/>
              </p:ext>
            </p:extLst>
          </p:nvPr>
        </p:nvGraphicFramePr>
        <p:xfrm>
          <a:off x="256382" y="1910369"/>
          <a:ext cx="11640053" cy="4176262"/>
        </p:xfrm>
        <a:graphic>
          <a:graphicData uri="http://schemas.openxmlformats.org/drawingml/2006/table">
            <a:tbl>
              <a:tblPr firstRow="1" firstCol="1" bandRow="1">
                <a:tableStyleId>{5C22544A-7EE6-4342-B048-85BDC9FD1C3A}</a:tableStyleId>
              </a:tblPr>
              <a:tblGrid>
                <a:gridCol w="3777848">
                  <a:extLst>
                    <a:ext uri="{9D8B030D-6E8A-4147-A177-3AD203B41FA5}">
                      <a16:colId xmlns:a16="http://schemas.microsoft.com/office/drawing/2014/main" val="77593664"/>
                    </a:ext>
                  </a:extLst>
                </a:gridCol>
                <a:gridCol w="7862205">
                  <a:extLst>
                    <a:ext uri="{9D8B030D-6E8A-4147-A177-3AD203B41FA5}">
                      <a16:colId xmlns:a16="http://schemas.microsoft.com/office/drawing/2014/main" val="585923010"/>
                    </a:ext>
                  </a:extLst>
                </a:gridCol>
              </a:tblGrid>
              <a:tr h="589190">
                <a:tc>
                  <a:txBody>
                    <a:bodyPr/>
                    <a:lstStyle/>
                    <a:p>
                      <a:pPr marL="0" marR="0">
                        <a:lnSpc>
                          <a:spcPct val="115000"/>
                        </a:lnSpc>
                        <a:spcBef>
                          <a:spcPts val="0"/>
                        </a:spcBef>
                        <a:spcAft>
                          <a:spcPts val="0"/>
                        </a:spcAft>
                      </a:pPr>
                      <a:r>
                        <a:rPr lang="en-US" sz="2000">
                          <a:effectLst/>
                        </a:rPr>
                        <a:t>Superclass</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dirty="0">
                          <a:effectLst/>
                        </a:rPr>
                        <a:t>Subclasses</a:t>
                      </a:r>
                      <a:endParaRPr lang="en-US"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48594884"/>
                  </a:ext>
                </a:extLst>
              </a:tr>
              <a:tr h="589190">
                <a:tc>
                  <a:txBody>
                    <a:bodyPr/>
                    <a:lstStyle/>
                    <a:p>
                      <a:pPr marL="0" marR="0">
                        <a:lnSpc>
                          <a:spcPct val="115000"/>
                        </a:lnSpc>
                        <a:spcBef>
                          <a:spcPts val="0"/>
                        </a:spcBef>
                        <a:spcAft>
                          <a:spcPts val="0"/>
                        </a:spcAft>
                      </a:pPr>
                      <a:r>
                        <a:rPr lang="en-US" sz="2000">
                          <a:effectLst/>
                        </a:rPr>
                        <a:t>Student</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dirty="0" err="1">
                          <a:effectLst/>
                        </a:rPr>
                        <a:t>GraduateStudent</a:t>
                      </a:r>
                      <a:r>
                        <a:rPr lang="en-US" sz="2000" dirty="0">
                          <a:effectLst/>
                        </a:rPr>
                        <a:t>, </a:t>
                      </a:r>
                      <a:r>
                        <a:rPr lang="en-US" sz="2000" dirty="0" err="1">
                          <a:effectLst/>
                        </a:rPr>
                        <a:t>UndergraduateStudent</a:t>
                      </a:r>
                      <a:endParaRPr lang="en-US"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067166951"/>
                  </a:ext>
                </a:extLst>
              </a:tr>
              <a:tr h="589190">
                <a:tc>
                  <a:txBody>
                    <a:bodyPr/>
                    <a:lstStyle/>
                    <a:p>
                      <a:pPr marL="0" marR="0">
                        <a:lnSpc>
                          <a:spcPct val="115000"/>
                        </a:lnSpc>
                        <a:spcBef>
                          <a:spcPts val="0"/>
                        </a:spcBef>
                        <a:spcAft>
                          <a:spcPts val="0"/>
                        </a:spcAft>
                      </a:pPr>
                      <a:r>
                        <a:rPr lang="en-US" sz="2000">
                          <a:effectLst/>
                        </a:rPr>
                        <a:t>Shape</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a:effectLst/>
                        </a:rPr>
                        <a:t>Circle, Triangle, Rectangle</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816400169"/>
                  </a:ext>
                </a:extLst>
              </a:tr>
              <a:tr h="1230312">
                <a:tc>
                  <a:txBody>
                    <a:bodyPr/>
                    <a:lstStyle/>
                    <a:p>
                      <a:pPr marL="0" marR="0">
                        <a:lnSpc>
                          <a:spcPct val="115000"/>
                        </a:lnSpc>
                        <a:spcBef>
                          <a:spcPts val="0"/>
                        </a:spcBef>
                        <a:spcAft>
                          <a:spcPts val="0"/>
                        </a:spcAft>
                      </a:pPr>
                      <a:r>
                        <a:rPr lang="en-US" sz="2000">
                          <a:effectLst/>
                        </a:rPr>
                        <a:t>Loan</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a:effectLst/>
                        </a:rPr>
                        <a:t>CarLoan, HomeImprovementLoan, MortgageLoan</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48702838"/>
                  </a:ext>
                </a:extLst>
              </a:tr>
              <a:tr h="589190">
                <a:tc>
                  <a:txBody>
                    <a:bodyPr/>
                    <a:lstStyle/>
                    <a:p>
                      <a:pPr marL="0" marR="0">
                        <a:lnSpc>
                          <a:spcPct val="115000"/>
                        </a:lnSpc>
                        <a:spcBef>
                          <a:spcPts val="0"/>
                        </a:spcBef>
                        <a:spcAft>
                          <a:spcPts val="0"/>
                        </a:spcAft>
                      </a:pPr>
                      <a:r>
                        <a:rPr lang="en-US" sz="2000">
                          <a:effectLst/>
                        </a:rPr>
                        <a:t>Employee</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a:effectLst/>
                        </a:rPr>
                        <a:t>Faculty, Staff</a:t>
                      </a:r>
                      <a:endParaRPr lang="en-US" sz="20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527954003"/>
                  </a:ext>
                </a:extLst>
              </a:tr>
              <a:tr h="589190">
                <a:tc>
                  <a:txBody>
                    <a:bodyPr/>
                    <a:lstStyle/>
                    <a:p>
                      <a:pPr marL="0" marR="0">
                        <a:lnSpc>
                          <a:spcPct val="115000"/>
                        </a:lnSpc>
                        <a:spcBef>
                          <a:spcPts val="0"/>
                        </a:spcBef>
                        <a:spcAft>
                          <a:spcPts val="0"/>
                        </a:spcAft>
                      </a:pPr>
                      <a:r>
                        <a:rPr lang="en-US" sz="2000" dirty="0" err="1">
                          <a:effectLst/>
                        </a:rPr>
                        <a:t>BankAccount</a:t>
                      </a:r>
                      <a:endParaRPr lang="en-US"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2000" dirty="0" err="1">
                          <a:effectLst/>
                        </a:rPr>
                        <a:t>CheckingAccount</a:t>
                      </a:r>
                      <a:r>
                        <a:rPr lang="en-US" sz="2000" dirty="0">
                          <a:effectLst/>
                        </a:rPr>
                        <a:t>, </a:t>
                      </a:r>
                      <a:r>
                        <a:rPr lang="en-US" sz="2000" dirty="0" err="1">
                          <a:effectLst/>
                        </a:rPr>
                        <a:t>SavingsAccount</a:t>
                      </a:r>
                      <a:endParaRPr lang="en-US" sz="20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559613504"/>
                  </a:ext>
                </a:extLst>
              </a:tr>
            </a:tbl>
          </a:graphicData>
        </a:graphic>
      </p:graphicFrame>
    </p:spTree>
    <p:extLst>
      <p:ext uri="{BB962C8B-B14F-4D97-AF65-F5344CB8AC3E}">
        <p14:creationId xmlns:p14="http://schemas.microsoft.com/office/powerpoint/2010/main" val="216657718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622B5-C00A-4F5A-8577-C3C678028EE7}"/>
              </a:ext>
            </a:extLst>
          </p:cNvPr>
          <p:cNvSpPr>
            <a:spLocks noGrp="1"/>
          </p:cNvSpPr>
          <p:nvPr>
            <p:ph type="title"/>
          </p:nvPr>
        </p:nvSpPr>
        <p:spPr/>
        <p:txBody>
          <a:bodyPr/>
          <a:lstStyle/>
          <a:p>
            <a:r>
              <a:rPr lang="en-US" dirty="0"/>
              <a:t> Overriding &amp; Overloading methods </a:t>
            </a:r>
          </a:p>
        </p:txBody>
      </p:sp>
      <p:sp>
        <p:nvSpPr>
          <p:cNvPr id="3" name="Content Placeholder 2">
            <a:extLst>
              <a:ext uri="{FF2B5EF4-FFF2-40B4-BE49-F238E27FC236}">
                <a16:creationId xmlns:a16="http://schemas.microsoft.com/office/drawing/2014/main" id="{E4CE5265-3C1B-4AB1-A7D7-F8013AC259F8}"/>
              </a:ext>
            </a:extLst>
          </p:cNvPr>
          <p:cNvSpPr>
            <a:spLocks noGrp="1"/>
          </p:cNvSpPr>
          <p:nvPr>
            <p:ph idx="1"/>
          </p:nvPr>
        </p:nvSpPr>
        <p:spPr/>
        <p:txBody>
          <a:bodyPr/>
          <a:lstStyle/>
          <a:p>
            <a:r>
              <a:rPr lang="en-US" dirty="0"/>
              <a:t>A subclass inherits methods from superclass. Sometimes it is necessary for the subclass to modify the implementation of a method defined in the superclass. This is referred to as method overriding.</a:t>
            </a:r>
          </a:p>
          <a:p>
            <a:pPr lvl="1"/>
            <a:r>
              <a:rPr lang="en-US" dirty="0"/>
              <a:t>The (</a:t>
            </a:r>
            <a:r>
              <a:rPr lang="en-US" dirty="0" err="1"/>
              <a:t>toString</a:t>
            </a:r>
            <a:r>
              <a:rPr lang="en-US" dirty="0"/>
              <a:t>) method is an example of overriding in the previous examples. The signature of the overridden methods should be exactly the same but in different classes.</a:t>
            </a:r>
          </a:p>
          <a:p>
            <a:pPr lvl="1"/>
            <a:r>
              <a:rPr lang="en-US" dirty="0"/>
              <a:t>On the other hand, overloading is the reuse of the method name in the same class but with different signature to distinguish between them. Constructors are an example of overloading.</a:t>
            </a:r>
          </a:p>
          <a:p>
            <a:endParaRPr lang="en-US" dirty="0"/>
          </a:p>
        </p:txBody>
      </p:sp>
      <p:sp>
        <p:nvSpPr>
          <p:cNvPr id="4" name="Footer Placeholder 3">
            <a:extLst>
              <a:ext uri="{FF2B5EF4-FFF2-40B4-BE49-F238E27FC236}">
                <a16:creationId xmlns:a16="http://schemas.microsoft.com/office/drawing/2014/main" id="{BDC6BD88-BA45-4417-B826-67816B16DB21}"/>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886992718"/>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8459-06BC-4DB5-B44A-B7C9015054AB}"/>
              </a:ext>
            </a:extLst>
          </p:cNvPr>
          <p:cNvSpPr>
            <a:spLocks noGrp="1"/>
          </p:cNvSpPr>
          <p:nvPr>
            <p:ph type="title"/>
          </p:nvPr>
        </p:nvSpPr>
        <p:spPr/>
        <p:txBody>
          <a:bodyPr/>
          <a:lstStyle/>
          <a:p>
            <a:r>
              <a:rPr lang="en-US" dirty="0"/>
              <a:t> Overriding &amp; Overloading methods </a:t>
            </a:r>
          </a:p>
        </p:txBody>
      </p:sp>
      <p:sp>
        <p:nvSpPr>
          <p:cNvPr id="4" name="Footer Placeholder 3">
            <a:extLst>
              <a:ext uri="{FF2B5EF4-FFF2-40B4-BE49-F238E27FC236}">
                <a16:creationId xmlns:a16="http://schemas.microsoft.com/office/drawing/2014/main" id="{D9269B1B-3381-4FAE-9721-2C5BD537E04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6" name="Picture 5">
            <a:extLst>
              <a:ext uri="{FF2B5EF4-FFF2-40B4-BE49-F238E27FC236}">
                <a16:creationId xmlns:a16="http://schemas.microsoft.com/office/drawing/2014/main" id="{B9B8A782-E45F-4620-9F4A-61F311171645}"/>
              </a:ext>
            </a:extLst>
          </p:cNvPr>
          <p:cNvPicPr>
            <a:picLocks noChangeAspect="1"/>
          </p:cNvPicPr>
          <p:nvPr/>
        </p:nvPicPr>
        <p:blipFill>
          <a:blip r:embed="rId2"/>
          <a:stretch>
            <a:fillRect/>
          </a:stretch>
        </p:blipFill>
        <p:spPr>
          <a:xfrm>
            <a:off x="0" y="1876451"/>
            <a:ext cx="12192000" cy="4421318"/>
          </a:xfrm>
          <a:prstGeom prst="rect">
            <a:avLst/>
          </a:prstGeom>
        </p:spPr>
      </p:pic>
      <p:sp>
        <p:nvSpPr>
          <p:cNvPr id="7" name="TextBox 6">
            <a:extLst>
              <a:ext uri="{FF2B5EF4-FFF2-40B4-BE49-F238E27FC236}">
                <a16:creationId xmlns:a16="http://schemas.microsoft.com/office/drawing/2014/main" id="{719DA03A-BEF3-4F26-8B1C-89B6EA691717}"/>
              </a:ext>
            </a:extLst>
          </p:cNvPr>
          <p:cNvSpPr txBox="1"/>
          <p:nvPr/>
        </p:nvSpPr>
        <p:spPr>
          <a:xfrm>
            <a:off x="433589" y="5928437"/>
            <a:ext cx="2245217" cy="369332"/>
          </a:xfrm>
          <a:prstGeom prst="rect">
            <a:avLst/>
          </a:prstGeom>
          <a:noFill/>
        </p:spPr>
        <p:txBody>
          <a:bodyPr wrap="square" rtlCol="0">
            <a:spAutoFit/>
          </a:bodyPr>
          <a:lstStyle/>
          <a:p>
            <a:r>
              <a:rPr lang="en-US" dirty="0"/>
              <a:t>JAVA Programming</a:t>
            </a:r>
          </a:p>
        </p:txBody>
      </p:sp>
    </p:spTree>
    <p:extLst>
      <p:ext uri="{BB962C8B-B14F-4D97-AF65-F5344CB8AC3E}">
        <p14:creationId xmlns:p14="http://schemas.microsoft.com/office/powerpoint/2010/main" val="421230693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F1D5-1C2F-8853-F920-36B426672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847F3-EC8D-43B4-C4D8-1308B13FF691}"/>
              </a:ext>
            </a:extLst>
          </p:cNvPr>
          <p:cNvSpPr>
            <a:spLocks noGrp="1"/>
          </p:cNvSpPr>
          <p:nvPr>
            <p:ph type="title"/>
          </p:nvPr>
        </p:nvSpPr>
        <p:spPr>
          <a:xfrm>
            <a:off x="348791" y="286603"/>
            <a:ext cx="11481847" cy="1450757"/>
          </a:xfrm>
        </p:spPr>
        <p:txBody>
          <a:bodyPr>
            <a:normAutofit/>
          </a:bodyPr>
          <a:lstStyle/>
          <a:p>
            <a:r>
              <a:rPr lang="en-US" dirty="0"/>
              <a:t> Overriding &amp; Overloading methods </a:t>
            </a:r>
            <a:endParaRPr lang="en-US" i="0" dirty="0">
              <a:effectLst/>
              <a:latin typeface="__Source_Sans_Pro_fa6df0"/>
            </a:endParaRPr>
          </a:p>
        </p:txBody>
      </p:sp>
      <p:sp>
        <p:nvSpPr>
          <p:cNvPr id="4" name="Footer Placeholder 3">
            <a:extLst>
              <a:ext uri="{FF2B5EF4-FFF2-40B4-BE49-F238E27FC236}">
                <a16:creationId xmlns:a16="http://schemas.microsoft.com/office/drawing/2014/main" id="{0511933D-29C9-D735-BE06-24FC7B4AED67}"/>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D655F54B-992E-4EBA-8E38-F7514AB48097}"/>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FABE2D58-49D1-C2DD-0653-E6BE5B7F3C9D}"/>
              </a:ext>
            </a:extLst>
          </p:cNvPr>
          <p:cNvGraphicFramePr>
            <a:graphicFrameLocks noGrp="1"/>
          </p:cNvGraphicFramePr>
          <p:nvPr>
            <p:extLst>
              <p:ext uri="{D42A27DB-BD31-4B8C-83A1-F6EECF244321}">
                <p14:modId xmlns:p14="http://schemas.microsoft.com/office/powerpoint/2010/main" val="3039305797"/>
              </p:ext>
            </p:extLst>
          </p:nvPr>
        </p:nvGraphicFramePr>
        <p:xfrm>
          <a:off x="348791" y="1777285"/>
          <a:ext cx="11481847" cy="4499101"/>
        </p:xfrm>
        <a:graphic>
          <a:graphicData uri="http://schemas.openxmlformats.org/drawingml/2006/table">
            <a:tbl>
              <a:tblPr firstRow="1" bandRow="1">
                <a:tableStyleId>{616DA210-FB5B-4158-B5E0-FEB733F419BA}</a:tableStyleId>
              </a:tblPr>
              <a:tblGrid>
                <a:gridCol w="5433173">
                  <a:extLst>
                    <a:ext uri="{9D8B030D-6E8A-4147-A177-3AD203B41FA5}">
                      <a16:colId xmlns:a16="http://schemas.microsoft.com/office/drawing/2014/main" val="20000"/>
                    </a:ext>
                  </a:extLst>
                </a:gridCol>
                <a:gridCol w="6048674">
                  <a:extLst>
                    <a:ext uri="{9D8B030D-6E8A-4147-A177-3AD203B41FA5}">
                      <a16:colId xmlns:a16="http://schemas.microsoft.com/office/drawing/2014/main" val="20001"/>
                    </a:ext>
                  </a:extLst>
                </a:gridCol>
              </a:tblGrid>
              <a:tr h="429800">
                <a:tc>
                  <a:txBody>
                    <a:bodyPr/>
                    <a:lstStyle/>
                    <a:p>
                      <a:pPr algn="ctr" rtl="0">
                        <a:lnSpc>
                          <a:spcPct val="100000"/>
                        </a:lnSpc>
                      </a:pPr>
                      <a:r>
                        <a:rPr lang="en-US" sz="2000" dirty="0">
                          <a:latin typeface="+mj-lt"/>
                          <a:cs typeface="Times New Roman" pitchFamily="18" charset="0"/>
                        </a:rPr>
                        <a:t>Overloading</a:t>
                      </a:r>
                    </a:p>
                  </a:txBody>
                  <a:tcPr anchor="ctr"/>
                </a:tc>
                <a:tc>
                  <a:txBody>
                    <a:bodyPr/>
                    <a:lstStyle/>
                    <a:p>
                      <a:pPr algn="ctr" rtl="0">
                        <a:lnSpc>
                          <a:spcPct val="100000"/>
                        </a:lnSpc>
                      </a:pPr>
                      <a:r>
                        <a:rPr lang="en-US" sz="2000" dirty="0">
                          <a:latin typeface="+mj-lt"/>
                          <a:cs typeface="Times New Roman" pitchFamily="18" charset="0"/>
                        </a:rPr>
                        <a:t>Overriding </a:t>
                      </a:r>
                    </a:p>
                  </a:txBody>
                  <a:tcPr anchor="ctr"/>
                </a:tc>
                <a:extLst>
                  <a:ext uri="{0D108BD9-81ED-4DB2-BD59-A6C34878D82A}">
                    <a16:rowId xmlns:a16="http://schemas.microsoft.com/office/drawing/2014/main" val="10000"/>
                  </a:ext>
                </a:extLst>
              </a:tr>
              <a:tr h="760415">
                <a:tc>
                  <a:txBody>
                    <a:bodyPr/>
                    <a:lstStyle/>
                    <a:p>
                      <a:pPr algn="just" rtl="0">
                        <a:lnSpc>
                          <a:spcPct val="100000"/>
                        </a:lnSpc>
                      </a:pPr>
                      <a:r>
                        <a:rPr kumimoji="0" lang="en-US" sz="2000" kern="1200" dirty="0">
                          <a:solidFill>
                            <a:schemeClr val="tx1"/>
                          </a:solidFill>
                          <a:latin typeface="+mj-lt"/>
                          <a:ea typeface="+mn-ea"/>
                          <a:cs typeface="Times New Roman" pitchFamily="18" charset="0"/>
                        </a:rPr>
                        <a:t>Must have at least two methods by the same name in the same class</a:t>
                      </a:r>
                    </a:p>
                  </a:txBody>
                  <a:tcPr anchor="ctr">
                    <a:solidFill>
                      <a:schemeClr val="bg2">
                        <a:lumMod val="50000"/>
                        <a:alpha val="20000"/>
                      </a:schemeClr>
                    </a:solidFill>
                  </a:tcPr>
                </a:tc>
                <a:tc>
                  <a:txBody>
                    <a:bodyPr/>
                    <a:lstStyle/>
                    <a:p>
                      <a:pPr algn="just" rtl="0">
                        <a:lnSpc>
                          <a:spcPct val="100000"/>
                        </a:lnSpc>
                      </a:pPr>
                      <a:r>
                        <a:rPr kumimoji="0" lang="en-US" sz="2000" kern="1200" dirty="0">
                          <a:solidFill>
                            <a:schemeClr val="tx1"/>
                          </a:solidFill>
                          <a:latin typeface="+mj-lt"/>
                          <a:ea typeface="+mn-ea"/>
                          <a:cs typeface="Times New Roman" pitchFamily="18" charset="0"/>
                        </a:rPr>
                        <a:t>Must have at least one method by the same name in both </a:t>
                      </a:r>
                      <a:r>
                        <a:rPr kumimoji="0" lang="en-US" sz="2000" kern="1200" dirty="0" err="1">
                          <a:solidFill>
                            <a:schemeClr val="tx1"/>
                          </a:solidFill>
                          <a:latin typeface="+mj-lt"/>
                          <a:ea typeface="+mn-ea"/>
                          <a:cs typeface="Times New Roman" pitchFamily="18" charset="0"/>
                        </a:rPr>
                        <a:t>superclass</a:t>
                      </a:r>
                      <a:r>
                        <a:rPr kumimoji="0" lang="en-US" sz="2000" kern="1200" dirty="0">
                          <a:solidFill>
                            <a:schemeClr val="tx1"/>
                          </a:solidFill>
                          <a:latin typeface="+mj-lt"/>
                          <a:ea typeface="+mn-ea"/>
                          <a:cs typeface="Times New Roman" pitchFamily="18" charset="0"/>
                        </a:rPr>
                        <a:t> and subclass</a:t>
                      </a:r>
                    </a:p>
                  </a:txBody>
                  <a:tcPr anchor="ctr">
                    <a:solidFill>
                      <a:schemeClr val="bg2">
                        <a:lumMod val="50000"/>
                        <a:alpha val="20000"/>
                      </a:schemeClr>
                    </a:solidFill>
                  </a:tcPr>
                </a:tc>
                <a:extLst>
                  <a:ext uri="{0D108BD9-81ED-4DB2-BD59-A6C34878D82A}">
                    <a16:rowId xmlns:a16="http://schemas.microsoft.com/office/drawing/2014/main" val="10001"/>
                  </a:ext>
                </a:extLst>
              </a:tr>
              <a:tr h="429800">
                <a:tc>
                  <a:txBody>
                    <a:bodyPr/>
                    <a:lstStyle/>
                    <a:p>
                      <a:pPr algn="just" rtl="0">
                        <a:lnSpc>
                          <a:spcPct val="100000"/>
                        </a:lnSpc>
                      </a:pPr>
                      <a:r>
                        <a:rPr kumimoji="0" lang="en-US" sz="2000" kern="1200" dirty="0">
                          <a:solidFill>
                            <a:schemeClr val="tx1"/>
                          </a:solidFill>
                          <a:latin typeface="+mj-lt"/>
                          <a:ea typeface="+mn-ea"/>
                          <a:cs typeface="Times New Roman" pitchFamily="18" charset="0"/>
                        </a:rPr>
                        <a:t>Must have a different number of parameters </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tx1"/>
                          </a:solidFill>
                          <a:latin typeface="+mj-lt"/>
                          <a:ea typeface="+mn-ea"/>
                          <a:cs typeface="Times New Roman" pitchFamily="18" charset="0"/>
                        </a:rPr>
                        <a:t>Must have the same number of parameters </a:t>
                      </a:r>
                    </a:p>
                  </a:txBody>
                  <a:tcPr anchor="ctr"/>
                </a:tc>
                <a:extLst>
                  <a:ext uri="{0D108BD9-81ED-4DB2-BD59-A6C34878D82A}">
                    <a16:rowId xmlns:a16="http://schemas.microsoft.com/office/drawing/2014/main" val="10002"/>
                  </a:ext>
                </a:extLst>
              </a:tr>
              <a:tr h="760415">
                <a:tc>
                  <a:txBody>
                    <a:bodyPr/>
                    <a:lstStyle/>
                    <a:p>
                      <a:pPr algn="just" rtl="0">
                        <a:lnSpc>
                          <a:spcPct val="100000"/>
                        </a:lnSpc>
                      </a:pPr>
                      <a:r>
                        <a:rPr kumimoji="0" lang="en-US" sz="2000" kern="1200" dirty="0">
                          <a:solidFill>
                            <a:schemeClr val="tx1"/>
                          </a:solidFill>
                          <a:latin typeface="+mj-lt"/>
                          <a:ea typeface="+mn-ea"/>
                          <a:cs typeface="Times New Roman" pitchFamily="18" charset="0"/>
                        </a:rPr>
                        <a:t>If the number of parameters is the same then must have different types of parameters</a:t>
                      </a:r>
                    </a:p>
                  </a:txBody>
                  <a:tcPr anchor="ctr">
                    <a:solidFill>
                      <a:schemeClr val="bg2">
                        <a:lumMod val="50000"/>
                        <a:alpha val="2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tx1"/>
                          </a:solidFill>
                          <a:latin typeface="+mj-lt"/>
                          <a:ea typeface="+mn-ea"/>
                          <a:cs typeface="Times New Roman" pitchFamily="18" charset="0"/>
                        </a:rPr>
                        <a:t>The type of parameters also must be the same</a:t>
                      </a:r>
                    </a:p>
                  </a:txBody>
                  <a:tcPr anchor="ctr">
                    <a:solidFill>
                      <a:schemeClr val="bg2">
                        <a:lumMod val="50000"/>
                        <a:alpha val="20000"/>
                      </a:schemeClr>
                    </a:solidFill>
                  </a:tcPr>
                </a:tc>
                <a:extLst>
                  <a:ext uri="{0D108BD9-81ED-4DB2-BD59-A6C34878D82A}">
                    <a16:rowId xmlns:a16="http://schemas.microsoft.com/office/drawing/2014/main" val="10003"/>
                  </a:ext>
                </a:extLst>
              </a:tr>
              <a:tr h="980001">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tx1"/>
                          </a:solidFill>
                          <a:latin typeface="+mj-lt"/>
                          <a:ea typeface="+mn-ea"/>
                          <a:cs typeface="Times New Roman" pitchFamily="18" charset="0"/>
                        </a:rPr>
                        <a:t>If the number and type of parameters are the same then must have different orders of parameters</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tx1"/>
                          </a:solidFill>
                          <a:latin typeface="+mj-lt"/>
                          <a:ea typeface="+mn-ea"/>
                          <a:cs typeface="Times New Roman" pitchFamily="18" charset="0"/>
                        </a:rPr>
                        <a:t>The order of parameters also must be the same</a:t>
                      </a:r>
                    </a:p>
                  </a:txBody>
                  <a:tcPr anchor="ctr"/>
                </a:tc>
                <a:extLst>
                  <a:ext uri="{0D108BD9-81ED-4DB2-BD59-A6C34878D82A}">
                    <a16:rowId xmlns:a16="http://schemas.microsoft.com/office/drawing/2014/main" val="10004"/>
                  </a:ext>
                </a:extLst>
              </a:tr>
              <a:tr h="429800">
                <a:tc>
                  <a:txBody>
                    <a:bodyPr/>
                    <a:lstStyle/>
                    <a:p>
                      <a:pPr algn="just" rtl="0">
                        <a:lnSpc>
                          <a:spcPct val="100000"/>
                        </a:lnSpc>
                      </a:pPr>
                      <a:r>
                        <a:rPr lang="en-US" sz="2000" b="1" dirty="0">
                          <a:latin typeface="+mj-lt"/>
                          <a:cs typeface="Times New Roman" pitchFamily="18" charset="0"/>
                        </a:rPr>
                        <a:t>Constructors</a:t>
                      </a:r>
                      <a:r>
                        <a:rPr lang="en-US" sz="2000" dirty="0">
                          <a:latin typeface="+mj-lt"/>
                          <a:cs typeface="Times New Roman" pitchFamily="18" charset="0"/>
                        </a:rPr>
                        <a:t> are an example of overloading</a:t>
                      </a:r>
                      <a:endParaRPr kumimoji="0" lang="en-US" sz="2000" kern="1200" dirty="0">
                        <a:solidFill>
                          <a:schemeClr val="tx1"/>
                        </a:solidFill>
                        <a:latin typeface="+mj-lt"/>
                        <a:ea typeface="+mn-ea"/>
                        <a:cs typeface="Times New Roman" pitchFamily="18" charset="0"/>
                      </a:endParaRPr>
                    </a:p>
                  </a:txBody>
                  <a:tcPr anchor="ctr">
                    <a:solidFill>
                      <a:schemeClr val="bg2">
                        <a:lumMod val="50000"/>
                        <a:alpha val="2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dirty="0">
                          <a:latin typeface="+mj-lt"/>
                          <a:cs typeface="Times New Roman" pitchFamily="18" charset="0"/>
                        </a:rPr>
                        <a:t>The (</a:t>
                      </a:r>
                      <a:r>
                        <a:rPr lang="en-US" sz="2000" b="1" dirty="0" err="1">
                          <a:latin typeface="+mj-lt"/>
                          <a:cs typeface="Times New Roman" pitchFamily="18" charset="0"/>
                        </a:rPr>
                        <a:t>toString</a:t>
                      </a:r>
                      <a:r>
                        <a:rPr lang="en-US" sz="2000" dirty="0">
                          <a:latin typeface="+mj-lt"/>
                          <a:cs typeface="Times New Roman" pitchFamily="18" charset="0"/>
                        </a:rPr>
                        <a:t>) </a:t>
                      </a:r>
                      <a:r>
                        <a:rPr kumimoji="0" lang="en-US" sz="2000" kern="1200" dirty="0">
                          <a:solidFill>
                            <a:schemeClr val="tx1"/>
                          </a:solidFill>
                          <a:latin typeface="+mj-lt"/>
                          <a:ea typeface="+mn-ea"/>
                          <a:cs typeface="Times New Roman" pitchFamily="18" charset="0"/>
                        </a:rPr>
                        <a:t>method is an example of overriding </a:t>
                      </a:r>
                    </a:p>
                  </a:txBody>
                  <a:tcPr anchor="ctr">
                    <a:solidFill>
                      <a:schemeClr val="bg2">
                        <a:lumMod val="50000"/>
                        <a:alpha val="20000"/>
                      </a:schemeClr>
                    </a:solidFill>
                  </a:tcPr>
                </a:tc>
                <a:extLst>
                  <a:ext uri="{0D108BD9-81ED-4DB2-BD59-A6C34878D82A}">
                    <a16:rowId xmlns:a16="http://schemas.microsoft.com/office/drawing/2014/main" val="10005"/>
                  </a:ext>
                </a:extLst>
              </a:tr>
              <a:tr h="683031">
                <a:tc>
                  <a:txBody>
                    <a:bodyPr/>
                    <a:lstStyle/>
                    <a:p>
                      <a:pPr algn="just" rtl="0">
                        <a:lnSpc>
                          <a:spcPct val="100000"/>
                        </a:lnSpc>
                      </a:pPr>
                      <a:r>
                        <a:rPr kumimoji="0" lang="en-US" sz="2000" kern="1200" dirty="0" err="1">
                          <a:solidFill>
                            <a:schemeClr val="tx1"/>
                          </a:solidFill>
                          <a:latin typeface="+mj-lt"/>
                          <a:ea typeface="+mn-ea"/>
                          <a:cs typeface="Times New Roman" pitchFamily="18" charset="0"/>
                        </a:rPr>
                        <a:t>Overloadingis</a:t>
                      </a:r>
                      <a:r>
                        <a:rPr kumimoji="0" lang="en-US" sz="2000" kern="1200" dirty="0">
                          <a:solidFill>
                            <a:schemeClr val="tx1"/>
                          </a:solidFill>
                          <a:latin typeface="+mj-lt"/>
                          <a:ea typeface="+mn-ea"/>
                          <a:cs typeface="Times New Roman" pitchFamily="18" charset="0"/>
                        </a:rPr>
                        <a:t> known as a static polymorphism</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tx1"/>
                          </a:solidFill>
                          <a:latin typeface="+mj-lt"/>
                          <a:ea typeface="+mn-ea"/>
                          <a:cs typeface="Times New Roman" pitchFamily="18" charset="0"/>
                        </a:rPr>
                        <a:t>Overriding is known as a dynamic polymorphism</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976169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4AD9-E03A-4765-9063-5B297CD36586}"/>
              </a:ext>
            </a:extLst>
          </p:cNvPr>
          <p:cNvSpPr>
            <a:spLocks noGrp="1"/>
          </p:cNvSpPr>
          <p:nvPr>
            <p:ph type="title"/>
          </p:nvPr>
        </p:nvSpPr>
        <p:spPr/>
        <p:txBody>
          <a:bodyPr/>
          <a:lstStyle/>
          <a:p>
            <a:r>
              <a:rPr lang="en-US" dirty="0"/>
              <a:t>The Object Class and Its Methods</a:t>
            </a:r>
          </a:p>
        </p:txBody>
      </p:sp>
      <p:sp>
        <p:nvSpPr>
          <p:cNvPr id="3" name="Content Placeholder 2">
            <a:extLst>
              <a:ext uri="{FF2B5EF4-FFF2-40B4-BE49-F238E27FC236}">
                <a16:creationId xmlns:a16="http://schemas.microsoft.com/office/drawing/2014/main" id="{34F3B14D-7CE8-40DF-B645-58B27003340F}"/>
              </a:ext>
            </a:extLst>
          </p:cNvPr>
          <p:cNvSpPr>
            <a:spLocks noGrp="1"/>
          </p:cNvSpPr>
          <p:nvPr>
            <p:ph idx="1"/>
          </p:nvPr>
        </p:nvSpPr>
        <p:spPr/>
        <p:txBody>
          <a:bodyPr/>
          <a:lstStyle/>
          <a:p>
            <a:r>
              <a:rPr lang="en-US" dirty="0"/>
              <a:t>Every class in Java is descended from the </a:t>
            </a:r>
            <a:r>
              <a:rPr lang="en-US" b="1" dirty="0" err="1">
                <a:solidFill>
                  <a:srgbClr val="C00000"/>
                </a:solidFill>
              </a:rPr>
              <a:t>java.lang.Object</a:t>
            </a:r>
            <a:r>
              <a:rPr lang="en-US" b="1" dirty="0">
                <a:solidFill>
                  <a:srgbClr val="C00000"/>
                </a:solidFill>
              </a:rPr>
              <a:t> class</a:t>
            </a:r>
            <a:r>
              <a:rPr lang="en-US" dirty="0"/>
              <a:t>. If no inheritance is specified when a class is defined, the superclass of the class is Object. </a:t>
            </a:r>
          </a:p>
          <a:p>
            <a:r>
              <a:rPr lang="en-US" b="1" i="1" dirty="0"/>
              <a:t>Note:</a:t>
            </a:r>
            <a:r>
              <a:rPr lang="en-US" i="1" dirty="0"/>
              <a:t> Object class acts as a root of inheritance hierarchy in any java program.</a:t>
            </a:r>
            <a:endParaRPr lang="en-US" dirty="0"/>
          </a:p>
          <a:p>
            <a:endParaRPr lang="en-US" dirty="0"/>
          </a:p>
        </p:txBody>
      </p:sp>
      <p:sp>
        <p:nvSpPr>
          <p:cNvPr id="4" name="Footer Placeholder 3">
            <a:extLst>
              <a:ext uri="{FF2B5EF4-FFF2-40B4-BE49-F238E27FC236}">
                <a16:creationId xmlns:a16="http://schemas.microsoft.com/office/drawing/2014/main" id="{4088AAE7-E914-46CE-BBF0-CDA6573C4D8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004C3800-1D54-4361-82DE-E294183508CF}"/>
              </a:ext>
            </a:extLst>
          </p:cNvPr>
          <p:cNvPicPr>
            <a:picLocks noChangeAspect="1"/>
          </p:cNvPicPr>
          <p:nvPr/>
        </p:nvPicPr>
        <p:blipFill>
          <a:blip r:embed="rId2"/>
          <a:stretch>
            <a:fillRect/>
          </a:stretch>
        </p:blipFill>
        <p:spPr>
          <a:xfrm>
            <a:off x="0" y="3429000"/>
            <a:ext cx="12192000" cy="1885961"/>
          </a:xfrm>
          <a:prstGeom prst="rect">
            <a:avLst/>
          </a:prstGeom>
        </p:spPr>
      </p:pic>
    </p:spTree>
    <p:extLst>
      <p:ext uri="{BB962C8B-B14F-4D97-AF65-F5344CB8AC3E}">
        <p14:creationId xmlns:p14="http://schemas.microsoft.com/office/powerpoint/2010/main" val="392498049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021B-4CA7-4C0D-A570-B3852E2AE7BB}"/>
              </a:ext>
            </a:extLst>
          </p:cNvPr>
          <p:cNvSpPr>
            <a:spLocks noGrp="1"/>
          </p:cNvSpPr>
          <p:nvPr>
            <p:ph type="title"/>
          </p:nvPr>
        </p:nvSpPr>
        <p:spPr/>
        <p:txBody>
          <a:bodyPr/>
          <a:lstStyle/>
          <a:p>
            <a:r>
              <a:rPr lang="en-US" dirty="0"/>
              <a:t>The Object Class and Its Methods</a:t>
            </a:r>
          </a:p>
        </p:txBody>
      </p:sp>
      <p:pic>
        <p:nvPicPr>
          <p:cNvPr id="5" name="Content Placeholder 4">
            <a:extLst>
              <a:ext uri="{FF2B5EF4-FFF2-40B4-BE49-F238E27FC236}">
                <a16:creationId xmlns:a16="http://schemas.microsoft.com/office/drawing/2014/main" id="{9AC10A83-5CA4-4B80-8589-EBE2FB766C36}"/>
              </a:ext>
            </a:extLst>
          </p:cNvPr>
          <p:cNvPicPr>
            <a:picLocks noGrp="1" noChangeAspect="1"/>
          </p:cNvPicPr>
          <p:nvPr>
            <p:ph idx="1"/>
          </p:nvPr>
        </p:nvPicPr>
        <p:blipFill>
          <a:blip r:embed="rId2"/>
          <a:stretch>
            <a:fillRect/>
          </a:stretch>
        </p:blipFill>
        <p:spPr>
          <a:xfrm>
            <a:off x="2609522" y="1846263"/>
            <a:ext cx="6318766" cy="4477264"/>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D6A67C73-9AFC-481B-9230-FA983931260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139802885"/>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22F54-379B-BA7D-FDEF-3B1D4E818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98A6D-6E2F-F84F-421B-9C07AE9C555F}"/>
              </a:ext>
            </a:extLst>
          </p:cNvPr>
          <p:cNvSpPr>
            <a:spLocks noGrp="1"/>
          </p:cNvSpPr>
          <p:nvPr>
            <p:ph type="title"/>
          </p:nvPr>
        </p:nvSpPr>
        <p:spPr>
          <a:xfrm>
            <a:off x="278876" y="230336"/>
            <a:ext cx="11481847" cy="1450757"/>
          </a:xfrm>
        </p:spPr>
        <p:txBody>
          <a:bodyPr/>
          <a:lstStyle/>
          <a:p>
            <a:r>
              <a:rPr lang="en-US" altLang="en-US" dirty="0"/>
              <a:t>The </a:t>
            </a:r>
            <a:r>
              <a:rPr lang="en-US" altLang="en-US" dirty="0" err="1"/>
              <a:t>toString</a:t>
            </a:r>
            <a:r>
              <a:rPr lang="en-US" altLang="en-US" dirty="0"/>
              <a:t>() method in Object</a:t>
            </a:r>
            <a:endParaRPr lang="en-US" sz="2000" i="0" dirty="0">
              <a:effectLst/>
              <a:latin typeface="__Source_Sans_Pro_fa6df0"/>
            </a:endParaRPr>
          </a:p>
        </p:txBody>
      </p:sp>
      <p:sp>
        <p:nvSpPr>
          <p:cNvPr id="4" name="Footer Placeholder 3">
            <a:extLst>
              <a:ext uri="{FF2B5EF4-FFF2-40B4-BE49-F238E27FC236}">
                <a16:creationId xmlns:a16="http://schemas.microsoft.com/office/drawing/2014/main" id="{AF9E09AF-F710-FAC9-1231-F6F010FA2D6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93E3491C-6A0B-2042-3760-CD71577FD2F9}"/>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2">
            <a:extLst>
              <a:ext uri="{FF2B5EF4-FFF2-40B4-BE49-F238E27FC236}">
                <a16:creationId xmlns:a16="http://schemas.microsoft.com/office/drawing/2014/main" id="{32022D08-08FB-F176-63FB-A5C081C37150}"/>
              </a:ext>
            </a:extLst>
          </p:cNvPr>
          <p:cNvSpPr txBox="1">
            <a:spLocks noChangeArrowheads="1"/>
          </p:cNvSpPr>
          <p:nvPr/>
        </p:nvSpPr>
        <p:spPr>
          <a:xfrm>
            <a:off x="2057400" y="0"/>
            <a:ext cx="8610600" cy="528638"/>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altLang="ar-SA" sz="3600" dirty="0"/>
          </a:p>
        </p:txBody>
      </p:sp>
      <p:sp>
        <p:nvSpPr>
          <p:cNvPr id="11" name="Content Placeholder 5">
            <a:extLst>
              <a:ext uri="{FF2B5EF4-FFF2-40B4-BE49-F238E27FC236}">
                <a16:creationId xmlns:a16="http://schemas.microsoft.com/office/drawing/2014/main" id="{DFE926D3-D504-DB84-12A5-2294CDABCDCD}"/>
              </a:ext>
            </a:extLst>
          </p:cNvPr>
          <p:cNvSpPr>
            <a:spLocks noGrp="1"/>
          </p:cNvSpPr>
          <p:nvPr>
            <p:ph idx="1"/>
          </p:nvPr>
        </p:nvSpPr>
        <p:spPr>
          <a:xfrm>
            <a:off x="348791" y="1845734"/>
            <a:ext cx="11481847" cy="4023360"/>
          </a:xfrm>
        </p:spPr>
        <p:txBody>
          <a:bodyPr>
            <a:normAutofit/>
          </a:bodyPr>
          <a:lstStyle/>
          <a:p>
            <a:pPr marL="342900" indent="-342900">
              <a:lnSpc>
                <a:spcPct val="90000"/>
              </a:lnSpc>
              <a:spcBef>
                <a:spcPct val="75000"/>
              </a:spcBef>
            </a:pPr>
            <a:r>
              <a:rPr lang="en-US" altLang="en-US" sz="2400" dirty="0"/>
              <a:t>The </a:t>
            </a:r>
            <a:r>
              <a:rPr lang="en-US" altLang="en-US" sz="2000" dirty="0" err="1"/>
              <a:t>toString</a:t>
            </a:r>
            <a:r>
              <a:rPr lang="en-US" altLang="en-US" sz="2000" dirty="0"/>
              <a:t>()</a:t>
            </a:r>
            <a:r>
              <a:rPr lang="en-US" altLang="en-US" sz="2400" dirty="0"/>
              <a:t> method returns a </a:t>
            </a:r>
            <a:r>
              <a:rPr lang="en-US" altLang="en-US" sz="2400" b="1" dirty="0"/>
              <a:t>string representation </a:t>
            </a:r>
            <a:r>
              <a:rPr lang="en-US" altLang="en-US" sz="2400" dirty="0"/>
              <a:t>of the object.</a:t>
            </a:r>
          </a:p>
          <a:p>
            <a:pPr marL="342900" indent="-342900">
              <a:lnSpc>
                <a:spcPct val="90000"/>
              </a:lnSpc>
              <a:spcBef>
                <a:spcPct val="75000"/>
              </a:spcBef>
            </a:pPr>
            <a:r>
              <a:rPr lang="en-US" altLang="en-US" dirty="0"/>
              <a:t>Note: Default behavior of </a:t>
            </a:r>
            <a:r>
              <a:rPr lang="en-US" altLang="en-US" dirty="0" err="1"/>
              <a:t>toString</a:t>
            </a:r>
            <a:r>
              <a:rPr lang="en-US" altLang="en-US" dirty="0"/>
              <a:t>() is to print class name, then @, then unsigned hexadecimal representation of the hash code of the object.</a:t>
            </a:r>
            <a:endParaRPr lang="en-US" altLang="en-US" sz="2400" dirty="0"/>
          </a:p>
          <a:p>
            <a:pPr marL="342900" indent="-342900">
              <a:lnSpc>
                <a:spcPct val="90000"/>
              </a:lnSpc>
              <a:spcBef>
                <a:spcPct val="75000"/>
              </a:spcBef>
            </a:pPr>
            <a:r>
              <a:rPr lang="en-US" altLang="en-US" dirty="0">
                <a:cs typeface="Times New Roman" panose="02020603050405020304" pitchFamily="18" charset="0"/>
              </a:rPr>
              <a:t>Example :</a:t>
            </a:r>
            <a:br>
              <a:rPr lang="en-US" altLang="en-US" dirty="0">
                <a:cs typeface="Times New Roman" panose="02020603050405020304" pitchFamily="18" charset="0"/>
              </a:rPr>
            </a:br>
            <a:endParaRPr lang="en-US" altLang="en-US" sz="2400" dirty="0">
              <a:solidFill>
                <a:schemeClr val="tx2"/>
              </a:solidFill>
            </a:endParaRPr>
          </a:p>
          <a:p>
            <a:r>
              <a:rPr lang="en-US" altLang="en-US" sz="2400" dirty="0">
                <a:cs typeface="Courier New" panose="02070309020205020404" pitchFamily="49" charset="0"/>
              </a:rPr>
              <a:t>The code displays something like </a:t>
            </a:r>
            <a:r>
              <a:rPr lang="en-US" altLang="en-US" dirty="0"/>
              <a:t>Loan@15037e5 </a:t>
            </a:r>
            <a:r>
              <a:rPr lang="en-US" altLang="en-US" sz="2400" dirty="0">
                <a:cs typeface="Courier New" panose="02070309020205020404" pitchFamily="49" charset="0"/>
              </a:rPr>
              <a:t>.</a:t>
            </a:r>
            <a:r>
              <a:rPr lang="en-US" altLang="en-US" sz="2400" dirty="0">
                <a:cs typeface="Times New Roman" panose="02020603050405020304" pitchFamily="18" charset="0"/>
              </a:rPr>
              <a:t> </a:t>
            </a:r>
            <a:r>
              <a:rPr lang="en-US" altLang="en-US" sz="2400" dirty="0">
                <a:cs typeface="Courier New" panose="02070309020205020404" pitchFamily="49" charset="0"/>
              </a:rPr>
              <a:t>This message is not very helpful or informative. Usually </a:t>
            </a:r>
            <a:r>
              <a:rPr lang="en-US" altLang="en-US" sz="2400" b="1" dirty="0">
                <a:cs typeface="Courier New" panose="02070309020205020404" pitchFamily="49" charset="0"/>
              </a:rPr>
              <a:t>you should override the </a:t>
            </a:r>
            <a:r>
              <a:rPr lang="en-US" altLang="en-US" sz="2400" b="1" dirty="0" err="1">
                <a:cs typeface="Courier New" panose="02070309020205020404" pitchFamily="49" charset="0"/>
              </a:rPr>
              <a:t>toString</a:t>
            </a:r>
            <a:r>
              <a:rPr lang="en-US" altLang="en-US" sz="2400" b="1" dirty="0">
                <a:cs typeface="Courier New" panose="02070309020205020404" pitchFamily="49" charset="0"/>
              </a:rPr>
              <a:t> method </a:t>
            </a:r>
            <a:r>
              <a:rPr lang="en-US" altLang="en-US" sz="2400" dirty="0">
                <a:cs typeface="Courier New" panose="02070309020205020404" pitchFamily="49" charset="0"/>
              </a:rPr>
              <a:t>so that it returns a digestible string representation of the object.</a:t>
            </a:r>
            <a:r>
              <a:rPr lang="en-US" altLang="en-US" sz="2400" dirty="0">
                <a:cs typeface="Times New Roman" panose="02020603050405020304" pitchFamily="18" charset="0"/>
              </a:rPr>
              <a:t> </a:t>
            </a:r>
          </a:p>
          <a:p>
            <a:pPr>
              <a:buFont typeface="Monotype Sorts"/>
              <a:buNone/>
            </a:pPr>
            <a:endParaRPr lang="en-US" altLang="en-US" sz="2400" dirty="0">
              <a:solidFill>
                <a:schemeClr val="tx2"/>
              </a:solidFill>
            </a:endParaRPr>
          </a:p>
        </p:txBody>
      </p:sp>
      <p:sp>
        <p:nvSpPr>
          <p:cNvPr id="5" name="TextBox 4">
            <a:extLst>
              <a:ext uri="{FF2B5EF4-FFF2-40B4-BE49-F238E27FC236}">
                <a16:creationId xmlns:a16="http://schemas.microsoft.com/office/drawing/2014/main" id="{CFA15762-7E7A-465B-B328-F6F6021C7D05}"/>
              </a:ext>
            </a:extLst>
          </p:cNvPr>
          <p:cNvSpPr txBox="1"/>
          <p:nvPr/>
        </p:nvSpPr>
        <p:spPr>
          <a:xfrm>
            <a:off x="2172236" y="3429000"/>
            <a:ext cx="6473781" cy="707886"/>
          </a:xfrm>
          <a:prstGeom prst="rect">
            <a:avLst/>
          </a:prstGeom>
          <a:noFill/>
        </p:spPr>
        <p:txBody>
          <a:bodyPr wrap="square" rtlCol="0">
            <a:spAutoFit/>
          </a:bodyPr>
          <a:lstStyle/>
          <a:p>
            <a:r>
              <a:rPr lang="en-US" sz="2000" b="1" dirty="0">
                <a:latin typeface="Courier New" panose="02070309020205020404" pitchFamily="49" charset="0"/>
                <a:cs typeface="Courier New" panose="02070309020205020404" pitchFamily="49" charset="0"/>
              </a:rPr>
              <a:t>Loan </a:t>
            </a:r>
            <a:r>
              <a:rPr lang="en-US" sz="2000" b="1" dirty="0" err="1">
                <a:latin typeface="Courier New" panose="02070309020205020404" pitchFamily="49" charset="0"/>
                <a:cs typeface="Courier New" panose="02070309020205020404" pitchFamily="49" charset="0"/>
              </a:rPr>
              <a:t>loan</a:t>
            </a:r>
            <a:r>
              <a:rPr lang="en-US" sz="2000" b="1" dirty="0">
                <a:latin typeface="Courier New" panose="02070309020205020404" pitchFamily="49" charset="0"/>
                <a:cs typeface="Courier New" panose="02070309020205020404" pitchFamily="49" charset="0"/>
              </a:rPr>
              <a:t> = new Loan(); </a:t>
            </a:r>
            <a:r>
              <a:rPr lang="en-US" sz="2000" b="1" dirty="0" err="1">
                <a:latin typeface="Courier New" panose="02070309020205020404" pitchFamily="49" charset="0"/>
                <a:cs typeface="Courier New" panose="02070309020205020404" pitchFamily="49" charset="0"/>
              </a:rPr>
              <a:t>System.out.println</a:t>
            </a:r>
            <a:r>
              <a:rPr lang="en-US" sz="2000" b="1" dirty="0">
                <a:latin typeface="Courier New" panose="02070309020205020404" pitchFamily="49" charset="0"/>
                <a:cs typeface="Courier New" panose="02070309020205020404" pitchFamily="49" charset="0"/>
              </a:rPr>
              <a:t>(</a:t>
            </a:r>
            <a:r>
              <a:rPr lang="en-US" sz="2000" b="1" dirty="0" err="1">
                <a:latin typeface="Courier New" panose="02070309020205020404" pitchFamily="49" charset="0"/>
                <a:cs typeface="Courier New" panose="02070309020205020404" pitchFamily="49" charset="0"/>
              </a:rPr>
              <a:t>loan.toString</a:t>
            </a:r>
            <a:r>
              <a:rPr lang="en-US"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39721471"/>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25F0-4B00-95F6-E3A1-626A663E7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BCF50-BF2A-E3D9-D4E3-3B78C0F6F51A}"/>
              </a:ext>
            </a:extLst>
          </p:cNvPr>
          <p:cNvSpPr>
            <a:spLocks noGrp="1"/>
          </p:cNvSpPr>
          <p:nvPr>
            <p:ph type="title"/>
          </p:nvPr>
        </p:nvSpPr>
        <p:spPr>
          <a:xfrm>
            <a:off x="348791" y="286603"/>
            <a:ext cx="11481847" cy="1450757"/>
          </a:xfrm>
        </p:spPr>
        <p:txBody>
          <a:bodyPr/>
          <a:lstStyle/>
          <a:p>
            <a:pPr algn="l"/>
            <a:r>
              <a:rPr lang="en-US" altLang="en-US" dirty="0"/>
              <a:t>The </a:t>
            </a:r>
            <a:r>
              <a:rPr lang="en-US" altLang="en-US" sz="4800" dirty="0"/>
              <a:t>equals() </a:t>
            </a:r>
            <a:r>
              <a:rPr lang="en-US" altLang="en-US" dirty="0"/>
              <a:t>Method</a:t>
            </a:r>
            <a:endParaRPr lang="en-US" i="0" dirty="0">
              <a:effectLst/>
            </a:endParaRPr>
          </a:p>
        </p:txBody>
      </p:sp>
      <p:sp>
        <p:nvSpPr>
          <p:cNvPr id="4" name="Footer Placeholder 3">
            <a:extLst>
              <a:ext uri="{FF2B5EF4-FFF2-40B4-BE49-F238E27FC236}">
                <a16:creationId xmlns:a16="http://schemas.microsoft.com/office/drawing/2014/main" id="{44AEBF91-C8B6-3A37-E057-66D368D6F453}"/>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D86E349-1839-E6C1-9DA2-623E7CE06E4D}"/>
              </a:ext>
            </a:extLst>
          </p:cNvPr>
          <p:cNvSpPr>
            <a:spLocks noGrp="1"/>
          </p:cNvSpPr>
          <p:nvPr>
            <p:ph idx="1"/>
          </p:nvPr>
        </p:nvSpPr>
        <p:spPr/>
        <p:txBody>
          <a:bodyPr>
            <a:normAutofit/>
          </a:bodyPr>
          <a:lstStyle/>
          <a:p>
            <a:pPr marL="342900" indent="-342900"/>
            <a:r>
              <a:rPr lang="en-US" altLang="en-US" sz="2400" dirty="0"/>
              <a:t>The </a:t>
            </a:r>
            <a:r>
              <a:rPr lang="en-US" altLang="en-US" sz="2400" b="1" dirty="0">
                <a:latin typeface="Courier New" panose="02070309020205020404" pitchFamily="49" charset="0"/>
              </a:rPr>
              <a:t>equals() </a:t>
            </a:r>
            <a:r>
              <a:rPr lang="en-US" altLang="en-US" sz="2400" dirty="0"/>
              <a:t>method compares the contents of two objects. </a:t>
            </a:r>
            <a:r>
              <a:rPr lang="en-US" altLang="en-US" sz="2400" dirty="0">
                <a:cs typeface="Times New Roman" panose="02020603050405020304" pitchFamily="18" charset="0"/>
              </a:rPr>
              <a:t>The default implementation of the equals method in the Object class is as follows:</a:t>
            </a:r>
          </a:p>
          <a:p>
            <a:pPr marL="342900" indent="-342900"/>
            <a:endParaRPr lang="en-US" altLang="en-US" dirty="0">
              <a:cs typeface="Times New Roman" panose="02020603050405020304" pitchFamily="18" charset="0"/>
            </a:endParaRPr>
          </a:p>
          <a:p>
            <a:pPr marL="342900" indent="-342900"/>
            <a:endParaRPr lang="en-US" altLang="en-US" sz="2400" dirty="0">
              <a:cs typeface="Times New Roman" panose="02020603050405020304" pitchFamily="18" charset="0"/>
            </a:endParaRPr>
          </a:p>
          <a:p>
            <a:pPr marL="342900" indent="-342900"/>
            <a:r>
              <a:rPr lang="en-US" altLang="en-US" dirty="0">
                <a:cs typeface="Times New Roman" panose="02020603050405020304" pitchFamily="18" charset="0"/>
              </a:rPr>
              <a:t>For example, the equals method is overridden in the Rectangle class.</a:t>
            </a:r>
          </a:p>
          <a:p>
            <a:pPr marL="342900" indent="-342900"/>
            <a:endParaRPr lang="en-US" altLang="en-US" sz="2400" dirty="0">
              <a:cs typeface="Times New Roman" panose="02020603050405020304" pitchFamily="18" charset="0"/>
            </a:endParaRPr>
          </a:p>
          <a:p>
            <a:pPr marL="0" indent="0" algn="l">
              <a:buNone/>
            </a:pPr>
            <a:endParaRPr lang="en-US" b="0" i="0" dirty="0">
              <a:effectLst/>
            </a:endParaRPr>
          </a:p>
        </p:txBody>
      </p:sp>
      <p:sp>
        <p:nvSpPr>
          <p:cNvPr id="8" name="Rectangle 3">
            <a:extLst>
              <a:ext uri="{FF2B5EF4-FFF2-40B4-BE49-F238E27FC236}">
                <a16:creationId xmlns:a16="http://schemas.microsoft.com/office/drawing/2014/main" id="{404C671F-A998-F885-EA3C-2C7D23E36549}"/>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78A546C-E3CA-8D58-9D8C-63551C8EF521}"/>
              </a:ext>
            </a:extLst>
          </p:cNvPr>
          <p:cNvSpPr>
            <a:spLocks noChangeArrowheads="1"/>
          </p:cNvSpPr>
          <p:nvPr/>
        </p:nvSpPr>
        <p:spPr bwMode="auto">
          <a:xfrm>
            <a:off x="777026" y="2797504"/>
            <a:ext cx="6726666" cy="1024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public </a:t>
            </a:r>
            <a:r>
              <a:rPr lang="en-US" altLang="en-US" sz="2000" b="1" dirty="0" err="1">
                <a:latin typeface="Courier New" panose="02070309020205020404" pitchFamily="49" charset="0"/>
                <a:cs typeface="Times New Roman" panose="02020603050405020304" pitchFamily="18" charset="0"/>
              </a:rPr>
              <a:t>boolean</a:t>
            </a:r>
            <a:r>
              <a:rPr lang="en-US" altLang="en-US" sz="2000" b="1" dirty="0">
                <a:latin typeface="Courier New" panose="02070309020205020404" pitchFamily="49" charset="0"/>
                <a:cs typeface="Times New Roman" panose="02020603050405020304" pitchFamily="18" charset="0"/>
              </a:rPr>
              <a:t> equals(Object obj) {</a:t>
            </a:r>
          </a:p>
          <a:p>
            <a:pPr>
              <a:lnSpc>
                <a:spcPct val="0"/>
              </a:lnSpc>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  return this == obj;</a:t>
            </a:r>
          </a:p>
          <a:p>
            <a:pPr>
              <a:lnSpc>
                <a:spcPct val="0"/>
              </a:lnSpc>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a:t>
            </a:r>
          </a:p>
        </p:txBody>
      </p:sp>
      <p:sp>
        <p:nvSpPr>
          <p:cNvPr id="9" name="Rectangle 8">
            <a:extLst>
              <a:ext uri="{FF2B5EF4-FFF2-40B4-BE49-F238E27FC236}">
                <a16:creationId xmlns:a16="http://schemas.microsoft.com/office/drawing/2014/main" id="{04C6829D-98A7-A049-8702-4EC7A8CFC6A5}"/>
              </a:ext>
            </a:extLst>
          </p:cNvPr>
          <p:cNvSpPr>
            <a:spLocks noChangeArrowheads="1"/>
          </p:cNvSpPr>
          <p:nvPr/>
        </p:nvSpPr>
        <p:spPr bwMode="auto">
          <a:xfrm>
            <a:off x="777026" y="4650002"/>
            <a:ext cx="7402337" cy="1396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buFont typeface="Monotype Sorts"/>
              <a:buNone/>
            </a:pPr>
            <a:r>
              <a:rPr lang="en-US" altLang="en-US" sz="2000" b="1" dirty="0">
                <a:latin typeface="Courier New" panose="02070309020205020404" pitchFamily="49" charset="0"/>
                <a:cs typeface="Courier New" panose="02070309020205020404" pitchFamily="49" charset="0"/>
              </a:rPr>
              <a:t> public </a:t>
            </a:r>
            <a:r>
              <a:rPr lang="en-US" altLang="en-US" sz="2000" b="1" dirty="0" err="1">
                <a:latin typeface="Courier New" panose="02070309020205020404" pitchFamily="49" charset="0"/>
                <a:cs typeface="Courier New" panose="02070309020205020404" pitchFamily="49" charset="0"/>
              </a:rPr>
              <a:t>boolean</a:t>
            </a:r>
            <a:r>
              <a:rPr lang="en-US" altLang="en-US" sz="2000" b="1" dirty="0">
                <a:latin typeface="Courier New" panose="02070309020205020404" pitchFamily="49" charset="0"/>
                <a:cs typeface="Courier New" panose="02070309020205020404" pitchFamily="49" charset="0"/>
              </a:rPr>
              <a:t> equals(Rectangle obj) {   </a:t>
            </a:r>
          </a:p>
          <a:p>
            <a:pPr>
              <a:buFont typeface="Monotype Sorts"/>
              <a:buNone/>
            </a:pPr>
            <a:r>
              <a:rPr lang="en-US" altLang="en-US" sz="2000" b="1" dirty="0">
                <a:latin typeface="Courier New" panose="02070309020205020404" pitchFamily="49" charset="0"/>
                <a:cs typeface="Courier New" panose="02070309020205020404" pitchFamily="49" charset="0"/>
              </a:rPr>
              <a:t>    return (</a:t>
            </a:r>
            <a:r>
              <a:rPr lang="en-US" altLang="en-US" sz="2000" b="1" dirty="0" err="1">
                <a:latin typeface="Courier New" panose="02070309020205020404" pitchFamily="49" charset="0"/>
                <a:cs typeface="Courier New" panose="02070309020205020404" pitchFamily="49" charset="0"/>
              </a:rPr>
              <a:t>this.width</a:t>
            </a:r>
            <a:r>
              <a:rPr lang="en-US" altLang="en-US" sz="2000" b="1" dirty="0">
                <a:latin typeface="Courier New" panose="02070309020205020404" pitchFamily="49" charset="0"/>
                <a:cs typeface="Courier New" panose="02070309020205020404" pitchFamily="49" charset="0"/>
              </a:rPr>
              <a:t>==</a:t>
            </a:r>
            <a:r>
              <a:rPr lang="en-US" altLang="en-US" sz="2000" b="1" dirty="0" err="1">
                <a:latin typeface="Courier New" panose="02070309020205020404" pitchFamily="49" charset="0"/>
                <a:cs typeface="Courier New" panose="02070309020205020404" pitchFamily="49" charset="0"/>
              </a:rPr>
              <a:t>obj.width</a:t>
            </a:r>
            <a:r>
              <a:rPr lang="en-US" altLang="en-US" sz="2000" b="1" dirty="0">
                <a:latin typeface="Courier New" panose="02070309020205020404" pitchFamily="49" charset="0"/>
                <a:cs typeface="Courier New" panose="02070309020205020404" pitchFamily="49" charset="0"/>
              </a:rPr>
              <a:t>) &amp;&amp; </a:t>
            </a:r>
          </a:p>
          <a:p>
            <a:pPr>
              <a:buFont typeface="Monotype Sorts"/>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this.length</a:t>
            </a:r>
            <a:r>
              <a:rPr lang="en-US" altLang="en-US" sz="2000" b="1" dirty="0">
                <a:latin typeface="Courier New" panose="02070309020205020404" pitchFamily="49" charset="0"/>
                <a:cs typeface="Courier New" panose="02070309020205020404" pitchFamily="49" charset="0"/>
              </a:rPr>
              <a:t>==</a:t>
            </a:r>
            <a:r>
              <a:rPr lang="en-US" altLang="en-US" sz="2000" b="1" dirty="0" err="1">
                <a:latin typeface="Courier New" panose="02070309020205020404" pitchFamily="49" charset="0"/>
                <a:cs typeface="Courier New" panose="02070309020205020404" pitchFamily="49" charset="0"/>
              </a:rPr>
              <a:t>obj.length</a:t>
            </a:r>
            <a:r>
              <a:rPr lang="en-US" altLang="en-US" sz="2000" b="1" dirty="0">
                <a:latin typeface="Courier New" panose="02070309020205020404" pitchFamily="49" charset="0"/>
                <a:cs typeface="Courier New" panose="02070309020205020404" pitchFamily="49" charset="0"/>
              </a:rPr>
              <a:t>);</a:t>
            </a:r>
          </a:p>
          <a:p>
            <a:pPr>
              <a:buFont typeface="Monotype Sorts"/>
              <a:buNone/>
            </a:pPr>
            <a:r>
              <a:rPr lang="en-US" altLang="en-US" sz="2000" b="1" dirty="0">
                <a:latin typeface="Courier New" panose="02070309020205020404" pitchFamily="49" charset="0"/>
                <a:cs typeface="Courier New" panose="02070309020205020404" pitchFamily="49" charset="0"/>
              </a:rPr>
              <a:t>    }</a:t>
            </a:r>
            <a:endParaRPr lang="en-US" altLang="en-US" sz="2000" b="1" dirty="0">
              <a:solidFill>
                <a:schemeClr val="tx2"/>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68626979"/>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75AB-B097-44E2-A903-0D3CB96AD990}"/>
              </a:ext>
            </a:extLst>
          </p:cNvPr>
          <p:cNvSpPr>
            <a:spLocks noGrp="1"/>
          </p:cNvSpPr>
          <p:nvPr>
            <p:ph type="title"/>
          </p:nvPr>
        </p:nvSpPr>
        <p:spPr/>
        <p:txBody>
          <a:bodyPr/>
          <a:lstStyle/>
          <a:p>
            <a:r>
              <a:rPr lang="en-US" dirty="0"/>
              <a:t>NOTE</a:t>
            </a:r>
          </a:p>
        </p:txBody>
      </p:sp>
      <p:sp>
        <p:nvSpPr>
          <p:cNvPr id="3" name="Content Placeholder 2">
            <a:extLst>
              <a:ext uri="{FF2B5EF4-FFF2-40B4-BE49-F238E27FC236}">
                <a16:creationId xmlns:a16="http://schemas.microsoft.com/office/drawing/2014/main" id="{EE15DC22-4633-4D4F-8959-8ADC1BB6AC1F}"/>
              </a:ext>
            </a:extLst>
          </p:cNvPr>
          <p:cNvSpPr>
            <a:spLocks noGrp="1"/>
          </p:cNvSpPr>
          <p:nvPr>
            <p:ph idx="1"/>
          </p:nvPr>
        </p:nvSpPr>
        <p:spPr/>
        <p:txBody>
          <a:bodyPr/>
          <a:lstStyle/>
          <a:p>
            <a:r>
              <a:rPr lang="en-US" dirty="0"/>
              <a:t>The == comparison operator is used for comparing two primitive data type values or for determining whether two objects have the same references.</a:t>
            </a:r>
          </a:p>
          <a:p>
            <a:r>
              <a:rPr lang="en-US" dirty="0"/>
              <a:t> The equals method is intended to test whether two objects have the same contents, provided that the method is modified in the defining class of the objects.</a:t>
            </a:r>
          </a:p>
          <a:p>
            <a:r>
              <a:rPr lang="en-US" dirty="0"/>
              <a:t> The == operator is stronger than the equals method, in that the == operator checks whether the two reference variables refer to the same object.</a:t>
            </a:r>
          </a:p>
        </p:txBody>
      </p:sp>
      <p:sp>
        <p:nvSpPr>
          <p:cNvPr id="4" name="Footer Placeholder 3">
            <a:extLst>
              <a:ext uri="{FF2B5EF4-FFF2-40B4-BE49-F238E27FC236}">
                <a16:creationId xmlns:a16="http://schemas.microsoft.com/office/drawing/2014/main" id="{20B5B115-5299-4891-88B2-F1B771B44A76}"/>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265460539"/>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9AB2-5390-49B5-AA1D-7BBA3D86B783}"/>
              </a:ext>
            </a:extLst>
          </p:cNvPr>
          <p:cNvSpPr>
            <a:spLocks noGrp="1"/>
          </p:cNvSpPr>
          <p:nvPr>
            <p:ph type="title"/>
          </p:nvPr>
        </p:nvSpPr>
        <p:spPr/>
        <p:txBody>
          <a:bodyPr/>
          <a:lstStyle/>
          <a:p>
            <a:r>
              <a:rPr lang="en-US" dirty="0"/>
              <a:t>The final Modifier</a:t>
            </a:r>
          </a:p>
        </p:txBody>
      </p:sp>
      <p:sp>
        <p:nvSpPr>
          <p:cNvPr id="3" name="Content Placeholder 2">
            <a:extLst>
              <a:ext uri="{FF2B5EF4-FFF2-40B4-BE49-F238E27FC236}">
                <a16:creationId xmlns:a16="http://schemas.microsoft.com/office/drawing/2014/main" id="{F7F2BDE7-F02F-4911-A377-8991B0D23F31}"/>
              </a:ext>
            </a:extLst>
          </p:cNvPr>
          <p:cNvSpPr>
            <a:spLocks noGrp="1"/>
          </p:cNvSpPr>
          <p:nvPr>
            <p:ph idx="1"/>
          </p:nvPr>
        </p:nvSpPr>
        <p:spPr/>
        <p:txBody>
          <a:bodyPr/>
          <a:lstStyle/>
          <a:p>
            <a:r>
              <a:rPr lang="en-US" dirty="0"/>
              <a:t>The final class cannot be extended:</a:t>
            </a:r>
          </a:p>
          <a:p>
            <a:pPr marL="0" indent="0">
              <a:lnSpc>
                <a:spcPct val="90000"/>
              </a:lnSpc>
              <a:buNone/>
            </a:pPr>
            <a:r>
              <a:rPr lang="en-US" altLang="en-US" b="1" dirty="0">
                <a:solidFill>
                  <a:schemeClr val="tx2"/>
                </a:solidFill>
                <a:latin typeface="Courier New" panose="02070309020205020404" pitchFamily="49" charset="0"/>
                <a:cs typeface="Courier New" panose="02070309020205020404" pitchFamily="49" charset="0"/>
              </a:rPr>
              <a:t>final class Math {</a:t>
            </a:r>
          </a:p>
          <a:p>
            <a:pPr marL="0" indent="0">
              <a:lnSpc>
                <a:spcPct val="90000"/>
              </a:lnSpc>
              <a:buNone/>
            </a:pPr>
            <a:r>
              <a:rPr lang="en-US" altLang="en-US" b="1" dirty="0">
                <a:solidFill>
                  <a:schemeClr val="tx2"/>
                </a:solidFill>
                <a:latin typeface="Courier New" panose="02070309020205020404" pitchFamily="49" charset="0"/>
                <a:cs typeface="Courier New" panose="02070309020205020404" pitchFamily="49" charset="0"/>
              </a:rPr>
              <a:t>      ...</a:t>
            </a:r>
          </a:p>
          <a:p>
            <a:pPr marL="0" indent="0">
              <a:lnSpc>
                <a:spcPct val="90000"/>
              </a:lnSpc>
              <a:buNone/>
            </a:pPr>
            <a:r>
              <a:rPr lang="en-US" altLang="en-US" b="1" dirty="0">
                <a:solidFill>
                  <a:schemeClr val="tx2"/>
                </a:solidFill>
                <a:latin typeface="Courier New" panose="02070309020205020404" pitchFamily="49" charset="0"/>
                <a:cs typeface="Courier New" panose="02070309020205020404" pitchFamily="49" charset="0"/>
              </a:rPr>
              <a:t>    }</a:t>
            </a:r>
          </a:p>
          <a:p>
            <a:pPr>
              <a:lnSpc>
                <a:spcPct val="90000"/>
              </a:lnSpc>
              <a:spcBef>
                <a:spcPct val="100000"/>
              </a:spcBef>
            </a:pPr>
            <a:r>
              <a:rPr lang="en-US" altLang="en-US" dirty="0"/>
              <a:t>The </a:t>
            </a:r>
            <a:r>
              <a:rPr lang="en-US" altLang="en-US" b="1" dirty="0">
                <a:latin typeface="Courier New" panose="02070309020205020404" pitchFamily="49" charset="0"/>
              </a:rPr>
              <a:t>final</a:t>
            </a:r>
            <a:r>
              <a:rPr lang="en-US" altLang="en-US" dirty="0"/>
              <a:t> variable is a constant:</a:t>
            </a:r>
          </a:p>
          <a:p>
            <a:pPr marL="0" indent="0">
              <a:lnSpc>
                <a:spcPct val="90000"/>
              </a:lnSpc>
              <a:buNone/>
            </a:pPr>
            <a:r>
              <a:rPr lang="en-US" altLang="en-US" sz="2000" dirty="0">
                <a:latin typeface="Courier New" panose="02070309020205020404" pitchFamily="49" charset="0"/>
                <a:cs typeface="Courier New" panose="02070309020205020404" pitchFamily="49" charset="0"/>
              </a:rPr>
              <a:t>  </a:t>
            </a:r>
            <a:r>
              <a:rPr lang="en-US" altLang="en-US" sz="2000" b="1" dirty="0">
                <a:solidFill>
                  <a:schemeClr val="tx2"/>
                </a:solidFill>
                <a:latin typeface="Courier New" panose="02070309020205020404" pitchFamily="49" charset="0"/>
                <a:cs typeface="Courier New" panose="02070309020205020404" pitchFamily="49" charset="0"/>
              </a:rPr>
              <a:t>final static double PI = 3.14159;</a:t>
            </a:r>
            <a:endParaRPr lang="en-US" altLang="en-US" b="1" dirty="0">
              <a:solidFill>
                <a:schemeClr val="tx2"/>
              </a:solidFill>
              <a:latin typeface="Courier New" panose="02070309020205020404" pitchFamily="49" charset="0"/>
              <a:cs typeface="Courier New" panose="02070309020205020404" pitchFamily="49" charset="0"/>
            </a:endParaRPr>
          </a:p>
          <a:p>
            <a:pPr>
              <a:lnSpc>
                <a:spcPct val="90000"/>
              </a:lnSpc>
              <a:spcBef>
                <a:spcPct val="100000"/>
              </a:spcBef>
            </a:pPr>
            <a:r>
              <a:rPr lang="en-US" altLang="en-US" dirty="0"/>
              <a:t>The </a:t>
            </a:r>
            <a:r>
              <a:rPr lang="en-US" altLang="en-US" b="1" dirty="0">
                <a:latin typeface="Courier New" panose="02070309020205020404" pitchFamily="49" charset="0"/>
              </a:rPr>
              <a:t>final</a:t>
            </a:r>
            <a:r>
              <a:rPr lang="en-US" altLang="en-US" dirty="0"/>
              <a:t> method cannot be overridden by its subclasses.</a:t>
            </a:r>
          </a:p>
          <a:p>
            <a:endParaRPr lang="en-US" dirty="0"/>
          </a:p>
        </p:txBody>
      </p:sp>
      <p:sp>
        <p:nvSpPr>
          <p:cNvPr id="4" name="Footer Placeholder 3">
            <a:extLst>
              <a:ext uri="{FF2B5EF4-FFF2-40B4-BE49-F238E27FC236}">
                <a16:creationId xmlns:a16="http://schemas.microsoft.com/office/drawing/2014/main" id="{0B9E3A54-9B98-4A84-9047-FCD0CCB4C2D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499382556"/>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72E54-6AAE-142C-7727-104F1350A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7C811-B3DB-74C2-4AB2-34ECA28A8FF8}"/>
              </a:ext>
            </a:extLst>
          </p:cNvPr>
          <p:cNvSpPr>
            <a:spLocks noGrp="1"/>
          </p:cNvSpPr>
          <p:nvPr>
            <p:ph type="title"/>
          </p:nvPr>
        </p:nvSpPr>
        <p:spPr/>
        <p:txBody>
          <a:bodyPr/>
          <a:lstStyle/>
          <a:p>
            <a:r>
              <a:rPr lang="en-US" dirty="0"/>
              <a:t>The final Method</a:t>
            </a:r>
          </a:p>
        </p:txBody>
      </p:sp>
      <p:sp>
        <p:nvSpPr>
          <p:cNvPr id="4" name="Footer Placeholder 3">
            <a:extLst>
              <a:ext uri="{FF2B5EF4-FFF2-40B4-BE49-F238E27FC236}">
                <a16:creationId xmlns:a16="http://schemas.microsoft.com/office/drawing/2014/main" id="{3E1A25DD-9FBC-D622-82E0-BE2BEC473E69}"/>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3">
            <a:extLst>
              <a:ext uri="{FF2B5EF4-FFF2-40B4-BE49-F238E27FC236}">
                <a16:creationId xmlns:a16="http://schemas.microsoft.com/office/drawing/2014/main" id="{443B7C69-DB10-6C3D-C259-8AAF7DD8F863}"/>
              </a:ext>
            </a:extLst>
          </p:cNvPr>
          <p:cNvPicPr>
            <a:picLocks noChangeAspect="1" noChangeArrowheads="1"/>
          </p:cNvPicPr>
          <p:nvPr/>
        </p:nvPicPr>
        <p:blipFill>
          <a:blip r:embed="rId2"/>
          <a:srcRect/>
          <a:stretch>
            <a:fillRect/>
          </a:stretch>
        </p:blipFill>
        <p:spPr bwMode="auto">
          <a:xfrm>
            <a:off x="348791" y="1985814"/>
            <a:ext cx="7858180" cy="3996345"/>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E79941EA-135A-C27A-62C7-FA7421730091}"/>
              </a:ext>
            </a:extLst>
          </p:cNvPr>
          <p:cNvSpPr/>
          <p:nvPr/>
        </p:nvSpPr>
        <p:spPr>
          <a:xfrm>
            <a:off x="1446244" y="4154397"/>
            <a:ext cx="4643470" cy="1000132"/>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6E43EDA-C013-1619-2334-DCF01842E67F}"/>
              </a:ext>
            </a:extLst>
          </p:cNvPr>
          <p:cNvSpPr txBox="1"/>
          <p:nvPr/>
        </p:nvSpPr>
        <p:spPr>
          <a:xfrm>
            <a:off x="8206971" y="1985814"/>
            <a:ext cx="3836624" cy="1289071"/>
          </a:xfrm>
          <a:prstGeom prst="rect">
            <a:avLst/>
          </a:prstGeom>
          <a:noFill/>
        </p:spPr>
        <p:txBody>
          <a:bodyPr wrap="square">
            <a:spAutoFit/>
          </a:bodyPr>
          <a:lstStyle/>
          <a:p>
            <a:pPr marL="352425" indent="-352425" algn="just" rtl="0">
              <a:lnSpc>
                <a:spcPct val="150000"/>
              </a:lnSpc>
              <a:buFont typeface="Wingdings" pitchFamily="2" charset="2"/>
              <a:buChar char="v"/>
            </a:pPr>
            <a:r>
              <a:rPr lang="en-US" sz="1800" b="1" dirty="0">
                <a:solidFill>
                  <a:schemeClr val="bg2">
                    <a:lumMod val="75000"/>
                  </a:schemeClr>
                </a:solidFill>
                <a:cs typeface="Times New Roman" pitchFamily="18" charset="0"/>
              </a:rPr>
              <a:t>When a method is defined as "final," this means it cannot be overridden.</a:t>
            </a:r>
          </a:p>
        </p:txBody>
      </p:sp>
    </p:spTree>
    <p:extLst>
      <p:ext uri="{BB962C8B-B14F-4D97-AF65-F5344CB8AC3E}">
        <p14:creationId xmlns:p14="http://schemas.microsoft.com/office/powerpoint/2010/main" val="3604163158"/>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E787C-7CC6-4C65-29EF-498DF648C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EE083-92E8-7077-EABC-EF98C05CD0BD}"/>
              </a:ext>
            </a:extLst>
          </p:cNvPr>
          <p:cNvSpPr>
            <a:spLocks noGrp="1"/>
          </p:cNvSpPr>
          <p:nvPr>
            <p:ph type="title"/>
          </p:nvPr>
        </p:nvSpPr>
        <p:spPr/>
        <p:txBody>
          <a:bodyPr/>
          <a:lstStyle/>
          <a:p>
            <a:r>
              <a:rPr lang="en-US" dirty="0"/>
              <a:t>The final Method error message</a:t>
            </a:r>
          </a:p>
        </p:txBody>
      </p:sp>
      <p:sp>
        <p:nvSpPr>
          <p:cNvPr id="4" name="Footer Placeholder 3">
            <a:extLst>
              <a:ext uri="{FF2B5EF4-FFF2-40B4-BE49-F238E27FC236}">
                <a16:creationId xmlns:a16="http://schemas.microsoft.com/office/drawing/2014/main" id="{A49BAA88-08E6-8B59-A736-943A69B862CF}"/>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3" name="Picture 2">
            <a:extLst>
              <a:ext uri="{FF2B5EF4-FFF2-40B4-BE49-F238E27FC236}">
                <a16:creationId xmlns:a16="http://schemas.microsoft.com/office/drawing/2014/main" id="{3EF680AF-A17A-0227-6569-123678402353}"/>
              </a:ext>
            </a:extLst>
          </p:cNvPr>
          <p:cNvPicPr>
            <a:picLocks noChangeAspect="1" noChangeArrowheads="1"/>
          </p:cNvPicPr>
          <p:nvPr/>
        </p:nvPicPr>
        <p:blipFill>
          <a:blip r:embed="rId2"/>
          <a:srcRect/>
          <a:stretch>
            <a:fillRect/>
          </a:stretch>
        </p:blipFill>
        <p:spPr bwMode="auto">
          <a:xfrm>
            <a:off x="480911" y="1737360"/>
            <a:ext cx="11217606" cy="452022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941FA6EE-CF54-83B8-2CCF-43E9A50B215B}"/>
              </a:ext>
            </a:extLst>
          </p:cNvPr>
          <p:cNvSpPr/>
          <p:nvPr/>
        </p:nvSpPr>
        <p:spPr>
          <a:xfrm>
            <a:off x="1469176" y="3338111"/>
            <a:ext cx="10229341" cy="1542361"/>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409983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894C2-839B-E45D-52C4-D206A38F5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97DD8-585A-4639-D851-DA5B63E61226}"/>
              </a:ext>
            </a:extLst>
          </p:cNvPr>
          <p:cNvSpPr>
            <a:spLocks noGrp="1"/>
          </p:cNvSpPr>
          <p:nvPr>
            <p:ph type="title"/>
          </p:nvPr>
        </p:nvSpPr>
        <p:spPr/>
        <p:txBody>
          <a:bodyPr/>
          <a:lstStyle/>
          <a:p>
            <a:r>
              <a:rPr lang="en-US" dirty="0"/>
              <a:t>The final Class</a:t>
            </a:r>
          </a:p>
        </p:txBody>
      </p:sp>
      <p:sp>
        <p:nvSpPr>
          <p:cNvPr id="4" name="Footer Placeholder 3">
            <a:extLst>
              <a:ext uri="{FF2B5EF4-FFF2-40B4-BE49-F238E27FC236}">
                <a16:creationId xmlns:a16="http://schemas.microsoft.com/office/drawing/2014/main" id="{F22E6FA7-4785-B19D-ABD7-3C96DE0C8B0D}"/>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DE7C2BBA-D377-4F3E-A5E4-E15F395F82D9}"/>
              </a:ext>
            </a:extLst>
          </p:cNvPr>
          <p:cNvPicPr>
            <a:picLocks noChangeAspect="1" noChangeArrowheads="1"/>
          </p:cNvPicPr>
          <p:nvPr/>
        </p:nvPicPr>
        <p:blipFill>
          <a:blip r:embed="rId2"/>
          <a:srcRect/>
          <a:stretch>
            <a:fillRect/>
          </a:stretch>
        </p:blipFill>
        <p:spPr bwMode="auto">
          <a:xfrm>
            <a:off x="348791" y="1919713"/>
            <a:ext cx="7858180" cy="4194648"/>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82867954-AF6C-0DD2-2279-9E5584F3F95F}"/>
              </a:ext>
            </a:extLst>
          </p:cNvPr>
          <p:cNvSpPr txBox="1"/>
          <p:nvPr/>
        </p:nvSpPr>
        <p:spPr>
          <a:xfrm>
            <a:off x="8387173" y="2003449"/>
            <a:ext cx="3081386" cy="1703030"/>
          </a:xfrm>
          <a:prstGeom prst="rect">
            <a:avLst/>
          </a:prstGeom>
          <a:noFill/>
        </p:spPr>
        <p:txBody>
          <a:bodyPr wrap="square">
            <a:spAutoFit/>
          </a:bodyPr>
          <a:lstStyle/>
          <a:p>
            <a:pPr marL="352425" indent="-352425" algn="just" rtl="0">
              <a:lnSpc>
                <a:spcPct val="150000"/>
              </a:lnSpc>
              <a:buFont typeface="Wingdings" pitchFamily="2" charset="2"/>
              <a:buChar char="v"/>
            </a:pPr>
            <a:r>
              <a:rPr lang="en-US" sz="1800" b="1" dirty="0">
                <a:solidFill>
                  <a:schemeClr val="bg2">
                    <a:lumMod val="75000"/>
                  </a:schemeClr>
                </a:solidFill>
                <a:cs typeface="Times New Roman" pitchFamily="18" charset="0"/>
              </a:rPr>
              <a:t>When a class is defined as "final," this means it cannot be inherited.</a:t>
            </a:r>
          </a:p>
        </p:txBody>
      </p:sp>
      <p:sp>
        <p:nvSpPr>
          <p:cNvPr id="11" name="Rectangle 10">
            <a:extLst>
              <a:ext uri="{FF2B5EF4-FFF2-40B4-BE49-F238E27FC236}">
                <a16:creationId xmlns:a16="http://schemas.microsoft.com/office/drawing/2014/main" id="{8F972A37-BDA6-519E-631B-8BB68051F9B2}"/>
              </a:ext>
            </a:extLst>
          </p:cNvPr>
          <p:cNvSpPr/>
          <p:nvPr/>
        </p:nvSpPr>
        <p:spPr>
          <a:xfrm>
            <a:off x="723440" y="1919713"/>
            <a:ext cx="1824545" cy="357190"/>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0476101"/>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B5F5-77EC-853E-BA74-77D4F5FEA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A6602-76D1-D010-F124-8843379639F2}"/>
              </a:ext>
            </a:extLst>
          </p:cNvPr>
          <p:cNvSpPr>
            <a:spLocks noGrp="1"/>
          </p:cNvSpPr>
          <p:nvPr>
            <p:ph type="title"/>
          </p:nvPr>
        </p:nvSpPr>
        <p:spPr/>
        <p:txBody>
          <a:bodyPr/>
          <a:lstStyle/>
          <a:p>
            <a:r>
              <a:rPr lang="en-US" dirty="0"/>
              <a:t>The final Class error message </a:t>
            </a:r>
          </a:p>
        </p:txBody>
      </p:sp>
      <p:sp>
        <p:nvSpPr>
          <p:cNvPr id="4" name="Footer Placeholder 3">
            <a:extLst>
              <a:ext uri="{FF2B5EF4-FFF2-40B4-BE49-F238E27FC236}">
                <a16:creationId xmlns:a16="http://schemas.microsoft.com/office/drawing/2014/main" id="{BB34E328-1EA9-FD32-2908-D0A567BB6699}"/>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9" name="Picture 4">
            <a:extLst>
              <a:ext uri="{FF2B5EF4-FFF2-40B4-BE49-F238E27FC236}">
                <a16:creationId xmlns:a16="http://schemas.microsoft.com/office/drawing/2014/main" id="{4C2AC44B-0E7C-FDE8-4EA4-9B2C219FD130}"/>
              </a:ext>
            </a:extLst>
          </p:cNvPr>
          <p:cNvPicPr>
            <a:picLocks noChangeAspect="1" noChangeArrowheads="1"/>
          </p:cNvPicPr>
          <p:nvPr/>
        </p:nvPicPr>
        <p:blipFill>
          <a:blip r:embed="rId2"/>
          <a:srcRect/>
          <a:stretch>
            <a:fillRect/>
          </a:stretch>
        </p:blipFill>
        <p:spPr bwMode="auto">
          <a:xfrm>
            <a:off x="1678032" y="1737360"/>
            <a:ext cx="8664081" cy="4437700"/>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3" name="Rectangle 12">
            <a:extLst>
              <a:ext uri="{FF2B5EF4-FFF2-40B4-BE49-F238E27FC236}">
                <a16:creationId xmlns:a16="http://schemas.microsoft.com/office/drawing/2014/main" id="{376BC5DB-440A-3778-CF5F-2C90165D174C}"/>
              </a:ext>
            </a:extLst>
          </p:cNvPr>
          <p:cNvSpPr/>
          <p:nvPr/>
        </p:nvSpPr>
        <p:spPr>
          <a:xfrm>
            <a:off x="2144223" y="1803194"/>
            <a:ext cx="6933676" cy="884921"/>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5212799"/>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6AED-1899-5284-B10B-75462BEA8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22657-7A19-94EF-E1AA-862930938632}"/>
              </a:ext>
            </a:extLst>
          </p:cNvPr>
          <p:cNvSpPr>
            <a:spLocks noGrp="1"/>
          </p:cNvSpPr>
          <p:nvPr>
            <p:ph type="title"/>
          </p:nvPr>
        </p:nvSpPr>
        <p:spPr>
          <a:xfrm>
            <a:off x="348791" y="286603"/>
            <a:ext cx="11481847" cy="1450757"/>
          </a:xfrm>
        </p:spPr>
        <p:txBody>
          <a:bodyPr/>
          <a:lstStyle/>
          <a:p>
            <a:pPr algn="l"/>
            <a:r>
              <a:rPr lang="en-US" altLang="en-US" dirty="0"/>
              <a:t>Inheritance Example</a:t>
            </a:r>
            <a:endParaRPr lang="en-US" sz="2000" i="0" dirty="0">
              <a:effectLst/>
            </a:endParaRPr>
          </a:p>
        </p:txBody>
      </p:sp>
      <p:sp>
        <p:nvSpPr>
          <p:cNvPr id="4" name="Footer Placeholder 3">
            <a:extLst>
              <a:ext uri="{FF2B5EF4-FFF2-40B4-BE49-F238E27FC236}">
                <a16:creationId xmlns:a16="http://schemas.microsoft.com/office/drawing/2014/main" id="{B79708C0-B97F-E523-909F-6B31F2B213FF}"/>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1274D127-749B-0367-A609-5484284054CD}"/>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Content Placeholder 8" descr="A computer code with text&#10;&#10;Description automatically generated">
            <a:extLst>
              <a:ext uri="{FF2B5EF4-FFF2-40B4-BE49-F238E27FC236}">
                <a16:creationId xmlns:a16="http://schemas.microsoft.com/office/drawing/2014/main" id="{612003A4-CC64-30ED-6C20-620D6598E2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36" y="1737360"/>
            <a:ext cx="5967212" cy="4607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A computer code with text&#10;&#10;Description automatically generated">
            <a:extLst>
              <a:ext uri="{FF2B5EF4-FFF2-40B4-BE49-F238E27FC236}">
                <a16:creationId xmlns:a16="http://schemas.microsoft.com/office/drawing/2014/main" id="{F7FB7968-4AB0-4296-B95F-A244D829A1B1}"/>
              </a:ext>
            </a:extLst>
          </p:cNvPr>
          <p:cNvPicPr>
            <a:picLocks noChangeAspect="1"/>
          </p:cNvPicPr>
          <p:nvPr/>
        </p:nvPicPr>
        <p:blipFill rotWithShape="1">
          <a:blip r:embed="rId3">
            <a:extLst>
              <a:ext uri="{28A0092B-C50C-407E-A947-70E740481C1C}">
                <a14:useLocalDpi xmlns:a14="http://schemas.microsoft.com/office/drawing/2010/main" val="0"/>
              </a:ext>
            </a:extLst>
          </a:blip>
          <a:srcRect l="11542"/>
          <a:stretch/>
        </p:blipFill>
        <p:spPr>
          <a:xfrm>
            <a:off x="6147455" y="1690138"/>
            <a:ext cx="6044545" cy="38531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6" name="Picture 15" descr="A close up of a text&#10;&#10;Description automatically generated">
            <a:extLst>
              <a:ext uri="{FF2B5EF4-FFF2-40B4-BE49-F238E27FC236}">
                <a16:creationId xmlns:a16="http://schemas.microsoft.com/office/drawing/2014/main" id="{0E3DED76-6670-49EB-AE5B-A892B11D00AA}"/>
              </a:ext>
            </a:extLst>
          </p:cNvPr>
          <p:cNvPicPr>
            <a:picLocks noChangeAspect="1"/>
          </p:cNvPicPr>
          <p:nvPr/>
        </p:nvPicPr>
        <p:blipFill rotWithShape="1">
          <a:blip r:embed="rId4">
            <a:extLst>
              <a:ext uri="{28A0092B-C50C-407E-A947-70E740481C1C}">
                <a14:useLocalDpi xmlns:a14="http://schemas.microsoft.com/office/drawing/2010/main" val="0"/>
              </a:ext>
            </a:extLst>
          </a:blip>
          <a:srcRect l="15089"/>
          <a:stretch/>
        </p:blipFill>
        <p:spPr>
          <a:xfrm>
            <a:off x="6089714" y="5330438"/>
            <a:ext cx="3460123" cy="10268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6" name="Connector: Curved 5" descr="Follow up">
            <a:extLst>
              <a:ext uri="{FF2B5EF4-FFF2-40B4-BE49-F238E27FC236}">
                <a16:creationId xmlns:a16="http://schemas.microsoft.com/office/drawing/2014/main" id="{1714AEE3-090A-4E28-89EE-DFC1C0389D08}"/>
              </a:ext>
            </a:extLst>
          </p:cNvPr>
          <p:cNvCxnSpPr/>
          <p:nvPr/>
        </p:nvCxnSpPr>
        <p:spPr>
          <a:xfrm flipV="1">
            <a:off x="1730062" y="1880315"/>
            <a:ext cx="4481848" cy="4374524"/>
          </a:xfrm>
          <a:prstGeom prst="curvedConnector3">
            <a:avLst>
              <a:gd name="adj1" fmla="val 94732"/>
            </a:avLst>
          </a:prstGeom>
          <a:ln w="38100">
            <a:solidFill>
              <a:schemeClr val="accent1">
                <a:shade val="95000"/>
                <a:satMod val="105000"/>
                <a:alpha val="3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402182"/>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4339C-A150-7DED-6FE7-2FAA58D31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79801-F5D4-B67D-D4A9-8493913DF8A2}"/>
              </a:ext>
            </a:extLst>
          </p:cNvPr>
          <p:cNvSpPr>
            <a:spLocks noGrp="1"/>
          </p:cNvSpPr>
          <p:nvPr>
            <p:ph type="title"/>
          </p:nvPr>
        </p:nvSpPr>
        <p:spPr>
          <a:xfrm>
            <a:off x="348791" y="286603"/>
            <a:ext cx="11481847" cy="1450757"/>
          </a:xfrm>
        </p:spPr>
        <p:txBody>
          <a:bodyPr/>
          <a:lstStyle/>
          <a:p>
            <a:r>
              <a:rPr lang="en-US" altLang="en-US" dirty="0"/>
              <a:t>Inheritance Example</a:t>
            </a:r>
            <a:endParaRPr lang="en-US" sz="2400" i="0" dirty="0">
              <a:effectLst/>
            </a:endParaRPr>
          </a:p>
        </p:txBody>
      </p:sp>
      <p:sp>
        <p:nvSpPr>
          <p:cNvPr id="4" name="Footer Placeholder 3">
            <a:extLst>
              <a:ext uri="{FF2B5EF4-FFF2-40B4-BE49-F238E27FC236}">
                <a16:creationId xmlns:a16="http://schemas.microsoft.com/office/drawing/2014/main" id="{3378D6D0-965C-F290-05A7-A2B33637A063}"/>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54676D1D-760F-D7BD-217C-9DE609FA10F5}"/>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computer code with text&#10;&#10;Description automatically generated">
            <a:extLst>
              <a:ext uri="{FF2B5EF4-FFF2-40B4-BE49-F238E27FC236}">
                <a16:creationId xmlns:a16="http://schemas.microsoft.com/office/drawing/2014/main" id="{218C4EA5-206F-6D7C-F691-F93F1DE9852D}"/>
              </a:ext>
            </a:extLst>
          </p:cNvPr>
          <p:cNvPicPr>
            <a:picLocks noChangeAspect="1"/>
          </p:cNvPicPr>
          <p:nvPr/>
        </p:nvPicPr>
        <p:blipFill rotWithShape="1">
          <a:blip r:embed="rId2">
            <a:extLst>
              <a:ext uri="{28A0092B-C50C-407E-A947-70E740481C1C}">
                <a14:useLocalDpi xmlns:a14="http://schemas.microsoft.com/office/drawing/2010/main" val="0"/>
              </a:ext>
            </a:extLst>
          </a:blip>
          <a:srcRect l="6861"/>
          <a:stretch/>
        </p:blipFill>
        <p:spPr>
          <a:xfrm>
            <a:off x="28854" y="1737359"/>
            <a:ext cx="6526492" cy="46806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descr="A computer code with text&#10;&#10;Description automatically generated">
            <a:extLst>
              <a:ext uri="{FF2B5EF4-FFF2-40B4-BE49-F238E27FC236}">
                <a16:creationId xmlns:a16="http://schemas.microsoft.com/office/drawing/2014/main" id="{64BE6FD9-4820-01C5-F163-8E7E06833EEF}"/>
              </a:ext>
            </a:extLst>
          </p:cNvPr>
          <p:cNvPicPr>
            <a:picLocks noChangeAspect="1"/>
          </p:cNvPicPr>
          <p:nvPr/>
        </p:nvPicPr>
        <p:blipFill rotWithShape="1">
          <a:blip r:embed="rId3">
            <a:extLst>
              <a:ext uri="{28A0092B-C50C-407E-A947-70E740481C1C}">
                <a14:useLocalDpi xmlns:a14="http://schemas.microsoft.com/office/drawing/2010/main" val="0"/>
              </a:ext>
            </a:extLst>
          </a:blip>
          <a:srcRect l="15251"/>
          <a:stretch/>
        </p:blipFill>
        <p:spPr>
          <a:xfrm>
            <a:off x="6553334" y="2249376"/>
            <a:ext cx="4973259" cy="4168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7" name="Connector: Curved 6" descr="Follow up">
            <a:extLst>
              <a:ext uri="{FF2B5EF4-FFF2-40B4-BE49-F238E27FC236}">
                <a16:creationId xmlns:a16="http://schemas.microsoft.com/office/drawing/2014/main" id="{CE804723-4435-4F82-9F52-C8CBFA467996}"/>
              </a:ext>
            </a:extLst>
          </p:cNvPr>
          <p:cNvCxnSpPr>
            <a:cxnSpLocks/>
          </p:cNvCxnSpPr>
          <p:nvPr/>
        </p:nvCxnSpPr>
        <p:spPr>
          <a:xfrm flipV="1">
            <a:off x="1730062" y="2249376"/>
            <a:ext cx="4823272" cy="4005463"/>
          </a:xfrm>
          <a:prstGeom prst="curvedConnector3">
            <a:avLst>
              <a:gd name="adj1" fmla="val 97351"/>
            </a:avLst>
          </a:prstGeom>
          <a:ln w="38100">
            <a:solidFill>
              <a:schemeClr val="accent1">
                <a:shade val="95000"/>
                <a:satMod val="105000"/>
                <a:alpha val="3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205633"/>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DABC-1DAF-BCC9-20E0-23D02530E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95930-2FBE-04C3-3F76-4DE9F76C41FE}"/>
              </a:ext>
            </a:extLst>
          </p:cNvPr>
          <p:cNvSpPr>
            <a:spLocks noGrp="1"/>
          </p:cNvSpPr>
          <p:nvPr>
            <p:ph type="title"/>
          </p:nvPr>
        </p:nvSpPr>
        <p:spPr>
          <a:xfrm>
            <a:off x="348791" y="286603"/>
            <a:ext cx="11481847" cy="1450757"/>
          </a:xfrm>
        </p:spPr>
        <p:txBody>
          <a:bodyPr/>
          <a:lstStyle/>
          <a:p>
            <a:r>
              <a:rPr lang="en-US" altLang="en-US" dirty="0"/>
              <a:t>Inheritance Example</a:t>
            </a:r>
            <a:endParaRPr lang="en-US" sz="2400" i="0" dirty="0">
              <a:effectLst/>
            </a:endParaRPr>
          </a:p>
        </p:txBody>
      </p:sp>
      <p:sp>
        <p:nvSpPr>
          <p:cNvPr id="4" name="Footer Placeholder 3">
            <a:extLst>
              <a:ext uri="{FF2B5EF4-FFF2-40B4-BE49-F238E27FC236}">
                <a16:creationId xmlns:a16="http://schemas.microsoft.com/office/drawing/2014/main" id="{EE89DDF4-CF30-342A-1E2D-2FA8DC0F80A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3">
            <a:extLst>
              <a:ext uri="{FF2B5EF4-FFF2-40B4-BE49-F238E27FC236}">
                <a16:creationId xmlns:a16="http://schemas.microsoft.com/office/drawing/2014/main" id="{269F47EA-8D1C-040F-24BA-EA82F5E2E7FE}"/>
              </a:ext>
            </a:extLst>
          </p:cNvPr>
          <p:cNvSpPr>
            <a:spLocks noChangeArrowheads="1"/>
          </p:cNvSpPr>
          <p:nvPr/>
        </p:nvSpPr>
        <p:spPr bwMode="auto">
          <a:xfrm>
            <a:off x="0" y="179864"/>
            <a:ext cx="28854" cy="9747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descr="A computer code with text&#10;&#10;Description automatically generated">
            <a:extLst>
              <a:ext uri="{FF2B5EF4-FFF2-40B4-BE49-F238E27FC236}">
                <a16:creationId xmlns:a16="http://schemas.microsoft.com/office/drawing/2014/main" id="{B53CC7DC-A12D-994D-C9F3-9C669AC4834E}"/>
              </a:ext>
            </a:extLst>
          </p:cNvPr>
          <p:cNvPicPr>
            <a:picLocks noChangeAspect="1"/>
          </p:cNvPicPr>
          <p:nvPr/>
        </p:nvPicPr>
        <p:blipFill rotWithShape="1">
          <a:blip r:embed="rId2">
            <a:extLst>
              <a:ext uri="{28A0092B-C50C-407E-A947-70E740481C1C}">
                <a14:useLocalDpi xmlns:a14="http://schemas.microsoft.com/office/drawing/2010/main" val="0"/>
              </a:ext>
            </a:extLst>
          </a:blip>
          <a:srcRect l="6975"/>
          <a:stretch/>
        </p:blipFill>
        <p:spPr>
          <a:xfrm>
            <a:off x="118943" y="1852577"/>
            <a:ext cx="6552313" cy="417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descr="A computer screen shot of a code&#10;&#10;Description automatically generated">
            <a:extLst>
              <a:ext uri="{FF2B5EF4-FFF2-40B4-BE49-F238E27FC236}">
                <a16:creationId xmlns:a16="http://schemas.microsoft.com/office/drawing/2014/main" id="{594608CE-DFE6-6718-52AE-C58D49BF6074}"/>
              </a:ext>
            </a:extLst>
          </p:cNvPr>
          <p:cNvPicPr>
            <a:picLocks noChangeAspect="1"/>
          </p:cNvPicPr>
          <p:nvPr/>
        </p:nvPicPr>
        <p:blipFill rotWithShape="1">
          <a:blip r:embed="rId3">
            <a:extLst>
              <a:ext uri="{28A0092B-C50C-407E-A947-70E740481C1C}">
                <a14:useLocalDpi xmlns:a14="http://schemas.microsoft.com/office/drawing/2010/main" val="0"/>
              </a:ext>
            </a:extLst>
          </a:blip>
          <a:srcRect l="6091"/>
          <a:stretch/>
        </p:blipFill>
        <p:spPr>
          <a:xfrm>
            <a:off x="6761408" y="1967794"/>
            <a:ext cx="5350617" cy="4174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7" name="Connector: Curved 6" descr="Follow up">
            <a:extLst>
              <a:ext uri="{FF2B5EF4-FFF2-40B4-BE49-F238E27FC236}">
                <a16:creationId xmlns:a16="http://schemas.microsoft.com/office/drawing/2014/main" id="{B99E57B8-EFA8-41AF-8EF5-DAFFC90D4BE0}"/>
              </a:ext>
            </a:extLst>
          </p:cNvPr>
          <p:cNvCxnSpPr>
            <a:cxnSpLocks/>
          </p:cNvCxnSpPr>
          <p:nvPr/>
        </p:nvCxnSpPr>
        <p:spPr>
          <a:xfrm flipV="1">
            <a:off x="746975" y="1967794"/>
            <a:ext cx="6460901" cy="3956489"/>
          </a:xfrm>
          <a:prstGeom prst="curvedConnector3">
            <a:avLst>
              <a:gd name="adj1" fmla="val 93123"/>
            </a:avLst>
          </a:prstGeom>
          <a:ln w="38100">
            <a:solidFill>
              <a:schemeClr val="accent1">
                <a:shade val="95000"/>
                <a:satMod val="105000"/>
                <a:alpha val="3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393113"/>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D0EB0-D4C7-4944-BD6C-A0263DE9FF8A}"/>
              </a:ext>
            </a:extLst>
          </p:cNvPr>
          <p:cNvSpPr>
            <a:spLocks noGrp="1"/>
          </p:cNvSpPr>
          <p:nvPr>
            <p:ph type="title"/>
          </p:nvPr>
        </p:nvSpPr>
        <p:spPr/>
        <p:txBody>
          <a:bodyPr/>
          <a:lstStyle/>
          <a:p>
            <a:r>
              <a:rPr lang="en-US" dirty="0"/>
              <a:t>Exercise (part 1)</a:t>
            </a:r>
          </a:p>
        </p:txBody>
      </p:sp>
      <p:sp>
        <p:nvSpPr>
          <p:cNvPr id="3" name="Content Placeholder 2">
            <a:extLst>
              <a:ext uri="{FF2B5EF4-FFF2-40B4-BE49-F238E27FC236}">
                <a16:creationId xmlns:a16="http://schemas.microsoft.com/office/drawing/2014/main" id="{FE28ABFB-8E3A-4207-9063-1B6D89CF3E50}"/>
              </a:ext>
            </a:extLst>
          </p:cNvPr>
          <p:cNvSpPr>
            <a:spLocks noGrp="1"/>
          </p:cNvSpPr>
          <p:nvPr>
            <p:ph idx="1"/>
          </p:nvPr>
        </p:nvSpPr>
        <p:spPr>
          <a:xfrm>
            <a:off x="64394" y="1845734"/>
            <a:ext cx="12037453" cy="4473500"/>
          </a:xfrm>
        </p:spPr>
        <p:txBody>
          <a:bodyPr/>
          <a:lstStyle/>
          <a:p>
            <a:r>
              <a:rPr lang="en-US" dirty="0"/>
              <a:t>Using Java, Design and implement a class hierarchy to model different types of documents. Create a superclass named Document that encapsulates common attributes of all types of documents. Additionally, create a subclass named Book. </a:t>
            </a:r>
          </a:p>
          <a:p>
            <a:pPr lvl="1"/>
            <a:r>
              <a:rPr lang="en-US" dirty="0"/>
              <a:t>The superclass </a:t>
            </a:r>
            <a:r>
              <a:rPr lang="en-US" b="1" dirty="0"/>
              <a:t>Document</a:t>
            </a:r>
            <a:r>
              <a:rPr lang="en-US" dirty="0"/>
              <a:t> should include the following:</a:t>
            </a:r>
          </a:p>
          <a:p>
            <a:pPr lvl="2"/>
            <a:r>
              <a:rPr lang="en-US" dirty="0">
                <a:ea typeface="Times New Roman" panose="02020603050405020304" pitchFamily="18" charset="0"/>
                <a:cs typeface="Times New Roman" panose="02020603050405020304" pitchFamily="18" charset="0"/>
              </a:rPr>
              <a:t>A </a:t>
            </a:r>
            <a:r>
              <a:rPr lang="en-US" b="1" dirty="0">
                <a:ea typeface="Times New Roman" panose="02020603050405020304" pitchFamily="18" charset="0"/>
                <a:cs typeface="Times New Roman" panose="02020603050405020304" pitchFamily="18" charset="0"/>
              </a:rPr>
              <a:t>protected</a:t>
            </a:r>
            <a:r>
              <a:rPr lang="en-US" dirty="0">
                <a:ea typeface="Times New Roman" panose="02020603050405020304" pitchFamily="18" charset="0"/>
                <a:cs typeface="Times New Roman" panose="02020603050405020304" pitchFamily="18" charset="0"/>
              </a:rPr>
              <a:t> instance variable </a:t>
            </a:r>
            <a:r>
              <a:rPr lang="en-US" b="1" dirty="0" err="1">
                <a:ea typeface="Times New Roman" panose="02020603050405020304" pitchFamily="18" charset="0"/>
                <a:cs typeface="Times New Roman" panose="02020603050405020304" pitchFamily="18" charset="0"/>
              </a:rPr>
              <a:t>authorName</a:t>
            </a:r>
            <a:r>
              <a:rPr lang="en-US" dirty="0">
                <a:ea typeface="Times New Roman" panose="02020603050405020304" pitchFamily="18" charset="0"/>
                <a:cs typeface="Times New Roman" panose="02020603050405020304" pitchFamily="18" charset="0"/>
              </a:rPr>
              <a:t> of type String.</a:t>
            </a:r>
            <a:endParaRPr lang="en-US" dirty="0">
              <a:ea typeface="Times New Roman" panose="02020603050405020304" pitchFamily="18" charset="0"/>
            </a:endParaRPr>
          </a:p>
          <a:p>
            <a:pPr lvl="2"/>
            <a:r>
              <a:rPr lang="en-US" dirty="0">
                <a:ea typeface="Times New Roman" panose="02020603050405020304" pitchFamily="18" charset="0"/>
                <a:cs typeface="Times New Roman" panose="02020603050405020304" pitchFamily="18" charset="0"/>
              </a:rPr>
              <a:t>Two </a:t>
            </a:r>
            <a:r>
              <a:rPr lang="en-US" b="1" dirty="0">
                <a:ea typeface="Times New Roman" panose="02020603050405020304" pitchFamily="18" charset="0"/>
                <a:cs typeface="Times New Roman" panose="02020603050405020304" pitchFamily="18" charset="0"/>
              </a:rPr>
              <a:t>private</a:t>
            </a:r>
            <a:r>
              <a:rPr lang="en-US" dirty="0">
                <a:ea typeface="Times New Roman" panose="02020603050405020304" pitchFamily="18" charset="0"/>
                <a:cs typeface="Times New Roman" panose="02020603050405020304" pitchFamily="18" charset="0"/>
              </a:rPr>
              <a:t> instance variables; </a:t>
            </a:r>
            <a:r>
              <a:rPr lang="en-US" b="1" dirty="0" err="1">
                <a:ea typeface="Times New Roman" panose="02020603050405020304" pitchFamily="18" charset="0"/>
                <a:cs typeface="Times New Roman" panose="02020603050405020304" pitchFamily="18" charset="0"/>
              </a:rPr>
              <a:t>numberOfPages</a:t>
            </a:r>
            <a:r>
              <a:rPr lang="en-US" dirty="0">
                <a:ea typeface="Times New Roman" panose="02020603050405020304" pitchFamily="18" charset="0"/>
                <a:cs typeface="Times New Roman" panose="02020603050405020304" pitchFamily="18" charset="0"/>
              </a:rPr>
              <a:t> of type int and </a:t>
            </a:r>
            <a:r>
              <a:rPr lang="en-US" b="1" dirty="0" err="1">
                <a:ea typeface="Times New Roman" panose="02020603050405020304" pitchFamily="18" charset="0"/>
                <a:cs typeface="Times New Roman" panose="02020603050405020304" pitchFamily="18" charset="0"/>
              </a:rPr>
              <a:t>classificationNo</a:t>
            </a:r>
            <a:r>
              <a:rPr lang="en-US" dirty="0">
                <a:ea typeface="Times New Roman" panose="02020603050405020304" pitchFamily="18" charset="0"/>
                <a:cs typeface="Times New Roman" panose="02020603050405020304" pitchFamily="18" charset="0"/>
              </a:rPr>
              <a:t> of type String.</a:t>
            </a:r>
            <a:endParaRPr lang="en-US" dirty="0">
              <a:ea typeface="Times New Roman" panose="02020603050405020304" pitchFamily="18" charset="0"/>
            </a:endParaRPr>
          </a:p>
          <a:p>
            <a:pPr lvl="2"/>
            <a:r>
              <a:rPr lang="en-US" dirty="0">
                <a:ea typeface="Times New Roman" panose="02020603050405020304" pitchFamily="18" charset="0"/>
                <a:cs typeface="Times New Roman" panose="02020603050405020304" pitchFamily="18" charset="0"/>
              </a:rPr>
              <a:t>A parameterized constructor to initialize the instance variables.</a:t>
            </a:r>
            <a:endParaRPr lang="en-US" dirty="0">
              <a:ea typeface="Times New Roman" panose="02020603050405020304" pitchFamily="18" charset="0"/>
            </a:endParaRPr>
          </a:p>
          <a:p>
            <a:pPr lvl="2"/>
            <a:r>
              <a:rPr lang="en-US" dirty="0"/>
              <a:t>Appropriate getter and setter methods for the </a:t>
            </a:r>
            <a:r>
              <a:rPr lang="en-US" b="1" dirty="0" err="1"/>
              <a:t>numberOfPages</a:t>
            </a:r>
            <a:r>
              <a:rPr lang="en-US" dirty="0"/>
              <a:t> and </a:t>
            </a:r>
            <a:r>
              <a:rPr lang="en-US" b="1" dirty="0" err="1"/>
              <a:t>classificationNo</a:t>
            </a:r>
            <a:r>
              <a:rPr lang="en-US" dirty="0"/>
              <a:t> variables. The </a:t>
            </a:r>
            <a:r>
              <a:rPr lang="en-US" dirty="0" err="1"/>
              <a:t>classificationNo</a:t>
            </a:r>
            <a:r>
              <a:rPr lang="en-US" dirty="0"/>
              <a:t> attribute must start with the letter H or S (where H stands for hard copy documents and S for softcopy documents) followed by four digits such as "H1345", "S8756". Otherwise, you should display an error message (Invalid classification number).</a:t>
            </a:r>
          </a:p>
          <a:p>
            <a:pPr lvl="2"/>
            <a:r>
              <a:rPr lang="en-US" dirty="0"/>
              <a:t>An instance method named </a:t>
            </a:r>
            <a:r>
              <a:rPr lang="en-US" b="1" dirty="0"/>
              <a:t>display</a:t>
            </a:r>
            <a:r>
              <a:rPr lang="en-US" dirty="0"/>
              <a:t> that prints all relevant details of the </a:t>
            </a:r>
            <a:r>
              <a:rPr lang="en-US" b="1" dirty="0"/>
              <a:t>Document</a:t>
            </a:r>
            <a:r>
              <a:rPr lang="en-US" dirty="0"/>
              <a:t>.</a:t>
            </a:r>
          </a:p>
        </p:txBody>
      </p:sp>
      <p:sp>
        <p:nvSpPr>
          <p:cNvPr id="4" name="Footer Placeholder 3">
            <a:extLst>
              <a:ext uri="{FF2B5EF4-FFF2-40B4-BE49-F238E27FC236}">
                <a16:creationId xmlns:a16="http://schemas.microsoft.com/office/drawing/2014/main" id="{D9EA35F8-0772-42CB-A27B-B4EE20F4792C}"/>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32049264"/>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D0EB0-D4C7-4944-BD6C-A0263DE9FF8A}"/>
              </a:ext>
            </a:extLst>
          </p:cNvPr>
          <p:cNvSpPr>
            <a:spLocks noGrp="1"/>
          </p:cNvSpPr>
          <p:nvPr>
            <p:ph type="title"/>
          </p:nvPr>
        </p:nvSpPr>
        <p:spPr/>
        <p:txBody>
          <a:bodyPr/>
          <a:lstStyle/>
          <a:p>
            <a:r>
              <a:rPr lang="en-US" dirty="0"/>
              <a:t>Exercise (part 2)</a:t>
            </a:r>
          </a:p>
        </p:txBody>
      </p:sp>
      <p:sp>
        <p:nvSpPr>
          <p:cNvPr id="3" name="Content Placeholder 2">
            <a:extLst>
              <a:ext uri="{FF2B5EF4-FFF2-40B4-BE49-F238E27FC236}">
                <a16:creationId xmlns:a16="http://schemas.microsoft.com/office/drawing/2014/main" id="{FE28ABFB-8E3A-4207-9063-1B6D89CF3E50}"/>
              </a:ext>
            </a:extLst>
          </p:cNvPr>
          <p:cNvSpPr>
            <a:spLocks noGrp="1"/>
          </p:cNvSpPr>
          <p:nvPr>
            <p:ph idx="1"/>
          </p:nvPr>
        </p:nvSpPr>
        <p:spPr>
          <a:xfrm>
            <a:off x="64394" y="1845734"/>
            <a:ext cx="12037453" cy="4160114"/>
          </a:xfrm>
        </p:spPr>
        <p:txBody>
          <a:bodyPr/>
          <a:lstStyle/>
          <a:p>
            <a:pPr lvl="1"/>
            <a:r>
              <a:rPr lang="en-US" dirty="0"/>
              <a:t>The subclass </a:t>
            </a:r>
            <a:r>
              <a:rPr lang="en-US" b="1" dirty="0"/>
              <a:t>Book</a:t>
            </a:r>
            <a:r>
              <a:rPr lang="en-US" dirty="0"/>
              <a:t> should inherit the instance variables and methods of the </a:t>
            </a:r>
            <a:r>
              <a:rPr lang="en-US" b="1" dirty="0"/>
              <a:t>Document</a:t>
            </a:r>
            <a:r>
              <a:rPr lang="en-US" dirty="0"/>
              <a:t> class. It should include the following:</a:t>
            </a:r>
          </a:p>
          <a:p>
            <a:pPr lvl="2"/>
            <a:r>
              <a:rPr lang="en-US" b="1" dirty="0"/>
              <a:t>Private</a:t>
            </a:r>
            <a:r>
              <a:rPr lang="en-US" dirty="0"/>
              <a:t> instance variables for the book: </a:t>
            </a:r>
            <a:r>
              <a:rPr lang="en-US" b="1" dirty="0"/>
              <a:t>subject</a:t>
            </a:r>
            <a:r>
              <a:rPr lang="en-US" dirty="0"/>
              <a:t> of type String and </a:t>
            </a:r>
            <a:r>
              <a:rPr lang="en-US" b="1" dirty="0" err="1"/>
              <a:t>yearOfPublishing</a:t>
            </a:r>
            <a:r>
              <a:rPr lang="en-US" dirty="0"/>
              <a:t> of type int.</a:t>
            </a:r>
          </a:p>
          <a:p>
            <a:pPr lvl="2"/>
            <a:r>
              <a:rPr lang="en-US" dirty="0"/>
              <a:t>A parameterized constructor to initialize the instance variables.</a:t>
            </a:r>
          </a:p>
          <a:p>
            <a:pPr lvl="2"/>
            <a:r>
              <a:rPr lang="en-US" dirty="0"/>
              <a:t>Override the </a:t>
            </a:r>
            <a:r>
              <a:rPr lang="en-US" b="1" dirty="0"/>
              <a:t>display</a:t>
            </a:r>
            <a:r>
              <a:rPr lang="en-US" dirty="0"/>
              <a:t> method to display all details of the </a:t>
            </a:r>
            <a:r>
              <a:rPr lang="en-US" b="1" dirty="0"/>
              <a:t>book</a:t>
            </a:r>
            <a:r>
              <a:rPr lang="en-US" dirty="0"/>
              <a:t>.</a:t>
            </a:r>
          </a:p>
          <a:p>
            <a:pPr lvl="2"/>
            <a:r>
              <a:rPr lang="en-US" dirty="0"/>
              <a:t>An instance method called </a:t>
            </a:r>
            <a:r>
              <a:rPr lang="en-US" b="1" dirty="0" err="1"/>
              <a:t>checkYear</a:t>
            </a:r>
            <a:r>
              <a:rPr lang="en-US" dirty="0"/>
              <a:t> that checks if the book is published after a given year. The method should return </a:t>
            </a:r>
            <a:r>
              <a:rPr lang="en-US" b="1" dirty="0"/>
              <a:t>true</a:t>
            </a:r>
            <a:r>
              <a:rPr lang="en-US" dirty="0"/>
              <a:t> if it is published after or the same given year, and </a:t>
            </a:r>
            <a:r>
              <a:rPr lang="en-US" b="1" dirty="0"/>
              <a:t>false</a:t>
            </a:r>
            <a:r>
              <a:rPr lang="en-US" dirty="0"/>
              <a:t> otherwise.</a:t>
            </a:r>
          </a:p>
          <a:p>
            <a:pPr lvl="2"/>
            <a:r>
              <a:rPr lang="en-US" dirty="0"/>
              <a:t>Override the </a:t>
            </a:r>
            <a:r>
              <a:rPr lang="en-US" b="1" dirty="0"/>
              <a:t>equals</a:t>
            </a:r>
            <a:r>
              <a:rPr lang="en-US" dirty="0"/>
              <a:t> method to compare two books based on their subject. The method should return </a:t>
            </a:r>
            <a:r>
              <a:rPr lang="en-US" b="1" dirty="0"/>
              <a:t>true</a:t>
            </a:r>
            <a:r>
              <a:rPr lang="en-US" dirty="0"/>
              <a:t> if the subjects are the same, and </a:t>
            </a:r>
            <a:r>
              <a:rPr lang="en-US" b="1" dirty="0"/>
              <a:t>false</a:t>
            </a:r>
            <a:r>
              <a:rPr lang="en-US" dirty="0"/>
              <a:t> otherwise.</a:t>
            </a:r>
          </a:p>
        </p:txBody>
      </p:sp>
      <p:sp>
        <p:nvSpPr>
          <p:cNvPr id="4" name="Footer Placeholder 3">
            <a:extLst>
              <a:ext uri="{FF2B5EF4-FFF2-40B4-BE49-F238E27FC236}">
                <a16:creationId xmlns:a16="http://schemas.microsoft.com/office/drawing/2014/main" id="{D9EA35F8-0772-42CB-A27B-B4EE20F4792C}"/>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00916719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D0EB0-D4C7-4944-BD6C-A0263DE9FF8A}"/>
              </a:ext>
            </a:extLst>
          </p:cNvPr>
          <p:cNvSpPr>
            <a:spLocks noGrp="1"/>
          </p:cNvSpPr>
          <p:nvPr>
            <p:ph type="title"/>
          </p:nvPr>
        </p:nvSpPr>
        <p:spPr/>
        <p:txBody>
          <a:bodyPr/>
          <a:lstStyle/>
          <a:p>
            <a:r>
              <a:rPr lang="en-US" dirty="0"/>
              <a:t>Exercise (part 3)</a:t>
            </a:r>
          </a:p>
        </p:txBody>
      </p:sp>
      <p:sp>
        <p:nvSpPr>
          <p:cNvPr id="3" name="Content Placeholder 2">
            <a:extLst>
              <a:ext uri="{FF2B5EF4-FFF2-40B4-BE49-F238E27FC236}">
                <a16:creationId xmlns:a16="http://schemas.microsoft.com/office/drawing/2014/main" id="{FE28ABFB-8E3A-4207-9063-1B6D89CF3E50}"/>
              </a:ext>
            </a:extLst>
          </p:cNvPr>
          <p:cNvSpPr>
            <a:spLocks noGrp="1"/>
          </p:cNvSpPr>
          <p:nvPr>
            <p:ph idx="1"/>
          </p:nvPr>
        </p:nvSpPr>
        <p:spPr>
          <a:xfrm>
            <a:off x="64394" y="1845734"/>
            <a:ext cx="12037453" cy="4160114"/>
          </a:xfrm>
        </p:spPr>
        <p:txBody>
          <a:bodyPr/>
          <a:lstStyle/>
          <a:p>
            <a:pPr lvl="1"/>
            <a:r>
              <a:rPr lang="en-US" dirty="0"/>
              <a:t>Implement a test class (main method only) that performs the following:</a:t>
            </a:r>
          </a:p>
          <a:p>
            <a:pPr lvl="2"/>
            <a:r>
              <a:rPr lang="en-US" dirty="0"/>
              <a:t>Create two objects of type book with appropriate initial values of your choice.</a:t>
            </a:r>
          </a:p>
          <a:p>
            <a:pPr lvl="2"/>
            <a:r>
              <a:rPr lang="en-US" dirty="0"/>
              <a:t>Call the display method for both objects.</a:t>
            </a:r>
          </a:p>
          <a:p>
            <a:pPr lvl="2"/>
            <a:r>
              <a:rPr lang="en-US" dirty="0"/>
              <a:t>Check if the first object is equal to the second object. If the first object is equal to the second object, print </a:t>
            </a:r>
            <a:r>
              <a:rPr lang="en-US" b="1" dirty="0"/>
              <a:t>"Equal“,</a:t>
            </a:r>
            <a:r>
              <a:rPr lang="en-US" dirty="0"/>
              <a:t> otherwise, print </a:t>
            </a:r>
            <a:r>
              <a:rPr lang="en-US" b="1" dirty="0"/>
              <a:t>"Not Equal".</a:t>
            </a:r>
          </a:p>
          <a:p>
            <a:pPr lvl="2"/>
            <a:r>
              <a:rPr lang="en-US" dirty="0"/>
              <a:t>Check and print the result of calling </a:t>
            </a:r>
            <a:r>
              <a:rPr lang="en-US" dirty="0" err="1"/>
              <a:t>checkYear</a:t>
            </a:r>
            <a:r>
              <a:rPr lang="en-US" dirty="0"/>
              <a:t> for both books objects with a year 2019.</a:t>
            </a:r>
          </a:p>
        </p:txBody>
      </p:sp>
      <p:sp>
        <p:nvSpPr>
          <p:cNvPr id="4" name="Footer Placeholder 3">
            <a:extLst>
              <a:ext uri="{FF2B5EF4-FFF2-40B4-BE49-F238E27FC236}">
                <a16:creationId xmlns:a16="http://schemas.microsoft.com/office/drawing/2014/main" id="{D9EA35F8-0772-42CB-A27B-B4EE20F4792C}"/>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48982161"/>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a:t>lecture  Videos: </a:t>
            </a:r>
            <a:r>
              <a:rPr lang="en-US" altLang="en-US" dirty="0"/>
              <a:t>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2D5DC033-139F-4AB4-8520-AE4CF99AD555}"/>
</file>

<file path=customXml/itemProps3.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docProps/app.xml><?xml version="1.0" encoding="utf-8"?>
<Properties xmlns="http://schemas.openxmlformats.org/officeDocument/2006/extended-properties" xmlns:vt="http://schemas.openxmlformats.org/officeDocument/2006/docPropsVTypes">
  <Template>Retrospect</Template>
  <TotalTime>3922</TotalTime>
  <Words>4592</Words>
  <Application>Microsoft Office PowerPoint</Application>
  <PresentationFormat>Widescreen</PresentationFormat>
  <Paragraphs>389</Paragraphs>
  <Slides>60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__Source_Sans_Pro_fa6df0</vt:lpstr>
      <vt:lpstr>Arial</vt:lpstr>
      <vt:lpstr>Calibri</vt:lpstr>
      <vt:lpstr>Courier New</vt:lpstr>
      <vt:lpstr>Monotype Sorts</vt:lpstr>
      <vt:lpstr>Times New Roman</vt:lpstr>
      <vt:lpstr>Wingdings</vt:lpstr>
      <vt:lpstr>Retrospect</vt:lpstr>
      <vt:lpstr>Fundamental Programming in JAVA</vt:lpstr>
      <vt:lpstr>Objectives</vt:lpstr>
      <vt:lpstr>What is inheritance ?</vt:lpstr>
      <vt:lpstr>What is inheritance ?</vt:lpstr>
      <vt:lpstr>What is inheritance ?</vt:lpstr>
      <vt:lpstr>What is inheritance ?</vt:lpstr>
      <vt:lpstr>Direct inheritance and indirect inheritance</vt:lpstr>
      <vt:lpstr>Single and multiple inheritance</vt:lpstr>
      <vt:lpstr>Inheritance Example</vt:lpstr>
      <vt:lpstr>Inheritance Example</vt:lpstr>
      <vt:lpstr>Inheritance Benefits</vt:lpstr>
      <vt:lpstr>Inheritance Benefits</vt:lpstr>
      <vt:lpstr>Inheritance Benefits</vt:lpstr>
      <vt:lpstr>Inheritance Benefits</vt:lpstr>
      <vt:lpstr> Inheritance (Design Phase)</vt:lpstr>
      <vt:lpstr>Using The Keyword extends</vt:lpstr>
      <vt:lpstr>Inheritance Example (Design Phase)</vt:lpstr>
      <vt:lpstr>Inheritance Example (Implementation Phase)</vt:lpstr>
      <vt:lpstr>Inheritance Example (explanation)</vt:lpstr>
      <vt:lpstr>Inheritance Explanation</vt:lpstr>
      <vt:lpstr>Inheritance Example of (main class)</vt:lpstr>
      <vt:lpstr>Inheritance Example of (main class)</vt:lpstr>
      <vt:lpstr>Inheritance (Constructors)</vt:lpstr>
      <vt:lpstr>Inheritance (Constructors)</vt:lpstr>
      <vt:lpstr>Using the keyword super</vt:lpstr>
      <vt:lpstr>Using the keyword super to invoke superclass constructor</vt:lpstr>
      <vt:lpstr>Using the keyword super</vt:lpstr>
      <vt:lpstr>Inheritance – Calling superclass methods</vt:lpstr>
      <vt:lpstr>Inheritance main class</vt:lpstr>
      <vt:lpstr>Are superclass’s Constructor Inherited?</vt:lpstr>
      <vt:lpstr>Constructor Chaining </vt:lpstr>
      <vt:lpstr>Constructor Chaining (Code Tracing)</vt:lpstr>
      <vt:lpstr>Constructor Chaining (Code Tracing)</vt:lpstr>
      <vt:lpstr>Constructor Chaining (Code Tracing)</vt:lpstr>
      <vt:lpstr>Constructor Chaining (Code Tracing)</vt:lpstr>
      <vt:lpstr>The protected Modifier</vt:lpstr>
      <vt:lpstr>Access Modifiers Summary</vt:lpstr>
      <vt:lpstr>Access Modifiers Summary</vt:lpstr>
      <vt:lpstr>Exercise: Design the following classes and write the given methods: </vt:lpstr>
      <vt:lpstr>Examples of possible inheritance relationship between different classes  </vt:lpstr>
      <vt:lpstr> Overriding &amp; Overloading methods </vt:lpstr>
      <vt:lpstr> Overriding &amp; Overloading methods </vt:lpstr>
      <vt:lpstr> Overriding &amp; Overloading methods </vt:lpstr>
      <vt:lpstr>The Object Class and Its Methods</vt:lpstr>
      <vt:lpstr>The Object Class and Its Methods</vt:lpstr>
      <vt:lpstr>The toString() method in Object</vt:lpstr>
      <vt:lpstr>The equals() Method</vt:lpstr>
      <vt:lpstr>NOTE</vt:lpstr>
      <vt:lpstr>The final Modifier</vt:lpstr>
      <vt:lpstr>The final Method</vt:lpstr>
      <vt:lpstr>The final Method error message</vt:lpstr>
      <vt:lpstr>The final Class</vt:lpstr>
      <vt:lpstr>The final Class error message </vt:lpstr>
      <vt:lpstr>Inheritance Example</vt:lpstr>
      <vt:lpstr>Inheritance Example</vt:lpstr>
      <vt:lpstr>Inheritance Example</vt:lpstr>
      <vt:lpstr>Exercise (part 1)</vt:lpstr>
      <vt:lpstr>Exercise (part 2)</vt:lpstr>
      <vt:lpstr>Exercise (part 3)</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Baraa Qaddoumi</cp:lastModifiedBy>
  <cp:revision>67</cp:revision>
  <dcterms:created xsi:type="dcterms:W3CDTF">2023-12-21T19:04:58Z</dcterms:created>
  <dcterms:modified xsi:type="dcterms:W3CDTF">2024-02-26T08:23:52Z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