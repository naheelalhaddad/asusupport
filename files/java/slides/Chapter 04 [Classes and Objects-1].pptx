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56"/>
  </p:notesMasterIdLst>
  <p:sldIdLst>
    <p:sldId id="256" r:id="rId5"/>
    <p:sldId id="257" r:id="rId6"/>
    <p:sldId id="258" r:id="rId7"/>
    <p:sldId id="270" r:id="rId8"/>
    <p:sldId id="271" r:id="rId9"/>
    <p:sldId id="272" r:id="rId10"/>
    <p:sldId id="273" r:id="rId11"/>
    <p:sldId id="339" r:id="rId12"/>
    <p:sldId id="337" r:id="rId13"/>
    <p:sldId id="338" r:id="rId14"/>
    <p:sldId id="336" r:id="rId15"/>
    <p:sldId id="340" r:id="rId16"/>
    <p:sldId id="341" r:id="rId17"/>
    <p:sldId id="344" r:id="rId18"/>
    <p:sldId id="342" r:id="rId19"/>
    <p:sldId id="343" r:id="rId20"/>
    <p:sldId id="345" r:id="rId21"/>
    <p:sldId id="346" r:id="rId22"/>
    <p:sldId id="347" r:id="rId23"/>
    <p:sldId id="348" r:id="rId24"/>
    <p:sldId id="350" r:id="rId25"/>
    <p:sldId id="349" r:id="rId26"/>
    <p:sldId id="351" r:id="rId27"/>
    <p:sldId id="355" r:id="rId28"/>
    <p:sldId id="356" r:id="rId29"/>
    <p:sldId id="357" r:id="rId30"/>
    <p:sldId id="358" r:id="rId31"/>
    <p:sldId id="359" r:id="rId32"/>
    <p:sldId id="360" r:id="rId33"/>
    <p:sldId id="361" r:id="rId34"/>
    <p:sldId id="352" r:id="rId35"/>
    <p:sldId id="353" r:id="rId36"/>
    <p:sldId id="362" r:id="rId37"/>
    <p:sldId id="363" r:id="rId38"/>
    <p:sldId id="364" r:id="rId39"/>
    <p:sldId id="365" r:id="rId40"/>
    <p:sldId id="366" r:id="rId41"/>
    <p:sldId id="367" r:id="rId42"/>
    <p:sldId id="368" r:id="rId43"/>
    <p:sldId id="369" r:id="rId44"/>
    <p:sldId id="371" r:id="rId45"/>
    <p:sldId id="370" r:id="rId46"/>
    <p:sldId id="372" r:id="rId47"/>
    <p:sldId id="375" r:id="rId48"/>
    <p:sldId id="374" r:id="rId49"/>
    <p:sldId id="378" r:id="rId50"/>
    <p:sldId id="380" r:id="rId51"/>
    <p:sldId id="381" r:id="rId52"/>
    <p:sldId id="382" r:id="rId53"/>
    <p:sldId id="383" r:id="rId54"/>
    <p:sldId id="384"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BADA"/>
    <a:srgbClr val="0070C0"/>
    <a:srgbClr val="D9A0FF"/>
    <a:srgbClr val="E8ECF5"/>
    <a:srgbClr val="B240FF"/>
    <a:srgbClr val="FF8080"/>
    <a:srgbClr val="FF0000"/>
    <a:srgbClr val="CDD4E8"/>
    <a:srgbClr val="FF8C8C"/>
    <a:srgbClr val="CCEF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4E5BE5-076E-16BC-B03E-58AF02DC6010}" v="3" dt="2024-02-25T10:23:19.489"/>
    <p1510:client id="{584C7E78-3E0E-DBC4-5DA2-F48D90B4E94B}" v="23" dt="2024-02-25T22:58:42.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3220" autoAdjust="0"/>
  </p:normalViewPr>
  <p:slideViewPr>
    <p:cSldViewPr snapToGrid="0">
      <p:cViewPr varScale="1">
        <p:scale>
          <a:sx n="74" d="100"/>
          <a:sy n="74" d="100"/>
        </p:scale>
        <p:origin x="48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114E5BE5-076E-16BC-B03E-58AF02DC6010}"/>
    <pc:docChg chg="modSld modMainMaster">
      <pc:chgData name="Bara Hamadeh" userId="S::b_hamadeh@asu.edu.jo::ba91a99f-f3ba-46e6-ad5d-582794b375a9" providerId="AD" clId="Web-{114E5BE5-076E-16BC-B03E-58AF02DC6010}" dt="2024-02-25T10:23:19.489" v="2"/>
      <pc:docMkLst>
        <pc:docMk/>
      </pc:docMkLst>
      <pc:sldChg chg="modSp">
        <pc:chgData name="Bara Hamadeh" userId="S::b_hamadeh@asu.edu.jo::ba91a99f-f3ba-46e6-ad5d-582794b375a9" providerId="AD" clId="Web-{114E5BE5-076E-16BC-B03E-58AF02DC6010}" dt="2024-02-25T10:23:04.629" v="0"/>
        <pc:sldMkLst>
          <pc:docMk/>
          <pc:sldMk cId="98556299" sldId="256"/>
        </pc:sldMkLst>
        <pc:spChg chg="mod">
          <ac:chgData name="Bara Hamadeh" userId="S::b_hamadeh@asu.edu.jo::ba91a99f-f3ba-46e6-ad5d-582794b375a9" providerId="AD" clId="Web-{114E5BE5-076E-16BC-B03E-58AF02DC6010}" dt="2024-02-25T10:23:04.629" v="0"/>
          <ac:spMkLst>
            <pc:docMk/>
            <pc:sldMk cId="98556299" sldId="256"/>
            <ac:spMk id="4" creationId="{3E2AE632-31A0-217D-FD10-0A342181E0D1}"/>
          </ac:spMkLst>
        </pc:spChg>
      </pc:sldChg>
      <pc:sldChg chg="modSp">
        <pc:chgData name="Bara Hamadeh" userId="S::b_hamadeh@asu.edu.jo::ba91a99f-f3ba-46e6-ad5d-582794b375a9" providerId="AD" clId="Web-{114E5BE5-076E-16BC-B03E-58AF02DC6010}" dt="2024-02-25T10:23:12.332" v="1"/>
        <pc:sldMkLst>
          <pc:docMk/>
          <pc:sldMk cId="763895569" sldId="257"/>
        </pc:sldMkLst>
        <pc:spChg chg="mod">
          <ac:chgData name="Bara Hamadeh" userId="S::b_hamadeh@asu.edu.jo::ba91a99f-f3ba-46e6-ad5d-582794b375a9" providerId="AD" clId="Web-{114E5BE5-076E-16BC-B03E-58AF02DC6010}" dt="2024-02-25T10:23:12.332" v="1"/>
          <ac:spMkLst>
            <pc:docMk/>
            <pc:sldMk cId="763895569" sldId="257"/>
            <ac:spMk id="4" creationId="{8258CA88-4CE1-2FF4-DD8D-F6AFF13B654D}"/>
          </ac:spMkLst>
        </pc:spChg>
      </pc:sldChg>
      <pc:sldChg chg="modSp">
        <pc:chgData name="Bara Hamadeh" userId="S::b_hamadeh@asu.edu.jo::ba91a99f-f3ba-46e6-ad5d-582794b375a9" providerId="AD" clId="Web-{114E5BE5-076E-16BC-B03E-58AF02DC6010}" dt="2024-02-25T10:23:12.332" v="1"/>
        <pc:sldMkLst>
          <pc:docMk/>
          <pc:sldMk cId="2201219679" sldId="258"/>
        </pc:sldMkLst>
        <pc:spChg chg="mod">
          <ac:chgData name="Bara Hamadeh" userId="S::b_hamadeh@asu.edu.jo::ba91a99f-f3ba-46e6-ad5d-582794b375a9" providerId="AD" clId="Web-{114E5BE5-076E-16BC-B03E-58AF02DC6010}" dt="2024-02-25T10:23:12.332" v="1"/>
          <ac:spMkLst>
            <pc:docMk/>
            <pc:sldMk cId="2201219679" sldId="258"/>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823405729" sldId="270"/>
        </pc:sldMkLst>
        <pc:spChg chg="mod">
          <ac:chgData name="Bara Hamadeh" userId="S::b_hamadeh@asu.edu.jo::ba91a99f-f3ba-46e6-ad5d-582794b375a9" providerId="AD" clId="Web-{114E5BE5-076E-16BC-B03E-58AF02DC6010}" dt="2024-02-25T10:23:12.332" v="1"/>
          <ac:spMkLst>
            <pc:docMk/>
            <pc:sldMk cId="1823405729" sldId="270"/>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929410266" sldId="271"/>
        </pc:sldMkLst>
        <pc:spChg chg="mod">
          <ac:chgData name="Bara Hamadeh" userId="S::b_hamadeh@asu.edu.jo::ba91a99f-f3ba-46e6-ad5d-582794b375a9" providerId="AD" clId="Web-{114E5BE5-076E-16BC-B03E-58AF02DC6010}" dt="2024-02-25T10:23:12.332" v="1"/>
          <ac:spMkLst>
            <pc:docMk/>
            <pc:sldMk cId="929410266" sldId="271"/>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438494095" sldId="272"/>
        </pc:sldMkLst>
        <pc:spChg chg="mod">
          <ac:chgData name="Bara Hamadeh" userId="S::b_hamadeh@asu.edu.jo::ba91a99f-f3ba-46e6-ad5d-582794b375a9" providerId="AD" clId="Web-{114E5BE5-076E-16BC-B03E-58AF02DC6010}" dt="2024-02-25T10:23:12.332" v="1"/>
          <ac:spMkLst>
            <pc:docMk/>
            <pc:sldMk cId="438494095" sldId="272"/>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205240147" sldId="273"/>
        </pc:sldMkLst>
        <pc:spChg chg="mod">
          <ac:chgData name="Bara Hamadeh" userId="S::b_hamadeh@asu.edu.jo::ba91a99f-f3ba-46e6-ad5d-582794b375a9" providerId="AD" clId="Web-{114E5BE5-076E-16BC-B03E-58AF02DC6010}" dt="2024-02-25T10:23:12.332" v="1"/>
          <ac:spMkLst>
            <pc:docMk/>
            <pc:sldMk cId="2205240147" sldId="273"/>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285698876" sldId="336"/>
        </pc:sldMkLst>
        <pc:spChg chg="mod">
          <ac:chgData name="Bara Hamadeh" userId="S::b_hamadeh@asu.edu.jo::ba91a99f-f3ba-46e6-ad5d-582794b375a9" providerId="AD" clId="Web-{114E5BE5-076E-16BC-B03E-58AF02DC6010}" dt="2024-02-25T10:23:12.332" v="1"/>
          <ac:spMkLst>
            <pc:docMk/>
            <pc:sldMk cId="2285698876" sldId="336"/>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244395704" sldId="337"/>
        </pc:sldMkLst>
        <pc:spChg chg="mod">
          <ac:chgData name="Bara Hamadeh" userId="S::b_hamadeh@asu.edu.jo::ba91a99f-f3ba-46e6-ad5d-582794b375a9" providerId="AD" clId="Web-{114E5BE5-076E-16BC-B03E-58AF02DC6010}" dt="2024-02-25T10:23:12.332" v="1"/>
          <ac:spMkLst>
            <pc:docMk/>
            <pc:sldMk cId="1244395704" sldId="337"/>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728893686" sldId="338"/>
        </pc:sldMkLst>
        <pc:spChg chg="mod">
          <ac:chgData name="Bara Hamadeh" userId="S::b_hamadeh@asu.edu.jo::ba91a99f-f3ba-46e6-ad5d-582794b375a9" providerId="AD" clId="Web-{114E5BE5-076E-16BC-B03E-58AF02DC6010}" dt="2024-02-25T10:23:12.332" v="1"/>
          <ac:spMkLst>
            <pc:docMk/>
            <pc:sldMk cId="3728893686" sldId="338"/>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15302620" sldId="339"/>
        </pc:sldMkLst>
        <pc:spChg chg="mod">
          <ac:chgData name="Bara Hamadeh" userId="S::b_hamadeh@asu.edu.jo::ba91a99f-f3ba-46e6-ad5d-582794b375a9" providerId="AD" clId="Web-{114E5BE5-076E-16BC-B03E-58AF02DC6010}" dt="2024-02-25T10:23:12.332" v="1"/>
          <ac:spMkLst>
            <pc:docMk/>
            <pc:sldMk cId="315302620" sldId="339"/>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302026939" sldId="340"/>
        </pc:sldMkLst>
        <pc:spChg chg="mod">
          <ac:chgData name="Bara Hamadeh" userId="S::b_hamadeh@asu.edu.jo::ba91a99f-f3ba-46e6-ad5d-582794b375a9" providerId="AD" clId="Web-{114E5BE5-076E-16BC-B03E-58AF02DC6010}" dt="2024-02-25T10:23:12.332" v="1"/>
          <ac:spMkLst>
            <pc:docMk/>
            <pc:sldMk cId="3302026939" sldId="340"/>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924395368" sldId="341"/>
        </pc:sldMkLst>
        <pc:spChg chg="mod">
          <ac:chgData name="Bara Hamadeh" userId="S::b_hamadeh@asu.edu.jo::ba91a99f-f3ba-46e6-ad5d-582794b375a9" providerId="AD" clId="Web-{114E5BE5-076E-16BC-B03E-58AF02DC6010}" dt="2024-02-25T10:23:12.332" v="1"/>
          <ac:spMkLst>
            <pc:docMk/>
            <pc:sldMk cId="2924395368" sldId="341"/>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560566907" sldId="342"/>
        </pc:sldMkLst>
        <pc:spChg chg="mod">
          <ac:chgData name="Bara Hamadeh" userId="S::b_hamadeh@asu.edu.jo::ba91a99f-f3ba-46e6-ad5d-582794b375a9" providerId="AD" clId="Web-{114E5BE5-076E-16BC-B03E-58AF02DC6010}" dt="2024-02-25T10:23:12.332" v="1"/>
          <ac:spMkLst>
            <pc:docMk/>
            <pc:sldMk cId="560566907" sldId="342"/>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40925280" sldId="343"/>
        </pc:sldMkLst>
        <pc:spChg chg="mod">
          <ac:chgData name="Bara Hamadeh" userId="S::b_hamadeh@asu.edu.jo::ba91a99f-f3ba-46e6-ad5d-582794b375a9" providerId="AD" clId="Web-{114E5BE5-076E-16BC-B03E-58AF02DC6010}" dt="2024-02-25T10:23:12.332" v="1"/>
          <ac:spMkLst>
            <pc:docMk/>
            <pc:sldMk cId="40925280" sldId="343"/>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448275488" sldId="344"/>
        </pc:sldMkLst>
        <pc:spChg chg="mod">
          <ac:chgData name="Bara Hamadeh" userId="S::b_hamadeh@asu.edu.jo::ba91a99f-f3ba-46e6-ad5d-582794b375a9" providerId="AD" clId="Web-{114E5BE5-076E-16BC-B03E-58AF02DC6010}" dt="2024-02-25T10:23:12.332" v="1"/>
          <ac:spMkLst>
            <pc:docMk/>
            <pc:sldMk cId="2448275488" sldId="344"/>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835114687" sldId="345"/>
        </pc:sldMkLst>
        <pc:spChg chg="mod">
          <ac:chgData name="Bara Hamadeh" userId="S::b_hamadeh@asu.edu.jo::ba91a99f-f3ba-46e6-ad5d-582794b375a9" providerId="AD" clId="Web-{114E5BE5-076E-16BC-B03E-58AF02DC6010}" dt="2024-02-25T10:23:12.332" v="1"/>
          <ac:spMkLst>
            <pc:docMk/>
            <pc:sldMk cId="1835114687" sldId="345"/>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921581898" sldId="346"/>
        </pc:sldMkLst>
        <pc:spChg chg="mod">
          <ac:chgData name="Bara Hamadeh" userId="S::b_hamadeh@asu.edu.jo::ba91a99f-f3ba-46e6-ad5d-582794b375a9" providerId="AD" clId="Web-{114E5BE5-076E-16BC-B03E-58AF02DC6010}" dt="2024-02-25T10:23:12.332" v="1"/>
          <ac:spMkLst>
            <pc:docMk/>
            <pc:sldMk cId="1921581898" sldId="346"/>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670506173" sldId="347"/>
        </pc:sldMkLst>
        <pc:spChg chg="mod">
          <ac:chgData name="Bara Hamadeh" userId="S::b_hamadeh@asu.edu.jo::ba91a99f-f3ba-46e6-ad5d-582794b375a9" providerId="AD" clId="Web-{114E5BE5-076E-16BC-B03E-58AF02DC6010}" dt="2024-02-25T10:23:12.332" v="1"/>
          <ac:spMkLst>
            <pc:docMk/>
            <pc:sldMk cId="670506173" sldId="347"/>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976726878" sldId="348"/>
        </pc:sldMkLst>
        <pc:spChg chg="mod">
          <ac:chgData name="Bara Hamadeh" userId="S::b_hamadeh@asu.edu.jo::ba91a99f-f3ba-46e6-ad5d-582794b375a9" providerId="AD" clId="Web-{114E5BE5-076E-16BC-B03E-58AF02DC6010}" dt="2024-02-25T10:23:12.332" v="1"/>
          <ac:spMkLst>
            <pc:docMk/>
            <pc:sldMk cId="2976726878" sldId="348"/>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086026616" sldId="349"/>
        </pc:sldMkLst>
        <pc:spChg chg="mod">
          <ac:chgData name="Bara Hamadeh" userId="S::b_hamadeh@asu.edu.jo::ba91a99f-f3ba-46e6-ad5d-582794b375a9" providerId="AD" clId="Web-{114E5BE5-076E-16BC-B03E-58AF02DC6010}" dt="2024-02-25T10:23:12.332" v="1"/>
          <ac:spMkLst>
            <pc:docMk/>
            <pc:sldMk cId="2086026616" sldId="349"/>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719457455" sldId="350"/>
        </pc:sldMkLst>
        <pc:spChg chg="mod">
          <ac:chgData name="Bara Hamadeh" userId="S::b_hamadeh@asu.edu.jo::ba91a99f-f3ba-46e6-ad5d-582794b375a9" providerId="AD" clId="Web-{114E5BE5-076E-16BC-B03E-58AF02DC6010}" dt="2024-02-25T10:23:12.332" v="1"/>
          <ac:spMkLst>
            <pc:docMk/>
            <pc:sldMk cId="719457455" sldId="350"/>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073064742" sldId="351"/>
        </pc:sldMkLst>
        <pc:spChg chg="mod">
          <ac:chgData name="Bara Hamadeh" userId="S::b_hamadeh@asu.edu.jo::ba91a99f-f3ba-46e6-ad5d-582794b375a9" providerId="AD" clId="Web-{114E5BE5-076E-16BC-B03E-58AF02DC6010}" dt="2024-02-25T10:23:12.332" v="1"/>
          <ac:spMkLst>
            <pc:docMk/>
            <pc:sldMk cId="3073064742" sldId="351"/>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43634987" sldId="352"/>
        </pc:sldMkLst>
        <pc:spChg chg="mod">
          <ac:chgData name="Bara Hamadeh" userId="S::b_hamadeh@asu.edu.jo::ba91a99f-f3ba-46e6-ad5d-582794b375a9" providerId="AD" clId="Web-{114E5BE5-076E-16BC-B03E-58AF02DC6010}" dt="2024-02-25T10:23:12.332" v="1"/>
          <ac:spMkLst>
            <pc:docMk/>
            <pc:sldMk cId="143634987" sldId="352"/>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241031427" sldId="353"/>
        </pc:sldMkLst>
        <pc:spChg chg="mod">
          <ac:chgData name="Bara Hamadeh" userId="S::b_hamadeh@asu.edu.jo::ba91a99f-f3ba-46e6-ad5d-582794b375a9" providerId="AD" clId="Web-{114E5BE5-076E-16BC-B03E-58AF02DC6010}" dt="2024-02-25T10:23:12.332" v="1"/>
          <ac:spMkLst>
            <pc:docMk/>
            <pc:sldMk cId="1241031427" sldId="353"/>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135682427" sldId="355"/>
        </pc:sldMkLst>
        <pc:spChg chg="mod">
          <ac:chgData name="Bara Hamadeh" userId="S::b_hamadeh@asu.edu.jo::ba91a99f-f3ba-46e6-ad5d-582794b375a9" providerId="AD" clId="Web-{114E5BE5-076E-16BC-B03E-58AF02DC6010}" dt="2024-02-25T10:23:12.332" v="1"/>
          <ac:spMkLst>
            <pc:docMk/>
            <pc:sldMk cId="3135682427" sldId="355"/>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444714369" sldId="356"/>
        </pc:sldMkLst>
        <pc:spChg chg="mod">
          <ac:chgData name="Bara Hamadeh" userId="S::b_hamadeh@asu.edu.jo::ba91a99f-f3ba-46e6-ad5d-582794b375a9" providerId="AD" clId="Web-{114E5BE5-076E-16BC-B03E-58AF02DC6010}" dt="2024-02-25T10:23:12.332" v="1"/>
          <ac:spMkLst>
            <pc:docMk/>
            <pc:sldMk cId="2444714369" sldId="356"/>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925156949" sldId="357"/>
        </pc:sldMkLst>
        <pc:spChg chg="mod">
          <ac:chgData name="Bara Hamadeh" userId="S::b_hamadeh@asu.edu.jo::ba91a99f-f3ba-46e6-ad5d-582794b375a9" providerId="AD" clId="Web-{114E5BE5-076E-16BC-B03E-58AF02DC6010}" dt="2024-02-25T10:23:12.332" v="1"/>
          <ac:spMkLst>
            <pc:docMk/>
            <pc:sldMk cId="925156949" sldId="357"/>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096068346" sldId="358"/>
        </pc:sldMkLst>
        <pc:spChg chg="mod">
          <ac:chgData name="Bara Hamadeh" userId="S::b_hamadeh@asu.edu.jo::ba91a99f-f3ba-46e6-ad5d-582794b375a9" providerId="AD" clId="Web-{114E5BE5-076E-16BC-B03E-58AF02DC6010}" dt="2024-02-25T10:23:12.332" v="1"/>
          <ac:spMkLst>
            <pc:docMk/>
            <pc:sldMk cId="2096068346" sldId="358"/>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199550523" sldId="359"/>
        </pc:sldMkLst>
        <pc:spChg chg="mod">
          <ac:chgData name="Bara Hamadeh" userId="S::b_hamadeh@asu.edu.jo::ba91a99f-f3ba-46e6-ad5d-582794b375a9" providerId="AD" clId="Web-{114E5BE5-076E-16BC-B03E-58AF02DC6010}" dt="2024-02-25T10:23:12.332" v="1"/>
          <ac:spMkLst>
            <pc:docMk/>
            <pc:sldMk cId="3199550523" sldId="359"/>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44358291" sldId="360"/>
        </pc:sldMkLst>
        <pc:spChg chg="mod">
          <ac:chgData name="Bara Hamadeh" userId="S::b_hamadeh@asu.edu.jo::ba91a99f-f3ba-46e6-ad5d-582794b375a9" providerId="AD" clId="Web-{114E5BE5-076E-16BC-B03E-58AF02DC6010}" dt="2024-02-25T10:23:12.332" v="1"/>
          <ac:spMkLst>
            <pc:docMk/>
            <pc:sldMk cId="344358291" sldId="360"/>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324581692" sldId="361"/>
        </pc:sldMkLst>
        <pc:spChg chg="mod">
          <ac:chgData name="Bara Hamadeh" userId="S::b_hamadeh@asu.edu.jo::ba91a99f-f3ba-46e6-ad5d-582794b375a9" providerId="AD" clId="Web-{114E5BE5-076E-16BC-B03E-58AF02DC6010}" dt="2024-02-25T10:23:12.332" v="1"/>
          <ac:spMkLst>
            <pc:docMk/>
            <pc:sldMk cId="1324581692" sldId="361"/>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953035288" sldId="362"/>
        </pc:sldMkLst>
        <pc:spChg chg="mod">
          <ac:chgData name="Bara Hamadeh" userId="S::b_hamadeh@asu.edu.jo::ba91a99f-f3ba-46e6-ad5d-582794b375a9" providerId="AD" clId="Web-{114E5BE5-076E-16BC-B03E-58AF02DC6010}" dt="2024-02-25T10:23:12.332" v="1"/>
          <ac:spMkLst>
            <pc:docMk/>
            <pc:sldMk cId="1953035288" sldId="362"/>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351084240" sldId="363"/>
        </pc:sldMkLst>
        <pc:spChg chg="mod">
          <ac:chgData name="Bara Hamadeh" userId="S::b_hamadeh@asu.edu.jo::ba91a99f-f3ba-46e6-ad5d-582794b375a9" providerId="AD" clId="Web-{114E5BE5-076E-16BC-B03E-58AF02DC6010}" dt="2024-02-25T10:23:12.332" v="1"/>
          <ac:spMkLst>
            <pc:docMk/>
            <pc:sldMk cId="1351084240" sldId="363"/>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773475574" sldId="364"/>
        </pc:sldMkLst>
        <pc:spChg chg="mod">
          <ac:chgData name="Bara Hamadeh" userId="S::b_hamadeh@asu.edu.jo::ba91a99f-f3ba-46e6-ad5d-582794b375a9" providerId="AD" clId="Web-{114E5BE5-076E-16BC-B03E-58AF02DC6010}" dt="2024-02-25T10:23:12.332" v="1"/>
          <ac:spMkLst>
            <pc:docMk/>
            <pc:sldMk cId="773475574" sldId="364"/>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536688962" sldId="365"/>
        </pc:sldMkLst>
        <pc:spChg chg="mod">
          <ac:chgData name="Bara Hamadeh" userId="S::b_hamadeh@asu.edu.jo::ba91a99f-f3ba-46e6-ad5d-582794b375a9" providerId="AD" clId="Web-{114E5BE5-076E-16BC-B03E-58AF02DC6010}" dt="2024-02-25T10:23:12.332" v="1"/>
          <ac:spMkLst>
            <pc:docMk/>
            <pc:sldMk cId="2536688962" sldId="365"/>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847834455" sldId="366"/>
        </pc:sldMkLst>
        <pc:spChg chg="mod">
          <ac:chgData name="Bara Hamadeh" userId="S::b_hamadeh@asu.edu.jo::ba91a99f-f3ba-46e6-ad5d-582794b375a9" providerId="AD" clId="Web-{114E5BE5-076E-16BC-B03E-58AF02DC6010}" dt="2024-02-25T10:23:12.332" v="1"/>
          <ac:spMkLst>
            <pc:docMk/>
            <pc:sldMk cId="1847834455" sldId="366"/>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592563092" sldId="367"/>
        </pc:sldMkLst>
        <pc:spChg chg="mod">
          <ac:chgData name="Bara Hamadeh" userId="S::b_hamadeh@asu.edu.jo::ba91a99f-f3ba-46e6-ad5d-582794b375a9" providerId="AD" clId="Web-{114E5BE5-076E-16BC-B03E-58AF02DC6010}" dt="2024-02-25T10:23:12.332" v="1"/>
          <ac:spMkLst>
            <pc:docMk/>
            <pc:sldMk cId="1592563092" sldId="367"/>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018871719" sldId="368"/>
        </pc:sldMkLst>
        <pc:spChg chg="mod">
          <ac:chgData name="Bara Hamadeh" userId="S::b_hamadeh@asu.edu.jo::ba91a99f-f3ba-46e6-ad5d-582794b375a9" providerId="AD" clId="Web-{114E5BE5-076E-16BC-B03E-58AF02DC6010}" dt="2024-02-25T10:23:12.332" v="1"/>
          <ac:spMkLst>
            <pc:docMk/>
            <pc:sldMk cId="1018871719" sldId="368"/>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847820381" sldId="369"/>
        </pc:sldMkLst>
        <pc:spChg chg="mod">
          <ac:chgData name="Bara Hamadeh" userId="S::b_hamadeh@asu.edu.jo::ba91a99f-f3ba-46e6-ad5d-582794b375a9" providerId="AD" clId="Web-{114E5BE5-076E-16BC-B03E-58AF02DC6010}" dt="2024-02-25T10:23:12.332" v="1"/>
          <ac:spMkLst>
            <pc:docMk/>
            <pc:sldMk cId="1847820381" sldId="369"/>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4064621291" sldId="370"/>
        </pc:sldMkLst>
        <pc:spChg chg="mod">
          <ac:chgData name="Bara Hamadeh" userId="S::b_hamadeh@asu.edu.jo::ba91a99f-f3ba-46e6-ad5d-582794b375a9" providerId="AD" clId="Web-{114E5BE5-076E-16BC-B03E-58AF02DC6010}" dt="2024-02-25T10:23:12.332" v="1"/>
          <ac:spMkLst>
            <pc:docMk/>
            <pc:sldMk cId="4064621291" sldId="370"/>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055556070" sldId="371"/>
        </pc:sldMkLst>
        <pc:spChg chg="mod">
          <ac:chgData name="Bara Hamadeh" userId="S::b_hamadeh@asu.edu.jo::ba91a99f-f3ba-46e6-ad5d-582794b375a9" providerId="AD" clId="Web-{114E5BE5-076E-16BC-B03E-58AF02DC6010}" dt="2024-02-25T10:23:12.332" v="1"/>
          <ac:spMkLst>
            <pc:docMk/>
            <pc:sldMk cId="2055556070" sldId="371"/>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751556218" sldId="372"/>
        </pc:sldMkLst>
        <pc:spChg chg="mod">
          <ac:chgData name="Bara Hamadeh" userId="S::b_hamadeh@asu.edu.jo::ba91a99f-f3ba-46e6-ad5d-582794b375a9" providerId="AD" clId="Web-{114E5BE5-076E-16BC-B03E-58AF02DC6010}" dt="2024-02-25T10:23:12.332" v="1"/>
          <ac:spMkLst>
            <pc:docMk/>
            <pc:sldMk cId="3751556218" sldId="372"/>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079496217" sldId="374"/>
        </pc:sldMkLst>
        <pc:spChg chg="mod">
          <ac:chgData name="Bara Hamadeh" userId="S::b_hamadeh@asu.edu.jo::ba91a99f-f3ba-46e6-ad5d-582794b375a9" providerId="AD" clId="Web-{114E5BE5-076E-16BC-B03E-58AF02DC6010}" dt="2024-02-25T10:23:12.332" v="1"/>
          <ac:spMkLst>
            <pc:docMk/>
            <pc:sldMk cId="3079496217" sldId="374"/>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684478681" sldId="375"/>
        </pc:sldMkLst>
        <pc:spChg chg="mod">
          <ac:chgData name="Bara Hamadeh" userId="S::b_hamadeh@asu.edu.jo::ba91a99f-f3ba-46e6-ad5d-582794b375a9" providerId="AD" clId="Web-{114E5BE5-076E-16BC-B03E-58AF02DC6010}" dt="2024-02-25T10:23:12.332" v="1"/>
          <ac:spMkLst>
            <pc:docMk/>
            <pc:sldMk cId="1684478681" sldId="375"/>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834949851" sldId="378"/>
        </pc:sldMkLst>
        <pc:spChg chg="mod">
          <ac:chgData name="Bara Hamadeh" userId="S::b_hamadeh@asu.edu.jo::ba91a99f-f3ba-46e6-ad5d-582794b375a9" providerId="AD" clId="Web-{114E5BE5-076E-16BC-B03E-58AF02DC6010}" dt="2024-02-25T10:23:12.332" v="1"/>
          <ac:spMkLst>
            <pc:docMk/>
            <pc:sldMk cId="2834949851" sldId="378"/>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897029948" sldId="380"/>
        </pc:sldMkLst>
        <pc:spChg chg="mod">
          <ac:chgData name="Bara Hamadeh" userId="S::b_hamadeh@asu.edu.jo::ba91a99f-f3ba-46e6-ad5d-582794b375a9" providerId="AD" clId="Web-{114E5BE5-076E-16BC-B03E-58AF02DC6010}" dt="2024-02-25T10:23:12.332" v="1"/>
          <ac:spMkLst>
            <pc:docMk/>
            <pc:sldMk cId="897029948" sldId="380"/>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3799534040" sldId="381"/>
        </pc:sldMkLst>
        <pc:spChg chg="mod">
          <ac:chgData name="Bara Hamadeh" userId="S::b_hamadeh@asu.edu.jo::ba91a99f-f3ba-46e6-ad5d-582794b375a9" providerId="AD" clId="Web-{114E5BE5-076E-16BC-B03E-58AF02DC6010}" dt="2024-02-25T10:23:12.332" v="1"/>
          <ac:spMkLst>
            <pc:docMk/>
            <pc:sldMk cId="3799534040" sldId="381"/>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2300474329" sldId="382"/>
        </pc:sldMkLst>
        <pc:spChg chg="mod">
          <ac:chgData name="Bara Hamadeh" userId="S::b_hamadeh@asu.edu.jo::ba91a99f-f3ba-46e6-ad5d-582794b375a9" providerId="AD" clId="Web-{114E5BE5-076E-16BC-B03E-58AF02DC6010}" dt="2024-02-25T10:23:12.332" v="1"/>
          <ac:spMkLst>
            <pc:docMk/>
            <pc:sldMk cId="2300474329" sldId="382"/>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025048359" sldId="383"/>
        </pc:sldMkLst>
        <pc:spChg chg="mod">
          <ac:chgData name="Bara Hamadeh" userId="S::b_hamadeh@asu.edu.jo::ba91a99f-f3ba-46e6-ad5d-582794b375a9" providerId="AD" clId="Web-{114E5BE5-076E-16BC-B03E-58AF02DC6010}" dt="2024-02-25T10:23:12.332" v="1"/>
          <ac:spMkLst>
            <pc:docMk/>
            <pc:sldMk cId="1025048359" sldId="383"/>
            <ac:spMk id="4" creationId="{66738BBB-0AA8-3DCA-D70D-202ADE3D7914}"/>
          </ac:spMkLst>
        </pc:spChg>
      </pc:sldChg>
      <pc:sldChg chg="modSp">
        <pc:chgData name="Bara Hamadeh" userId="S::b_hamadeh@asu.edu.jo::ba91a99f-f3ba-46e6-ad5d-582794b375a9" providerId="AD" clId="Web-{114E5BE5-076E-16BC-B03E-58AF02DC6010}" dt="2024-02-25T10:23:12.332" v="1"/>
        <pc:sldMkLst>
          <pc:docMk/>
          <pc:sldMk cId="1327438597" sldId="384"/>
        </pc:sldMkLst>
        <pc:spChg chg="mod">
          <ac:chgData name="Bara Hamadeh" userId="S::b_hamadeh@asu.edu.jo::ba91a99f-f3ba-46e6-ad5d-582794b375a9" providerId="AD" clId="Web-{114E5BE5-076E-16BC-B03E-58AF02DC6010}" dt="2024-02-25T10:23:12.332" v="1"/>
          <ac:spMkLst>
            <pc:docMk/>
            <pc:sldMk cId="1327438597" sldId="384"/>
            <ac:spMk id="4" creationId="{66738BBB-0AA8-3DCA-D70D-202ADE3D7914}"/>
          </ac:spMkLst>
        </pc:spChg>
      </pc:sldChg>
      <pc:sldMasterChg chg="modSp mod modSldLayout">
        <pc:chgData name="Bara Hamadeh" userId="S::b_hamadeh@asu.edu.jo::ba91a99f-f3ba-46e6-ad5d-582794b375a9" providerId="AD" clId="Web-{114E5BE5-076E-16BC-B03E-58AF02DC6010}" dt="2024-02-25T10:23:19.489" v="2"/>
        <pc:sldMasterMkLst>
          <pc:docMk/>
          <pc:sldMasterMk cId="1719295273" sldId="2147483672"/>
        </pc:sldMasterMkLst>
        <pc:spChg chg="mod">
          <ac:chgData name="Bara Hamadeh" userId="S::b_hamadeh@asu.edu.jo::ba91a99f-f3ba-46e6-ad5d-582794b375a9" providerId="AD" clId="Web-{114E5BE5-076E-16BC-B03E-58AF02DC6010}" dt="2024-02-25T10:23:12.332" v="1"/>
          <ac:spMkLst>
            <pc:docMk/>
            <pc:sldMasterMk cId="1719295273" sldId="2147483672"/>
            <ac:spMk id="5" creationId="{00000000-0000-0000-0000-000000000000}"/>
          </ac:spMkLst>
        </pc:spChg>
        <pc:sldLayoutChg chg="modSp mod">
          <pc:chgData name="Bara Hamadeh" userId="S::b_hamadeh@asu.edu.jo::ba91a99f-f3ba-46e6-ad5d-582794b375a9" providerId="AD" clId="Web-{114E5BE5-076E-16BC-B03E-58AF02DC6010}" dt="2024-02-25T10:23:19.489" v="2"/>
          <pc:sldLayoutMkLst>
            <pc:docMk/>
            <pc:sldMasterMk cId="1719295273" sldId="2147483672"/>
            <pc:sldLayoutMk cId="1136942225" sldId="2147483673"/>
          </pc:sldLayoutMkLst>
          <pc:spChg chg="mod">
            <ac:chgData name="Bara Hamadeh" userId="S::b_hamadeh@asu.edu.jo::ba91a99f-f3ba-46e6-ad5d-582794b375a9" providerId="AD" clId="Web-{114E5BE5-076E-16BC-B03E-58AF02DC6010}" dt="2024-02-25T10:23:12.332" v="1"/>
            <ac:spMkLst>
              <pc:docMk/>
              <pc:sldMasterMk cId="1719295273" sldId="2147483672"/>
              <pc:sldLayoutMk cId="1136942225" sldId="2147483673"/>
              <ac:spMk id="5"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543625086" sldId="2147483674"/>
          </pc:sldLayoutMkLst>
          <pc:spChg chg="mod">
            <ac:chgData name="Bara Hamadeh" userId="S::b_hamadeh@asu.edu.jo::ba91a99f-f3ba-46e6-ad5d-582794b375a9" providerId="AD" clId="Web-{114E5BE5-076E-16BC-B03E-58AF02DC6010}" dt="2024-02-25T10:23:12.332" v="1"/>
            <ac:spMkLst>
              <pc:docMk/>
              <pc:sldMasterMk cId="1719295273" sldId="2147483672"/>
              <pc:sldLayoutMk cId="543625086" sldId="2147483674"/>
              <ac:spMk id="5"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695053800" sldId="2147483675"/>
          </pc:sldLayoutMkLst>
          <pc:spChg chg="mod">
            <ac:chgData name="Bara Hamadeh" userId="S::b_hamadeh@asu.edu.jo::ba91a99f-f3ba-46e6-ad5d-582794b375a9" providerId="AD" clId="Web-{114E5BE5-076E-16BC-B03E-58AF02DC6010}" dt="2024-02-25T10:23:12.332" v="1"/>
            <ac:spMkLst>
              <pc:docMk/>
              <pc:sldMasterMk cId="1719295273" sldId="2147483672"/>
              <pc:sldLayoutMk cId="695053800" sldId="2147483675"/>
              <ac:spMk id="5"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1555795183" sldId="2147483676"/>
          </pc:sldLayoutMkLst>
          <pc:spChg chg="mod">
            <ac:chgData name="Bara Hamadeh" userId="S::b_hamadeh@asu.edu.jo::ba91a99f-f3ba-46e6-ad5d-582794b375a9" providerId="AD" clId="Web-{114E5BE5-076E-16BC-B03E-58AF02DC6010}" dt="2024-02-25T10:23:12.332" v="1"/>
            <ac:spMkLst>
              <pc:docMk/>
              <pc:sldMasterMk cId="1719295273" sldId="2147483672"/>
              <pc:sldLayoutMk cId="1555795183" sldId="2147483676"/>
              <ac:spMk id="6"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3154714844" sldId="2147483677"/>
          </pc:sldLayoutMkLst>
          <pc:spChg chg="mod">
            <ac:chgData name="Bara Hamadeh" userId="S::b_hamadeh@asu.edu.jo::ba91a99f-f3ba-46e6-ad5d-582794b375a9" providerId="AD" clId="Web-{114E5BE5-076E-16BC-B03E-58AF02DC6010}" dt="2024-02-25T10:23:12.332" v="1"/>
            <ac:spMkLst>
              <pc:docMk/>
              <pc:sldMasterMk cId="1719295273" sldId="2147483672"/>
              <pc:sldLayoutMk cId="3154714844" sldId="2147483677"/>
              <ac:spMk id="8"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1943265441" sldId="2147483678"/>
          </pc:sldLayoutMkLst>
          <pc:spChg chg="mod">
            <ac:chgData name="Bara Hamadeh" userId="S::b_hamadeh@asu.edu.jo::ba91a99f-f3ba-46e6-ad5d-582794b375a9" providerId="AD" clId="Web-{114E5BE5-076E-16BC-B03E-58AF02DC6010}" dt="2024-02-25T10:23:12.332" v="1"/>
            <ac:spMkLst>
              <pc:docMk/>
              <pc:sldMasterMk cId="1719295273" sldId="2147483672"/>
              <pc:sldLayoutMk cId="1943265441" sldId="2147483678"/>
              <ac:spMk id="4"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1103728720" sldId="2147483679"/>
          </pc:sldLayoutMkLst>
          <pc:spChg chg="mod">
            <ac:chgData name="Bara Hamadeh" userId="S::b_hamadeh@asu.edu.jo::ba91a99f-f3ba-46e6-ad5d-582794b375a9" providerId="AD" clId="Web-{114E5BE5-076E-16BC-B03E-58AF02DC6010}" dt="2024-02-25T10:23:12.332" v="1"/>
            <ac:spMkLst>
              <pc:docMk/>
              <pc:sldMasterMk cId="1719295273" sldId="2147483672"/>
              <pc:sldLayoutMk cId="1103728720" sldId="2147483679"/>
              <ac:spMk id="8"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3199667561" sldId="2147483680"/>
          </pc:sldLayoutMkLst>
          <pc:spChg chg="mod">
            <ac:chgData name="Bara Hamadeh" userId="S::b_hamadeh@asu.edu.jo::ba91a99f-f3ba-46e6-ad5d-582794b375a9" providerId="AD" clId="Web-{114E5BE5-076E-16BC-B03E-58AF02DC6010}" dt="2024-02-25T10:23:12.332" v="1"/>
            <ac:spMkLst>
              <pc:docMk/>
              <pc:sldMasterMk cId="1719295273" sldId="2147483672"/>
              <pc:sldLayoutMk cId="3199667561" sldId="2147483680"/>
              <ac:spMk id="6"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1593807278" sldId="2147483681"/>
          </pc:sldLayoutMkLst>
          <pc:spChg chg="mod">
            <ac:chgData name="Bara Hamadeh" userId="S::b_hamadeh@asu.edu.jo::ba91a99f-f3ba-46e6-ad5d-582794b375a9" providerId="AD" clId="Web-{114E5BE5-076E-16BC-B03E-58AF02DC6010}" dt="2024-02-25T10:23:12.332" v="1"/>
            <ac:spMkLst>
              <pc:docMk/>
              <pc:sldMasterMk cId="1719295273" sldId="2147483672"/>
              <pc:sldLayoutMk cId="1593807278" sldId="2147483681"/>
              <ac:spMk id="6"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4052592978" sldId="2147483682"/>
          </pc:sldLayoutMkLst>
          <pc:spChg chg="mod">
            <ac:chgData name="Bara Hamadeh" userId="S::b_hamadeh@asu.edu.jo::ba91a99f-f3ba-46e6-ad5d-582794b375a9" providerId="AD" clId="Web-{114E5BE5-076E-16BC-B03E-58AF02DC6010}" dt="2024-02-25T10:23:12.332" v="1"/>
            <ac:spMkLst>
              <pc:docMk/>
              <pc:sldMasterMk cId="1719295273" sldId="2147483672"/>
              <pc:sldLayoutMk cId="4052592978" sldId="2147483682"/>
              <ac:spMk id="5" creationId="{00000000-0000-0000-0000-000000000000}"/>
            </ac:spMkLst>
          </pc:spChg>
        </pc:sldLayoutChg>
        <pc:sldLayoutChg chg="modSp mod">
          <pc:chgData name="Bara Hamadeh" userId="S::b_hamadeh@asu.edu.jo::ba91a99f-f3ba-46e6-ad5d-582794b375a9" providerId="AD" clId="Web-{114E5BE5-076E-16BC-B03E-58AF02DC6010}" dt="2024-02-25T10:23:19.489" v="2"/>
          <pc:sldLayoutMkLst>
            <pc:docMk/>
            <pc:sldMasterMk cId="1719295273" sldId="2147483672"/>
            <pc:sldLayoutMk cId="2606264647" sldId="2147483683"/>
          </pc:sldLayoutMkLst>
          <pc:spChg chg="mod">
            <ac:chgData name="Bara Hamadeh" userId="S::b_hamadeh@asu.edu.jo::ba91a99f-f3ba-46e6-ad5d-582794b375a9" providerId="AD" clId="Web-{114E5BE5-076E-16BC-B03E-58AF02DC6010}" dt="2024-02-25T10:23:12.332" v="1"/>
            <ac:spMkLst>
              <pc:docMk/>
              <pc:sldMasterMk cId="1719295273" sldId="2147483672"/>
              <pc:sldLayoutMk cId="2606264647" sldId="2147483683"/>
              <ac:spMk id="5" creationId="{00000000-0000-0000-0000-000000000000}"/>
            </ac:spMkLst>
          </pc:spChg>
        </pc:sldLayoutChg>
      </pc:sldMasterChg>
    </pc:docChg>
  </pc:docChgLst>
  <pc:docChgLst>
    <pc:chgData name="Bara Hamadeh" userId="S::b_hamadeh@asu.edu.jo::ba91a99f-f3ba-46e6-ad5d-582794b375a9" providerId="AD" clId="Web-{F7FBDABB-F609-4F1E-9AC9-9FCF4966F669}"/>
    <pc:docChg chg="modSld">
      <pc:chgData name="Bara Hamadeh" userId="S::b_hamadeh@asu.edu.jo::ba91a99f-f3ba-46e6-ad5d-582794b375a9" providerId="AD" clId="Web-{F7FBDABB-F609-4F1E-9AC9-9FCF4966F669}" dt="2024-01-04T15:35:10.528" v="0" actId="1076"/>
      <pc:docMkLst>
        <pc:docMk/>
      </pc:docMkLst>
      <pc:sldChg chg="modSp">
        <pc:chgData name="Bara Hamadeh" userId="S::b_hamadeh@asu.edu.jo::ba91a99f-f3ba-46e6-ad5d-582794b375a9" providerId="AD" clId="Web-{F7FBDABB-F609-4F1E-9AC9-9FCF4966F669}" dt="2024-01-04T15:35:10.528" v="0" actId="1076"/>
        <pc:sldMkLst>
          <pc:docMk/>
          <pc:sldMk cId="40925280" sldId="343"/>
        </pc:sldMkLst>
        <pc:spChg chg="mod">
          <ac:chgData name="Bara Hamadeh" userId="S::b_hamadeh@asu.edu.jo::ba91a99f-f3ba-46e6-ad5d-582794b375a9" providerId="AD" clId="Web-{F7FBDABB-F609-4F1E-9AC9-9FCF4966F669}" dt="2024-01-04T15:35:10.528" v="0" actId="1076"/>
          <ac:spMkLst>
            <pc:docMk/>
            <pc:sldMk cId="40925280" sldId="343"/>
            <ac:spMk id="12" creationId="{E077C2A6-8E7E-E2C6-5B79-7780E50B1269}"/>
          </ac:spMkLst>
        </pc:spChg>
      </pc:sldChg>
    </pc:docChg>
  </pc:docChgLst>
  <pc:docChgLst>
    <pc:chgData name="Bara Hamadeh" userId="S::b_hamadeh@asu.edu.jo::ba91a99f-f3ba-46e6-ad5d-582794b375a9" providerId="AD" clId="Web-{584C7E78-3E0E-DBC4-5DA2-F48D90B4E94B}"/>
    <pc:docChg chg="mod modSld modMainMaster">
      <pc:chgData name="Bara Hamadeh" userId="S::b_hamadeh@asu.edu.jo::ba91a99f-f3ba-46e6-ad5d-582794b375a9" providerId="AD" clId="Web-{584C7E78-3E0E-DBC4-5DA2-F48D90B4E94B}" dt="2024-02-25T22:58:42.053" v="22"/>
      <pc:docMkLst>
        <pc:docMk/>
      </pc:docMkLst>
      <pc:sldChg chg="delSp modTransition">
        <pc:chgData name="Bara Hamadeh" userId="S::b_hamadeh@asu.edu.jo::ba91a99f-f3ba-46e6-ad5d-582794b375a9" providerId="AD" clId="Web-{584C7E78-3E0E-DBC4-5DA2-F48D90B4E94B}" dt="2024-02-25T22:58:34.756" v="21"/>
        <pc:sldMkLst>
          <pc:docMk/>
          <pc:sldMk cId="98556299" sldId="256"/>
        </pc:sldMkLst>
        <pc:spChg chg="del">
          <ac:chgData name="Bara Hamadeh" userId="S::b_hamadeh@asu.edu.jo::ba91a99f-f3ba-46e6-ad5d-582794b375a9" providerId="AD" clId="Web-{584C7E78-3E0E-DBC4-5DA2-F48D90B4E94B}" dt="2024-02-25T22:58:34.756" v="21"/>
          <ac:spMkLst>
            <pc:docMk/>
            <pc:sldMk cId="98556299" sldId="256"/>
            <ac:spMk id="4" creationId="{3E2AE632-31A0-217D-FD10-0A342181E0D1}"/>
          </ac:spMkLst>
        </pc:spChg>
      </pc:sldChg>
      <pc:sldChg chg="modTransition">
        <pc:chgData name="Bara Hamadeh" userId="S::b_hamadeh@asu.edu.jo::ba91a99f-f3ba-46e6-ad5d-582794b375a9" providerId="AD" clId="Web-{584C7E78-3E0E-DBC4-5DA2-F48D90B4E94B}" dt="2024-02-25T22:58:23.365" v="19"/>
        <pc:sldMkLst>
          <pc:docMk/>
          <pc:sldMk cId="1241031427" sldId="353"/>
        </pc:sldMkLst>
      </pc:sldChg>
      <pc:sldChg chg="modTransition">
        <pc:chgData name="Bara Hamadeh" userId="S::b_hamadeh@asu.edu.jo::ba91a99f-f3ba-46e6-ad5d-582794b375a9" providerId="AD" clId="Web-{584C7E78-3E0E-DBC4-5DA2-F48D90B4E94B}" dt="2024-02-25T22:58:23.333" v="0"/>
        <pc:sldMkLst>
          <pc:docMk/>
          <pc:sldMk cId="1953035288" sldId="362"/>
        </pc:sldMkLst>
      </pc:sldChg>
      <pc:sldChg chg="modTransition">
        <pc:chgData name="Bara Hamadeh" userId="S::b_hamadeh@asu.edu.jo::ba91a99f-f3ba-46e6-ad5d-582794b375a9" providerId="AD" clId="Web-{584C7E78-3E0E-DBC4-5DA2-F48D90B4E94B}" dt="2024-02-25T22:58:23.333" v="1"/>
        <pc:sldMkLst>
          <pc:docMk/>
          <pc:sldMk cId="1351084240" sldId="363"/>
        </pc:sldMkLst>
      </pc:sldChg>
      <pc:sldChg chg="modTransition">
        <pc:chgData name="Bara Hamadeh" userId="S::b_hamadeh@asu.edu.jo::ba91a99f-f3ba-46e6-ad5d-582794b375a9" providerId="AD" clId="Web-{584C7E78-3E0E-DBC4-5DA2-F48D90B4E94B}" dt="2024-02-25T22:58:23.333" v="2"/>
        <pc:sldMkLst>
          <pc:docMk/>
          <pc:sldMk cId="773475574" sldId="364"/>
        </pc:sldMkLst>
      </pc:sldChg>
      <pc:sldChg chg="modTransition">
        <pc:chgData name="Bara Hamadeh" userId="S::b_hamadeh@asu.edu.jo::ba91a99f-f3ba-46e6-ad5d-582794b375a9" providerId="AD" clId="Web-{584C7E78-3E0E-DBC4-5DA2-F48D90B4E94B}" dt="2024-02-25T22:58:23.333" v="3"/>
        <pc:sldMkLst>
          <pc:docMk/>
          <pc:sldMk cId="2536688962" sldId="365"/>
        </pc:sldMkLst>
      </pc:sldChg>
      <pc:sldChg chg="modTransition">
        <pc:chgData name="Bara Hamadeh" userId="S::b_hamadeh@asu.edu.jo::ba91a99f-f3ba-46e6-ad5d-582794b375a9" providerId="AD" clId="Web-{584C7E78-3E0E-DBC4-5DA2-F48D90B4E94B}" dt="2024-02-25T22:58:23.333" v="4"/>
        <pc:sldMkLst>
          <pc:docMk/>
          <pc:sldMk cId="1847834455" sldId="366"/>
        </pc:sldMkLst>
      </pc:sldChg>
      <pc:sldChg chg="modTransition">
        <pc:chgData name="Bara Hamadeh" userId="S::b_hamadeh@asu.edu.jo::ba91a99f-f3ba-46e6-ad5d-582794b375a9" providerId="AD" clId="Web-{584C7E78-3E0E-DBC4-5DA2-F48D90B4E94B}" dt="2024-02-25T22:58:23.333" v="5"/>
        <pc:sldMkLst>
          <pc:docMk/>
          <pc:sldMk cId="1592563092" sldId="367"/>
        </pc:sldMkLst>
      </pc:sldChg>
      <pc:sldChg chg="modTransition">
        <pc:chgData name="Bara Hamadeh" userId="S::b_hamadeh@asu.edu.jo::ba91a99f-f3ba-46e6-ad5d-582794b375a9" providerId="AD" clId="Web-{584C7E78-3E0E-DBC4-5DA2-F48D90B4E94B}" dt="2024-02-25T22:58:23.333" v="6"/>
        <pc:sldMkLst>
          <pc:docMk/>
          <pc:sldMk cId="1018871719" sldId="368"/>
        </pc:sldMkLst>
      </pc:sldChg>
      <pc:sldChg chg="modTransition">
        <pc:chgData name="Bara Hamadeh" userId="S::b_hamadeh@asu.edu.jo::ba91a99f-f3ba-46e6-ad5d-582794b375a9" providerId="AD" clId="Web-{584C7E78-3E0E-DBC4-5DA2-F48D90B4E94B}" dt="2024-02-25T22:58:23.333" v="7"/>
        <pc:sldMkLst>
          <pc:docMk/>
          <pc:sldMk cId="1847820381" sldId="369"/>
        </pc:sldMkLst>
      </pc:sldChg>
      <pc:sldChg chg="modTransition">
        <pc:chgData name="Bara Hamadeh" userId="S::b_hamadeh@asu.edu.jo::ba91a99f-f3ba-46e6-ad5d-582794b375a9" providerId="AD" clId="Web-{584C7E78-3E0E-DBC4-5DA2-F48D90B4E94B}" dt="2024-02-25T22:58:23.333" v="9"/>
        <pc:sldMkLst>
          <pc:docMk/>
          <pc:sldMk cId="4064621291" sldId="370"/>
        </pc:sldMkLst>
      </pc:sldChg>
      <pc:sldChg chg="modTransition">
        <pc:chgData name="Bara Hamadeh" userId="S::b_hamadeh@asu.edu.jo::ba91a99f-f3ba-46e6-ad5d-582794b375a9" providerId="AD" clId="Web-{584C7E78-3E0E-DBC4-5DA2-F48D90B4E94B}" dt="2024-02-25T22:58:23.333" v="8"/>
        <pc:sldMkLst>
          <pc:docMk/>
          <pc:sldMk cId="2055556070" sldId="371"/>
        </pc:sldMkLst>
      </pc:sldChg>
      <pc:sldChg chg="modTransition">
        <pc:chgData name="Bara Hamadeh" userId="S::b_hamadeh@asu.edu.jo::ba91a99f-f3ba-46e6-ad5d-582794b375a9" providerId="AD" clId="Web-{584C7E78-3E0E-DBC4-5DA2-F48D90B4E94B}" dt="2024-02-25T22:58:23.333" v="10"/>
        <pc:sldMkLst>
          <pc:docMk/>
          <pc:sldMk cId="3751556218" sldId="372"/>
        </pc:sldMkLst>
      </pc:sldChg>
      <pc:sldChg chg="modTransition">
        <pc:chgData name="Bara Hamadeh" userId="S::b_hamadeh@asu.edu.jo::ba91a99f-f3ba-46e6-ad5d-582794b375a9" providerId="AD" clId="Web-{584C7E78-3E0E-DBC4-5DA2-F48D90B4E94B}" dt="2024-02-25T22:58:23.349" v="12"/>
        <pc:sldMkLst>
          <pc:docMk/>
          <pc:sldMk cId="3079496217" sldId="374"/>
        </pc:sldMkLst>
      </pc:sldChg>
      <pc:sldChg chg="modTransition">
        <pc:chgData name="Bara Hamadeh" userId="S::b_hamadeh@asu.edu.jo::ba91a99f-f3ba-46e6-ad5d-582794b375a9" providerId="AD" clId="Web-{584C7E78-3E0E-DBC4-5DA2-F48D90B4E94B}" dt="2024-02-25T22:58:23.349" v="11"/>
        <pc:sldMkLst>
          <pc:docMk/>
          <pc:sldMk cId="1684478681" sldId="375"/>
        </pc:sldMkLst>
      </pc:sldChg>
      <pc:sldChg chg="modTransition">
        <pc:chgData name="Bara Hamadeh" userId="S::b_hamadeh@asu.edu.jo::ba91a99f-f3ba-46e6-ad5d-582794b375a9" providerId="AD" clId="Web-{584C7E78-3E0E-DBC4-5DA2-F48D90B4E94B}" dt="2024-02-25T22:58:23.349" v="13"/>
        <pc:sldMkLst>
          <pc:docMk/>
          <pc:sldMk cId="2834949851" sldId="378"/>
        </pc:sldMkLst>
      </pc:sldChg>
      <pc:sldChg chg="modTransition">
        <pc:chgData name="Bara Hamadeh" userId="S::b_hamadeh@asu.edu.jo::ba91a99f-f3ba-46e6-ad5d-582794b375a9" providerId="AD" clId="Web-{584C7E78-3E0E-DBC4-5DA2-F48D90B4E94B}" dt="2024-02-25T22:58:23.349" v="14"/>
        <pc:sldMkLst>
          <pc:docMk/>
          <pc:sldMk cId="897029948" sldId="380"/>
        </pc:sldMkLst>
      </pc:sldChg>
      <pc:sldChg chg="modTransition">
        <pc:chgData name="Bara Hamadeh" userId="S::b_hamadeh@asu.edu.jo::ba91a99f-f3ba-46e6-ad5d-582794b375a9" providerId="AD" clId="Web-{584C7E78-3E0E-DBC4-5DA2-F48D90B4E94B}" dt="2024-02-25T22:58:23.349" v="15"/>
        <pc:sldMkLst>
          <pc:docMk/>
          <pc:sldMk cId="3799534040" sldId="381"/>
        </pc:sldMkLst>
      </pc:sldChg>
      <pc:sldChg chg="modTransition">
        <pc:chgData name="Bara Hamadeh" userId="S::b_hamadeh@asu.edu.jo::ba91a99f-f3ba-46e6-ad5d-582794b375a9" providerId="AD" clId="Web-{584C7E78-3E0E-DBC4-5DA2-F48D90B4E94B}" dt="2024-02-25T22:58:23.365" v="16"/>
        <pc:sldMkLst>
          <pc:docMk/>
          <pc:sldMk cId="2300474329" sldId="382"/>
        </pc:sldMkLst>
      </pc:sldChg>
      <pc:sldChg chg="modTransition">
        <pc:chgData name="Bara Hamadeh" userId="S::b_hamadeh@asu.edu.jo::ba91a99f-f3ba-46e6-ad5d-582794b375a9" providerId="AD" clId="Web-{584C7E78-3E0E-DBC4-5DA2-F48D90B4E94B}" dt="2024-02-25T22:58:23.365" v="17"/>
        <pc:sldMkLst>
          <pc:docMk/>
          <pc:sldMk cId="1025048359" sldId="383"/>
        </pc:sldMkLst>
      </pc:sldChg>
      <pc:sldChg chg="modTransition">
        <pc:chgData name="Bara Hamadeh" userId="S::b_hamadeh@asu.edu.jo::ba91a99f-f3ba-46e6-ad5d-582794b375a9" providerId="AD" clId="Web-{584C7E78-3E0E-DBC4-5DA2-F48D90B4E94B}" dt="2024-02-25T22:58:23.365" v="18"/>
        <pc:sldMkLst>
          <pc:docMk/>
          <pc:sldMk cId="1327438597" sldId="384"/>
        </pc:sldMkLst>
      </pc:sldChg>
      <pc:sldMasterChg chg="mod modSldLayout">
        <pc:chgData name="Bara Hamadeh" userId="S::b_hamadeh@asu.edu.jo::ba91a99f-f3ba-46e6-ad5d-582794b375a9" providerId="AD" clId="Web-{584C7E78-3E0E-DBC4-5DA2-F48D90B4E94B}" dt="2024-02-25T22:58:42.053" v="22"/>
        <pc:sldMasterMkLst>
          <pc:docMk/>
          <pc:sldMasterMk cId="1719295273" sldId="2147483672"/>
        </pc:sldMasterMkLst>
        <pc:sldLayoutChg chg="mod">
          <pc:chgData name="Bara Hamadeh" userId="S::b_hamadeh@asu.edu.jo::ba91a99f-f3ba-46e6-ad5d-582794b375a9" providerId="AD" clId="Web-{584C7E78-3E0E-DBC4-5DA2-F48D90B4E94B}" dt="2024-02-25T22:58:42.053" v="22"/>
          <pc:sldLayoutMkLst>
            <pc:docMk/>
            <pc:sldMasterMk cId="1719295273" sldId="2147483672"/>
            <pc:sldLayoutMk cId="1136942225" sldId="2147483673"/>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543625086" sldId="2147483674"/>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695053800" sldId="2147483675"/>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1555795183" sldId="2147483676"/>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3154714844" sldId="2147483677"/>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1943265441" sldId="2147483678"/>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1103728720" sldId="2147483679"/>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3199667561" sldId="2147483680"/>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1593807278" sldId="2147483681"/>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4052592978" sldId="2147483682"/>
          </pc:sldLayoutMkLst>
        </pc:sldLayoutChg>
        <pc:sldLayoutChg chg="mod">
          <pc:chgData name="Bara Hamadeh" userId="S::b_hamadeh@asu.edu.jo::ba91a99f-f3ba-46e6-ad5d-582794b375a9" providerId="AD" clId="Web-{584C7E78-3E0E-DBC4-5DA2-F48D90B4E94B}" dt="2024-02-25T22:58:42.053" v="22"/>
          <pc:sldLayoutMkLst>
            <pc:docMk/>
            <pc:sldMasterMk cId="1719295273" sldId="2147483672"/>
            <pc:sldLayoutMk cId="2606264647"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a:t>
            </a:fld>
            <a:endParaRPr lang="en-US"/>
          </a:p>
        </p:txBody>
      </p:sp>
    </p:spTree>
    <p:extLst>
      <p:ext uri="{BB962C8B-B14F-4D97-AF65-F5344CB8AC3E}">
        <p14:creationId xmlns:p14="http://schemas.microsoft.com/office/powerpoint/2010/main" val="3513681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A78217-9FE3-400B-A177-54E557076407}"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2F4067-B3D0-4C7D-B401-FFFFA46A669C}"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7E8482-838D-4971-A420-5CEB0E4D35BB}"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9024CE-09A2-4DD3-B014-7CA6FC067ACC}" type="datetime1">
              <a:rPr lang="en-US" smtClean="0"/>
              <a:t>2/25/2024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0B2E8F-5923-4EAE-A23D-714E62D6D8FE}" type="datetime1">
              <a:rPr lang="en-US" smtClean="0"/>
              <a:t>2/25/2024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E5A331-983F-4A8E-BF82-3E8409533103}" type="datetime1">
              <a:rPr lang="en-US" smtClean="0"/>
              <a:t>2/25/2024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293D1FC-B545-4FA8-A086-25CE61B01A41}" type="datetime1">
              <a:rPr lang="en-US" smtClean="0"/>
              <a:t>2/25/2024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21049EF-6CC8-451F-BC1E-82ECC0A3A43E}" type="datetime1">
              <a:rPr lang="en-US" smtClean="0"/>
              <a:t>2/25/2024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01E987-2389-4E19-B416-927F2286B824}" type="datetime1">
              <a:rPr lang="en-US" smtClean="0"/>
              <a:t>2/25/2024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6A4370-4A25-4AE6-BC3C-D9EC9C19D5D5}"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2D121C-E276-4867-8D1E-A8B2E5E0C5D3}"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D82BAD49-0703-47F3-B2AA-10D7FC39FEB2}" type="datetime1">
              <a:rPr lang="en-US" smtClean="0"/>
              <a:t>2/25/2024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Edited and Reviewed By: I. Bara' Qadomi &amp; I. Bara' Hamadah (FIT, Applied Science Private University)</a:t>
            </a:r>
            <a:endParaRPr lang="en-US" dirty="0"/>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US" dirty="0"/>
              <a:t>Fundamental Programming Structures in JAVA</a:t>
            </a:r>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a:lstStyle/>
          <a:p>
            <a:r>
              <a:rPr lang="en-US" altLang="ar-SA" dirty="0"/>
              <a:t>Objects and classes</a:t>
            </a:r>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640348"/>
          </a:xfrm>
        </p:spPr>
        <p:txBody>
          <a:bodyPr>
            <a:normAutofit lnSpcReduction="10000"/>
          </a:bodyPr>
          <a:lstStyle/>
          <a:p>
            <a:r>
              <a:rPr lang="en-US" altLang="en-US" dirty="0"/>
              <a:t>To describe objects and classes and use classes to model objects.</a:t>
            </a:r>
          </a:p>
          <a:p>
            <a:r>
              <a:rPr lang="en-US" altLang="en-US" dirty="0"/>
              <a:t>To demonstrate how to define classes and create objects.</a:t>
            </a:r>
          </a:p>
          <a:p>
            <a:r>
              <a:rPr lang="en-US" altLang="en-US" dirty="0"/>
              <a:t>To create objects using constructors.</a:t>
            </a:r>
          </a:p>
          <a:p>
            <a:r>
              <a:rPr lang="en-US" altLang="en-US" dirty="0"/>
              <a:t>To access objects via object reference variables.</a:t>
            </a:r>
          </a:p>
          <a:p>
            <a:r>
              <a:rPr lang="en-US" altLang="en-US" dirty="0"/>
              <a:t>To define a reference variable using a reference type.</a:t>
            </a:r>
          </a:p>
          <a:p>
            <a:r>
              <a:rPr lang="en-US" altLang="en-US" dirty="0"/>
              <a:t>To access an object’s data and methods using the object member access operator (.). </a:t>
            </a:r>
          </a:p>
          <a:p>
            <a:r>
              <a:rPr lang="en-US" altLang="en-US" dirty="0"/>
              <a:t>To distinguish between object reference variables and primitive data type variables. </a:t>
            </a:r>
          </a:p>
          <a:p>
            <a:r>
              <a:rPr lang="en-US" altLang="en-US" dirty="0"/>
              <a:t>To distinguish between instance and static variables and methods.</a:t>
            </a:r>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Object-Oriented Programming Terminologies</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Content Placeholder 4">
            <a:extLst>
              <a:ext uri="{FF2B5EF4-FFF2-40B4-BE49-F238E27FC236}">
                <a16:creationId xmlns:a16="http://schemas.microsoft.com/office/drawing/2014/main" id="{C0C2DF5C-52DB-402C-9FB5-B3EF40628AD8}"/>
              </a:ext>
            </a:extLst>
          </p:cNvPr>
          <p:cNvPicPr>
            <a:picLocks noGrp="1" noChangeAspect="1"/>
          </p:cNvPicPr>
          <p:nvPr>
            <p:ph idx="1"/>
          </p:nvPr>
        </p:nvPicPr>
        <p:blipFill>
          <a:blip r:embed="rId2"/>
          <a:stretch>
            <a:fillRect/>
          </a:stretch>
        </p:blipFill>
        <p:spPr>
          <a:xfrm>
            <a:off x="2948709" y="1737360"/>
            <a:ext cx="6294581" cy="4603404"/>
          </a:xfrm>
          <a:prstGeom prst="rect">
            <a:avLst/>
          </a:prstGeom>
        </p:spPr>
      </p:pic>
    </p:spTree>
    <p:extLst>
      <p:ext uri="{BB962C8B-B14F-4D97-AF65-F5344CB8AC3E}">
        <p14:creationId xmlns:p14="http://schemas.microsoft.com/office/powerpoint/2010/main" val="220121967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Classes and Objects</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2" descr="1303sowc copy">
            <a:extLst>
              <a:ext uri="{FF2B5EF4-FFF2-40B4-BE49-F238E27FC236}">
                <a16:creationId xmlns:a16="http://schemas.microsoft.com/office/drawing/2014/main" id="{6C14A1E2-F916-4BFB-8D9D-A4C9ED435ED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25875" y="1737360"/>
            <a:ext cx="6327677" cy="45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340572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Classes and Objects</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2" name="Picture 11">
            <a:extLst>
              <a:ext uri="{FF2B5EF4-FFF2-40B4-BE49-F238E27FC236}">
                <a16:creationId xmlns:a16="http://schemas.microsoft.com/office/drawing/2014/main" id="{AEF07EB3-5068-4B58-9907-70894B1219C8}"/>
              </a:ext>
            </a:extLst>
          </p:cNvPr>
          <p:cNvPicPr>
            <a:picLocks noChangeAspect="1"/>
          </p:cNvPicPr>
          <p:nvPr/>
        </p:nvPicPr>
        <p:blipFill>
          <a:blip r:embed="rId2"/>
          <a:stretch>
            <a:fillRect/>
          </a:stretch>
        </p:blipFill>
        <p:spPr>
          <a:xfrm>
            <a:off x="96506" y="2121345"/>
            <a:ext cx="6405894" cy="3490421"/>
          </a:xfrm>
          <a:prstGeom prst="rect">
            <a:avLst/>
          </a:prstGeom>
        </p:spPr>
      </p:pic>
      <p:pic>
        <p:nvPicPr>
          <p:cNvPr id="13" name="Picture 12">
            <a:extLst>
              <a:ext uri="{FF2B5EF4-FFF2-40B4-BE49-F238E27FC236}">
                <a16:creationId xmlns:a16="http://schemas.microsoft.com/office/drawing/2014/main" id="{69250649-74DB-4575-81C5-4B8CE3D9CEFF}"/>
              </a:ext>
            </a:extLst>
          </p:cNvPr>
          <p:cNvPicPr>
            <a:picLocks noChangeAspect="1"/>
          </p:cNvPicPr>
          <p:nvPr/>
        </p:nvPicPr>
        <p:blipFill>
          <a:blip r:embed="rId3"/>
          <a:stretch>
            <a:fillRect/>
          </a:stretch>
        </p:blipFill>
        <p:spPr>
          <a:xfrm>
            <a:off x="6919599" y="1897550"/>
            <a:ext cx="4864857" cy="3441589"/>
          </a:xfrm>
          <a:prstGeom prst="rect">
            <a:avLst/>
          </a:prstGeom>
        </p:spPr>
      </p:pic>
    </p:spTree>
    <p:extLst>
      <p:ext uri="{BB962C8B-B14F-4D97-AF65-F5344CB8AC3E}">
        <p14:creationId xmlns:p14="http://schemas.microsoft.com/office/powerpoint/2010/main" val="92941026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Classes and Objects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b="1" dirty="0"/>
              <a:t>Class</a:t>
            </a:r>
            <a:r>
              <a:rPr lang="en-US" altLang="en-US" dirty="0"/>
              <a:t>: code that specifies the data attributes and methods of a particular type of object</a:t>
            </a:r>
          </a:p>
          <a:p>
            <a:pPr lvl="1"/>
            <a:r>
              <a:rPr lang="en-US" altLang="en-US" dirty="0"/>
              <a:t>Similar to a blueprint of a house or a cookie cutter.</a:t>
            </a:r>
          </a:p>
          <a:p>
            <a:r>
              <a:rPr lang="en-US" altLang="en-US" b="1" dirty="0"/>
              <a:t>Object</a:t>
            </a:r>
            <a:r>
              <a:rPr lang="en-US" altLang="en-US" dirty="0"/>
              <a:t> : an instance created from a class</a:t>
            </a:r>
          </a:p>
          <a:p>
            <a:pPr lvl="1"/>
            <a:r>
              <a:rPr lang="en-US" altLang="en-US" dirty="0"/>
              <a:t>Similar to a specific house built according to the blueprint or a specific cookie.</a:t>
            </a:r>
          </a:p>
          <a:p>
            <a:pPr lvl="1"/>
            <a:r>
              <a:rPr lang="en-US" altLang="en-US" dirty="0"/>
              <a:t>There can be many instances of one class.</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438494095"/>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Classes and Objects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dirty="0"/>
              <a:t>Classes are </a:t>
            </a:r>
            <a:r>
              <a:rPr lang="en-US" altLang="en-US" b="1" dirty="0"/>
              <a:t>user-defined</a:t>
            </a:r>
            <a:r>
              <a:rPr lang="en-US" altLang="en-US" dirty="0"/>
              <a:t> (programmer-defined) types.</a:t>
            </a:r>
          </a:p>
          <a:p>
            <a:pPr lvl="1"/>
            <a:r>
              <a:rPr lang="en-US" altLang="en-US" b="1" dirty="0"/>
              <a:t>attributes</a:t>
            </a:r>
            <a:r>
              <a:rPr lang="en-US" altLang="en-US" dirty="0"/>
              <a:t>  (data members) </a:t>
            </a:r>
          </a:p>
          <a:p>
            <a:pPr lvl="1"/>
            <a:r>
              <a:rPr lang="en-US" altLang="en-US" b="1" dirty="0"/>
              <a:t>methods or behaviors</a:t>
            </a:r>
            <a:r>
              <a:rPr lang="en-US" altLang="en-US" dirty="0"/>
              <a:t>: (member methods)</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7">
            <a:extLst>
              <a:ext uri="{FF2B5EF4-FFF2-40B4-BE49-F238E27FC236}">
                <a16:creationId xmlns:a16="http://schemas.microsoft.com/office/drawing/2014/main" id="{3D6A4373-148B-4AD4-81C8-035B25DF0CBD}"/>
              </a:ext>
            </a:extLst>
          </p:cNvPr>
          <p:cNvPicPr>
            <a:picLocks noChangeAspect="1" noChangeArrowheads="1"/>
          </p:cNvPicPr>
          <p:nvPr/>
        </p:nvPicPr>
        <p:blipFill>
          <a:blip r:embed="rId2"/>
          <a:srcRect/>
          <a:stretch>
            <a:fillRect/>
          </a:stretch>
        </p:blipFill>
        <p:spPr bwMode="auto">
          <a:xfrm>
            <a:off x="1066801" y="3080328"/>
            <a:ext cx="4143374" cy="3207936"/>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9">
            <a:extLst>
              <a:ext uri="{FF2B5EF4-FFF2-40B4-BE49-F238E27FC236}">
                <a16:creationId xmlns:a16="http://schemas.microsoft.com/office/drawing/2014/main" id="{5F62DDE4-6A0A-47D0-B8B5-4E9E6407030B}"/>
              </a:ext>
            </a:extLst>
          </p:cNvPr>
          <p:cNvPicPr>
            <a:picLocks noChangeAspect="1" noChangeArrowheads="1"/>
          </p:cNvPicPr>
          <p:nvPr/>
        </p:nvPicPr>
        <p:blipFill>
          <a:blip r:embed="rId3"/>
          <a:srcRect/>
          <a:stretch>
            <a:fillRect/>
          </a:stretch>
        </p:blipFill>
        <p:spPr bwMode="auto">
          <a:xfrm>
            <a:off x="6095999" y="3080328"/>
            <a:ext cx="4705927" cy="3207936"/>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0524014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Classes in Java</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Classes are constructs that define objects of the same type. A Java class uses variables to define data fields and methods to define behaviors. Additionally, a class provides a special type of methods, known as constructors, which are invoked to construct objects from the class. </a:t>
            </a:r>
          </a:p>
          <a:p>
            <a:r>
              <a:rPr lang="en-US" altLang="en-US" b="1" dirty="0"/>
              <a:t>Class : is a group of objects that share common properties and behavior.</a:t>
            </a:r>
          </a:p>
          <a:p>
            <a:r>
              <a:rPr lang="en-US" altLang="en-US" dirty="0"/>
              <a:t>For example, we can consider a car as a class that has characteristics like steering wheels, seats, brakes, etc. And its behavior is mobility. But we can say Honda City has a reg. number 4654 is an ‘object’ that belongs to the class ‘car’. It was a brief description of objects and classes. </a:t>
            </a:r>
            <a:r>
              <a:rPr lang="en-US" altLang="en-US" b="1" dirty="0"/>
              <a:t>Now we will understand the Java class in detail.</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1530262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Class Diagram</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latin typeface="+mj-lt"/>
              </a:rPr>
              <a:t>Edited and Reviewed By: I. Bara' Qadomi &amp; I. Bara' Hamadah (FIT, Applied Science Private University)</a:t>
            </a:r>
          </a:p>
        </p:txBody>
      </p:sp>
      <p:sp>
        <p:nvSpPr>
          <p:cNvPr id="18" name="Rectangle 9">
            <a:extLst>
              <a:ext uri="{FF2B5EF4-FFF2-40B4-BE49-F238E27FC236}">
                <a16:creationId xmlns:a16="http://schemas.microsoft.com/office/drawing/2014/main" id="{B846459C-660D-49D4-A5F8-50AE39BA9EE1}"/>
              </a:ext>
            </a:extLst>
          </p:cNvPr>
          <p:cNvSpPr>
            <a:spLocks noChangeArrowheads="1"/>
          </p:cNvSpPr>
          <p:nvPr/>
        </p:nvSpPr>
        <p:spPr bwMode="auto">
          <a:xfrm>
            <a:off x="2245924" y="2037184"/>
            <a:ext cx="2071702" cy="292895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spcBef>
                <a:spcPct val="0"/>
              </a:spcBef>
              <a:spcAft>
                <a:spcPts val="200"/>
              </a:spcAft>
              <a:buClrTx/>
              <a:buSzTx/>
              <a:buFontTx/>
              <a:buNone/>
              <a:tabLst/>
            </a:pPr>
            <a:r>
              <a:rPr kumimoji="0" lang="en-US" sz="1400" b="1" i="0" u="none" strike="noStrike" cap="none" normalizeH="0" baseline="0" dirty="0">
                <a:ln>
                  <a:noFill/>
                </a:ln>
                <a:solidFill>
                  <a:srgbClr val="C00000"/>
                </a:solidFill>
                <a:effectLst/>
                <a:latin typeface="+mj-lt"/>
                <a:ea typeface="Arial" pitchFamily="34" charset="0"/>
                <a:cs typeface="Times New Roman" pitchFamily="18" charset="0"/>
              </a:rPr>
              <a:t>Class Name</a:t>
            </a:r>
          </a:p>
          <a:p>
            <a:pPr marL="0" marR="0" lvl="0" indent="0" algn="l" defTabSz="914400" rtl="0" eaLnBrk="1" fontAlgn="base" latinLnBrk="0" hangingPunct="1">
              <a:spcBef>
                <a:spcPct val="0"/>
              </a:spcBef>
              <a:spcAft>
                <a:spcPts val="200"/>
              </a:spcAft>
              <a:buClrTx/>
              <a:buSzTx/>
              <a:buFontTx/>
              <a:buNone/>
              <a:tabLst/>
            </a:pPr>
            <a:endParaRPr lang="en-US" sz="1300" b="1" dirty="0">
              <a:latin typeface="+mj-lt"/>
              <a:cs typeface="Times New Roman" pitchFamily="18" charset="0"/>
            </a:endParaRPr>
          </a:p>
          <a:p>
            <a:pPr marL="0" marR="0" lvl="0" indent="0" algn="l" defTabSz="914400" rtl="0" eaLnBrk="1" fontAlgn="base" latinLnBrk="0" hangingPunct="1">
              <a:spcBef>
                <a:spcPct val="0"/>
              </a:spcBef>
              <a:spcAft>
                <a:spcPts val="200"/>
              </a:spcAft>
              <a:buClrTx/>
              <a:buSzTx/>
              <a:buFontTx/>
              <a:buNone/>
              <a:tabLst/>
            </a:pPr>
            <a:r>
              <a:rPr lang="en-US" sz="1300" b="1" dirty="0">
                <a:latin typeface="+mj-lt"/>
                <a:cs typeface="Times New Roman" pitchFamily="18" charset="0"/>
              </a:rPr>
              <a:t>Attribute</a:t>
            </a:r>
            <a:r>
              <a:rPr lang="en-US" sz="1300" b="1" baseline="-25000" dirty="0">
                <a:latin typeface="+mj-lt"/>
                <a:cs typeface="Times New Roman" pitchFamily="18" charset="0"/>
              </a:rPr>
              <a:t>1</a:t>
            </a:r>
            <a:r>
              <a:rPr lang="en-US" sz="1300" b="1" dirty="0">
                <a:latin typeface="+mj-lt"/>
                <a:cs typeface="Times New Roman" pitchFamily="18" charset="0"/>
              </a:rPr>
              <a:t> name: type</a:t>
            </a:r>
          </a:p>
          <a:p>
            <a:pPr marL="0" marR="0" lvl="0" indent="0" algn="l" defTabSz="914400" rtl="0" eaLnBrk="1" fontAlgn="base" latinLnBrk="0" hangingPunct="1">
              <a:spcBef>
                <a:spcPct val="0"/>
              </a:spcBef>
              <a:spcAft>
                <a:spcPts val="200"/>
              </a:spcAft>
              <a:buClrTx/>
              <a:buSzTx/>
              <a:buFontTx/>
              <a:buNone/>
              <a:tabLst/>
            </a:pPr>
            <a:r>
              <a:rPr lang="en-US" sz="1300" b="1" dirty="0">
                <a:latin typeface="+mj-lt"/>
                <a:cs typeface="Times New Roman" pitchFamily="18" charset="0"/>
              </a:rPr>
              <a:t>Attribute</a:t>
            </a:r>
            <a:r>
              <a:rPr lang="en-US" sz="1300" b="1" baseline="-25000" dirty="0">
                <a:latin typeface="+mj-lt"/>
                <a:cs typeface="Times New Roman" pitchFamily="18" charset="0"/>
              </a:rPr>
              <a:t>2</a:t>
            </a:r>
            <a:r>
              <a:rPr lang="en-US" sz="1300" b="1" dirty="0">
                <a:latin typeface="+mj-lt"/>
                <a:cs typeface="Times New Roman" pitchFamily="18" charset="0"/>
              </a:rPr>
              <a:t> name: type</a:t>
            </a:r>
          </a:p>
          <a:p>
            <a:pPr marL="0" marR="0" lvl="0" indent="0" algn="l" defTabSz="914400" rtl="0" eaLnBrk="1" fontAlgn="base" latinLnBrk="0" hangingPunct="1">
              <a:spcBef>
                <a:spcPct val="0"/>
              </a:spcBef>
              <a:spcAft>
                <a:spcPts val="200"/>
              </a:spcAft>
              <a:buClrTx/>
              <a:buSzTx/>
              <a:buFontTx/>
              <a:buNone/>
              <a:tabLst/>
            </a:pPr>
            <a:r>
              <a:rPr lang="en-US" sz="1300" b="1" dirty="0">
                <a:latin typeface="+mj-lt"/>
                <a:cs typeface="Times New Roman" pitchFamily="18" charset="0"/>
              </a:rPr>
              <a:t>.</a:t>
            </a:r>
          </a:p>
          <a:p>
            <a:pPr marL="0" marR="0" lvl="0" indent="0" algn="l" defTabSz="914400" rtl="0" eaLnBrk="1" fontAlgn="base" latinLnBrk="0" hangingPunct="1">
              <a:spcBef>
                <a:spcPct val="0"/>
              </a:spcBef>
              <a:spcAft>
                <a:spcPts val="200"/>
              </a:spcAft>
              <a:buClrTx/>
              <a:buSzTx/>
              <a:buFontTx/>
              <a:buNone/>
              <a:tabLst/>
            </a:pPr>
            <a:r>
              <a:rPr lang="en-US" sz="1300" b="1" dirty="0">
                <a:latin typeface="+mj-lt"/>
                <a:cs typeface="Times New Roman" pitchFamily="18" charset="0"/>
              </a:rPr>
              <a:t>.</a:t>
            </a:r>
          </a:p>
          <a:p>
            <a:pPr marL="0" marR="0" lvl="0" indent="0" algn="l" defTabSz="914400" rtl="0" eaLnBrk="1" fontAlgn="base" latinLnBrk="0" hangingPunct="1">
              <a:spcBef>
                <a:spcPct val="0"/>
              </a:spcBef>
              <a:spcAft>
                <a:spcPts val="200"/>
              </a:spcAft>
              <a:buClrTx/>
              <a:buSzTx/>
              <a:buFontTx/>
              <a:buNone/>
              <a:tabLst/>
            </a:pPr>
            <a:r>
              <a:rPr lang="en-US" sz="1300" b="1" dirty="0">
                <a:latin typeface="+mj-lt"/>
                <a:cs typeface="Times New Roman" pitchFamily="18" charset="0"/>
              </a:rPr>
              <a:t>.</a:t>
            </a:r>
          </a:p>
          <a:p>
            <a:pPr algn="l" rtl="0" fontAlgn="base">
              <a:spcBef>
                <a:spcPct val="0"/>
              </a:spcBef>
              <a:spcAft>
                <a:spcPts val="200"/>
              </a:spcAft>
            </a:pPr>
            <a:r>
              <a:rPr lang="en-US" sz="1300" b="1" dirty="0" err="1">
                <a:latin typeface="+mj-lt"/>
                <a:cs typeface="Times New Roman" pitchFamily="18" charset="0"/>
              </a:rPr>
              <a:t>Attribute</a:t>
            </a:r>
            <a:r>
              <a:rPr lang="en-US" sz="1300" b="1" baseline="-25000" dirty="0" err="1">
                <a:latin typeface="+mj-lt"/>
                <a:cs typeface="Times New Roman" pitchFamily="18" charset="0"/>
              </a:rPr>
              <a:t>n</a:t>
            </a:r>
            <a:r>
              <a:rPr lang="en-US" sz="1300" b="1" dirty="0">
                <a:latin typeface="+mj-lt"/>
                <a:cs typeface="Times New Roman" pitchFamily="18" charset="0"/>
              </a:rPr>
              <a:t> name: type</a:t>
            </a:r>
          </a:p>
          <a:p>
            <a:pPr marL="0" marR="0" lvl="0" indent="0" algn="l" defTabSz="914400" rtl="0" eaLnBrk="1" fontAlgn="base" latinLnBrk="0" hangingPunct="1">
              <a:spcBef>
                <a:spcPct val="0"/>
              </a:spcBef>
              <a:spcAft>
                <a:spcPts val="200"/>
              </a:spcAft>
              <a:buClrTx/>
              <a:buSzTx/>
              <a:buFontTx/>
              <a:buNone/>
              <a:tabLst/>
            </a:pPr>
            <a:endParaRPr lang="en-US" sz="1200" dirty="0">
              <a:latin typeface="+mj-lt"/>
            </a:endParaRPr>
          </a:p>
          <a:p>
            <a:pPr marL="0" marR="0" lvl="0" indent="0" algn="l" defTabSz="914400" rtl="0" eaLnBrk="1" fontAlgn="base" latinLnBrk="0" hangingPunct="1">
              <a:spcBef>
                <a:spcPct val="0"/>
              </a:spcBef>
              <a:spcAft>
                <a:spcPts val="200"/>
              </a:spcAft>
              <a:buClrTx/>
              <a:buSzTx/>
              <a:buFontTx/>
              <a:buNone/>
              <a:tabLst/>
            </a:pPr>
            <a:endParaRPr kumimoji="0" lang="en-US" sz="1000" b="0" i="0" u="none" strike="noStrike" cap="none" normalizeH="0" baseline="0" dirty="0">
              <a:ln>
                <a:noFill/>
              </a:ln>
              <a:solidFill>
                <a:schemeClr val="tx1"/>
              </a:solidFill>
              <a:effectLst/>
              <a:latin typeface="+mj-lt"/>
              <a:ea typeface="Arial" pitchFamily="34" charset="0"/>
              <a:cs typeface="Arial" pitchFamily="34" charset="0"/>
            </a:endParaRPr>
          </a:p>
        </p:txBody>
      </p:sp>
      <p:cxnSp>
        <p:nvCxnSpPr>
          <p:cNvPr id="19" name="AutoShape 10">
            <a:extLst>
              <a:ext uri="{FF2B5EF4-FFF2-40B4-BE49-F238E27FC236}">
                <a16:creationId xmlns:a16="http://schemas.microsoft.com/office/drawing/2014/main" id="{8B84BFD4-1D9C-44CF-925E-B2EEF78C0253}"/>
              </a:ext>
            </a:extLst>
          </p:cNvPr>
          <p:cNvCxnSpPr>
            <a:cxnSpLocks noChangeShapeType="1"/>
          </p:cNvCxnSpPr>
          <p:nvPr/>
        </p:nvCxnSpPr>
        <p:spPr bwMode="auto">
          <a:xfrm>
            <a:off x="2245924" y="2394374"/>
            <a:ext cx="2071702" cy="1588"/>
          </a:xfrm>
          <a:prstGeom prst="straightConnector1">
            <a:avLst/>
          </a:prstGeom>
          <a:noFill/>
          <a:ln w="9525">
            <a:solidFill>
              <a:srgbClr val="000000"/>
            </a:solidFill>
            <a:round/>
            <a:headEnd/>
            <a:tailEnd/>
          </a:ln>
        </p:spPr>
      </p:cxnSp>
      <p:cxnSp>
        <p:nvCxnSpPr>
          <p:cNvPr id="20" name="AutoShape 11">
            <a:extLst>
              <a:ext uri="{FF2B5EF4-FFF2-40B4-BE49-F238E27FC236}">
                <a16:creationId xmlns:a16="http://schemas.microsoft.com/office/drawing/2014/main" id="{BD9B84FA-7493-4FCB-AC91-204AC82225C7}"/>
              </a:ext>
            </a:extLst>
          </p:cNvPr>
          <p:cNvCxnSpPr>
            <a:cxnSpLocks noChangeShapeType="1"/>
          </p:cNvCxnSpPr>
          <p:nvPr/>
        </p:nvCxnSpPr>
        <p:spPr bwMode="auto">
          <a:xfrm>
            <a:off x="2245924" y="3966010"/>
            <a:ext cx="2085975" cy="0"/>
          </a:xfrm>
          <a:prstGeom prst="straightConnector1">
            <a:avLst/>
          </a:prstGeom>
          <a:noFill/>
          <a:ln w="9525">
            <a:solidFill>
              <a:srgbClr val="000000"/>
            </a:solidFill>
            <a:round/>
            <a:headEnd/>
            <a:tailEnd/>
          </a:ln>
        </p:spPr>
      </p:cxnSp>
      <p:sp>
        <p:nvSpPr>
          <p:cNvPr id="21" name="Rectangle 20">
            <a:extLst>
              <a:ext uri="{FF2B5EF4-FFF2-40B4-BE49-F238E27FC236}">
                <a16:creationId xmlns:a16="http://schemas.microsoft.com/office/drawing/2014/main" id="{D947E32C-D005-48F0-A58D-55E96DAA23B4}"/>
              </a:ext>
            </a:extLst>
          </p:cNvPr>
          <p:cNvSpPr/>
          <p:nvPr/>
        </p:nvSpPr>
        <p:spPr>
          <a:xfrm>
            <a:off x="2308636" y="4251762"/>
            <a:ext cx="1478290" cy="292388"/>
          </a:xfrm>
          <a:prstGeom prst="rect">
            <a:avLst/>
          </a:prstGeom>
        </p:spPr>
        <p:txBody>
          <a:bodyPr wrap="none">
            <a:spAutoFit/>
          </a:bodyPr>
          <a:lstStyle/>
          <a:p>
            <a:r>
              <a:rPr lang="en-US" sz="1300" b="1" dirty="0">
                <a:latin typeface="+mj-lt"/>
                <a:cs typeface="Times New Roman" pitchFamily="18" charset="0"/>
              </a:rPr>
              <a:t>List of methods </a:t>
            </a:r>
          </a:p>
        </p:txBody>
      </p:sp>
      <p:sp>
        <p:nvSpPr>
          <p:cNvPr id="22" name="Right Brace 21">
            <a:extLst>
              <a:ext uri="{FF2B5EF4-FFF2-40B4-BE49-F238E27FC236}">
                <a16:creationId xmlns:a16="http://schemas.microsoft.com/office/drawing/2014/main" id="{D5325FAE-AEA2-42E6-AB70-C3F53EFED484}"/>
              </a:ext>
            </a:extLst>
          </p:cNvPr>
          <p:cNvSpPr/>
          <p:nvPr/>
        </p:nvSpPr>
        <p:spPr>
          <a:xfrm>
            <a:off x="4460502" y="2394374"/>
            <a:ext cx="500066" cy="150019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3" name="Rectangle 22">
            <a:extLst>
              <a:ext uri="{FF2B5EF4-FFF2-40B4-BE49-F238E27FC236}">
                <a16:creationId xmlns:a16="http://schemas.microsoft.com/office/drawing/2014/main" id="{0A3328CE-F4EA-4FC4-B24A-5AC4DA27CE53}"/>
              </a:ext>
            </a:extLst>
          </p:cNvPr>
          <p:cNvSpPr/>
          <p:nvPr/>
        </p:nvSpPr>
        <p:spPr>
          <a:xfrm>
            <a:off x="4960568" y="4180324"/>
            <a:ext cx="4929222" cy="873572"/>
          </a:xfrm>
          <a:prstGeom prst="rect">
            <a:avLst/>
          </a:prstGeom>
        </p:spPr>
        <p:txBody>
          <a:bodyPr wrap="square">
            <a:spAutoFit/>
          </a:bodyPr>
          <a:lstStyle/>
          <a:p>
            <a:pPr algn="just" rtl="0">
              <a:lnSpc>
                <a:spcPct val="150000"/>
              </a:lnSpc>
            </a:pPr>
            <a:r>
              <a:rPr lang="en-US" b="1" dirty="0">
                <a:solidFill>
                  <a:srgbClr val="FF0000"/>
                </a:solidFill>
                <a:latin typeface="+mj-lt"/>
                <a:cs typeface="Times New Roman" pitchFamily="18" charset="0"/>
              </a:rPr>
              <a:t>Methods</a:t>
            </a:r>
            <a:r>
              <a:rPr lang="en-US" dirty="0">
                <a:latin typeface="+mj-lt"/>
                <a:cs typeface="Times New Roman" pitchFamily="18" charset="0"/>
              </a:rPr>
              <a:t> define what the object does.</a:t>
            </a:r>
          </a:p>
          <a:p>
            <a:pPr algn="just" rtl="0">
              <a:lnSpc>
                <a:spcPct val="150000"/>
              </a:lnSpc>
            </a:pPr>
            <a:r>
              <a:rPr lang="en-US" dirty="0">
                <a:latin typeface="+mj-lt"/>
                <a:cs typeface="Times New Roman" pitchFamily="18" charset="0"/>
              </a:rPr>
              <a:t>     (we will explain it later)</a:t>
            </a:r>
          </a:p>
        </p:txBody>
      </p:sp>
      <p:sp>
        <p:nvSpPr>
          <p:cNvPr id="24" name="Rectangle 23">
            <a:extLst>
              <a:ext uri="{FF2B5EF4-FFF2-40B4-BE49-F238E27FC236}">
                <a16:creationId xmlns:a16="http://schemas.microsoft.com/office/drawing/2014/main" id="{B95E11D2-C9F1-4520-BE54-D0C142857474}"/>
              </a:ext>
            </a:extLst>
          </p:cNvPr>
          <p:cNvSpPr/>
          <p:nvPr/>
        </p:nvSpPr>
        <p:spPr>
          <a:xfrm>
            <a:off x="4531940" y="1965746"/>
            <a:ext cx="7186583" cy="369332"/>
          </a:xfrm>
          <a:prstGeom prst="rect">
            <a:avLst/>
          </a:prstGeom>
        </p:spPr>
        <p:txBody>
          <a:bodyPr wrap="none">
            <a:spAutoFit/>
          </a:bodyPr>
          <a:lstStyle/>
          <a:p>
            <a:r>
              <a:rPr lang="en-US" dirty="0">
                <a:latin typeface="+mj-lt"/>
                <a:cs typeface="Times New Roman" pitchFamily="18" charset="0"/>
              </a:rPr>
              <a:t>Each class  has both a state (</a:t>
            </a:r>
            <a:r>
              <a:rPr lang="en-US" b="1" dirty="0">
                <a:solidFill>
                  <a:srgbClr val="FF0000"/>
                </a:solidFill>
                <a:latin typeface="+mj-lt"/>
                <a:cs typeface="Times New Roman" pitchFamily="18" charset="0"/>
              </a:rPr>
              <a:t>data fields </a:t>
            </a:r>
            <a:r>
              <a:rPr lang="en-US" dirty="0">
                <a:latin typeface="+mj-lt"/>
                <a:cs typeface="Times New Roman" pitchFamily="18" charset="0"/>
              </a:rPr>
              <a:t>) and behavior (</a:t>
            </a:r>
            <a:r>
              <a:rPr lang="en-US" b="1" dirty="0">
                <a:solidFill>
                  <a:srgbClr val="FF0000"/>
                </a:solidFill>
                <a:latin typeface="+mj-lt"/>
                <a:cs typeface="Times New Roman" pitchFamily="18" charset="0"/>
              </a:rPr>
              <a:t>Methods</a:t>
            </a:r>
            <a:r>
              <a:rPr lang="en-US" dirty="0">
                <a:latin typeface="+mj-lt"/>
                <a:cs typeface="Times New Roman" pitchFamily="18" charset="0"/>
              </a:rPr>
              <a:t>) :</a:t>
            </a:r>
            <a:endParaRPr lang="en-US" dirty="0">
              <a:latin typeface="+mj-lt"/>
            </a:endParaRPr>
          </a:p>
        </p:txBody>
      </p:sp>
      <p:sp>
        <p:nvSpPr>
          <p:cNvPr id="25" name="Rectangle 24">
            <a:extLst>
              <a:ext uri="{FF2B5EF4-FFF2-40B4-BE49-F238E27FC236}">
                <a16:creationId xmlns:a16="http://schemas.microsoft.com/office/drawing/2014/main" id="{DE303B6D-B66B-4DC3-B933-E83E06F74937}"/>
              </a:ext>
            </a:extLst>
          </p:cNvPr>
          <p:cNvSpPr/>
          <p:nvPr/>
        </p:nvSpPr>
        <p:spPr>
          <a:xfrm>
            <a:off x="4889130" y="2965878"/>
            <a:ext cx="4301177" cy="369332"/>
          </a:xfrm>
          <a:prstGeom prst="rect">
            <a:avLst/>
          </a:prstGeom>
        </p:spPr>
        <p:txBody>
          <a:bodyPr wrap="none">
            <a:spAutoFit/>
          </a:bodyPr>
          <a:lstStyle/>
          <a:p>
            <a:r>
              <a:rPr lang="en-US" b="1" dirty="0">
                <a:solidFill>
                  <a:srgbClr val="FF0000"/>
                </a:solidFill>
                <a:latin typeface="+mj-lt"/>
                <a:cs typeface="Times New Roman" pitchFamily="18" charset="0"/>
              </a:rPr>
              <a:t>Data fields </a:t>
            </a:r>
            <a:r>
              <a:rPr lang="en-US" dirty="0">
                <a:latin typeface="+mj-lt"/>
                <a:cs typeface="Times New Roman" pitchFamily="18" charset="0"/>
              </a:rPr>
              <a:t>defines the object attributes.</a:t>
            </a:r>
          </a:p>
        </p:txBody>
      </p:sp>
      <p:sp>
        <p:nvSpPr>
          <p:cNvPr id="26" name="Right Brace 25">
            <a:extLst>
              <a:ext uri="{FF2B5EF4-FFF2-40B4-BE49-F238E27FC236}">
                <a16:creationId xmlns:a16="http://schemas.microsoft.com/office/drawing/2014/main" id="{CA8B1A8C-82A9-4E81-9AD4-FAA011BFF0F2}"/>
              </a:ext>
            </a:extLst>
          </p:cNvPr>
          <p:cNvSpPr/>
          <p:nvPr/>
        </p:nvSpPr>
        <p:spPr>
          <a:xfrm>
            <a:off x="4460502" y="3966010"/>
            <a:ext cx="500066" cy="1000132"/>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7" name="Left Brace 26">
            <a:extLst>
              <a:ext uri="{FF2B5EF4-FFF2-40B4-BE49-F238E27FC236}">
                <a16:creationId xmlns:a16="http://schemas.microsoft.com/office/drawing/2014/main" id="{C4A05DC5-8607-426A-B392-3B0FDCBC2747}"/>
              </a:ext>
            </a:extLst>
          </p:cNvPr>
          <p:cNvSpPr/>
          <p:nvPr/>
        </p:nvSpPr>
        <p:spPr>
          <a:xfrm>
            <a:off x="1808570" y="2037184"/>
            <a:ext cx="357190" cy="2928958"/>
          </a:xfrm>
          <a:prstGeom prst="leftBrace">
            <a:avLst/>
          </a:prstGeom>
          <a:ln w="19050">
            <a:solidFill>
              <a:srgbClr val="8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C00000"/>
              </a:solidFill>
              <a:latin typeface="+mj-lt"/>
            </a:endParaRPr>
          </a:p>
        </p:txBody>
      </p:sp>
      <p:sp>
        <p:nvSpPr>
          <p:cNvPr id="28" name="Rectangle 27">
            <a:extLst>
              <a:ext uri="{FF2B5EF4-FFF2-40B4-BE49-F238E27FC236}">
                <a16:creationId xmlns:a16="http://schemas.microsoft.com/office/drawing/2014/main" id="{B1FF043F-43CD-4D38-815C-378DDFD42DDF}"/>
              </a:ext>
            </a:extLst>
          </p:cNvPr>
          <p:cNvSpPr/>
          <p:nvPr/>
        </p:nvSpPr>
        <p:spPr>
          <a:xfrm>
            <a:off x="888123" y="3180192"/>
            <a:ext cx="986168" cy="682238"/>
          </a:xfrm>
          <a:prstGeom prst="rect">
            <a:avLst/>
          </a:prstGeom>
        </p:spPr>
        <p:txBody>
          <a:bodyPr wrap="none">
            <a:spAutoFit/>
          </a:bodyPr>
          <a:lstStyle/>
          <a:p>
            <a:pPr lvl="0" algn="ctr" rtl="0" fontAlgn="base">
              <a:spcBef>
                <a:spcPct val="0"/>
              </a:spcBef>
              <a:spcAft>
                <a:spcPts val="1000"/>
              </a:spcAft>
            </a:pPr>
            <a:r>
              <a:rPr lang="en-US" sz="1500" b="1" dirty="0">
                <a:solidFill>
                  <a:srgbClr val="0070C0"/>
                </a:solidFill>
                <a:latin typeface="+mj-lt"/>
                <a:cs typeface="Times New Roman" pitchFamily="18" charset="0"/>
              </a:rPr>
              <a:t>A class</a:t>
            </a:r>
          </a:p>
          <a:p>
            <a:pPr lvl="0" algn="ctr" rtl="0" fontAlgn="base">
              <a:spcBef>
                <a:spcPct val="0"/>
              </a:spcBef>
              <a:spcAft>
                <a:spcPts val="1000"/>
              </a:spcAft>
            </a:pPr>
            <a:r>
              <a:rPr lang="en-US" sz="1500" b="1" dirty="0">
                <a:solidFill>
                  <a:srgbClr val="0070C0"/>
                </a:solidFill>
                <a:latin typeface="+mj-lt"/>
                <a:cs typeface="Times New Roman" pitchFamily="18" charset="0"/>
              </a:rPr>
              <a:t> diagram</a:t>
            </a:r>
          </a:p>
        </p:txBody>
      </p:sp>
    </p:spTree>
    <p:extLst>
      <p:ext uri="{BB962C8B-B14F-4D97-AF65-F5344CB8AC3E}">
        <p14:creationId xmlns:p14="http://schemas.microsoft.com/office/powerpoint/2010/main" val="124439570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3">
            <a:extLst>
              <a:ext uri="{FF2B5EF4-FFF2-40B4-BE49-F238E27FC236}">
                <a16:creationId xmlns:a16="http://schemas.microsoft.com/office/drawing/2014/main" id="{BDE4924A-92B5-4E07-9156-238850ACF4B0}"/>
              </a:ext>
            </a:extLst>
          </p:cNvPr>
          <p:cNvPicPr>
            <a:picLocks noChangeAspect="1" noChangeArrowheads="1"/>
          </p:cNvPicPr>
          <p:nvPr/>
        </p:nvPicPr>
        <p:blipFill>
          <a:blip r:embed="rId2"/>
          <a:srcRect/>
          <a:stretch>
            <a:fillRect/>
          </a:stretch>
        </p:blipFill>
        <p:spPr bwMode="auto">
          <a:xfrm>
            <a:off x="1154545" y="3770041"/>
            <a:ext cx="5260110" cy="2486603"/>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Class Template</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dirty="0">
                <a:latin typeface="+mj-lt"/>
              </a:rPr>
              <a:t>Example 1: Design the class (Circle) that has (radius), (color) as its attributes:</a:t>
            </a:r>
          </a:p>
          <a:p>
            <a:endParaRPr lang="en-US" altLang="en-US" dirty="0">
              <a:latin typeface="+mj-lt"/>
            </a:endParaRP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latin typeface="+mj-lt"/>
              </a:rPr>
              <a:t>Edited and Reviewed By: I. Bara' Qadomi &amp; I. Bara' Hamadah (FIT, Applied Science Private University)</a:t>
            </a:r>
          </a:p>
        </p:txBody>
      </p:sp>
      <p:sp>
        <p:nvSpPr>
          <p:cNvPr id="5" name="TextBox 4">
            <a:extLst>
              <a:ext uri="{FF2B5EF4-FFF2-40B4-BE49-F238E27FC236}">
                <a16:creationId xmlns:a16="http://schemas.microsoft.com/office/drawing/2014/main" id="{30B1CDC6-D16A-48A2-9F00-B904E583ADC3}"/>
              </a:ext>
            </a:extLst>
          </p:cNvPr>
          <p:cNvSpPr txBox="1"/>
          <p:nvPr/>
        </p:nvSpPr>
        <p:spPr>
          <a:xfrm>
            <a:off x="380961" y="2776406"/>
            <a:ext cx="1527982" cy="338554"/>
          </a:xfrm>
          <a:prstGeom prst="rect">
            <a:avLst/>
          </a:prstGeom>
          <a:noFill/>
        </p:spPr>
        <p:txBody>
          <a:bodyPr wrap="none" rtlCol="0">
            <a:spAutoFit/>
          </a:bodyPr>
          <a:lstStyle/>
          <a:p>
            <a:pPr algn="l" rtl="0"/>
            <a:r>
              <a:rPr lang="en-US" sz="1600" b="1" dirty="0">
                <a:solidFill>
                  <a:srgbClr val="002060"/>
                </a:solidFill>
                <a:latin typeface="+mj-lt"/>
                <a:cs typeface="Times New Roman" pitchFamily="18" charset="0"/>
              </a:rPr>
              <a:t>Design Phase</a:t>
            </a:r>
          </a:p>
        </p:txBody>
      </p:sp>
      <p:grpSp>
        <p:nvGrpSpPr>
          <p:cNvPr id="6" name="Group 5">
            <a:extLst>
              <a:ext uri="{FF2B5EF4-FFF2-40B4-BE49-F238E27FC236}">
                <a16:creationId xmlns:a16="http://schemas.microsoft.com/office/drawing/2014/main" id="{17C989BB-94BF-4D73-8F86-C9D064371B47}"/>
              </a:ext>
            </a:extLst>
          </p:cNvPr>
          <p:cNvGrpSpPr/>
          <p:nvPr/>
        </p:nvGrpSpPr>
        <p:grpSpPr>
          <a:xfrm>
            <a:off x="1881158" y="2277209"/>
            <a:ext cx="2071702" cy="1143008"/>
            <a:chOff x="1000100" y="2357430"/>
            <a:chExt cx="2071702" cy="1143008"/>
          </a:xfrm>
        </p:grpSpPr>
        <p:sp>
          <p:nvSpPr>
            <p:cNvPr id="7" name="Rectangle 9">
              <a:extLst>
                <a:ext uri="{FF2B5EF4-FFF2-40B4-BE49-F238E27FC236}">
                  <a16:creationId xmlns:a16="http://schemas.microsoft.com/office/drawing/2014/main" id="{ECA29E06-A627-4FD6-8B96-B01CA60A30FC}"/>
                </a:ext>
              </a:extLst>
            </p:cNvPr>
            <p:cNvSpPr>
              <a:spLocks noChangeArrowheads="1"/>
            </p:cNvSpPr>
            <p:nvPr/>
          </p:nvSpPr>
          <p:spPr bwMode="auto">
            <a:xfrm>
              <a:off x="1000100" y="2357430"/>
              <a:ext cx="2071702" cy="11430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ts val="200"/>
                </a:spcAft>
              </a:pPr>
              <a:r>
                <a:rPr lang="en-US" sz="1400" b="1" dirty="0">
                  <a:solidFill>
                    <a:srgbClr val="C00000"/>
                  </a:solidFill>
                  <a:latin typeface="+mj-lt"/>
                  <a:ea typeface="Arial" pitchFamily="34" charset="0"/>
                  <a:cs typeface="Times New Roman" pitchFamily="18" charset="0"/>
                </a:rPr>
                <a:t>Circle</a:t>
              </a:r>
            </a:p>
            <a:p>
              <a:pPr fontAlgn="base">
                <a:spcBef>
                  <a:spcPct val="0"/>
                </a:spcBef>
                <a:spcAft>
                  <a:spcPts val="200"/>
                </a:spcAft>
              </a:pPr>
              <a:endParaRPr lang="en-US" sz="1300" b="1" dirty="0">
                <a:latin typeface="+mj-lt"/>
                <a:cs typeface="Times New Roman" pitchFamily="18" charset="0"/>
              </a:endParaRPr>
            </a:p>
            <a:p>
              <a:pPr fontAlgn="base">
                <a:spcBef>
                  <a:spcPct val="0"/>
                </a:spcBef>
                <a:spcAft>
                  <a:spcPts val="200"/>
                </a:spcAft>
              </a:pPr>
              <a:r>
                <a:rPr lang="en-US" sz="1300" b="1" dirty="0">
                  <a:latin typeface="+mj-lt"/>
                  <a:cs typeface="Times New Roman" pitchFamily="18" charset="0"/>
                </a:rPr>
                <a:t>radius: double</a:t>
              </a:r>
            </a:p>
            <a:p>
              <a:pPr fontAlgn="base">
                <a:spcBef>
                  <a:spcPct val="0"/>
                </a:spcBef>
                <a:spcAft>
                  <a:spcPts val="200"/>
                </a:spcAft>
              </a:pPr>
              <a:r>
                <a:rPr lang="en-US" sz="1300" b="1" dirty="0">
                  <a:latin typeface="+mj-lt"/>
                  <a:cs typeface="Times New Roman" pitchFamily="18" charset="0"/>
                </a:rPr>
                <a:t>Color: String</a:t>
              </a:r>
            </a:p>
            <a:p>
              <a:pPr fontAlgn="base">
                <a:spcBef>
                  <a:spcPct val="0"/>
                </a:spcBef>
                <a:spcAft>
                  <a:spcPts val="200"/>
                </a:spcAft>
              </a:pPr>
              <a:endParaRPr lang="en-US" sz="1200" dirty="0">
                <a:latin typeface="+mj-lt"/>
              </a:endParaRPr>
            </a:p>
            <a:p>
              <a:pPr fontAlgn="base">
                <a:spcBef>
                  <a:spcPct val="0"/>
                </a:spcBef>
                <a:spcAft>
                  <a:spcPts val="200"/>
                </a:spcAft>
              </a:pPr>
              <a:endParaRPr lang="en-US" sz="1000" dirty="0">
                <a:latin typeface="+mj-lt"/>
                <a:ea typeface="Arial" pitchFamily="34" charset="0"/>
                <a:cs typeface="Arial" pitchFamily="34" charset="0"/>
              </a:endParaRPr>
            </a:p>
          </p:txBody>
        </p:sp>
        <p:cxnSp>
          <p:nvCxnSpPr>
            <p:cNvPr id="8" name="AutoShape 10">
              <a:extLst>
                <a:ext uri="{FF2B5EF4-FFF2-40B4-BE49-F238E27FC236}">
                  <a16:creationId xmlns:a16="http://schemas.microsoft.com/office/drawing/2014/main" id="{87B3B204-46CC-4B85-B24D-90AC0B1F1070}"/>
                </a:ext>
              </a:extLst>
            </p:cNvPr>
            <p:cNvCxnSpPr>
              <a:cxnSpLocks noChangeShapeType="1"/>
            </p:cNvCxnSpPr>
            <p:nvPr/>
          </p:nvCxnSpPr>
          <p:spPr bwMode="auto">
            <a:xfrm>
              <a:off x="1000100" y="2643182"/>
              <a:ext cx="2071702" cy="1588"/>
            </a:xfrm>
            <a:prstGeom prst="straightConnector1">
              <a:avLst/>
            </a:prstGeom>
            <a:noFill/>
            <a:ln w="9525">
              <a:solidFill>
                <a:srgbClr val="000000"/>
              </a:solidFill>
              <a:round/>
              <a:headEnd/>
              <a:tailEnd/>
            </a:ln>
          </p:spPr>
        </p:cxnSp>
      </p:grpSp>
      <p:sp>
        <p:nvSpPr>
          <p:cNvPr id="9" name="TextBox 8">
            <a:extLst>
              <a:ext uri="{FF2B5EF4-FFF2-40B4-BE49-F238E27FC236}">
                <a16:creationId xmlns:a16="http://schemas.microsoft.com/office/drawing/2014/main" id="{F863CCB3-5428-4E4D-BBAF-E4FD5209FD0D}"/>
              </a:ext>
            </a:extLst>
          </p:cNvPr>
          <p:cNvSpPr txBox="1"/>
          <p:nvPr/>
        </p:nvSpPr>
        <p:spPr>
          <a:xfrm>
            <a:off x="1594834" y="3454259"/>
            <a:ext cx="4942379" cy="338554"/>
          </a:xfrm>
          <a:prstGeom prst="rect">
            <a:avLst/>
          </a:prstGeom>
          <a:noFill/>
        </p:spPr>
        <p:txBody>
          <a:bodyPr wrap="none" rtlCol="0">
            <a:spAutoFit/>
          </a:bodyPr>
          <a:lstStyle/>
          <a:p>
            <a:pPr algn="l" rtl="0"/>
            <a:r>
              <a:rPr lang="en-US" sz="1600" b="1" dirty="0">
                <a:solidFill>
                  <a:srgbClr val="002060"/>
                </a:solidFill>
                <a:latin typeface="+mj-lt"/>
                <a:cs typeface="Times New Roman" pitchFamily="18" charset="0"/>
              </a:rPr>
              <a:t>Implementation (programming) Phase using java</a:t>
            </a:r>
          </a:p>
        </p:txBody>
      </p:sp>
      <p:sp>
        <p:nvSpPr>
          <p:cNvPr id="10" name="Rectangle 9">
            <a:extLst>
              <a:ext uri="{FF2B5EF4-FFF2-40B4-BE49-F238E27FC236}">
                <a16:creationId xmlns:a16="http://schemas.microsoft.com/office/drawing/2014/main" id="{F425E2ED-CF4A-4F21-A174-DBFD44A0D9F3}"/>
              </a:ext>
            </a:extLst>
          </p:cNvPr>
          <p:cNvSpPr/>
          <p:nvPr/>
        </p:nvSpPr>
        <p:spPr>
          <a:xfrm>
            <a:off x="8167702" y="2956912"/>
            <a:ext cx="2357454" cy="698717"/>
          </a:xfrm>
          <a:prstGeom prst="rect">
            <a:avLst/>
          </a:prstGeom>
          <a:ln w="19050">
            <a:solidFill>
              <a:srgbClr val="FF0000"/>
            </a:solidFill>
            <a:prstDash val="dash"/>
          </a:ln>
        </p:spPr>
        <p:txBody>
          <a:bodyPr wrap="square">
            <a:spAutoFit/>
          </a:bodyPr>
          <a:lstStyle/>
          <a:p>
            <a:pPr algn="l" rtl="0">
              <a:lnSpc>
                <a:spcPct val="150000"/>
              </a:lnSpc>
            </a:pPr>
            <a:r>
              <a:rPr lang="en-US" sz="1400" b="1" dirty="0">
                <a:latin typeface="+mj-lt"/>
                <a:cs typeface="Times New Roman" pitchFamily="18" charset="0"/>
              </a:rPr>
              <a:t>This class should be saved as (Circle.java).</a:t>
            </a:r>
          </a:p>
        </p:txBody>
      </p:sp>
      <p:cxnSp>
        <p:nvCxnSpPr>
          <p:cNvPr id="11" name="Straight Arrow Connector 10">
            <a:extLst>
              <a:ext uri="{FF2B5EF4-FFF2-40B4-BE49-F238E27FC236}">
                <a16:creationId xmlns:a16="http://schemas.microsoft.com/office/drawing/2014/main" id="{73FFF11C-184E-4B2A-B316-181FB967837D}"/>
              </a:ext>
            </a:extLst>
          </p:cNvPr>
          <p:cNvCxnSpPr/>
          <p:nvPr/>
        </p:nvCxnSpPr>
        <p:spPr>
          <a:xfrm>
            <a:off x="3809984" y="2470430"/>
            <a:ext cx="3429024" cy="1588"/>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607B817-276D-4BD0-B4F3-116676D06674}"/>
              </a:ext>
            </a:extLst>
          </p:cNvPr>
          <p:cNvSpPr txBox="1"/>
          <p:nvPr/>
        </p:nvSpPr>
        <p:spPr>
          <a:xfrm>
            <a:off x="6681811" y="2594616"/>
            <a:ext cx="1112805" cy="292388"/>
          </a:xfrm>
          <a:prstGeom prst="rect">
            <a:avLst/>
          </a:prstGeom>
          <a:noFill/>
        </p:spPr>
        <p:txBody>
          <a:bodyPr wrap="none" rtlCol="0">
            <a:spAutoFit/>
          </a:bodyPr>
          <a:lstStyle/>
          <a:p>
            <a:r>
              <a:rPr lang="en-US" sz="1300" b="1" dirty="0">
                <a:solidFill>
                  <a:srgbClr val="003300"/>
                </a:solidFill>
                <a:latin typeface="+mj-lt"/>
                <a:cs typeface="Times New Roman" pitchFamily="18" charset="0"/>
              </a:rPr>
              <a:t>Class name</a:t>
            </a:r>
          </a:p>
        </p:txBody>
      </p:sp>
      <p:cxnSp>
        <p:nvCxnSpPr>
          <p:cNvPr id="13" name="Straight Connector 12">
            <a:extLst>
              <a:ext uri="{FF2B5EF4-FFF2-40B4-BE49-F238E27FC236}">
                <a16:creationId xmlns:a16="http://schemas.microsoft.com/office/drawing/2014/main" id="{34F83467-F42A-4013-8B50-0369C753FD8C}"/>
              </a:ext>
            </a:extLst>
          </p:cNvPr>
          <p:cNvCxnSpPr>
            <a:cxnSpLocks/>
          </p:cNvCxnSpPr>
          <p:nvPr/>
        </p:nvCxnSpPr>
        <p:spPr>
          <a:xfrm>
            <a:off x="7239802" y="2471224"/>
            <a:ext cx="0" cy="145755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6D704FD-1105-4765-A915-F9B14C3A5986}"/>
              </a:ext>
            </a:extLst>
          </p:cNvPr>
          <p:cNvCxnSpPr/>
          <p:nvPr/>
        </p:nvCxnSpPr>
        <p:spPr>
          <a:xfrm>
            <a:off x="7239008" y="3254660"/>
            <a:ext cx="857256" cy="1588"/>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Right Brace 14">
            <a:extLst>
              <a:ext uri="{FF2B5EF4-FFF2-40B4-BE49-F238E27FC236}">
                <a16:creationId xmlns:a16="http://schemas.microsoft.com/office/drawing/2014/main" id="{1F2110CB-D208-4644-A6A6-BDB7FFC35B6D}"/>
              </a:ext>
            </a:extLst>
          </p:cNvPr>
          <p:cNvSpPr/>
          <p:nvPr/>
        </p:nvSpPr>
        <p:spPr>
          <a:xfrm>
            <a:off x="3109458" y="2829788"/>
            <a:ext cx="500066" cy="428628"/>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mj-lt"/>
            </a:endParaRPr>
          </a:p>
        </p:txBody>
      </p:sp>
      <p:cxnSp>
        <p:nvCxnSpPr>
          <p:cNvPr id="16" name="Straight Arrow Connector 15">
            <a:extLst>
              <a:ext uri="{FF2B5EF4-FFF2-40B4-BE49-F238E27FC236}">
                <a16:creationId xmlns:a16="http://schemas.microsoft.com/office/drawing/2014/main" id="{735C2068-A84D-4919-86B6-8CD585577788}"/>
              </a:ext>
            </a:extLst>
          </p:cNvPr>
          <p:cNvCxnSpPr/>
          <p:nvPr/>
        </p:nvCxnSpPr>
        <p:spPr>
          <a:xfrm>
            <a:off x="3595670" y="3048720"/>
            <a:ext cx="3000396" cy="1588"/>
          </a:xfrm>
          <a:prstGeom prst="straightConnector1">
            <a:avLst/>
          </a:prstGeom>
          <a:ln w="285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4D36D0-2FF3-46F3-8CFF-6A7C6CDFC9A6}"/>
              </a:ext>
            </a:extLst>
          </p:cNvPr>
          <p:cNvCxnSpPr>
            <a:cxnSpLocks/>
          </p:cNvCxnSpPr>
          <p:nvPr/>
        </p:nvCxnSpPr>
        <p:spPr>
          <a:xfrm>
            <a:off x="6596065" y="3048720"/>
            <a:ext cx="0" cy="2502335"/>
          </a:xfrm>
          <a:prstGeom prst="line">
            <a:avLst/>
          </a:prstGeom>
          <a:ln w="285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B7465C-5402-41EF-9126-F7C0689FCB74}"/>
              </a:ext>
            </a:extLst>
          </p:cNvPr>
          <p:cNvCxnSpPr/>
          <p:nvPr/>
        </p:nvCxnSpPr>
        <p:spPr>
          <a:xfrm>
            <a:off x="6596066" y="5042198"/>
            <a:ext cx="1500198" cy="1588"/>
          </a:xfrm>
          <a:prstGeom prst="line">
            <a:avLst/>
          </a:prstGeom>
          <a:ln w="28575">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16C4E08-E404-450C-8F63-69188457352A}"/>
              </a:ext>
            </a:extLst>
          </p:cNvPr>
          <p:cNvSpPr/>
          <p:nvPr/>
        </p:nvSpPr>
        <p:spPr>
          <a:xfrm>
            <a:off x="8167701" y="4392478"/>
            <a:ext cx="2538935" cy="1668214"/>
          </a:xfrm>
          <a:prstGeom prst="rect">
            <a:avLst/>
          </a:prstGeom>
          <a:ln w="19050">
            <a:solidFill>
              <a:srgbClr val="0070C0"/>
            </a:solidFill>
            <a:prstDash val="dash"/>
          </a:ln>
        </p:spPr>
        <p:txBody>
          <a:bodyPr wrap="square">
            <a:spAutoFit/>
          </a:bodyPr>
          <a:lstStyle/>
          <a:p>
            <a:pPr marL="0" lvl="1">
              <a:lnSpc>
                <a:spcPct val="150000"/>
              </a:lnSpc>
            </a:pPr>
            <a:r>
              <a:rPr lang="en-US" sz="1400" b="1" kern="500" dirty="0">
                <a:latin typeface="+mj-lt"/>
                <a:cs typeface="Times New Roman" pitchFamily="18" charset="0"/>
              </a:rPr>
              <a:t>A class allows the programmer to define all the properties that </a:t>
            </a:r>
            <a:r>
              <a:rPr lang="en-US" sz="1400" b="1" u="sng" kern="500" dirty="0">
                <a:solidFill>
                  <a:srgbClr val="C00000"/>
                </a:solidFill>
                <a:latin typeface="+mj-lt"/>
                <a:cs typeface="Times New Roman" pitchFamily="18" charset="0"/>
              </a:rPr>
              <a:t>internally</a:t>
            </a:r>
            <a:r>
              <a:rPr lang="en-US" sz="1400" b="1" kern="500" dirty="0">
                <a:latin typeface="+mj-lt"/>
                <a:cs typeface="Times New Roman" pitchFamily="18" charset="0"/>
              </a:rPr>
              <a:t> define the state of an object..</a:t>
            </a:r>
          </a:p>
        </p:txBody>
      </p:sp>
      <p:cxnSp>
        <p:nvCxnSpPr>
          <p:cNvPr id="21" name="Straight Arrow Connector 20">
            <a:extLst>
              <a:ext uri="{FF2B5EF4-FFF2-40B4-BE49-F238E27FC236}">
                <a16:creationId xmlns:a16="http://schemas.microsoft.com/office/drawing/2014/main" id="{0F1FEA35-7ADA-44A0-8B44-0ADDB37296DA}"/>
              </a:ext>
            </a:extLst>
          </p:cNvPr>
          <p:cNvCxnSpPr>
            <a:cxnSpLocks/>
          </p:cNvCxnSpPr>
          <p:nvPr/>
        </p:nvCxnSpPr>
        <p:spPr>
          <a:xfrm>
            <a:off x="2419927" y="3930366"/>
            <a:ext cx="4819081" cy="0"/>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AE9CFC2-E4B5-44B5-A67B-0EA8B0914DF0}"/>
              </a:ext>
            </a:extLst>
          </p:cNvPr>
          <p:cNvCxnSpPr>
            <a:cxnSpLocks/>
          </p:cNvCxnSpPr>
          <p:nvPr/>
        </p:nvCxnSpPr>
        <p:spPr>
          <a:xfrm>
            <a:off x="3523673" y="5551055"/>
            <a:ext cx="3072392" cy="1"/>
          </a:xfrm>
          <a:prstGeom prst="straightConnector1">
            <a:avLst/>
          </a:prstGeom>
          <a:ln w="285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4E8B98B1-C54D-4FB8-98D9-627B4D82BBB2}"/>
              </a:ext>
            </a:extLst>
          </p:cNvPr>
          <p:cNvSpPr/>
          <p:nvPr/>
        </p:nvSpPr>
        <p:spPr>
          <a:xfrm>
            <a:off x="3269946" y="5330116"/>
            <a:ext cx="500066" cy="428628"/>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372889368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Class Template</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51866"/>
          </a:xfrm>
        </p:spPr>
        <p:txBody>
          <a:bodyPr/>
          <a:lstStyle/>
          <a:p>
            <a:r>
              <a:rPr lang="en-US" altLang="en-US" dirty="0"/>
              <a:t>Example 2: Design the class (Rectangle) that has (length, width) as its attributes.</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1" name="TextBox 10">
            <a:extLst>
              <a:ext uri="{FF2B5EF4-FFF2-40B4-BE49-F238E27FC236}">
                <a16:creationId xmlns:a16="http://schemas.microsoft.com/office/drawing/2014/main" id="{2671B871-39F9-42C2-8755-77139CD2B52C}"/>
              </a:ext>
            </a:extLst>
          </p:cNvPr>
          <p:cNvSpPr txBox="1"/>
          <p:nvPr/>
        </p:nvSpPr>
        <p:spPr>
          <a:xfrm>
            <a:off x="1949935" y="2987829"/>
            <a:ext cx="1527982" cy="338554"/>
          </a:xfrm>
          <a:prstGeom prst="rect">
            <a:avLst/>
          </a:prstGeom>
          <a:noFill/>
        </p:spPr>
        <p:txBody>
          <a:bodyPr wrap="none" rtlCol="0">
            <a:spAutoFit/>
          </a:bodyPr>
          <a:lstStyle/>
          <a:p>
            <a:pPr algn="l" rtl="0"/>
            <a:r>
              <a:rPr lang="en-US" sz="1600" b="1" dirty="0">
                <a:solidFill>
                  <a:srgbClr val="002060"/>
                </a:solidFill>
                <a:latin typeface="+mj-lt"/>
                <a:cs typeface="Times New Roman" pitchFamily="18" charset="0"/>
              </a:rPr>
              <a:t>Design Phase</a:t>
            </a:r>
          </a:p>
        </p:txBody>
      </p:sp>
      <p:grpSp>
        <p:nvGrpSpPr>
          <p:cNvPr id="12" name="Group 11">
            <a:extLst>
              <a:ext uri="{FF2B5EF4-FFF2-40B4-BE49-F238E27FC236}">
                <a16:creationId xmlns:a16="http://schemas.microsoft.com/office/drawing/2014/main" id="{CAC36D2A-577A-4B9D-881D-A60E8889DE5A}"/>
              </a:ext>
            </a:extLst>
          </p:cNvPr>
          <p:cNvGrpSpPr/>
          <p:nvPr/>
        </p:nvGrpSpPr>
        <p:grpSpPr>
          <a:xfrm>
            <a:off x="1631504" y="3419368"/>
            <a:ext cx="2071702" cy="1571636"/>
            <a:chOff x="1000100" y="2357430"/>
            <a:chExt cx="2071702" cy="1143008"/>
          </a:xfrm>
        </p:grpSpPr>
        <p:sp>
          <p:nvSpPr>
            <p:cNvPr id="13" name="Rectangle 9">
              <a:extLst>
                <a:ext uri="{FF2B5EF4-FFF2-40B4-BE49-F238E27FC236}">
                  <a16:creationId xmlns:a16="http://schemas.microsoft.com/office/drawing/2014/main" id="{0B3A6FB8-3B13-41D0-BF8A-7B27FD7910F5}"/>
                </a:ext>
              </a:extLst>
            </p:cNvPr>
            <p:cNvSpPr>
              <a:spLocks noChangeArrowheads="1"/>
            </p:cNvSpPr>
            <p:nvPr/>
          </p:nvSpPr>
          <p:spPr bwMode="auto">
            <a:xfrm>
              <a:off x="1000100" y="2357430"/>
              <a:ext cx="2071702" cy="11430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ts val="200"/>
                </a:spcAft>
              </a:pPr>
              <a:r>
                <a:rPr lang="en-US" sz="1400" b="1" dirty="0">
                  <a:solidFill>
                    <a:srgbClr val="C00000"/>
                  </a:solidFill>
                  <a:latin typeface="+mj-lt"/>
                  <a:ea typeface="Arial" pitchFamily="34" charset="0"/>
                  <a:cs typeface="Times New Roman" pitchFamily="18" charset="0"/>
                </a:rPr>
                <a:t>Rectangle</a:t>
              </a:r>
            </a:p>
            <a:p>
              <a:pPr fontAlgn="base">
                <a:spcBef>
                  <a:spcPct val="0"/>
                </a:spcBef>
                <a:spcAft>
                  <a:spcPts val="200"/>
                </a:spcAft>
              </a:pPr>
              <a:endParaRPr lang="en-US" sz="1300" b="1" dirty="0">
                <a:latin typeface="+mj-lt"/>
                <a:cs typeface="Times New Roman" pitchFamily="18" charset="0"/>
              </a:endParaRPr>
            </a:p>
            <a:p>
              <a:pPr fontAlgn="base">
                <a:spcBef>
                  <a:spcPct val="0"/>
                </a:spcBef>
                <a:spcAft>
                  <a:spcPts val="200"/>
                </a:spcAft>
              </a:pPr>
              <a:r>
                <a:rPr lang="en-US" sz="1400" b="1" dirty="0">
                  <a:latin typeface="+mj-lt"/>
                  <a:cs typeface="Times New Roman" pitchFamily="18" charset="0"/>
                </a:rPr>
                <a:t>length: double</a:t>
              </a:r>
            </a:p>
            <a:p>
              <a:pPr fontAlgn="base">
                <a:spcBef>
                  <a:spcPct val="0"/>
                </a:spcBef>
                <a:spcAft>
                  <a:spcPts val="200"/>
                </a:spcAft>
              </a:pPr>
              <a:r>
                <a:rPr lang="en-US" sz="1400" b="1" dirty="0">
                  <a:latin typeface="+mj-lt"/>
                  <a:cs typeface="Times New Roman" pitchFamily="18" charset="0"/>
                </a:rPr>
                <a:t>width: double</a:t>
              </a:r>
            </a:p>
            <a:p>
              <a:pPr fontAlgn="base">
                <a:spcBef>
                  <a:spcPct val="0"/>
                </a:spcBef>
                <a:spcAft>
                  <a:spcPts val="200"/>
                </a:spcAft>
              </a:pPr>
              <a:endParaRPr lang="en-US" sz="1200" dirty="0">
                <a:latin typeface="+mj-lt"/>
              </a:endParaRPr>
            </a:p>
            <a:p>
              <a:pPr fontAlgn="base">
                <a:spcBef>
                  <a:spcPct val="0"/>
                </a:spcBef>
                <a:spcAft>
                  <a:spcPts val="200"/>
                </a:spcAft>
              </a:pPr>
              <a:endParaRPr lang="en-US" sz="1000" dirty="0">
                <a:latin typeface="+mj-lt"/>
                <a:ea typeface="Arial" pitchFamily="34" charset="0"/>
                <a:cs typeface="Arial" pitchFamily="34" charset="0"/>
              </a:endParaRPr>
            </a:p>
          </p:txBody>
        </p:sp>
        <p:cxnSp>
          <p:nvCxnSpPr>
            <p:cNvPr id="14" name="AutoShape 10">
              <a:extLst>
                <a:ext uri="{FF2B5EF4-FFF2-40B4-BE49-F238E27FC236}">
                  <a16:creationId xmlns:a16="http://schemas.microsoft.com/office/drawing/2014/main" id="{CEDDEFF6-A983-4836-AA42-080DB2F31A15}"/>
                </a:ext>
              </a:extLst>
            </p:cNvPr>
            <p:cNvCxnSpPr>
              <a:cxnSpLocks noChangeShapeType="1"/>
            </p:cNvCxnSpPr>
            <p:nvPr/>
          </p:nvCxnSpPr>
          <p:spPr bwMode="auto">
            <a:xfrm>
              <a:off x="1000100" y="2643182"/>
              <a:ext cx="2071702" cy="1588"/>
            </a:xfrm>
            <a:prstGeom prst="straightConnector1">
              <a:avLst/>
            </a:prstGeom>
            <a:noFill/>
            <a:ln w="9525">
              <a:solidFill>
                <a:srgbClr val="000000"/>
              </a:solidFill>
              <a:round/>
              <a:headEnd/>
              <a:tailEnd/>
            </a:ln>
          </p:spPr>
        </p:cxnSp>
      </p:grpSp>
      <p:sp>
        <p:nvSpPr>
          <p:cNvPr id="15" name="TextBox 14">
            <a:extLst>
              <a:ext uri="{FF2B5EF4-FFF2-40B4-BE49-F238E27FC236}">
                <a16:creationId xmlns:a16="http://schemas.microsoft.com/office/drawing/2014/main" id="{41139613-F970-40D4-896F-BB52146792B2}"/>
              </a:ext>
            </a:extLst>
          </p:cNvPr>
          <p:cNvSpPr txBox="1"/>
          <p:nvPr/>
        </p:nvSpPr>
        <p:spPr>
          <a:xfrm>
            <a:off x="4870924" y="2944756"/>
            <a:ext cx="4942379" cy="338554"/>
          </a:xfrm>
          <a:prstGeom prst="rect">
            <a:avLst/>
          </a:prstGeom>
          <a:noFill/>
        </p:spPr>
        <p:txBody>
          <a:bodyPr wrap="none" rtlCol="0">
            <a:spAutoFit/>
          </a:bodyPr>
          <a:lstStyle/>
          <a:p>
            <a:pPr algn="l" rtl="0"/>
            <a:r>
              <a:rPr lang="en-US" sz="1600" b="1" dirty="0">
                <a:solidFill>
                  <a:srgbClr val="002060"/>
                </a:solidFill>
                <a:latin typeface="+mj-lt"/>
                <a:cs typeface="Times New Roman" pitchFamily="18" charset="0"/>
              </a:rPr>
              <a:t>Implementation (programming) Phase using java</a:t>
            </a:r>
          </a:p>
        </p:txBody>
      </p:sp>
      <p:pic>
        <p:nvPicPr>
          <p:cNvPr id="16" name="Picture 2">
            <a:extLst>
              <a:ext uri="{FF2B5EF4-FFF2-40B4-BE49-F238E27FC236}">
                <a16:creationId xmlns:a16="http://schemas.microsoft.com/office/drawing/2014/main" id="{5FB6CA28-F911-4478-BBDC-AD02C375A402}"/>
              </a:ext>
            </a:extLst>
          </p:cNvPr>
          <p:cNvPicPr>
            <a:picLocks noChangeAspect="1" noChangeArrowheads="1"/>
          </p:cNvPicPr>
          <p:nvPr/>
        </p:nvPicPr>
        <p:blipFill>
          <a:blip r:embed="rId2"/>
          <a:srcRect/>
          <a:stretch>
            <a:fillRect/>
          </a:stretch>
        </p:blipFill>
        <p:spPr bwMode="auto">
          <a:xfrm>
            <a:off x="4297207" y="3366179"/>
            <a:ext cx="6287185" cy="240137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8569887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Class Syntax</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The general syntax for defining a class is:</a:t>
            </a:r>
          </a:p>
          <a:p>
            <a:endParaRPr lang="en-US" altLang="en-US" dirty="0"/>
          </a:p>
          <a:p>
            <a:endParaRPr lang="en-US" altLang="en-US" dirty="0"/>
          </a:p>
          <a:p>
            <a:endParaRPr lang="en-US" altLang="en-US" dirty="0"/>
          </a:p>
          <a:p>
            <a:endParaRPr lang="en-US" altLang="en-US" dirty="0"/>
          </a:p>
          <a:p>
            <a:r>
              <a:rPr lang="en-US" altLang="en-US" dirty="0"/>
              <a:t> Question: Design a class (Person) that has (name: String, age: int, length: double, salary: int, job: String, weight: double, and gender: char) as its attributes.</a:t>
            </a:r>
          </a:p>
          <a:p>
            <a:endParaRPr lang="en-US" altLang="en-US" dirty="0"/>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TextBox 5">
            <a:extLst>
              <a:ext uri="{FF2B5EF4-FFF2-40B4-BE49-F238E27FC236}">
                <a16:creationId xmlns:a16="http://schemas.microsoft.com/office/drawing/2014/main" id="{F87D2B98-9F8B-9966-7703-FA8110DBFB51}"/>
              </a:ext>
            </a:extLst>
          </p:cNvPr>
          <p:cNvSpPr txBox="1"/>
          <p:nvPr/>
        </p:nvSpPr>
        <p:spPr>
          <a:xfrm>
            <a:off x="2198197" y="2552221"/>
            <a:ext cx="7783033" cy="1446550"/>
          </a:xfrm>
          <a:prstGeom prst="rect">
            <a:avLst/>
          </a:prstGeom>
          <a:noFill/>
        </p:spPr>
        <p:txBody>
          <a:bodyPr wrap="square" rtlCol="0">
            <a:spAutoFit/>
          </a:bodyPr>
          <a:lstStyle/>
          <a:p>
            <a:r>
              <a:rPr lang="en-US" sz="2200" dirty="0">
                <a:solidFill>
                  <a:srgbClr val="00627A"/>
                </a:solidFill>
                <a:effectLst/>
                <a:latin typeface="Courier New" panose="02070309020205020404" pitchFamily="49" charset="0"/>
                <a:cs typeface="Courier New" panose="02070309020205020404" pitchFamily="49" charset="0"/>
              </a:rPr>
              <a:t>modifier</a:t>
            </a:r>
            <a:r>
              <a:rPr lang="en-US" sz="2200" dirty="0">
                <a:solidFill>
                  <a:srgbClr val="080808"/>
                </a:solidFill>
                <a:effectLst/>
                <a:latin typeface="Courier New" panose="02070309020205020404" pitchFamily="49" charset="0"/>
                <a:cs typeface="Courier New" panose="02070309020205020404" pitchFamily="49" charset="0"/>
              </a:rPr>
              <a:t>(s) </a:t>
            </a:r>
            <a:r>
              <a:rPr lang="en-US" sz="2200" dirty="0">
                <a:solidFill>
                  <a:srgbClr val="0033B3"/>
                </a:solidFill>
                <a:effectLst/>
                <a:latin typeface="Courier New" panose="02070309020205020404" pitchFamily="49" charset="0"/>
                <a:cs typeface="Courier New" panose="02070309020205020404" pitchFamily="49" charset="0"/>
              </a:rPr>
              <a:t>class </a:t>
            </a:r>
            <a:r>
              <a:rPr lang="en-US" sz="2200" dirty="0">
                <a:solidFill>
                  <a:srgbClr val="000000"/>
                </a:solidFill>
                <a:effectLst/>
                <a:latin typeface="Courier New" panose="02070309020205020404" pitchFamily="49" charset="0"/>
                <a:cs typeface="Courier New" panose="02070309020205020404" pitchFamily="49" charset="0"/>
              </a:rPr>
              <a:t>ClassIdentifier </a:t>
            </a:r>
            <a:r>
              <a:rPr lang="en-US" sz="2200" dirty="0">
                <a:solidFill>
                  <a:srgbClr val="080808"/>
                </a:solidFill>
                <a:effectLst/>
                <a:latin typeface="Courier New" panose="02070309020205020404" pitchFamily="49" charset="0"/>
                <a:cs typeface="Courier New" panose="02070309020205020404" pitchFamily="49" charset="0"/>
              </a:rPr>
              <a:t>modifier(s)</a:t>
            </a:r>
            <a:br>
              <a:rPr lang="en-US" sz="2200" dirty="0">
                <a:solidFill>
                  <a:srgbClr val="080808"/>
                </a:solidFill>
                <a:effectLst/>
                <a:latin typeface="Courier New" panose="02070309020205020404" pitchFamily="49" charset="0"/>
                <a:cs typeface="Courier New" panose="02070309020205020404" pitchFamily="49" charset="0"/>
              </a:rPr>
            </a:br>
            <a:r>
              <a:rPr lang="en-US" sz="2200" dirty="0">
                <a:solidFill>
                  <a:srgbClr val="080808"/>
                </a:solidFill>
                <a:effectLst/>
                <a:latin typeface="Courier New" panose="02070309020205020404" pitchFamily="49" charset="0"/>
                <a:cs typeface="Courier New" panose="02070309020205020404" pitchFamily="49" charset="0"/>
              </a:rPr>
              <a:t>{</a:t>
            </a:r>
            <a:br>
              <a:rPr lang="en-US" sz="2200" dirty="0">
                <a:solidFill>
                  <a:srgbClr val="080808"/>
                </a:solidFill>
                <a:effectLst/>
                <a:latin typeface="Courier New" panose="02070309020205020404" pitchFamily="49" charset="0"/>
                <a:cs typeface="Courier New" panose="02070309020205020404" pitchFamily="49" charset="0"/>
              </a:rPr>
            </a:br>
            <a:r>
              <a:rPr lang="en-US" sz="2200" dirty="0">
                <a:solidFill>
                  <a:srgbClr val="080808"/>
                </a:solidFill>
                <a:effectLst/>
                <a:latin typeface="Courier New" panose="02070309020205020404" pitchFamily="49" charset="0"/>
                <a:cs typeface="Courier New" panose="02070309020205020404" pitchFamily="49" charset="0"/>
              </a:rPr>
              <a:t>    classMembers</a:t>
            </a:r>
            <a:br>
              <a:rPr lang="en-US" sz="2200" dirty="0">
                <a:solidFill>
                  <a:srgbClr val="080808"/>
                </a:solidFill>
                <a:effectLst/>
                <a:latin typeface="Courier New" panose="02070309020205020404" pitchFamily="49" charset="0"/>
                <a:cs typeface="Courier New" panose="02070309020205020404" pitchFamily="49" charset="0"/>
              </a:rPr>
            </a:br>
            <a:r>
              <a:rPr lang="en-US" sz="2200" dirty="0">
                <a:solidFill>
                  <a:srgbClr val="080808"/>
                </a:solidFill>
                <a:effectLst/>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0202693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Writing a Class, (Step by Step)</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pSp>
        <p:nvGrpSpPr>
          <p:cNvPr id="5" name="Group 4">
            <a:extLst>
              <a:ext uri="{FF2B5EF4-FFF2-40B4-BE49-F238E27FC236}">
                <a16:creationId xmlns:a16="http://schemas.microsoft.com/office/drawing/2014/main" id="{26EA1A10-1BEA-4ABF-AAED-C5F4998CD07D}"/>
              </a:ext>
            </a:extLst>
          </p:cNvPr>
          <p:cNvGrpSpPr>
            <a:grpSpLocks/>
          </p:cNvGrpSpPr>
          <p:nvPr/>
        </p:nvGrpSpPr>
        <p:grpSpPr bwMode="auto">
          <a:xfrm>
            <a:off x="3563547" y="1828022"/>
            <a:ext cx="4482376" cy="4242777"/>
            <a:chOff x="96" y="864"/>
            <a:chExt cx="2249" cy="2064"/>
          </a:xfrm>
          <a:solidFill>
            <a:schemeClr val="bg2"/>
          </a:solidFill>
        </p:grpSpPr>
        <p:sp>
          <p:nvSpPr>
            <p:cNvPr id="6" name="Rectangle 5">
              <a:extLst>
                <a:ext uri="{FF2B5EF4-FFF2-40B4-BE49-F238E27FC236}">
                  <a16:creationId xmlns:a16="http://schemas.microsoft.com/office/drawing/2014/main" id="{9764F041-30C7-45E3-AB5B-6CDC043AB31D}"/>
                </a:ext>
              </a:extLst>
            </p:cNvPr>
            <p:cNvSpPr>
              <a:spLocks noChangeArrowheads="1"/>
            </p:cNvSpPr>
            <p:nvPr/>
          </p:nvSpPr>
          <p:spPr bwMode="auto">
            <a:xfrm>
              <a:off x="96" y="864"/>
              <a:ext cx="2249" cy="384"/>
            </a:xfrm>
            <a:prstGeom prst="rect">
              <a:avLst/>
            </a:prstGeom>
            <a:grpFill/>
            <a:ln w="9525">
              <a:solidFill>
                <a:schemeClr val="tx1"/>
              </a:solidFill>
              <a:miter lim="800000"/>
              <a:headEnd/>
              <a:tailEnd/>
            </a:ln>
          </p:spPr>
          <p:txBody>
            <a:bodyPr wrap="none" anchor="ct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ar-SA" sz="2000" b="1" i="0" dirty="0">
                  <a:latin typeface="+mj-lt"/>
                </a:rPr>
                <a:t>Rectangle</a:t>
              </a:r>
            </a:p>
          </p:txBody>
        </p:sp>
        <p:sp>
          <p:nvSpPr>
            <p:cNvPr id="7" name="Rectangle 6">
              <a:extLst>
                <a:ext uri="{FF2B5EF4-FFF2-40B4-BE49-F238E27FC236}">
                  <a16:creationId xmlns:a16="http://schemas.microsoft.com/office/drawing/2014/main" id="{6B07C3D9-6646-4963-A52D-ECFE24A3AB63}"/>
                </a:ext>
              </a:extLst>
            </p:cNvPr>
            <p:cNvSpPr>
              <a:spLocks noChangeArrowheads="1"/>
            </p:cNvSpPr>
            <p:nvPr/>
          </p:nvSpPr>
          <p:spPr bwMode="auto">
            <a:xfrm>
              <a:off x="96" y="1248"/>
              <a:ext cx="2249" cy="496"/>
            </a:xfrm>
            <a:prstGeom prst="rect">
              <a:avLst/>
            </a:prstGeom>
            <a:grpFill/>
            <a:ln w="9525">
              <a:solidFill>
                <a:schemeClr val="tx1"/>
              </a:solidFill>
              <a:miter lim="800000"/>
              <a:headEnd/>
              <a:tailEnd/>
            </a:ln>
          </p:spPr>
          <p:txBody>
            <a:bodyPr wrap="none" anchor="ct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l" eaLnBrk="1" hangingPunct="1"/>
              <a:r>
                <a:rPr lang="en-US" altLang="ar-SA" sz="2000" i="0" dirty="0">
                  <a:latin typeface="+mj-lt"/>
                </a:rPr>
                <a:t>  width : double</a:t>
              </a:r>
            </a:p>
            <a:p>
              <a:pPr algn="l" eaLnBrk="1" hangingPunct="1"/>
              <a:r>
                <a:rPr lang="en-US" altLang="ar-SA" sz="2000" i="0" dirty="0">
                  <a:latin typeface="+mj-lt"/>
                </a:rPr>
                <a:t>  length : double</a:t>
              </a:r>
            </a:p>
          </p:txBody>
        </p:sp>
        <p:sp>
          <p:nvSpPr>
            <p:cNvPr id="8" name="Rectangle 7">
              <a:extLst>
                <a:ext uri="{FF2B5EF4-FFF2-40B4-BE49-F238E27FC236}">
                  <a16:creationId xmlns:a16="http://schemas.microsoft.com/office/drawing/2014/main" id="{0127CC6F-9886-4F9E-BADB-BE29038416A0}"/>
                </a:ext>
              </a:extLst>
            </p:cNvPr>
            <p:cNvSpPr>
              <a:spLocks noChangeArrowheads="1"/>
            </p:cNvSpPr>
            <p:nvPr/>
          </p:nvSpPr>
          <p:spPr bwMode="auto">
            <a:xfrm>
              <a:off x="96" y="1728"/>
              <a:ext cx="2249" cy="1200"/>
            </a:xfrm>
            <a:prstGeom prst="rect">
              <a:avLst/>
            </a:prstGeom>
            <a:grpFill/>
            <a:ln w="9525">
              <a:solidFill>
                <a:schemeClr val="tx1"/>
              </a:solidFill>
              <a:miter lim="800000"/>
              <a:headEnd/>
              <a:tailEnd/>
            </a:ln>
          </p:spPr>
          <p:txBody>
            <a:bodyPr wrap="none" anchor="ct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l" eaLnBrk="1" hangingPunct="1"/>
              <a:r>
                <a:rPr lang="en-US" altLang="ar-SA" sz="2000" i="0" dirty="0">
                  <a:latin typeface="+mj-lt"/>
                </a:rPr>
                <a:t>+ </a:t>
              </a:r>
              <a:r>
                <a:rPr lang="en-US" altLang="ar-SA" sz="2000" i="0" dirty="0" err="1">
                  <a:latin typeface="+mj-lt"/>
                </a:rPr>
                <a:t>getArea</a:t>
              </a:r>
              <a:r>
                <a:rPr lang="en-US" altLang="ar-SA" sz="2000" i="0" dirty="0">
                  <a:latin typeface="+mj-lt"/>
                </a:rPr>
                <a:t>() : double</a:t>
              </a:r>
            </a:p>
            <a:p>
              <a:pPr algn="l" eaLnBrk="1" hangingPunct="1"/>
              <a:r>
                <a:rPr lang="en-US" sz="2000" dirty="0">
                  <a:latin typeface="+mj-lt"/>
                  <a:cs typeface="Courier New" panose="02070309020205020404" pitchFamily="49" charset="0"/>
                </a:rPr>
                <a:t>+ </a:t>
              </a:r>
              <a:r>
                <a:rPr lang="en-US" sz="2000" dirty="0" err="1">
                  <a:latin typeface="+mj-lt"/>
                  <a:cs typeface="Courier New" panose="02070309020205020404" pitchFamily="49" charset="0"/>
                </a:rPr>
                <a:t>getPerimeter</a:t>
              </a:r>
              <a:r>
                <a:rPr lang="en-US" sz="2000" i="0" dirty="0">
                  <a:latin typeface="+mj-lt"/>
                  <a:cs typeface="Courier New" panose="02070309020205020404" pitchFamily="49" charset="0"/>
                </a:rPr>
                <a:t>() :double</a:t>
              </a:r>
            </a:p>
            <a:p>
              <a:pPr algn="l" eaLnBrk="1" hangingPunct="1"/>
              <a:r>
                <a:rPr lang="en-US" altLang="ar-SA" sz="2000" i="0" dirty="0">
                  <a:latin typeface="+mj-lt"/>
                  <a:cs typeface="Courier New" panose="02070309020205020404" pitchFamily="49" charset="0"/>
                </a:rPr>
                <a:t>+ </a:t>
              </a:r>
              <a:r>
                <a:rPr lang="en-US" altLang="ar-SA" sz="2000" i="0" dirty="0" err="1">
                  <a:latin typeface="+mj-lt"/>
                  <a:cs typeface="Courier New" panose="02070309020205020404" pitchFamily="49" charset="0"/>
                </a:rPr>
                <a:t>printDetails</a:t>
              </a:r>
              <a:r>
                <a:rPr lang="en-US" altLang="ar-SA" sz="2000" i="0" dirty="0">
                  <a:latin typeface="+mj-lt"/>
                  <a:cs typeface="Courier New" panose="02070309020205020404" pitchFamily="49" charset="0"/>
                </a:rPr>
                <a:t>(String </a:t>
              </a:r>
              <a:r>
                <a:rPr lang="en-US" altLang="ar-SA" sz="2000" i="0" dirty="0" err="1">
                  <a:latin typeface="+mj-lt"/>
                  <a:cs typeface="Courier New" panose="02070309020205020404" pitchFamily="49" charset="0"/>
                </a:rPr>
                <a:t>shapeName</a:t>
              </a:r>
              <a:r>
                <a:rPr lang="en-US" altLang="ar-SA" sz="2000" i="0" dirty="0">
                  <a:latin typeface="+mj-lt"/>
                  <a:cs typeface="Courier New" panose="02070309020205020404" pitchFamily="49" charset="0"/>
                </a:rPr>
                <a:t>): void</a:t>
              </a:r>
            </a:p>
            <a:p>
              <a:pPr algn="l" eaLnBrk="1" hangingPunct="1"/>
              <a:r>
                <a:rPr lang="en-US" altLang="ar-SA" sz="2000" i="0" dirty="0">
                  <a:latin typeface="+mj-lt"/>
                  <a:cs typeface="Courier New" panose="02070309020205020404" pitchFamily="49" charset="0"/>
                </a:rPr>
                <a:t>+ </a:t>
              </a:r>
              <a:r>
                <a:rPr lang="en-US" altLang="ar-SA" sz="2000" i="0" dirty="0" err="1">
                  <a:latin typeface="+mj-lt"/>
                  <a:cs typeface="Courier New" panose="02070309020205020404" pitchFamily="49" charset="0"/>
                </a:rPr>
                <a:t>isSquare</a:t>
              </a:r>
              <a:r>
                <a:rPr lang="en-US" altLang="ar-SA" sz="2000" i="0" dirty="0">
                  <a:latin typeface="+mj-lt"/>
                  <a:cs typeface="Courier New" panose="02070309020205020404" pitchFamily="49" charset="0"/>
                </a:rPr>
                <a:t>():</a:t>
              </a:r>
              <a:r>
                <a:rPr lang="en-US" altLang="ar-SA" sz="2000" i="0" dirty="0" err="1">
                  <a:latin typeface="+mj-lt"/>
                  <a:cs typeface="Courier New" panose="02070309020205020404" pitchFamily="49" charset="0"/>
                </a:rPr>
                <a:t>boolean</a:t>
              </a:r>
              <a:endParaRPr lang="en-US" altLang="ar-SA" sz="2000" i="0" dirty="0">
                <a:latin typeface="+mj-lt"/>
              </a:endParaRPr>
            </a:p>
            <a:p>
              <a:pPr algn="l" eaLnBrk="1" hangingPunct="1"/>
              <a:endParaRPr lang="en-US" altLang="ar-SA" sz="2000" i="0" dirty="0">
                <a:latin typeface="+mj-lt"/>
              </a:endParaRPr>
            </a:p>
          </p:txBody>
        </p:sp>
      </p:grpSp>
      <p:sp>
        <p:nvSpPr>
          <p:cNvPr id="9" name="Text Box 8">
            <a:extLst>
              <a:ext uri="{FF2B5EF4-FFF2-40B4-BE49-F238E27FC236}">
                <a16:creationId xmlns:a16="http://schemas.microsoft.com/office/drawing/2014/main" id="{B5BE328C-6AB1-479B-A539-17CB12CD1A71}"/>
              </a:ext>
            </a:extLst>
          </p:cNvPr>
          <p:cNvSpPr txBox="1">
            <a:spLocks noChangeArrowheads="1"/>
          </p:cNvSpPr>
          <p:nvPr/>
        </p:nvSpPr>
        <p:spPr bwMode="auto">
          <a:xfrm>
            <a:off x="1168521" y="1890699"/>
            <a:ext cx="13004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ar-SA" sz="1600" i="0" dirty="0">
                <a:solidFill>
                  <a:srgbClr val="FF3300"/>
                </a:solidFill>
                <a:latin typeface="+mj-lt"/>
              </a:rPr>
              <a:t>Class name goes here</a:t>
            </a:r>
          </a:p>
        </p:txBody>
      </p:sp>
      <p:sp>
        <p:nvSpPr>
          <p:cNvPr id="10" name="Text Box 9">
            <a:extLst>
              <a:ext uri="{FF2B5EF4-FFF2-40B4-BE49-F238E27FC236}">
                <a16:creationId xmlns:a16="http://schemas.microsoft.com/office/drawing/2014/main" id="{BDD8FDF9-0663-4082-994A-D4A9C09362C3}"/>
              </a:ext>
            </a:extLst>
          </p:cNvPr>
          <p:cNvSpPr txBox="1">
            <a:spLocks noChangeArrowheads="1"/>
          </p:cNvSpPr>
          <p:nvPr/>
        </p:nvSpPr>
        <p:spPr bwMode="auto">
          <a:xfrm>
            <a:off x="978795" y="2728314"/>
            <a:ext cx="14901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ar-SA" sz="1600" i="0" dirty="0">
                <a:solidFill>
                  <a:srgbClr val="FF3300"/>
                </a:solidFill>
                <a:latin typeface="+mj-lt"/>
              </a:rPr>
              <a:t>Attributes are listed here</a:t>
            </a:r>
          </a:p>
        </p:txBody>
      </p:sp>
      <p:sp>
        <p:nvSpPr>
          <p:cNvPr id="11" name="Text Box 10">
            <a:extLst>
              <a:ext uri="{FF2B5EF4-FFF2-40B4-BE49-F238E27FC236}">
                <a16:creationId xmlns:a16="http://schemas.microsoft.com/office/drawing/2014/main" id="{E8DC9B90-FACE-4167-A431-590EC95A5141}"/>
              </a:ext>
            </a:extLst>
          </p:cNvPr>
          <p:cNvSpPr txBox="1">
            <a:spLocks noChangeArrowheads="1"/>
          </p:cNvSpPr>
          <p:nvPr/>
        </p:nvSpPr>
        <p:spPr bwMode="auto">
          <a:xfrm>
            <a:off x="1107584" y="4509599"/>
            <a:ext cx="13304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ar-SA" sz="1600" i="0" dirty="0">
                <a:solidFill>
                  <a:srgbClr val="FF3300"/>
                </a:solidFill>
                <a:latin typeface="+mj-lt"/>
              </a:rPr>
              <a:t>Methods are listed here</a:t>
            </a:r>
          </a:p>
        </p:txBody>
      </p:sp>
      <p:cxnSp>
        <p:nvCxnSpPr>
          <p:cNvPr id="12" name="Straight Arrow Connector 11">
            <a:extLst>
              <a:ext uri="{FF2B5EF4-FFF2-40B4-BE49-F238E27FC236}">
                <a16:creationId xmlns:a16="http://schemas.microsoft.com/office/drawing/2014/main" id="{47BF99C2-04C9-4B68-9AFE-B30D9C4ABC62}"/>
              </a:ext>
            </a:extLst>
          </p:cNvPr>
          <p:cNvCxnSpPr/>
          <p:nvPr/>
        </p:nvCxnSpPr>
        <p:spPr>
          <a:xfrm flipH="1">
            <a:off x="2438033" y="2120409"/>
            <a:ext cx="10347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0710473E-9C53-4A99-ABF5-56A73A788157}"/>
              </a:ext>
            </a:extLst>
          </p:cNvPr>
          <p:cNvCxnSpPr/>
          <p:nvPr/>
        </p:nvCxnSpPr>
        <p:spPr>
          <a:xfrm flipH="1">
            <a:off x="2468986" y="2996952"/>
            <a:ext cx="10347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53C706C-23BD-4C54-926E-3841D399F6BF}"/>
              </a:ext>
            </a:extLst>
          </p:cNvPr>
          <p:cNvCxnSpPr/>
          <p:nvPr/>
        </p:nvCxnSpPr>
        <p:spPr>
          <a:xfrm flipH="1">
            <a:off x="2468986" y="4854235"/>
            <a:ext cx="10347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D08D4426-FE04-41F4-AE86-FE2456819B9C}"/>
              </a:ext>
            </a:extLst>
          </p:cNvPr>
          <p:cNvSpPr txBox="1"/>
          <p:nvPr/>
        </p:nvSpPr>
        <p:spPr>
          <a:xfrm>
            <a:off x="8135811" y="3282126"/>
            <a:ext cx="3352800" cy="1323439"/>
          </a:xfrm>
          <a:prstGeom prst="rect">
            <a:avLst/>
          </a:prstGeom>
          <a:noFill/>
        </p:spPr>
        <p:txBody>
          <a:bodyPr wrap="square" rtlCol="1">
            <a:spAutoFit/>
          </a:bodyPr>
          <a:lstStyle/>
          <a:p>
            <a:pPr algn="ctr"/>
            <a:r>
              <a:rPr lang="en-US" altLang="ar-SA" sz="1600" b="1" dirty="0">
                <a:latin typeface="+mj-lt"/>
              </a:rPr>
              <a:t>Unified Modeling Language (UML) provides a set of standard diagrams for graphically depicting object-oriented systems.</a:t>
            </a:r>
            <a:endParaRPr lang="ar-SA" sz="1600" b="1" dirty="0">
              <a:latin typeface="+mj-lt"/>
            </a:endParaRPr>
          </a:p>
        </p:txBody>
      </p:sp>
    </p:spTree>
    <p:extLst>
      <p:ext uri="{BB962C8B-B14F-4D97-AF65-F5344CB8AC3E}">
        <p14:creationId xmlns:p14="http://schemas.microsoft.com/office/powerpoint/2010/main" val="292439536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Cont. </a:t>
            </a:r>
            <a:r>
              <a:rPr lang="en-US" altLang="ar-SA" dirty="0"/>
              <a:t>Writing a Class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Create the </a:t>
            </a:r>
            <a:r>
              <a:rPr lang="en-US" altLang="en-US" b="1" dirty="0"/>
              <a:t>Rectangle</a:t>
            </a:r>
            <a:r>
              <a:rPr lang="en-US" altLang="en-US" dirty="0"/>
              <a:t> class:</a:t>
            </a:r>
          </a:p>
          <a:p>
            <a:pPr lvl="1"/>
            <a:r>
              <a:rPr lang="en-US" altLang="en-US" dirty="0"/>
              <a:t>Create a new project with an appropriate name.</a:t>
            </a:r>
          </a:p>
          <a:p>
            <a:pPr lvl="1"/>
            <a:r>
              <a:rPr lang="en-US" altLang="en-US" dirty="0"/>
              <a:t>Create a new package name it new package.</a:t>
            </a:r>
          </a:p>
          <a:p>
            <a:pPr lvl="1"/>
            <a:r>
              <a:rPr lang="en-US" altLang="en-US" dirty="0"/>
              <a:t>Finally create the class </a:t>
            </a:r>
            <a:r>
              <a:rPr lang="en-US" altLang="en-US" b="1" dirty="0"/>
              <a:t>Rectangle</a:t>
            </a:r>
            <a:r>
              <a:rPr lang="en-US" altLang="en-US" dirty="0"/>
              <a:t> in the newly created package. </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27650" name="Picture 2" descr="image">
            <a:extLst>
              <a:ext uri="{FF2B5EF4-FFF2-40B4-BE49-F238E27FC236}">
                <a16:creationId xmlns:a16="http://schemas.microsoft.com/office/drawing/2014/main" id="{599E7928-5E46-45F6-9935-05041D145B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557" y="3474615"/>
            <a:ext cx="6053224" cy="283118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2F13D67-8E4E-4CE1-B07A-C4918025A548}"/>
              </a:ext>
            </a:extLst>
          </p:cNvPr>
          <p:cNvPicPr>
            <a:picLocks noChangeAspect="1"/>
          </p:cNvPicPr>
          <p:nvPr/>
        </p:nvPicPr>
        <p:blipFill>
          <a:blip r:embed="rId3"/>
          <a:stretch>
            <a:fillRect/>
          </a:stretch>
        </p:blipFill>
        <p:spPr>
          <a:xfrm>
            <a:off x="6941713" y="3513810"/>
            <a:ext cx="4305836" cy="2831182"/>
          </a:xfrm>
          <a:prstGeom prst="rect">
            <a:avLst/>
          </a:prstGeom>
        </p:spPr>
      </p:pic>
    </p:spTree>
    <p:extLst>
      <p:ext uri="{BB962C8B-B14F-4D97-AF65-F5344CB8AC3E}">
        <p14:creationId xmlns:p14="http://schemas.microsoft.com/office/powerpoint/2010/main" val="244827548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Cont. </a:t>
            </a:r>
            <a:r>
              <a:rPr lang="en-US" altLang="ar-SA" dirty="0"/>
              <a:t>Writing a Class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A </a:t>
            </a:r>
            <a:r>
              <a:rPr lang="en-US" altLang="en-US" b="1" dirty="0"/>
              <a:t>Rectangle</a:t>
            </a:r>
            <a:r>
              <a:rPr lang="en-US" altLang="en-US" dirty="0"/>
              <a:t> class will have the following data fields:</a:t>
            </a:r>
          </a:p>
          <a:p>
            <a:pPr lvl="1"/>
            <a:r>
              <a:rPr lang="en-US" altLang="en-US" b="1" dirty="0"/>
              <a:t>length,</a:t>
            </a:r>
            <a:r>
              <a:rPr lang="en-US" altLang="en-US" dirty="0"/>
              <a:t> The length field will hold the rectangle’s length.</a:t>
            </a:r>
          </a:p>
          <a:p>
            <a:pPr lvl="1"/>
            <a:r>
              <a:rPr lang="en-US" altLang="en-US" b="1" dirty="0"/>
              <a:t>width,</a:t>
            </a:r>
            <a:r>
              <a:rPr lang="en-US" altLang="en-US" dirty="0"/>
              <a:t>  The width field will hold the rectangle’s width.</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97C17533-6D04-40DB-BD29-E6A2780D80A8}"/>
              </a:ext>
            </a:extLst>
          </p:cNvPr>
          <p:cNvSpPr txBox="1">
            <a:spLocks noChangeArrowheads="1"/>
          </p:cNvSpPr>
          <p:nvPr/>
        </p:nvSpPr>
        <p:spPr bwMode="auto">
          <a:xfrm>
            <a:off x="5688589" y="3660251"/>
            <a:ext cx="6644065" cy="212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en-US" altLang="ar-SA" sz="2400" b="1" dirty="0">
                <a:solidFill>
                  <a:srgbClr val="0070C0"/>
                </a:solidFill>
                <a:latin typeface="Courier New" panose="02070309020205020404" pitchFamily="49" charset="0"/>
              </a:rPr>
              <a:t>public</a:t>
            </a:r>
            <a:r>
              <a:rPr lang="en-US" altLang="ar-SA" sz="2400" b="1" dirty="0">
                <a:latin typeface="Courier New" panose="02070309020205020404" pitchFamily="49" charset="0"/>
              </a:rPr>
              <a:t> </a:t>
            </a:r>
            <a:r>
              <a:rPr lang="en-US" altLang="ar-SA" sz="2400" b="1" dirty="0">
                <a:solidFill>
                  <a:srgbClr val="0070C0"/>
                </a:solidFill>
                <a:latin typeface="Courier New" panose="02070309020205020404" pitchFamily="49" charset="0"/>
              </a:rPr>
              <a:t>class</a:t>
            </a:r>
            <a:r>
              <a:rPr lang="en-US" altLang="ar-SA" sz="2400" b="1" dirty="0">
                <a:latin typeface="Courier New" panose="02070309020205020404" pitchFamily="49" charset="0"/>
              </a:rPr>
              <a:t> Rectangle</a:t>
            </a:r>
          </a:p>
          <a:p>
            <a:pPr eaLnBrk="1" hangingPunct="1">
              <a:buFontTx/>
              <a:buNone/>
            </a:pPr>
            <a:r>
              <a:rPr lang="en-US" altLang="ar-SA" sz="2400" b="1" dirty="0">
                <a:latin typeface="Courier New" panose="02070309020205020404" pitchFamily="49" charset="0"/>
              </a:rPr>
              <a:t>{</a:t>
            </a:r>
          </a:p>
          <a:p>
            <a:pPr eaLnBrk="1" hangingPunct="1">
              <a:buFontTx/>
              <a:buNone/>
            </a:pPr>
            <a:r>
              <a:rPr lang="en-US" altLang="ar-SA" sz="2400" b="1" dirty="0">
                <a:latin typeface="Courier New" panose="02070309020205020404" pitchFamily="49" charset="0"/>
              </a:rPr>
              <a:t>		 double length;</a:t>
            </a:r>
          </a:p>
          <a:p>
            <a:pPr eaLnBrk="1" hangingPunct="1">
              <a:buFontTx/>
              <a:buNone/>
            </a:pPr>
            <a:r>
              <a:rPr lang="en-US" altLang="ar-SA" sz="2400" b="1" dirty="0">
                <a:latin typeface="Courier New" panose="02070309020205020404" pitchFamily="49" charset="0"/>
              </a:rPr>
              <a:t>		 double width;</a:t>
            </a:r>
          </a:p>
          <a:p>
            <a:pPr eaLnBrk="1" hangingPunct="1">
              <a:buFontTx/>
              <a:buNone/>
            </a:pPr>
            <a:r>
              <a:rPr lang="en-US" altLang="ar-SA" sz="2400" b="1" dirty="0">
                <a:latin typeface="Courier New" panose="02070309020205020404" pitchFamily="49" charset="0"/>
              </a:rPr>
              <a:t>}</a:t>
            </a:r>
          </a:p>
          <a:p>
            <a:pPr eaLnBrk="1" hangingPunct="1">
              <a:buFontTx/>
              <a:buNone/>
            </a:pPr>
            <a:endParaRPr lang="en-US" altLang="ar-SA" sz="2400" b="1" dirty="0">
              <a:latin typeface="Courier New" panose="02070309020205020404" pitchFamily="49" charset="0"/>
            </a:endParaRPr>
          </a:p>
        </p:txBody>
      </p:sp>
      <p:pic>
        <p:nvPicPr>
          <p:cNvPr id="28674" name="Picture 2">
            <a:extLst>
              <a:ext uri="{FF2B5EF4-FFF2-40B4-BE49-F238E27FC236}">
                <a16:creationId xmlns:a16="http://schemas.microsoft.com/office/drawing/2014/main" id="{0BB5CA4F-9D43-432E-B605-C494BB443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91" y="3660250"/>
            <a:ext cx="4493665" cy="1899129"/>
          </a:xfrm>
          <a:prstGeom prst="rect">
            <a:avLst/>
          </a:prstGeom>
          <a:noFill/>
          <a:extLst>
            <a:ext uri="{909E8E84-426E-40DD-AFC4-6F175D3DCCD1}">
              <a14:hiddenFill xmlns:a14="http://schemas.microsoft.com/office/drawing/2010/main">
                <a:solidFill>
                  <a:srgbClr val="FFFFFF"/>
                </a:solidFill>
              </a14:hiddenFill>
            </a:ext>
          </a:extLst>
        </p:spPr>
      </p:pic>
      <p:sp>
        <p:nvSpPr>
          <p:cNvPr id="6" name="Arrow: Right 5">
            <a:extLst>
              <a:ext uri="{FF2B5EF4-FFF2-40B4-BE49-F238E27FC236}">
                <a16:creationId xmlns:a16="http://schemas.microsoft.com/office/drawing/2014/main" id="{BDEDC0C9-E078-45EC-A7C4-3A3294065B27}"/>
              </a:ext>
            </a:extLst>
          </p:cNvPr>
          <p:cNvSpPr/>
          <p:nvPr/>
        </p:nvSpPr>
        <p:spPr>
          <a:xfrm>
            <a:off x="4486821" y="4385257"/>
            <a:ext cx="1013138" cy="768439"/>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6056690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Instance Variables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The data fields length and width in the rectangle class are known as </a:t>
            </a:r>
            <a:r>
              <a:rPr lang="en-US" altLang="en-US" b="1" dirty="0"/>
              <a:t>instance variables.</a:t>
            </a:r>
          </a:p>
          <a:p>
            <a:r>
              <a:rPr lang="en-US" altLang="en-US" dirty="0"/>
              <a:t>An Instance variable is tied to a specific instance of the class; it is not shared among objects of the same class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1" name="Rectangle 10">
            <a:extLst>
              <a:ext uri="{FF2B5EF4-FFF2-40B4-BE49-F238E27FC236}">
                <a16:creationId xmlns:a16="http://schemas.microsoft.com/office/drawing/2014/main" id="{889FACA4-01CD-BF63-5BFB-F003BEC3EB8F}"/>
              </a:ext>
            </a:extLst>
          </p:cNvPr>
          <p:cNvSpPr/>
          <p:nvPr/>
        </p:nvSpPr>
        <p:spPr>
          <a:xfrm>
            <a:off x="5286253" y="3402634"/>
            <a:ext cx="2232248" cy="2857548"/>
          </a:xfrm>
          <a:prstGeom prst="rect">
            <a:avLst/>
          </a:prstGeom>
          <a:solidFill>
            <a:srgbClr val="94B6D2">
              <a:lumMod val="75000"/>
            </a:srgbClr>
          </a:solidFill>
          <a:ln w="19050" cap="flat" cmpd="sng" algn="ctr">
            <a:solidFill>
              <a:srgbClr val="94B6D2">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Class Name: Rectangle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Data Field:</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width</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length</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Methods: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err="1">
                <a:ln>
                  <a:noFill/>
                </a:ln>
                <a:solidFill>
                  <a:prstClr val="white"/>
                </a:solidFill>
                <a:effectLst/>
                <a:uLnTx/>
                <a:uFillTx/>
                <a:latin typeface="+mj-lt"/>
                <a:ea typeface="+mn-ea"/>
                <a:cs typeface="+mn-cs"/>
              </a:rPr>
              <a:t>getArea</a:t>
            </a:r>
            <a:r>
              <a:rPr kumimoji="0" lang="en-US" sz="2000" b="0" i="0" u="none" strike="noStrike" kern="0" cap="none" spc="0" normalizeH="0" baseline="0" noProof="0" dirty="0">
                <a:ln>
                  <a:noFill/>
                </a:ln>
                <a:solidFill>
                  <a:prstClr val="white"/>
                </a:solidFill>
                <a:effectLst/>
                <a:uLnTx/>
                <a:uFillTx/>
                <a:latin typeface="+mj-lt"/>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err="1">
                <a:ln>
                  <a:noFill/>
                </a:ln>
                <a:solidFill>
                  <a:prstClr val="white"/>
                </a:solidFill>
                <a:effectLst/>
                <a:uLnTx/>
                <a:uFillTx/>
                <a:latin typeface="+mj-lt"/>
                <a:ea typeface="+mn-ea"/>
                <a:cs typeface="+mn-cs"/>
              </a:rPr>
              <a:t>getPerimeter</a:t>
            </a:r>
            <a:r>
              <a:rPr kumimoji="0" lang="en-US" sz="2000" b="0" i="0" u="none" strike="noStrike" kern="0" cap="none" spc="0" normalizeH="0" baseline="0" noProof="0" dirty="0">
                <a:ln>
                  <a:noFill/>
                </a:ln>
                <a:solidFill>
                  <a:prstClr val="white"/>
                </a:solidFill>
                <a:effectLst/>
                <a:uLnTx/>
                <a:uFillTx/>
                <a:latin typeface="+mj-lt"/>
                <a:ea typeface="+mn-ea"/>
                <a:cs typeface="+mn-cs"/>
              </a:rPr>
              <a:t>()</a:t>
            </a:r>
          </a:p>
        </p:txBody>
      </p:sp>
      <p:sp>
        <p:nvSpPr>
          <p:cNvPr id="12" name="Rectangle 11">
            <a:extLst>
              <a:ext uri="{FF2B5EF4-FFF2-40B4-BE49-F238E27FC236}">
                <a16:creationId xmlns:a16="http://schemas.microsoft.com/office/drawing/2014/main" id="{E077C2A6-8E7E-E2C6-5B79-7780E50B1269}"/>
              </a:ext>
            </a:extLst>
          </p:cNvPr>
          <p:cNvSpPr/>
          <p:nvPr/>
        </p:nvSpPr>
        <p:spPr>
          <a:xfrm>
            <a:off x="7912885" y="3166517"/>
            <a:ext cx="2358165" cy="1589340"/>
          </a:xfrm>
          <a:prstGeom prst="rect">
            <a:avLst/>
          </a:prstGeom>
          <a:solidFill>
            <a:srgbClr val="94B6D2">
              <a:lumMod val="75000"/>
            </a:srgbClr>
          </a:solidFill>
          <a:ln w="19050" cap="flat" cmpd="sng" algn="ctr">
            <a:solidFill>
              <a:srgbClr val="94B6D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Rectangle object 1</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Data fields: </a:t>
            </a:r>
          </a:p>
          <a:p>
            <a:pPr marL="0" marR="0" lvl="0" indent="0" defTabSz="914400" eaLnBrk="1" fontAlgn="auto" latinLnBrk="0" hangingPunct="1">
              <a:lnSpc>
                <a:spcPct val="100000"/>
              </a:lnSpc>
              <a:spcBef>
                <a:spcPts val="0"/>
              </a:spcBef>
              <a:spcAft>
                <a:spcPts val="0"/>
              </a:spcAft>
              <a:buClrTx/>
              <a:buSzTx/>
              <a:buFontTx/>
              <a:buNone/>
              <a:tabLst/>
              <a:defRPr/>
            </a:pPr>
            <a:r>
              <a:rPr lang="en-US" sz="2000" kern="0" dirty="0">
                <a:solidFill>
                  <a:prstClr val="white"/>
                </a:solidFill>
                <a:latin typeface="+mj-lt"/>
              </a:rPr>
              <a:t>w</a:t>
            </a:r>
            <a:r>
              <a:rPr kumimoji="0" lang="en-US" sz="2000" b="0" i="0" u="none" strike="noStrike" kern="0" cap="none" spc="0" normalizeH="0" baseline="0" noProof="0" dirty="0" err="1">
                <a:ln>
                  <a:noFill/>
                </a:ln>
                <a:solidFill>
                  <a:prstClr val="white"/>
                </a:solidFill>
                <a:effectLst/>
                <a:uLnTx/>
                <a:uFillTx/>
                <a:latin typeface="+mj-lt"/>
                <a:ea typeface="+mn-ea"/>
                <a:cs typeface="+mn-cs"/>
              </a:rPr>
              <a:t>idth</a:t>
            </a:r>
            <a:r>
              <a:rPr kumimoji="0" lang="en-US" sz="2000" b="0" i="0" u="none" strike="noStrike" kern="0" cap="none" spc="0" normalizeH="0" baseline="0" noProof="0" dirty="0">
                <a:ln>
                  <a:noFill/>
                </a:ln>
                <a:solidFill>
                  <a:prstClr val="white"/>
                </a:solidFill>
                <a:effectLst/>
                <a:uLnTx/>
                <a:uFillTx/>
                <a:latin typeface="+mj-lt"/>
                <a:ea typeface="+mn-ea"/>
                <a:cs typeface="+mn-cs"/>
              </a:rPr>
              <a:t> is 10</a:t>
            </a:r>
          </a:p>
          <a:p>
            <a:pPr marL="0" marR="0" lvl="0" indent="0" defTabSz="914400" eaLnBrk="1" fontAlgn="auto" latinLnBrk="0" hangingPunct="1">
              <a:lnSpc>
                <a:spcPct val="100000"/>
              </a:lnSpc>
              <a:spcBef>
                <a:spcPts val="0"/>
              </a:spcBef>
              <a:spcAft>
                <a:spcPts val="0"/>
              </a:spcAft>
              <a:buClrTx/>
              <a:buSzTx/>
              <a:buFontTx/>
              <a:buNone/>
              <a:tabLst/>
              <a:defRPr/>
            </a:pPr>
            <a:r>
              <a:rPr lang="en-US" sz="2000" kern="0" dirty="0">
                <a:solidFill>
                  <a:prstClr val="white"/>
                </a:solidFill>
                <a:latin typeface="+mj-lt"/>
              </a:rPr>
              <a:t>l</a:t>
            </a:r>
            <a:r>
              <a:rPr kumimoji="0" lang="en-US" sz="2000" b="0" i="0" u="none" strike="noStrike" kern="0" cap="none" spc="0" normalizeH="0" baseline="0" noProof="0" dirty="0" err="1">
                <a:ln>
                  <a:noFill/>
                </a:ln>
                <a:solidFill>
                  <a:prstClr val="white"/>
                </a:solidFill>
                <a:effectLst/>
                <a:uLnTx/>
                <a:uFillTx/>
                <a:latin typeface="+mj-lt"/>
                <a:ea typeface="+mn-ea"/>
                <a:cs typeface="+mn-cs"/>
              </a:rPr>
              <a:t>ength</a:t>
            </a:r>
            <a:r>
              <a:rPr kumimoji="0" lang="en-US" sz="2000" b="0" i="0" u="none" strike="noStrike" kern="0" cap="none" spc="0" normalizeH="0" baseline="0" noProof="0" dirty="0">
                <a:ln>
                  <a:noFill/>
                </a:ln>
                <a:solidFill>
                  <a:prstClr val="white"/>
                </a:solidFill>
                <a:effectLst/>
                <a:uLnTx/>
                <a:uFillTx/>
                <a:latin typeface="+mj-lt"/>
                <a:ea typeface="+mn-ea"/>
                <a:cs typeface="+mn-cs"/>
              </a:rPr>
              <a:t> is 7</a:t>
            </a:r>
          </a:p>
        </p:txBody>
      </p:sp>
      <p:sp>
        <p:nvSpPr>
          <p:cNvPr id="13" name="Rectangle 12">
            <a:extLst>
              <a:ext uri="{FF2B5EF4-FFF2-40B4-BE49-F238E27FC236}">
                <a16:creationId xmlns:a16="http://schemas.microsoft.com/office/drawing/2014/main" id="{248A9E8B-CB9E-A65F-2AB8-F915F9B2458C}"/>
              </a:ext>
            </a:extLst>
          </p:cNvPr>
          <p:cNvSpPr/>
          <p:nvPr/>
        </p:nvSpPr>
        <p:spPr>
          <a:xfrm>
            <a:off x="7912886" y="4867397"/>
            <a:ext cx="2358164" cy="1392785"/>
          </a:xfrm>
          <a:prstGeom prst="rect">
            <a:avLst/>
          </a:prstGeom>
          <a:solidFill>
            <a:srgbClr val="94B6D2">
              <a:lumMod val="75000"/>
            </a:srgbClr>
          </a:solidFill>
          <a:ln w="19050" cap="flat" cmpd="sng" algn="ctr">
            <a:solidFill>
              <a:srgbClr val="94B6D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Rectangle object 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Data fields: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width is 15</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mj-lt"/>
                <a:ea typeface="+mn-ea"/>
                <a:cs typeface="+mn-cs"/>
              </a:rPr>
              <a:t>Length is 10</a:t>
            </a:r>
          </a:p>
        </p:txBody>
      </p:sp>
    </p:spTree>
    <p:extLst>
      <p:ext uri="{BB962C8B-B14F-4D97-AF65-F5344CB8AC3E}">
        <p14:creationId xmlns:p14="http://schemas.microsoft.com/office/powerpoint/2010/main" val="4092528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Writing a Class, Step by Step</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The </a:t>
            </a:r>
            <a:r>
              <a:rPr lang="en-US" altLang="en-US" b="1" dirty="0"/>
              <a:t>Rectangle</a:t>
            </a:r>
            <a:r>
              <a:rPr lang="en-US" altLang="en-US" dirty="0"/>
              <a:t> class will also have the following methods:</a:t>
            </a:r>
          </a:p>
          <a:p>
            <a:pPr lvl="1"/>
            <a:r>
              <a:rPr lang="en-US" altLang="en-US" b="1" dirty="0"/>
              <a:t>getArea()</a:t>
            </a:r>
            <a:r>
              <a:rPr lang="en-US" altLang="en-US" dirty="0"/>
              <a:t> will </a:t>
            </a:r>
            <a:r>
              <a:rPr lang="en-US" altLang="en-US" b="1" dirty="0"/>
              <a:t>return the area of the rectangle</a:t>
            </a:r>
            <a:r>
              <a:rPr lang="en-US" altLang="en-US" dirty="0"/>
              <a:t>, which is the result of the object’s </a:t>
            </a:r>
            <a:r>
              <a:rPr lang="en-US" altLang="en-US" b="1" dirty="0"/>
              <a:t>length</a:t>
            </a:r>
            <a:r>
              <a:rPr lang="en-US" altLang="en-US" dirty="0"/>
              <a:t> multiplied by its </a:t>
            </a:r>
            <a:r>
              <a:rPr lang="en-US" altLang="en-US" b="1" dirty="0"/>
              <a:t>width</a:t>
            </a:r>
            <a:r>
              <a:rPr lang="en-US" altLang="en-US" dirty="0"/>
              <a:t>.</a:t>
            </a:r>
          </a:p>
          <a:p>
            <a:pPr lvl="1"/>
            <a:r>
              <a:rPr lang="en-US" altLang="en-US" b="1" dirty="0">
                <a:latin typeface="+mj-lt"/>
              </a:rPr>
              <a:t>getPerimeter() </a:t>
            </a:r>
            <a:r>
              <a:rPr lang="en-US" altLang="ar-SA" dirty="0">
                <a:latin typeface="+mj-lt"/>
              </a:rPr>
              <a:t>will return the </a:t>
            </a:r>
            <a:r>
              <a:rPr lang="en-US" dirty="0">
                <a:latin typeface="+mj-lt"/>
                <a:cs typeface="Courier New" panose="02070309020205020404" pitchFamily="49" charset="0"/>
              </a:rPr>
              <a:t>Perimeter</a:t>
            </a:r>
            <a:r>
              <a:rPr lang="en-US" altLang="ar-SA" dirty="0">
                <a:latin typeface="+mj-lt"/>
              </a:rPr>
              <a:t> of the rectangle, which is the result of the object’s </a:t>
            </a:r>
            <a:r>
              <a:rPr lang="en-US" altLang="ar-SA" b="1" dirty="0">
                <a:latin typeface="+mj-lt"/>
              </a:rPr>
              <a:t>2*length +2 *width.</a:t>
            </a:r>
            <a:endParaRPr lang="en-US" altLang="en-US" b="1" dirty="0">
              <a:latin typeface="+mj-lt"/>
            </a:endParaRPr>
          </a:p>
          <a:p>
            <a:pPr lvl="1"/>
            <a:endParaRPr lang="en-US" altLang="en-US" dirty="0"/>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83511468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Writing a Class, Step by Step , cont..</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The </a:t>
            </a:r>
            <a:r>
              <a:rPr lang="en-US" altLang="en-US" b="1" dirty="0"/>
              <a:t>Rectangle</a:t>
            </a:r>
            <a:r>
              <a:rPr lang="en-US" altLang="en-US" dirty="0"/>
              <a:t> class will also have the following methods:</a:t>
            </a:r>
            <a:endParaRPr lang="en-US" altLang="en-US" b="1" dirty="0"/>
          </a:p>
          <a:p>
            <a:pPr lvl="1"/>
            <a:r>
              <a:rPr lang="en-US" altLang="en-US" b="1" dirty="0"/>
              <a:t>printDetails(String </a:t>
            </a:r>
            <a:r>
              <a:rPr lang="en-US" altLang="en-US" b="1" dirty="0" err="1"/>
              <a:t>shapeName</a:t>
            </a:r>
            <a:r>
              <a:rPr lang="en-US" altLang="en-US" b="1" dirty="0"/>
              <a:t>) </a:t>
            </a:r>
            <a:r>
              <a:rPr lang="en-US" altLang="en-US" dirty="0"/>
              <a:t>will print the details of the rectangle such as length , width , area and shape name.</a:t>
            </a:r>
          </a:p>
          <a:p>
            <a:pPr lvl="1"/>
            <a:r>
              <a:rPr lang="en-US" altLang="en-US" b="1" dirty="0"/>
              <a:t>isSquare() </a:t>
            </a:r>
            <a:r>
              <a:rPr lang="en-US" altLang="en-US" dirty="0"/>
              <a:t>will check </a:t>
            </a:r>
            <a:r>
              <a:rPr lang="en-US" altLang="en-US" dirty="0" err="1"/>
              <a:t>wether</a:t>
            </a:r>
            <a:r>
              <a:rPr lang="en-US" altLang="en-US" dirty="0"/>
              <a:t> the rectangle is a square or not </a:t>
            </a:r>
          </a:p>
          <a:p>
            <a:pPr lvl="1"/>
            <a:endParaRPr lang="en-US" altLang="en-US" dirty="0"/>
          </a:p>
          <a:p>
            <a:endParaRPr lang="en-US" altLang="en-US" dirty="0"/>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92158189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Instance Methods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Method Declarations:</a:t>
            </a:r>
          </a:p>
          <a:p>
            <a:pPr lvl="1"/>
            <a:r>
              <a:rPr lang="en-US" altLang="en-US" dirty="0"/>
              <a:t>A method is a collection of statements that are grouped together to perform an operation.</a:t>
            </a:r>
          </a:p>
          <a:p>
            <a:pPr marL="360000" lvl="1" indent="0">
              <a:buNone/>
            </a:pPr>
            <a:endParaRPr lang="en-US" altLang="en-US" dirty="0"/>
          </a:p>
          <a:p>
            <a:pPr lvl="1"/>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12">
            <a:extLst>
              <a:ext uri="{FF2B5EF4-FFF2-40B4-BE49-F238E27FC236}">
                <a16:creationId xmlns:a16="http://schemas.microsoft.com/office/drawing/2014/main" id="{64BD7660-34F8-AEA7-54FF-844006E05AC8}"/>
              </a:ext>
            </a:extLst>
          </p:cNvPr>
          <p:cNvGraphicFramePr>
            <a:graphicFrameLocks noChangeAspect="1"/>
          </p:cNvGraphicFramePr>
          <p:nvPr>
            <p:extLst>
              <p:ext uri="{D42A27DB-BD31-4B8C-83A1-F6EECF244321}">
                <p14:modId xmlns:p14="http://schemas.microsoft.com/office/powerpoint/2010/main" val="2784557180"/>
              </p:ext>
            </p:extLst>
          </p:nvPr>
        </p:nvGraphicFramePr>
        <p:xfrm>
          <a:off x="1329217" y="2706933"/>
          <a:ext cx="8642350" cy="3444875"/>
        </p:xfrm>
        <a:graphic>
          <a:graphicData uri="http://schemas.openxmlformats.org/presentationml/2006/ole">
            <mc:AlternateContent xmlns:mc="http://schemas.openxmlformats.org/markup-compatibility/2006">
              <mc:Choice xmlns:v="urn:schemas-microsoft-com:vml" Requires="v">
                <p:oleObj name="Picture" r:id="rId2" imgW="4971960" imgH="1981080" progId="Word.Picture.8">
                  <p:embed/>
                </p:oleObj>
              </mc:Choice>
              <mc:Fallback>
                <p:oleObj name="Picture" r:id="rId2" imgW="4971960" imgH="1981080" progId="Word.Picture.8">
                  <p:embed/>
                  <p:pic>
                    <p:nvPicPr>
                      <p:cNvPr id="2" name="Object 12">
                        <a:extLst>
                          <a:ext uri="{FF2B5EF4-FFF2-40B4-BE49-F238E27FC236}">
                            <a16:creationId xmlns:a16="http://schemas.microsoft.com/office/drawing/2014/main" id="{A66204C3-A724-90B9-D781-9ABF74FF0717}"/>
                          </a:ext>
                        </a:extLst>
                      </p:cNvPr>
                      <p:cNvPicPr>
                        <a:picLocks noChangeAspect="1" noChangeArrowheads="1"/>
                      </p:cNvPicPr>
                      <p:nvPr/>
                    </p:nvPicPr>
                    <p:blipFill>
                      <a:blip r:embed="rId3"/>
                      <a:srcRect/>
                      <a:stretch>
                        <a:fillRect/>
                      </a:stretch>
                    </p:blipFill>
                    <p:spPr bwMode="auto">
                      <a:xfrm>
                        <a:off x="1329217" y="2706933"/>
                        <a:ext cx="8642350" cy="34448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7050617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Writing a Class, Step by Step</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Content Placeholder 5" descr="A screenshot of a computer program">
            <a:extLst>
              <a:ext uri="{FF2B5EF4-FFF2-40B4-BE49-F238E27FC236}">
                <a16:creationId xmlns:a16="http://schemas.microsoft.com/office/drawing/2014/main" id="{FCB9B4B9-CF59-7110-B2DB-56B48C241A6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000484" y="1737360"/>
            <a:ext cx="8178460" cy="4614867"/>
          </a:xfrm>
        </p:spPr>
      </p:pic>
      <p:sp>
        <p:nvSpPr>
          <p:cNvPr id="6" name="Rectangle 5">
            <a:extLst>
              <a:ext uri="{FF2B5EF4-FFF2-40B4-BE49-F238E27FC236}">
                <a16:creationId xmlns:a16="http://schemas.microsoft.com/office/drawing/2014/main" id="{586D4B4E-BAE7-A103-FED9-6FA468A775F7}"/>
              </a:ext>
            </a:extLst>
          </p:cNvPr>
          <p:cNvSpPr/>
          <p:nvPr/>
        </p:nvSpPr>
        <p:spPr>
          <a:xfrm>
            <a:off x="6724657" y="2432240"/>
            <a:ext cx="2357454" cy="498663"/>
          </a:xfrm>
          <a:prstGeom prst="rect">
            <a:avLst/>
          </a:prstGeom>
          <a:ln w="19050">
            <a:solidFill>
              <a:srgbClr val="FF0000"/>
            </a:solidFill>
            <a:prstDash val="dash"/>
          </a:ln>
        </p:spPr>
        <p:txBody>
          <a:bodyPr wrap="square">
            <a:spAutoFit/>
          </a:bodyPr>
          <a:lstStyle/>
          <a:p>
            <a:pPr algn="l" rtl="0">
              <a:lnSpc>
                <a:spcPct val="150000"/>
              </a:lnSpc>
            </a:pPr>
            <a:r>
              <a:rPr lang="en-US" sz="2000" b="1" dirty="0">
                <a:latin typeface="Times New Roman" pitchFamily="18" charset="0"/>
                <a:cs typeface="Times New Roman" pitchFamily="18" charset="0"/>
              </a:rPr>
              <a:t>Data Fields</a:t>
            </a:r>
          </a:p>
        </p:txBody>
      </p:sp>
      <p:cxnSp>
        <p:nvCxnSpPr>
          <p:cNvPr id="7" name="Straight Connector 6">
            <a:extLst>
              <a:ext uri="{FF2B5EF4-FFF2-40B4-BE49-F238E27FC236}">
                <a16:creationId xmlns:a16="http://schemas.microsoft.com/office/drawing/2014/main" id="{B8C8F9AE-3018-EE57-F963-D8BBB90806B8}"/>
              </a:ext>
            </a:extLst>
          </p:cNvPr>
          <p:cNvCxnSpPr>
            <a:cxnSpLocks/>
          </p:cNvCxnSpPr>
          <p:nvPr/>
        </p:nvCxnSpPr>
        <p:spPr>
          <a:xfrm>
            <a:off x="4947781" y="2681572"/>
            <a:ext cx="1660301" cy="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9155010-AD08-50F7-6715-C437D070BF5F}"/>
              </a:ext>
            </a:extLst>
          </p:cNvPr>
          <p:cNvSpPr/>
          <p:nvPr/>
        </p:nvSpPr>
        <p:spPr>
          <a:xfrm>
            <a:off x="9378762" y="4300445"/>
            <a:ext cx="2357454" cy="498663"/>
          </a:xfrm>
          <a:prstGeom prst="rect">
            <a:avLst/>
          </a:prstGeom>
          <a:ln w="19050">
            <a:solidFill>
              <a:srgbClr val="FF0000"/>
            </a:solidFill>
            <a:prstDash val="dash"/>
          </a:ln>
        </p:spPr>
        <p:txBody>
          <a:bodyPr wrap="square">
            <a:spAutoFit/>
          </a:bodyPr>
          <a:lstStyle/>
          <a:p>
            <a:pPr algn="l" rtl="0">
              <a:lnSpc>
                <a:spcPct val="150000"/>
              </a:lnSpc>
            </a:pPr>
            <a:r>
              <a:rPr lang="en-US" sz="2000" b="1" dirty="0">
                <a:latin typeface="Times New Roman" pitchFamily="18" charset="0"/>
                <a:cs typeface="Times New Roman" pitchFamily="18" charset="0"/>
              </a:rPr>
              <a:t>Instance Methods</a:t>
            </a:r>
          </a:p>
        </p:txBody>
      </p:sp>
      <p:sp>
        <p:nvSpPr>
          <p:cNvPr id="9" name="Right Brace 8">
            <a:extLst>
              <a:ext uri="{FF2B5EF4-FFF2-40B4-BE49-F238E27FC236}">
                <a16:creationId xmlns:a16="http://schemas.microsoft.com/office/drawing/2014/main" id="{BB9E24F4-A020-5E80-3E1F-53B732327084}"/>
              </a:ext>
            </a:extLst>
          </p:cNvPr>
          <p:cNvSpPr/>
          <p:nvPr/>
        </p:nvSpPr>
        <p:spPr>
          <a:xfrm>
            <a:off x="8699840" y="3188117"/>
            <a:ext cx="551892" cy="2723320"/>
          </a:xfrm>
          <a:prstGeom prst="rightBrace">
            <a:avLst/>
          </a:prstGeom>
          <a:ln>
            <a:solidFill>
              <a:srgbClr val="FF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76726878"/>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Writing a Class, Step by Step</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8" name="Content Placeholder 5" descr="A screenshot of a computer program">
            <a:extLst>
              <a:ext uri="{FF2B5EF4-FFF2-40B4-BE49-F238E27FC236}">
                <a16:creationId xmlns:a16="http://schemas.microsoft.com/office/drawing/2014/main" id="{F36AAB52-0AD0-0955-246F-76054C436D4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977545" y="1737360"/>
            <a:ext cx="8224337" cy="4615200"/>
          </a:xfrm>
        </p:spPr>
      </p:pic>
      <p:sp>
        <p:nvSpPr>
          <p:cNvPr id="9" name="Rectangle 8">
            <a:extLst>
              <a:ext uri="{FF2B5EF4-FFF2-40B4-BE49-F238E27FC236}">
                <a16:creationId xmlns:a16="http://schemas.microsoft.com/office/drawing/2014/main" id="{2EF90550-1493-2689-B229-3691D14528E4}"/>
              </a:ext>
            </a:extLst>
          </p:cNvPr>
          <p:cNvSpPr/>
          <p:nvPr/>
        </p:nvSpPr>
        <p:spPr>
          <a:xfrm>
            <a:off x="9378762" y="3844070"/>
            <a:ext cx="2357454" cy="498663"/>
          </a:xfrm>
          <a:prstGeom prst="rect">
            <a:avLst/>
          </a:prstGeom>
          <a:ln w="19050">
            <a:solidFill>
              <a:srgbClr val="FF0000"/>
            </a:solidFill>
            <a:prstDash val="dash"/>
          </a:ln>
        </p:spPr>
        <p:txBody>
          <a:bodyPr wrap="square">
            <a:spAutoFit/>
          </a:bodyPr>
          <a:lstStyle/>
          <a:p>
            <a:pPr algn="l" rtl="0">
              <a:lnSpc>
                <a:spcPct val="150000"/>
              </a:lnSpc>
            </a:pPr>
            <a:r>
              <a:rPr lang="en-US" sz="2000" b="1" dirty="0">
                <a:latin typeface="Times New Roman" pitchFamily="18" charset="0"/>
                <a:cs typeface="Times New Roman" pitchFamily="18" charset="0"/>
              </a:rPr>
              <a:t>Instance Methods</a:t>
            </a:r>
          </a:p>
        </p:txBody>
      </p:sp>
      <p:sp>
        <p:nvSpPr>
          <p:cNvPr id="10" name="Right Brace 9">
            <a:extLst>
              <a:ext uri="{FF2B5EF4-FFF2-40B4-BE49-F238E27FC236}">
                <a16:creationId xmlns:a16="http://schemas.microsoft.com/office/drawing/2014/main" id="{25CB9328-C667-2F90-6118-8EB3C0228809}"/>
              </a:ext>
            </a:extLst>
          </p:cNvPr>
          <p:cNvSpPr/>
          <p:nvPr/>
        </p:nvSpPr>
        <p:spPr>
          <a:xfrm>
            <a:off x="8699840" y="2275367"/>
            <a:ext cx="551892" cy="3434317"/>
          </a:xfrm>
          <a:prstGeom prst="rightBrace">
            <a:avLst/>
          </a:prstGeom>
          <a:ln>
            <a:solidFill>
              <a:srgbClr val="FF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1945745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Object Instantiation (Creating Object)</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Rectangle 3">
            <a:extLst>
              <a:ext uri="{FF2B5EF4-FFF2-40B4-BE49-F238E27FC236}">
                <a16:creationId xmlns:a16="http://schemas.microsoft.com/office/drawing/2014/main" id="{0BC2B73C-B7D7-1CFD-FC4D-9E054C8D4E57}"/>
              </a:ext>
            </a:extLst>
          </p:cNvPr>
          <p:cNvSpPr txBox="1">
            <a:spLocks noChangeArrowheads="1"/>
          </p:cNvSpPr>
          <p:nvPr/>
        </p:nvSpPr>
        <p:spPr>
          <a:xfrm>
            <a:off x="2938004" y="1864951"/>
            <a:ext cx="6303419" cy="6858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buFontTx/>
              <a:buNone/>
            </a:pPr>
            <a:r>
              <a:rPr lang="en-US" altLang="ar-SA" sz="2400" b="1" dirty="0">
                <a:latin typeface="Courier New" panose="02070309020205020404" pitchFamily="49" charset="0"/>
              </a:rPr>
              <a:t>Rectangle box = </a:t>
            </a:r>
            <a:r>
              <a:rPr lang="en-US" altLang="ar-SA" sz="2400" b="1" dirty="0">
                <a:solidFill>
                  <a:srgbClr val="0070C0"/>
                </a:solidFill>
                <a:latin typeface="Courier New" panose="02070309020205020404" pitchFamily="49" charset="0"/>
              </a:rPr>
              <a:t>new</a:t>
            </a:r>
            <a:r>
              <a:rPr lang="en-US" altLang="ar-SA" sz="2400" b="1" dirty="0">
                <a:latin typeface="Courier New" panose="02070309020205020404" pitchFamily="49" charset="0"/>
              </a:rPr>
              <a:t> Rectangle ();</a:t>
            </a:r>
          </a:p>
        </p:txBody>
      </p:sp>
      <p:sp>
        <p:nvSpPr>
          <p:cNvPr id="8" name="Right Brace 7">
            <a:extLst>
              <a:ext uri="{FF2B5EF4-FFF2-40B4-BE49-F238E27FC236}">
                <a16:creationId xmlns:a16="http://schemas.microsoft.com/office/drawing/2014/main" id="{35CB23C8-C334-31C3-85E6-22F1E57AAA07}"/>
              </a:ext>
            </a:extLst>
          </p:cNvPr>
          <p:cNvSpPr/>
          <p:nvPr/>
        </p:nvSpPr>
        <p:spPr bwMode="auto">
          <a:xfrm rot="5400000">
            <a:off x="7138332" y="1219677"/>
            <a:ext cx="540000" cy="2790434"/>
          </a:xfrm>
          <a:prstGeom prst="rightBrace">
            <a:avLst>
              <a:gd name="adj1" fmla="val 8333"/>
              <a:gd name="adj2" fmla="val 17171"/>
            </a:avLst>
          </a:prstGeom>
          <a:noFill/>
          <a:ln w="12700" cap="flat" cmpd="sng" algn="ctr">
            <a:solidFill>
              <a:srgbClr val="B240FF"/>
            </a:solidFill>
            <a:prstDash val="solid"/>
            <a:round/>
            <a:headEnd type="none" w="sm" len="sm"/>
            <a:tailEnd type="none" w="sm" len="sm"/>
          </a:ln>
          <a:effectLst/>
        </p:spPr>
        <p:txBody>
          <a:bodyPr vert="horz" wrap="square" lIns="91440" tIns="45720" rIns="91440" bIns="45720" numCol="1" rtlCol="1" anchor="t" anchorCtr="0" compatLnSpc="1">
            <a:prstTxWarp prst="textNoShape">
              <a:avLst/>
            </a:prstTxWarp>
          </a:bodyPr>
          <a:lstStyle/>
          <a:p>
            <a:pPr eaLnBrk="0" fontAlgn="base" hangingPunct="0">
              <a:spcBef>
                <a:spcPct val="0"/>
              </a:spcBef>
              <a:spcAft>
                <a:spcPct val="0"/>
              </a:spcAft>
            </a:pPr>
            <a:endParaRPr lang="ar-SA" sz="2400">
              <a:latin typeface="Times New Roman" panose="02020603050405020304" pitchFamily="18" charset="0"/>
            </a:endParaRPr>
          </a:p>
        </p:txBody>
      </p:sp>
      <p:sp>
        <p:nvSpPr>
          <p:cNvPr id="9" name="Right Brace 8">
            <a:extLst>
              <a:ext uri="{FF2B5EF4-FFF2-40B4-BE49-F238E27FC236}">
                <a16:creationId xmlns:a16="http://schemas.microsoft.com/office/drawing/2014/main" id="{03BAB074-6E46-446C-FC99-606402D4D367}"/>
              </a:ext>
            </a:extLst>
          </p:cNvPr>
          <p:cNvSpPr/>
          <p:nvPr/>
        </p:nvSpPr>
        <p:spPr bwMode="auto">
          <a:xfrm rot="5400000">
            <a:off x="4941390" y="2245915"/>
            <a:ext cx="540116" cy="727586"/>
          </a:xfrm>
          <a:prstGeom prst="rightBrace">
            <a:avLst>
              <a:gd name="adj1" fmla="val 8333"/>
              <a:gd name="adj2" fmla="val 50345"/>
            </a:avLst>
          </a:prstGeom>
          <a:noFill/>
          <a:ln w="12700" cap="flat" cmpd="sng" algn="ctr">
            <a:solidFill>
              <a:srgbClr val="0070C0"/>
            </a:solidFill>
            <a:prstDash val="solid"/>
            <a:round/>
            <a:headEnd type="none" w="sm" len="sm"/>
            <a:tailEnd type="none" w="sm" len="sm"/>
          </a:ln>
          <a:effectLst/>
        </p:spPr>
        <p:txBody>
          <a:bodyPr vert="horz" wrap="square" lIns="91440" tIns="45720" rIns="91440" bIns="45720" numCol="1" rtlCol="1" anchor="t" anchorCtr="0" compatLnSpc="1">
            <a:prstTxWarp prst="textNoShape">
              <a:avLst/>
            </a:prstTxWarp>
          </a:bodyPr>
          <a:lstStyle/>
          <a:p>
            <a:pPr eaLnBrk="0" fontAlgn="base" hangingPunct="0">
              <a:spcBef>
                <a:spcPct val="0"/>
              </a:spcBef>
              <a:spcAft>
                <a:spcPct val="0"/>
              </a:spcAft>
            </a:pPr>
            <a:endParaRPr lang="ar-SA" sz="2400">
              <a:ln>
                <a:solidFill>
                  <a:srgbClr val="0070C0"/>
                </a:solidFill>
              </a:ln>
              <a:latin typeface="Times New Roman" panose="02020603050405020304" pitchFamily="18" charset="0"/>
            </a:endParaRPr>
          </a:p>
        </p:txBody>
      </p:sp>
      <p:sp>
        <p:nvSpPr>
          <p:cNvPr id="10" name="Right Brace 9">
            <a:extLst>
              <a:ext uri="{FF2B5EF4-FFF2-40B4-BE49-F238E27FC236}">
                <a16:creationId xmlns:a16="http://schemas.microsoft.com/office/drawing/2014/main" id="{16A7440C-0460-7A84-CEC7-8835C2E936E9}"/>
              </a:ext>
            </a:extLst>
          </p:cNvPr>
          <p:cNvSpPr/>
          <p:nvPr/>
        </p:nvSpPr>
        <p:spPr bwMode="auto">
          <a:xfrm rot="5400000">
            <a:off x="3622771" y="1759827"/>
            <a:ext cx="540116" cy="1699765"/>
          </a:xfrm>
          <a:prstGeom prst="rightBrace">
            <a:avLst>
              <a:gd name="adj1" fmla="val 8333"/>
              <a:gd name="adj2" fmla="val 78663"/>
            </a:avLst>
          </a:prstGeom>
          <a:noFill/>
          <a:ln w="12700" cap="flat" cmpd="sng" algn="ctr">
            <a:solidFill>
              <a:srgbClr val="FF0000"/>
            </a:solidFill>
            <a:prstDash val="solid"/>
            <a:round/>
            <a:headEnd type="none" w="sm" len="sm"/>
            <a:tailEnd type="none" w="sm" len="sm"/>
          </a:ln>
          <a:effectLst/>
        </p:spPr>
        <p:txBody>
          <a:bodyPr vert="horz" wrap="square" lIns="91440" tIns="45720" rIns="91440" bIns="45720" numCol="1" rtlCol="1" anchor="t" anchorCtr="0" compatLnSpc="1">
            <a:prstTxWarp prst="textNoShape">
              <a:avLst/>
            </a:prstTxWarp>
          </a:bodyPr>
          <a:lstStyle/>
          <a:p>
            <a:pPr eaLnBrk="0" fontAlgn="base" hangingPunct="0">
              <a:spcBef>
                <a:spcPct val="0"/>
              </a:spcBef>
              <a:spcAft>
                <a:spcPct val="0"/>
              </a:spcAft>
            </a:pPr>
            <a:endParaRPr lang="ar-SA" sz="2400">
              <a:latin typeface="Times New Roman" panose="02020603050405020304" pitchFamily="18" charset="0"/>
            </a:endParaRPr>
          </a:p>
        </p:txBody>
      </p:sp>
      <p:sp>
        <p:nvSpPr>
          <p:cNvPr id="11" name="Text Box 17">
            <a:extLst>
              <a:ext uri="{FF2B5EF4-FFF2-40B4-BE49-F238E27FC236}">
                <a16:creationId xmlns:a16="http://schemas.microsoft.com/office/drawing/2014/main" id="{DDA3D841-9D5A-B0DC-BF51-73ACF359E71B}"/>
              </a:ext>
            </a:extLst>
          </p:cNvPr>
          <p:cNvSpPr txBox="1">
            <a:spLocks noChangeArrowheads="1"/>
          </p:cNvSpPr>
          <p:nvPr/>
        </p:nvSpPr>
        <p:spPr bwMode="auto">
          <a:xfrm>
            <a:off x="7561133" y="2879767"/>
            <a:ext cx="263549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b="1" i="0" dirty="0">
                <a:solidFill>
                  <a:srgbClr val="D9A0FF"/>
                </a:solidFill>
                <a:latin typeface="+mj-lt"/>
              </a:rPr>
              <a:t>Rectangle</a:t>
            </a:r>
            <a:r>
              <a:rPr lang="en-US" altLang="ar-SA" i="0" dirty="0">
                <a:solidFill>
                  <a:srgbClr val="D9A0FF"/>
                </a:solidFill>
                <a:latin typeface="+mj-lt"/>
              </a:rPr>
              <a:t> object</a:t>
            </a:r>
          </a:p>
        </p:txBody>
      </p:sp>
      <p:sp>
        <p:nvSpPr>
          <p:cNvPr id="12" name="Text Box 17">
            <a:extLst>
              <a:ext uri="{FF2B5EF4-FFF2-40B4-BE49-F238E27FC236}">
                <a16:creationId xmlns:a16="http://schemas.microsoft.com/office/drawing/2014/main" id="{3A7BE04A-82FD-5C16-9AA2-EBF1FDD37C60}"/>
              </a:ext>
            </a:extLst>
          </p:cNvPr>
          <p:cNvSpPr txBox="1">
            <a:spLocks noChangeArrowheads="1"/>
          </p:cNvSpPr>
          <p:nvPr/>
        </p:nvSpPr>
        <p:spPr bwMode="auto">
          <a:xfrm>
            <a:off x="4231477" y="2879767"/>
            <a:ext cx="32663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b="1" i="0" dirty="0">
                <a:solidFill>
                  <a:srgbClr val="0070C0"/>
                </a:solidFill>
                <a:latin typeface="+mj-lt"/>
              </a:rPr>
              <a:t>box</a:t>
            </a:r>
            <a:r>
              <a:rPr lang="en-US" altLang="ar-SA" i="0" dirty="0">
                <a:solidFill>
                  <a:srgbClr val="0070C0"/>
                </a:solidFill>
                <a:latin typeface="+mj-lt"/>
              </a:rPr>
              <a:t> reference variable</a:t>
            </a:r>
          </a:p>
        </p:txBody>
      </p:sp>
      <p:sp>
        <p:nvSpPr>
          <p:cNvPr id="13" name="Text Box 17">
            <a:extLst>
              <a:ext uri="{FF2B5EF4-FFF2-40B4-BE49-F238E27FC236}">
                <a16:creationId xmlns:a16="http://schemas.microsoft.com/office/drawing/2014/main" id="{1BD492DA-DAC0-5481-35FD-218D28F445A7}"/>
              </a:ext>
            </a:extLst>
          </p:cNvPr>
          <p:cNvSpPr txBox="1">
            <a:spLocks noChangeArrowheads="1"/>
          </p:cNvSpPr>
          <p:nvPr/>
        </p:nvSpPr>
        <p:spPr bwMode="auto">
          <a:xfrm>
            <a:off x="2377479" y="2879767"/>
            <a:ext cx="192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b="1" i="0" dirty="0">
                <a:solidFill>
                  <a:srgbClr val="FF8080"/>
                </a:solidFill>
                <a:latin typeface="+mj-lt"/>
              </a:rPr>
              <a:t>class</a:t>
            </a:r>
            <a:r>
              <a:rPr lang="en-US" altLang="ar-SA" i="0" dirty="0">
                <a:solidFill>
                  <a:srgbClr val="FF8080"/>
                </a:solidFill>
                <a:latin typeface="+mj-lt"/>
              </a:rPr>
              <a:t> name</a:t>
            </a:r>
          </a:p>
        </p:txBody>
      </p:sp>
      <p:sp>
        <p:nvSpPr>
          <p:cNvPr id="14" name="Text Box 16">
            <a:extLst>
              <a:ext uri="{FF2B5EF4-FFF2-40B4-BE49-F238E27FC236}">
                <a16:creationId xmlns:a16="http://schemas.microsoft.com/office/drawing/2014/main" id="{30BD69D1-8D21-0FB4-C73B-CB35EF63351C}"/>
              </a:ext>
            </a:extLst>
          </p:cNvPr>
          <p:cNvSpPr txBox="1">
            <a:spLocks noChangeArrowheads="1"/>
          </p:cNvSpPr>
          <p:nvPr/>
        </p:nvSpPr>
        <p:spPr bwMode="auto">
          <a:xfrm>
            <a:off x="577219" y="4149080"/>
            <a:ext cx="2918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i="0" dirty="0">
                <a:latin typeface="+mj-lt"/>
              </a:rPr>
              <a:t>The </a:t>
            </a:r>
            <a:r>
              <a:rPr lang="en-US" altLang="ar-SA" b="1" i="0" dirty="0">
                <a:solidFill>
                  <a:srgbClr val="0070C0"/>
                </a:solidFill>
                <a:latin typeface="+mj-lt"/>
              </a:rPr>
              <a:t>box</a:t>
            </a:r>
            <a:r>
              <a:rPr lang="en-US" altLang="ar-SA" i="0" dirty="0">
                <a:latin typeface="+mj-lt"/>
              </a:rPr>
              <a:t> variable holds the address (Reference) of the Rectangle object.</a:t>
            </a:r>
          </a:p>
        </p:txBody>
      </p:sp>
      <p:sp>
        <p:nvSpPr>
          <p:cNvPr id="15" name="Text Box 7">
            <a:extLst>
              <a:ext uri="{FF2B5EF4-FFF2-40B4-BE49-F238E27FC236}">
                <a16:creationId xmlns:a16="http://schemas.microsoft.com/office/drawing/2014/main" id="{005B116A-BF22-B622-7D81-87D412234EBE}"/>
              </a:ext>
            </a:extLst>
          </p:cNvPr>
          <p:cNvSpPr txBox="1">
            <a:spLocks noChangeArrowheads="1"/>
          </p:cNvSpPr>
          <p:nvPr/>
        </p:nvSpPr>
        <p:spPr bwMode="auto">
          <a:xfrm>
            <a:off x="3827721" y="4427240"/>
            <a:ext cx="1296362" cy="430887"/>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ar-SA" sz="2200" i="0" dirty="0">
                <a:solidFill>
                  <a:srgbClr val="FF3300"/>
                </a:solidFill>
                <a:latin typeface="+mj-lt"/>
              </a:rPr>
              <a:t>address</a:t>
            </a:r>
          </a:p>
        </p:txBody>
      </p:sp>
      <p:sp>
        <p:nvSpPr>
          <p:cNvPr id="16" name="Rectangle 14">
            <a:extLst>
              <a:ext uri="{FF2B5EF4-FFF2-40B4-BE49-F238E27FC236}">
                <a16:creationId xmlns:a16="http://schemas.microsoft.com/office/drawing/2014/main" id="{E5A30C9C-99AB-B08E-FA4D-C89B93BB850F}"/>
              </a:ext>
            </a:extLst>
          </p:cNvPr>
          <p:cNvSpPr>
            <a:spLocks noChangeArrowheads="1"/>
          </p:cNvSpPr>
          <p:nvPr/>
        </p:nvSpPr>
        <p:spPr bwMode="auto">
          <a:xfrm>
            <a:off x="6809517" y="3940651"/>
            <a:ext cx="2506300" cy="13716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endParaRPr lang="ar-SA" altLang="ar-SA" sz="2200">
              <a:latin typeface="+mj-lt"/>
            </a:endParaRPr>
          </a:p>
        </p:txBody>
      </p:sp>
      <p:sp>
        <p:nvSpPr>
          <p:cNvPr id="17" name="Line 15">
            <a:extLst>
              <a:ext uri="{FF2B5EF4-FFF2-40B4-BE49-F238E27FC236}">
                <a16:creationId xmlns:a16="http://schemas.microsoft.com/office/drawing/2014/main" id="{12946796-C30F-5666-077B-5F6AAE0F611B}"/>
              </a:ext>
            </a:extLst>
          </p:cNvPr>
          <p:cNvSpPr>
            <a:spLocks noChangeShapeType="1"/>
          </p:cNvSpPr>
          <p:nvPr/>
        </p:nvSpPr>
        <p:spPr bwMode="auto">
          <a:xfrm>
            <a:off x="5181432" y="4646646"/>
            <a:ext cx="1628085" cy="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ar-SA" sz="2400">
              <a:latin typeface="+mj-lt"/>
            </a:endParaRPr>
          </a:p>
        </p:txBody>
      </p:sp>
      <p:sp>
        <p:nvSpPr>
          <p:cNvPr id="18" name="Text Box 8">
            <a:extLst>
              <a:ext uri="{FF2B5EF4-FFF2-40B4-BE49-F238E27FC236}">
                <a16:creationId xmlns:a16="http://schemas.microsoft.com/office/drawing/2014/main" id="{902FF935-391D-93E3-8BF9-6F9B876033AC}"/>
              </a:ext>
            </a:extLst>
          </p:cNvPr>
          <p:cNvSpPr txBox="1">
            <a:spLocks noChangeArrowheads="1"/>
          </p:cNvSpPr>
          <p:nvPr/>
        </p:nvSpPr>
        <p:spPr bwMode="auto">
          <a:xfrm>
            <a:off x="8219196" y="4037047"/>
            <a:ext cx="584354" cy="430887"/>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sz="2200" i="0">
                <a:solidFill>
                  <a:srgbClr val="FF3300"/>
                </a:solidFill>
                <a:latin typeface="+mj-lt"/>
              </a:rPr>
              <a:t>0.0</a:t>
            </a:r>
          </a:p>
        </p:txBody>
      </p:sp>
      <p:sp>
        <p:nvSpPr>
          <p:cNvPr id="19" name="Text Box 9">
            <a:extLst>
              <a:ext uri="{FF2B5EF4-FFF2-40B4-BE49-F238E27FC236}">
                <a16:creationId xmlns:a16="http://schemas.microsoft.com/office/drawing/2014/main" id="{BC63A16B-53FB-22F4-9A12-AEEAF9FC7980}"/>
              </a:ext>
            </a:extLst>
          </p:cNvPr>
          <p:cNvSpPr txBox="1">
            <a:spLocks noChangeArrowheads="1"/>
          </p:cNvSpPr>
          <p:nvPr/>
        </p:nvSpPr>
        <p:spPr bwMode="auto">
          <a:xfrm>
            <a:off x="8219196" y="4646647"/>
            <a:ext cx="584354" cy="430887"/>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sz="2200" i="0">
                <a:solidFill>
                  <a:srgbClr val="FF3300"/>
                </a:solidFill>
                <a:latin typeface="+mj-lt"/>
              </a:rPr>
              <a:t>0.0</a:t>
            </a:r>
          </a:p>
        </p:txBody>
      </p:sp>
      <p:sp>
        <p:nvSpPr>
          <p:cNvPr id="20" name="Text Box 10">
            <a:extLst>
              <a:ext uri="{FF2B5EF4-FFF2-40B4-BE49-F238E27FC236}">
                <a16:creationId xmlns:a16="http://schemas.microsoft.com/office/drawing/2014/main" id="{31AD41F4-E130-CD19-5F24-69C213A0063C}"/>
              </a:ext>
            </a:extLst>
          </p:cNvPr>
          <p:cNvSpPr txBox="1">
            <a:spLocks noChangeArrowheads="1"/>
          </p:cNvSpPr>
          <p:nvPr/>
        </p:nvSpPr>
        <p:spPr bwMode="auto">
          <a:xfrm>
            <a:off x="6938650" y="4037046"/>
            <a:ext cx="129636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r" eaLnBrk="1" hangingPunct="1">
              <a:spcBef>
                <a:spcPct val="50000"/>
              </a:spcBef>
            </a:pPr>
            <a:r>
              <a:rPr lang="en-US" altLang="ar-SA" sz="2200" i="0">
                <a:solidFill>
                  <a:srgbClr val="FF3300"/>
                </a:solidFill>
                <a:latin typeface="+mj-lt"/>
              </a:rPr>
              <a:t>length:</a:t>
            </a:r>
          </a:p>
        </p:txBody>
      </p:sp>
      <p:sp>
        <p:nvSpPr>
          <p:cNvPr id="21" name="Text Box 12">
            <a:extLst>
              <a:ext uri="{FF2B5EF4-FFF2-40B4-BE49-F238E27FC236}">
                <a16:creationId xmlns:a16="http://schemas.microsoft.com/office/drawing/2014/main" id="{D3934687-52C9-8D81-A590-415174220877}"/>
              </a:ext>
            </a:extLst>
          </p:cNvPr>
          <p:cNvSpPr txBox="1">
            <a:spLocks noChangeArrowheads="1"/>
          </p:cNvSpPr>
          <p:nvPr/>
        </p:nvSpPr>
        <p:spPr bwMode="auto">
          <a:xfrm>
            <a:off x="6938650" y="4646646"/>
            <a:ext cx="129636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r" eaLnBrk="1" hangingPunct="1">
              <a:spcBef>
                <a:spcPct val="50000"/>
              </a:spcBef>
            </a:pPr>
            <a:r>
              <a:rPr lang="en-US" altLang="ar-SA" sz="2200" i="0">
                <a:solidFill>
                  <a:srgbClr val="FF3300"/>
                </a:solidFill>
                <a:latin typeface="+mj-lt"/>
              </a:rPr>
              <a:t>width:</a:t>
            </a:r>
          </a:p>
        </p:txBody>
      </p:sp>
      <p:sp>
        <p:nvSpPr>
          <p:cNvPr id="22" name="Text Box 7">
            <a:extLst>
              <a:ext uri="{FF2B5EF4-FFF2-40B4-BE49-F238E27FC236}">
                <a16:creationId xmlns:a16="http://schemas.microsoft.com/office/drawing/2014/main" id="{52696853-F105-3EE5-774E-FE4A2C987154}"/>
              </a:ext>
            </a:extLst>
          </p:cNvPr>
          <p:cNvSpPr txBox="1">
            <a:spLocks noChangeArrowheads="1"/>
          </p:cNvSpPr>
          <p:nvPr/>
        </p:nvSpPr>
        <p:spPr bwMode="auto">
          <a:xfrm>
            <a:off x="3829555" y="4848464"/>
            <a:ext cx="1296362" cy="43088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ar-SA" sz="2200" i="0" dirty="0">
                <a:solidFill>
                  <a:srgbClr val="0070C0"/>
                </a:solidFill>
                <a:latin typeface="+mj-lt"/>
              </a:rPr>
              <a:t>box</a:t>
            </a:r>
          </a:p>
        </p:txBody>
      </p:sp>
    </p:spTree>
    <p:extLst>
      <p:ext uri="{BB962C8B-B14F-4D97-AF65-F5344CB8AC3E}">
        <p14:creationId xmlns:p14="http://schemas.microsoft.com/office/powerpoint/2010/main" val="208602661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Method Invocation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5">
            <a:extLst>
              <a:ext uri="{FF2B5EF4-FFF2-40B4-BE49-F238E27FC236}">
                <a16:creationId xmlns:a16="http://schemas.microsoft.com/office/drawing/2014/main" id="{8DB822A3-9715-0744-A2FC-A8D17ADD80A7}"/>
              </a:ext>
            </a:extLst>
          </p:cNvPr>
          <p:cNvGraphicFramePr>
            <a:graphicFrameLocks noChangeAspect="1"/>
          </p:cNvGraphicFramePr>
          <p:nvPr>
            <p:extLst>
              <p:ext uri="{D42A27DB-BD31-4B8C-83A1-F6EECF244321}">
                <p14:modId xmlns:p14="http://schemas.microsoft.com/office/powerpoint/2010/main" val="3295607522"/>
              </p:ext>
            </p:extLst>
          </p:nvPr>
        </p:nvGraphicFramePr>
        <p:xfrm>
          <a:off x="348791" y="2683890"/>
          <a:ext cx="11724312" cy="3546790"/>
        </p:xfrm>
        <a:graphic>
          <a:graphicData uri="http://schemas.openxmlformats.org/presentationml/2006/ole">
            <mc:AlternateContent xmlns:mc="http://schemas.openxmlformats.org/markup-compatibility/2006">
              <mc:Choice xmlns:v="urn:schemas-microsoft-com:vml" Requires="v">
                <p:oleObj name="Picture" r:id="rId2" imgW="4229280" imgH="1085760" progId="Word.Picture.8">
                  <p:embed/>
                </p:oleObj>
              </mc:Choice>
              <mc:Fallback>
                <p:oleObj name="Picture" r:id="rId2" imgW="4229280" imgH="1085760" progId="Word.Picture.8">
                  <p:embed/>
                  <p:pic>
                    <p:nvPicPr>
                      <p:cNvPr id="26630" name="Object 5">
                        <a:extLst>
                          <a:ext uri="{FF2B5EF4-FFF2-40B4-BE49-F238E27FC236}">
                            <a16:creationId xmlns:a16="http://schemas.microsoft.com/office/drawing/2014/main" id="{1C3D6FC8-554A-E252-F4D4-41C41F9E8154}"/>
                          </a:ext>
                        </a:extLst>
                      </p:cNvPr>
                      <p:cNvPicPr>
                        <a:picLocks noChangeAspect="1" noChangeArrowheads="1"/>
                      </p:cNvPicPr>
                      <p:nvPr/>
                    </p:nvPicPr>
                    <p:blipFill>
                      <a:blip r:embed="rId3"/>
                      <a:srcRect/>
                      <a:stretch>
                        <a:fillRect/>
                      </a:stretch>
                    </p:blipFill>
                    <p:spPr bwMode="auto">
                      <a:xfrm>
                        <a:off x="348791" y="2683890"/>
                        <a:ext cx="11724312" cy="3546790"/>
                      </a:xfrm>
                      <a:prstGeom prst="rect">
                        <a:avLst/>
                      </a:prstGeom>
                      <a:noFill/>
                      <a:ln>
                        <a:noFill/>
                      </a:ln>
                    </p:spPr>
                  </p:pic>
                </p:oleObj>
              </mc:Fallback>
            </mc:AlternateContent>
          </a:graphicData>
        </a:graphic>
      </p:graphicFrame>
      <p:sp>
        <p:nvSpPr>
          <p:cNvPr id="6" name="Rectangle 6">
            <a:extLst>
              <a:ext uri="{FF2B5EF4-FFF2-40B4-BE49-F238E27FC236}">
                <a16:creationId xmlns:a16="http://schemas.microsoft.com/office/drawing/2014/main" id="{9DB0B2E1-C0F2-4825-DD76-1C5BE739921C}"/>
              </a:ext>
            </a:extLst>
          </p:cNvPr>
          <p:cNvSpPr>
            <a:spLocks noChangeArrowheads="1"/>
          </p:cNvSpPr>
          <p:nvPr/>
        </p:nvSpPr>
        <p:spPr bwMode="auto">
          <a:xfrm>
            <a:off x="435935" y="3300228"/>
            <a:ext cx="3859617" cy="325474"/>
          </a:xfrm>
          <a:prstGeom prst="rect">
            <a:avLst/>
          </a:prstGeom>
          <a:solidFill>
            <a:srgbClr val="E8ECF5">
              <a:alpha val="28000"/>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 name="AutoShape 7">
            <a:extLst>
              <a:ext uri="{FF2B5EF4-FFF2-40B4-BE49-F238E27FC236}">
                <a16:creationId xmlns:a16="http://schemas.microsoft.com/office/drawing/2014/main" id="{2C9E0707-4235-F34C-E78A-93168AF20373}"/>
              </a:ext>
            </a:extLst>
          </p:cNvPr>
          <p:cNvSpPr>
            <a:spLocks noChangeArrowheads="1"/>
          </p:cNvSpPr>
          <p:nvPr/>
        </p:nvSpPr>
        <p:spPr bwMode="auto">
          <a:xfrm>
            <a:off x="3927735" y="2161610"/>
            <a:ext cx="3533775" cy="384175"/>
          </a:xfrm>
          <a:prstGeom prst="wedgeRoundRectCallout">
            <a:avLst>
              <a:gd name="adj1" fmla="val -45014"/>
              <a:gd name="adj2" fmla="val 263634"/>
              <a:gd name="adj3" fmla="val 16667"/>
            </a:avLst>
          </a:prstGeom>
          <a:solidFill>
            <a:srgbClr val="ADBADA">
              <a:alpha val="28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latin typeface="+mj-lt"/>
              </a:rPr>
              <a:t>Create an object</a:t>
            </a:r>
          </a:p>
        </p:txBody>
      </p:sp>
    </p:spTree>
    <p:extLst>
      <p:ext uri="{BB962C8B-B14F-4D97-AF65-F5344CB8AC3E}">
        <p14:creationId xmlns:p14="http://schemas.microsoft.com/office/powerpoint/2010/main" val="307306474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Method Invocation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5">
            <a:extLst>
              <a:ext uri="{FF2B5EF4-FFF2-40B4-BE49-F238E27FC236}">
                <a16:creationId xmlns:a16="http://schemas.microsoft.com/office/drawing/2014/main" id="{8DB822A3-9715-0744-A2FC-A8D17ADD80A7}"/>
              </a:ext>
            </a:extLst>
          </p:cNvPr>
          <p:cNvGraphicFramePr>
            <a:graphicFrameLocks noChangeAspect="1"/>
          </p:cNvGraphicFramePr>
          <p:nvPr/>
        </p:nvGraphicFramePr>
        <p:xfrm>
          <a:off x="348791" y="2683890"/>
          <a:ext cx="11724312" cy="3546790"/>
        </p:xfrm>
        <a:graphic>
          <a:graphicData uri="http://schemas.openxmlformats.org/presentationml/2006/ole">
            <mc:AlternateContent xmlns:mc="http://schemas.openxmlformats.org/markup-compatibility/2006">
              <mc:Choice xmlns:v="urn:schemas-microsoft-com:vml" Requires="v">
                <p:oleObj name="Picture" r:id="rId2" imgW="4229280" imgH="1085760" progId="Word.Picture.8">
                  <p:embed/>
                </p:oleObj>
              </mc:Choice>
              <mc:Fallback>
                <p:oleObj name="Picture" r:id="rId2" imgW="4229280" imgH="1085760" progId="Word.Picture.8">
                  <p:embed/>
                  <p:pic>
                    <p:nvPicPr>
                      <p:cNvPr id="5" name="Object 5">
                        <a:extLst>
                          <a:ext uri="{FF2B5EF4-FFF2-40B4-BE49-F238E27FC236}">
                            <a16:creationId xmlns:a16="http://schemas.microsoft.com/office/drawing/2014/main" id="{8DB822A3-9715-0744-A2FC-A8D17ADD80A7}"/>
                          </a:ext>
                        </a:extLst>
                      </p:cNvPr>
                      <p:cNvPicPr>
                        <a:picLocks noChangeAspect="1" noChangeArrowheads="1"/>
                      </p:cNvPicPr>
                      <p:nvPr/>
                    </p:nvPicPr>
                    <p:blipFill>
                      <a:blip r:embed="rId3"/>
                      <a:srcRect/>
                      <a:stretch>
                        <a:fillRect/>
                      </a:stretch>
                    </p:blipFill>
                    <p:spPr bwMode="auto">
                      <a:xfrm>
                        <a:off x="348791" y="2683890"/>
                        <a:ext cx="11724312" cy="3546790"/>
                      </a:xfrm>
                      <a:prstGeom prst="rect">
                        <a:avLst/>
                      </a:prstGeom>
                      <a:noFill/>
                      <a:ln>
                        <a:noFill/>
                      </a:ln>
                    </p:spPr>
                  </p:pic>
                </p:oleObj>
              </mc:Fallback>
            </mc:AlternateContent>
          </a:graphicData>
        </a:graphic>
      </p:graphicFrame>
      <p:sp>
        <p:nvSpPr>
          <p:cNvPr id="6" name="Rectangle 6">
            <a:extLst>
              <a:ext uri="{FF2B5EF4-FFF2-40B4-BE49-F238E27FC236}">
                <a16:creationId xmlns:a16="http://schemas.microsoft.com/office/drawing/2014/main" id="{9DB0B2E1-C0F2-4825-DD76-1C5BE739921C}"/>
              </a:ext>
            </a:extLst>
          </p:cNvPr>
          <p:cNvSpPr>
            <a:spLocks noChangeArrowheads="1"/>
          </p:cNvSpPr>
          <p:nvPr/>
        </p:nvSpPr>
        <p:spPr bwMode="auto">
          <a:xfrm>
            <a:off x="444501" y="3592328"/>
            <a:ext cx="3901852" cy="325474"/>
          </a:xfrm>
          <a:prstGeom prst="rect">
            <a:avLst/>
          </a:prstGeom>
          <a:solidFill>
            <a:srgbClr val="E8ECF5">
              <a:alpha val="28000"/>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 name="AutoShape 7">
            <a:extLst>
              <a:ext uri="{FF2B5EF4-FFF2-40B4-BE49-F238E27FC236}">
                <a16:creationId xmlns:a16="http://schemas.microsoft.com/office/drawing/2014/main" id="{2C9E0707-4235-F34C-E78A-93168AF20373}"/>
              </a:ext>
            </a:extLst>
          </p:cNvPr>
          <p:cNvSpPr>
            <a:spLocks noChangeArrowheads="1"/>
          </p:cNvSpPr>
          <p:nvPr/>
        </p:nvSpPr>
        <p:spPr bwMode="auto">
          <a:xfrm>
            <a:off x="3927735" y="2161610"/>
            <a:ext cx="3533775" cy="384175"/>
          </a:xfrm>
          <a:prstGeom prst="wedgeRoundRectCallout">
            <a:avLst>
              <a:gd name="adj1" fmla="val -38904"/>
              <a:gd name="adj2" fmla="val 346279"/>
              <a:gd name="adj3" fmla="val 16667"/>
            </a:avLst>
          </a:prstGeom>
          <a:solidFill>
            <a:srgbClr val="ADBADA">
              <a:alpha val="28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latin typeface="+mj-lt"/>
              </a:rPr>
              <a:t>width is now 10.0 </a:t>
            </a:r>
          </a:p>
        </p:txBody>
      </p:sp>
    </p:spTree>
    <p:extLst>
      <p:ext uri="{BB962C8B-B14F-4D97-AF65-F5344CB8AC3E}">
        <p14:creationId xmlns:p14="http://schemas.microsoft.com/office/powerpoint/2010/main" val="3135682427"/>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Method Invocation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5">
            <a:extLst>
              <a:ext uri="{FF2B5EF4-FFF2-40B4-BE49-F238E27FC236}">
                <a16:creationId xmlns:a16="http://schemas.microsoft.com/office/drawing/2014/main" id="{8DB822A3-9715-0744-A2FC-A8D17ADD80A7}"/>
              </a:ext>
            </a:extLst>
          </p:cNvPr>
          <p:cNvGraphicFramePr>
            <a:graphicFrameLocks noChangeAspect="1"/>
          </p:cNvGraphicFramePr>
          <p:nvPr/>
        </p:nvGraphicFramePr>
        <p:xfrm>
          <a:off x="348791" y="2683890"/>
          <a:ext cx="11724312" cy="3546790"/>
        </p:xfrm>
        <a:graphic>
          <a:graphicData uri="http://schemas.openxmlformats.org/presentationml/2006/ole">
            <mc:AlternateContent xmlns:mc="http://schemas.openxmlformats.org/markup-compatibility/2006">
              <mc:Choice xmlns:v="urn:schemas-microsoft-com:vml" Requires="v">
                <p:oleObj name="Picture" r:id="rId2" imgW="4229280" imgH="1085760" progId="Word.Picture.8">
                  <p:embed/>
                </p:oleObj>
              </mc:Choice>
              <mc:Fallback>
                <p:oleObj name="Picture" r:id="rId2" imgW="4229280" imgH="1085760" progId="Word.Picture.8">
                  <p:embed/>
                  <p:pic>
                    <p:nvPicPr>
                      <p:cNvPr id="5" name="Object 5">
                        <a:extLst>
                          <a:ext uri="{FF2B5EF4-FFF2-40B4-BE49-F238E27FC236}">
                            <a16:creationId xmlns:a16="http://schemas.microsoft.com/office/drawing/2014/main" id="{8DB822A3-9715-0744-A2FC-A8D17ADD80A7}"/>
                          </a:ext>
                        </a:extLst>
                      </p:cNvPr>
                      <p:cNvPicPr>
                        <a:picLocks noChangeAspect="1" noChangeArrowheads="1"/>
                      </p:cNvPicPr>
                      <p:nvPr/>
                    </p:nvPicPr>
                    <p:blipFill>
                      <a:blip r:embed="rId3"/>
                      <a:srcRect/>
                      <a:stretch>
                        <a:fillRect/>
                      </a:stretch>
                    </p:blipFill>
                    <p:spPr bwMode="auto">
                      <a:xfrm>
                        <a:off x="348791" y="2683890"/>
                        <a:ext cx="11724312" cy="3546790"/>
                      </a:xfrm>
                      <a:prstGeom prst="rect">
                        <a:avLst/>
                      </a:prstGeom>
                      <a:noFill/>
                      <a:ln>
                        <a:noFill/>
                      </a:ln>
                    </p:spPr>
                  </p:pic>
                </p:oleObj>
              </mc:Fallback>
            </mc:AlternateContent>
          </a:graphicData>
        </a:graphic>
      </p:graphicFrame>
      <p:sp>
        <p:nvSpPr>
          <p:cNvPr id="6" name="Rectangle 6">
            <a:extLst>
              <a:ext uri="{FF2B5EF4-FFF2-40B4-BE49-F238E27FC236}">
                <a16:creationId xmlns:a16="http://schemas.microsoft.com/office/drawing/2014/main" id="{9DB0B2E1-C0F2-4825-DD76-1C5BE739921C}"/>
              </a:ext>
            </a:extLst>
          </p:cNvPr>
          <p:cNvSpPr>
            <a:spLocks noChangeArrowheads="1"/>
          </p:cNvSpPr>
          <p:nvPr/>
        </p:nvSpPr>
        <p:spPr bwMode="auto">
          <a:xfrm>
            <a:off x="444501" y="3909828"/>
            <a:ext cx="3901852" cy="325474"/>
          </a:xfrm>
          <a:prstGeom prst="rect">
            <a:avLst/>
          </a:prstGeom>
          <a:solidFill>
            <a:srgbClr val="E8ECF5">
              <a:alpha val="28000"/>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 name="AutoShape 7">
            <a:extLst>
              <a:ext uri="{FF2B5EF4-FFF2-40B4-BE49-F238E27FC236}">
                <a16:creationId xmlns:a16="http://schemas.microsoft.com/office/drawing/2014/main" id="{2C9E0707-4235-F34C-E78A-93168AF20373}"/>
              </a:ext>
            </a:extLst>
          </p:cNvPr>
          <p:cNvSpPr>
            <a:spLocks noChangeArrowheads="1"/>
          </p:cNvSpPr>
          <p:nvPr/>
        </p:nvSpPr>
        <p:spPr bwMode="auto">
          <a:xfrm>
            <a:off x="3927735" y="2161610"/>
            <a:ext cx="3533775" cy="384175"/>
          </a:xfrm>
          <a:prstGeom prst="wedgeRoundRectCallout">
            <a:avLst>
              <a:gd name="adj1" fmla="val -44295"/>
              <a:gd name="adj2" fmla="val 405783"/>
              <a:gd name="adj3" fmla="val 16667"/>
            </a:avLst>
          </a:prstGeom>
          <a:solidFill>
            <a:srgbClr val="ADBADA">
              <a:alpha val="28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latin typeface="+mj-lt"/>
              </a:rPr>
              <a:t>length is now 5.0 </a:t>
            </a:r>
          </a:p>
        </p:txBody>
      </p:sp>
    </p:spTree>
    <p:extLst>
      <p:ext uri="{BB962C8B-B14F-4D97-AF65-F5344CB8AC3E}">
        <p14:creationId xmlns:p14="http://schemas.microsoft.com/office/powerpoint/2010/main" val="244471436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Method Invocation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5">
            <a:extLst>
              <a:ext uri="{FF2B5EF4-FFF2-40B4-BE49-F238E27FC236}">
                <a16:creationId xmlns:a16="http://schemas.microsoft.com/office/drawing/2014/main" id="{8DB822A3-9715-0744-A2FC-A8D17ADD80A7}"/>
              </a:ext>
            </a:extLst>
          </p:cNvPr>
          <p:cNvGraphicFramePr>
            <a:graphicFrameLocks noChangeAspect="1"/>
          </p:cNvGraphicFramePr>
          <p:nvPr/>
        </p:nvGraphicFramePr>
        <p:xfrm>
          <a:off x="348791" y="2683890"/>
          <a:ext cx="11724312" cy="3546790"/>
        </p:xfrm>
        <a:graphic>
          <a:graphicData uri="http://schemas.openxmlformats.org/presentationml/2006/ole">
            <mc:AlternateContent xmlns:mc="http://schemas.openxmlformats.org/markup-compatibility/2006">
              <mc:Choice xmlns:v="urn:schemas-microsoft-com:vml" Requires="v">
                <p:oleObj name="Picture" r:id="rId2" imgW="4229280" imgH="1085760" progId="Word.Picture.8">
                  <p:embed/>
                </p:oleObj>
              </mc:Choice>
              <mc:Fallback>
                <p:oleObj name="Picture" r:id="rId2" imgW="4229280" imgH="1085760" progId="Word.Picture.8">
                  <p:embed/>
                  <p:pic>
                    <p:nvPicPr>
                      <p:cNvPr id="5" name="Object 5">
                        <a:extLst>
                          <a:ext uri="{FF2B5EF4-FFF2-40B4-BE49-F238E27FC236}">
                            <a16:creationId xmlns:a16="http://schemas.microsoft.com/office/drawing/2014/main" id="{8DB822A3-9715-0744-A2FC-A8D17ADD80A7}"/>
                          </a:ext>
                        </a:extLst>
                      </p:cNvPr>
                      <p:cNvPicPr>
                        <a:picLocks noChangeAspect="1" noChangeArrowheads="1"/>
                      </p:cNvPicPr>
                      <p:nvPr/>
                    </p:nvPicPr>
                    <p:blipFill>
                      <a:blip r:embed="rId3"/>
                      <a:srcRect/>
                      <a:stretch>
                        <a:fillRect/>
                      </a:stretch>
                    </p:blipFill>
                    <p:spPr bwMode="auto">
                      <a:xfrm>
                        <a:off x="348791" y="2683890"/>
                        <a:ext cx="11724312" cy="3546790"/>
                      </a:xfrm>
                      <a:prstGeom prst="rect">
                        <a:avLst/>
                      </a:prstGeom>
                      <a:noFill/>
                      <a:ln>
                        <a:noFill/>
                      </a:ln>
                    </p:spPr>
                  </p:pic>
                </p:oleObj>
              </mc:Fallback>
            </mc:AlternateContent>
          </a:graphicData>
        </a:graphic>
      </p:graphicFrame>
      <p:sp>
        <p:nvSpPr>
          <p:cNvPr id="6" name="Rectangle 6">
            <a:extLst>
              <a:ext uri="{FF2B5EF4-FFF2-40B4-BE49-F238E27FC236}">
                <a16:creationId xmlns:a16="http://schemas.microsoft.com/office/drawing/2014/main" id="{9DB0B2E1-C0F2-4825-DD76-1C5BE739921C}"/>
              </a:ext>
            </a:extLst>
          </p:cNvPr>
          <p:cNvSpPr>
            <a:spLocks noChangeArrowheads="1"/>
          </p:cNvSpPr>
          <p:nvPr/>
        </p:nvSpPr>
        <p:spPr bwMode="auto">
          <a:xfrm>
            <a:off x="457201" y="4203699"/>
            <a:ext cx="3901852" cy="292101"/>
          </a:xfrm>
          <a:prstGeom prst="rect">
            <a:avLst/>
          </a:prstGeom>
          <a:solidFill>
            <a:srgbClr val="E8ECF5">
              <a:alpha val="28000"/>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 name="AutoShape 7">
            <a:extLst>
              <a:ext uri="{FF2B5EF4-FFF2-40B4-BE49-F238E27FC236}">
                <a16:creationId xmlns:a16="http://schemas.microsoft.com/office/drawing/2014/main" id="{2C9E0707-4235-F34C-E78A-93168AF20373}"/>
              </a:ext>
            </a:extLst>
          </p:cNvPr>
          <p:cNvSpPr>
            <a:spLocks noChangeArrowheads="1"/>
          </p:cNvSpPr>
          <p:nvPr/>
        </p:nvSpPr>
        <p:spPr bwMode="auto">
          <a:xfrm>
            <a:off x="3927735" y="2161610"/>
            <a:ext cx="3533775" cy="384175"/>
          </a:xfrm>
          <a:prstGeom prst="wedgeRoundRectCallout">
            <a:avLst>
              <a:gd name="adj1" fmla="val -44654"/>
              <a:gd name="adj2" fmla="val 481816"/>
              <a:gd name="adj3" fmla="val 16667"/>
            </a:avLst>
          </a:prstGeom>
          <a:solidFill>
            <a:srgbClr val="ADBADA">
              <a:alpha val="28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latin typeface="+mj-lt"/>
              </a:rPr>
              <a:t>Invoke getArea()</a:t>
            </a:r>
          </a:p>
        </p:txBody>
      </p:sp>
    </p:spTree>
    <p:extLst>
      <p:ext uri="{BB962C8B-B14F-4D97-AF65-F5344CB8AC3E}">
        <p14:creationId xmlns:p14="http://schemas.microsoft.com/office/powerpoint/2010/main" val="92515694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Method Invocation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5">
            <a:extLst>
              <a:ext uri="{FF2B5EF4-FFF2-40B4-BE49-F238E27FC236}">
                <a16:creationId xmlns:a16="http://schemas.microsoft.com/office/drawing/2014/main" id="{8DB822A3-9715-0744-A2FC-A8D17ADD80A7}"/>
              </a:ext>
            </a:extLst>
          </p:cNvPr>
          <p:cNvGraphicFramePr>
            <a:graphicFrameLocks noChangeAspect="1"/>
          </p:cNvGraphicFramePr>
          <p:nvPr/>
        </p:nvGraphicFramePr>
        <p:xfrm>
          <a:off x="348791" y="2683890"/>
          <a:ext cx="11724312" cy="3546790"/>
        </p:xfrm>
        <a:graphic>
          <a:graphicData uri="http://schemas.openxmlformats.org/presentationml/2006/ole">
            <mc:AlternateContent xmlns:mc="http://schemas.openxmlformats.org/markup-compatibility/2006">
              <mc:Choice xmlns:v="urn:schemas-microsoft-com:vml" Requires="v">
                <p:oleObj name="Picture" r:id="rId2" imgW="4229280" imgH="1085760" progId="Word.Picture.8">
                  <p:embed/>
                </p:oleObj>
              </mc:Choice>
              <mc:Fallback>
                <p:oleObj name="Picture" r:id="rId2" imgW="4229280" imgH="1085760" progId="Word.Picture.8">
                  <p:embed/>
                  <p:pic>
                    <p:nvPicPr>
                      <p:cNvPr id="5" name="Object 5">
                        <a:extLst>
                          <a:ext uri="{FF2B5EF4-FFF2-40B4-BE49-F238E27FC236}">
                            <a16:creationId xmlns:a16="http://schemas.microsoft.com/office/drawing/2014/main" id="{8DB822A3-9715-0744-A2FC-A8D17ADD80A7}"/>
                          </a:ext>
                        </a:extLst>
                      </p:cNvPr>
                      <p:cNvPicPr>
                        <a:picLocks noChangeAspect="1" noChangeArrowheads="1"/>
                      </p:cNvPicPr>
                      <p:nvPr/>
                    </p:nvPicPr>
                    <p:blipFill>
                      <a:blip r:embed="rId3"/>
                      <a:srcRect/>
                      <a:stretch>
                        <a:fillRect/>
                      </a:stretch>
                    </p:blipFill>
                    <p:spPr bwMode="auto">
                      <a:xfrm>
                        <a:off x="348791" y="2683890"/>
                        <a:ext cx="11724312" cy="3546790"/>
                      </a:xfrm>
                      <a:prstGeom prst="rect">
                        <a:avLst/>
                      </a:prstGeom>
                      <a:noFill/>
                      <a:ln>
                        <a:noFill/>
                      </a:ln>
                    </p:spPr>
                  </p:pic>
                </p:oleObj>
              </mc:Fallback>
            </mc:AlternateContent>
          </a:graphicData>
        </a:graphic>
      </p:graphicFrame>
      <p:sp>
        <p:nvSpPr>
          <p:cNvPr id="6" name="Rectangle 6">
            <a:extLst>
              <a:ext uri="{FF2B5EF4-FFF2-40B4-BE49-F238E27FC236}">
                <a16:creationId xmlns:a16="http://schemas.microsoft.com/office/drawing/2014/main" id="{9DB0B2E1-C0F2-4825-DD76-1C5BE739921C}"/>
              </a:ext>
            </a:extLst>
          </p:cNvPr>
          <p:cNvSpPr>
            <a:spLocks noChangeArrowheads="1"/>
          </p:cNvSpPr>
          <p:nvPr/>
        </p:nvSpPr>
        <p:spPr bwMode="auto">
          <a:xfrm>
            <a:off x="6667500" y="3581401"/>
            <a:ext cx="1435100" cy="368300"/>
          </a:xfrm>
          <a:prstGeom prst="rect">
            <a:avLst/>
          </a:prstGeom>
          <a:solidFill>
            <a:srgbClr val="D9A0FF">
              <a:alpha val="28000"/>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 name="AutoShape 7">
            <a:extLst>
              <a:ext uri="{FF2B5EF4-FFF2-40B4-BE49-F238E27FC236}">
                <a16:creationId xmlns:a16="http://schemas.microsoft.com/office/drawing/2014/main" id="{2C9E0707-4235-F34C-E78A-93168AF20373}"/>
              </a:ext>
            </a:extLst>
          </p:cNvPr>
          <p:cNvSpPr>
            <a:spLocks noChangeArrowheads="1"/>
          </p:cNvSpPr>
          <p:nvPr/>
        </p:nvSpPr>
        <p:spPr bwMode="auto">
          <a:xfrm>
            <a:off x="3927735" y="2161610"/>
            <a:ext cx="3533775" cy="384175"/>
          </a:xfrm>
          <a:prstGeom prst="wedgeRoundRectCallout">
            <a:avLst>
              <a:gd name="adj1" fmla="val 50225"/>
              <a:gd name="adj2" fmla="val 326444"/>
              <a:gd name="adj3" fmla="val 16667"/>
            </a:avLst>
          </a:prstGeom>
          <a:solidFill>
            <a:srgbClr val="D9A0FF">
              <a:alpha val="28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latin typeface="+mj-lt"/>
              </a:rPr>
              <a:t>Declare variable area</a:t>
            </a:r>
          </a:p>
        </p:txBody>
      </p:sp>
    </p:spTree>
    <p:extLst>
      <p:ext uri="{BB962C8B-B14F-4D97-AF65-F5344CB8AC3E}">
        <p14:creationId xmlns:p14="http://schemas.microsoft.com/office/powerpoint/2010/main" val="2096068346"/>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Method Invocation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5">
            <a:extLst>
              <a:ext uri="{FF2B5EF4-FFF2-40B4-BE49-F238E27FC236}">
                <a16:creationId xmlns:a16="http://schemas.microsoft.com/office/drawing/2014/main" id="{8DB822A3-9715-0744-A2FC-A8D17ADD80A7}"/>
              </a:ext>
            </a:extLst>
          </p:cNvPr>
          <p:cNvGraphicFramePr>
            <a:graphicFrameLocks noChangeAspect="1"/>
          </p:cNvGraphicFramePr>
          <p:nvPr/>
        </p:nvGraphicFramePr>
        <p:xfrm>
          <a:off x="348791" y="2683890"/>
          <a:ext cx="11724312" cy="3546790"/>
        </p:xfrm>
        <a:graphic>
          <a:graphicData uri="http://schemas.openxmlformats.org/presentationml/2006/ole">
            <mc:AlternateContent xmlns:mc="http://schemas.openxmlformats.org/markup-compatibility/2006">
              <mc:Choice xmlns:v="urn:schemas-microsoft-com:vml" Requires="v">
                <p:oleObj name="Picture" r:id="rId2" imgW="4229280" imgH="1085760" progId="Word.Picture.8">
                  <p:embed/>
                </p:oleObj>
              </mc:Choice>
              <mc:Fallback>
                <p:oleObj name="Picture" r:id="rId2" imgW="4229280" imgH="1085760" progId="Word.Picture.8">
                  <p:embed/>
                  <p:pic>
                    <p:nvPicPr>
                      <p:cNvPr id="5" name="Object 5">
                        <a:extLst>
                          <a:ext uri="{FF2B5EF4-FFF2-40B4-BE49-F238E27FC236}">
                            <a16:creationId xmlns:a16="http://schemas.microsoft.com/office/drawing/2014/main" id="{8DB822A3-9715-0744-A2FC-A8D17ADD80A7}"/>
                          </a:ext>
                        </a:extLst>
                      </p:cNvPr>
                      <p:cNvPicPr>
                        <a:picLocks noChangeAspect="1" noChangeArrowheads="1"/>
                      </p:cNvPicPr>
                      <p:nvPr/>
                    </p:nvPicPr>
                    <p:blipFill>
                      <a:blip r:embed="rId3"/>
                      <a:srcRect/>
                      <a:stretch>
                        <a:fillRect/>
                      </a:stretch>
                    </p:blipFill>
                    <p:spPr bwMode="auto">
                      <a:xfrm>
                        <a:off x="348791" y="2683890"/>
                        <a:ext cx="11724312" cy="3546790"/>
                      </a:xfrm>
                      <a:prstGeom prst="rect">
                        <a:avLst/>
                      </a:prstGeom>
                      <a:noFill/>
                      <a:ln>
                        <a:noFill/>
                      </a:ln>
                    </p:spPr>
                  </p:pic>
                </p:oleObj>
              </mc:Fallback>
            </mc:AlternateContent>
          </a:graphicData>
        </a:graphic>
      </p:graphicFrame>
      <p:sp>
        <p:nvSpPr>
          <p:cNvPr id="6" name="Rectangle 6">
            <a:extLst>
              <a:ext uri="{FF2B5EF4-FFF2-40B4-BE49-F238E27FC236}">
                <a16:creationId xmlns:a16="http://schemas.microsoft.com/office/drawing/2014/main" id="{9DB0B2E1-C0F2-4825-DD76-1C5BE739921C}"/>
              </a:ext>
            </a:extLst>
          </p:cNvPr>
          <p:cNvSpPr>
            <a:spLocks noChangeArrowheads="1"/>
          </p:cNvSpPr>
          <p:nvPr/>
        </p:nvSpPr>
        <p:spPr bwMode="auto">
          <a:xfrm>
            <a:off x="6667500" y="3581401"/>
            <a:ext cx="1435100" cy="368300"/>
          </a:xfrm>
          <a:prstGeom prst="rect">
            <a:avLst/>
          </a:prstGeom>
          <a:solidFill>
            <a:srgbClr val="D9A0FF">
              <a:alpha val="28000"/>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 name="AutoShape 7">
            <a:extLst>
              <a:ext uri="{FF2B5EF4-FFF2-40B4-BE49-F238E27FC236}">
                <a16:creationId xmlns:a16="http://schemas.microsoft.com/office/drawing/2014/main" id="{2C9E0707-4235-F34C-E78A-93168AF20373}"/>
              </a:ext>
            </a:extLst>
          </p:cNvPr>
          <p:cNvSpPr>
            <a:spLocks noChangeArrowheads="1"/>
          </p:cNvSpPr>
          <p:nvPr/>
        </p:nvSpPr>
        <p:spPr bwMode="auto">
          <a:xfrm>
            <a:off x="3927735" y="2161610"/>
            <a:ext cx="3533775" cy="384175"/>
          </a:xfrm>
          <a:prstGeom prst="wedgeRoundRectCallout">
            <a:avLst>
              <a:gd name="adj1" fmla="val 50225"/>
              <a:gd name="adj2" fmla="val 326444"/>
              <a:gd name="adj3" fmla="val 16667"/>
            </a:avLst>
          </a:prstGeom>
          <a:solidFill>
            <a:srgbClr val="D9A0FF">
              <a:alpha val="28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latin typeface="+mj-lt"/>
              </a:rPr>
              <a:t>Compute the area </a:t>
            </a:r>
          </a:p>
        </p:txBody>
      </p:sp>
    </p:spTree>
    <p:extLst>
      <p:ext uri="{BB962C8B-B14F-4D97-AF65-F5344CB8AC3E}">
        <p14:creationId xmlns:p14="http://schemas.microsoft.com/office/powerpoint/2010/main" val="3199550523"/>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Method Invocation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5">
            <a:extLst>
              <a:ext uri="{FF2B5EF4-FFF2-40B4-BE49-F238E27FC236}">
                <a16:creationId xmlns:a16="http://schemas.microsoft.com/office/drawing/2014/main" id="{8DB822A3-9715-0744-A2FC-A8D17ADD80A7}"/>
              </a:ext>
            </a:extLst>
          </p:cNvPr>
          <p:cNvGraphicFramePr>
            <a:graphicFrameLocks noChangeAspect="1"/>
          </p:cNvGraphicFramePr>
          <p:nvPr/>
        </p:nvGraphicFramePr>
        <p:xfrm>
          <a:off x="348791" y="2683890"/>
          <a:ext cx="11724312" cy="3546790"/>
        </p:xfrm>
        <a:graphic>
          <a:graphicData uri="http://schemas.openxmlformats.org/presentationml/2006/ole">
            <mc:AlternateContent xmlns:mc="http://schemas.openxmlformats.org/markup-compatibility/2006">
              <mc:Choice xmlns:v="urn:schemas-microsoft-com:vml" Requires="v">
                <p:oleObj name="Picture" r:id="rId2" imgW="4229280" imgH="1085760" progId="Word.Picture.8">
                  <p:embed/>
                </p:oleObj>
              </mc:Choice>
              <mc:Fallback>
                <p:oleObj name="Picture" r:id="rId2" imgW="4229280" imgH="1085760" progId="Word.Picture.8">
                  <p:embed/>
                  <p:pic>
                    <p:nvPicPr>
                      <p:cNvPr id="5" name="Object 5">
                        <a:extLst>
                          <a:ext uri="{FF2B5EF4-FFF2-40B4-BE49-F238E27FC236}">
                            <a16:creationId xmlns:a16="http://schemas.microsoft.com/office/drawing/2014/main" id="{8DB822A3-9715-0744-A2FC-A8D17ADD80A7}"/>
                          </a:ext>
                        </a:extLst>
                      </p:cNvPr>
                      <p:cNvPicPr>
                        <a:picLocks noChangeAspect="1" noChangeArrowheads="1"/>
                      </p:cNvPicPr>
                      <p:nvPr/>
                    </p:nvPicPr>
                    <p:blipFill>
                      <a:blip r:embed="rId3"/>
                      <a:srcRect/>
                      <a:stretch>
                        <a:fillRect/>
                      </a:stretch>
                    </p:blipFill>
                    <p:spPr bwMode="auto">
                      <a:xfrm>
                        <a:off x="348791" y="2683890"/>
                        <a:ext cx="11724312" cy="3546790"/>
                      </a:xfrm>
                      <a:prstGeom prst="rect">
                        <a:avLst/>
                      </a:prstGeom>
                      <a:noFill/>
                      <a:ln>
                        <a:noFill/>
                      </a:ln>
                    </p:spPr>
                  </p:pic>
                </p:oleObj>
              </mc:Fallback>
            </mc:AlternateContent>
          </a:graphicData>
        </a:graphic>
      </p:graphicFrame>
      <p:sp>
        <p:nvSpPr>
          <p:cNvPr id="6" name="Rectangle 6">
            <a:extLst>
              <a:ext uri="{FF2B5EF4-FFF2-40B4-BE49-F238E27FC236}">
                <a16:creationId xmlns:a16="http://schemas.microsoft.com/office/drawing/2014/main" id="{9DB0B2E1-C0F2-4825-DD76-1C5BE739921C}"/>
              </a:ext>
            </a:extLst>
          </p:cNvPr>
          <p:cNvSpPr>
            <a:spLocks noChangeArrowheads="1"/>
          </p:cNvSpPr>
          <p:nvPr/>
        </p:nvSpPr>
        <p:spPr bwMode="auto">
          <a:xfrm>
            <a:off x="7581899" y="3556001"/>
            <a:ext cx="2231403" cy="368300"/>
          </a:xfrm>
          <a:prstGeom prst="rect">
            <a:avLst/>
          </a:prstGeom>
          <a:solidFill>
            <a:srgbClr val="D9A0FF">
              <a:alpha val="28000"/>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 name="AutoShape 7">
            <a:extLst>
              <a:ext uri="{FF2B5EF4-FFF2-40B4-BE49-F238E27FC236}">
                <a16:creationId xmlns:a16="http://schemas.microsoft.com/office/drawing/2014/main" id="{2C9E0707-4235-F34C-E78A-93168AF20373}"/>
              </a:ext>
            </a:extLst>
          </p:cNvPr>
          <p:cNvSpPr>
            <a:spLocks noChangeArrowheads="1"/>
          </p:cNvSpPr>
          <p:nvPr/>
        </p:nvSpPr>
        <p:spPr bwMode="auto">
          <a:xfrm>
            <a:off x="3162301" y="2161610"/>
            <a:ext cx="5791200" cy="384175"/>
          </a:xfrm>
          <a:prstGeom prst="wedgeRoundRectCallout">
            <a:avLst>
              <a:gd name="adj1" fmla="val 48690"/>
              <a:gd name="adj2" fmla="val 306609"/>
              <a:gd name="adj3" fmla="val 16667"/>
            </a:avLst>
          </a:prstGeom>
          <a:solidFill>
            <a:srgbClr val="D9A0FF">
              <a:alpha val="28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latin typeface="+mj-lt"/>
              </a:rPr>
              <a:t>Compute the area and assign the result in area</a:t>
            </a:r>
          </a:p>
        </p:txBody>
      </p:sp>
    </p:spTree>
    <p:extLst>
      <p:ext uri="{BB962C8B-B14F-4D97-AF65-F5344CB8AC3E}">
        <p14:creationId xmlns:p14="http://schemas.microsoft.com/office/powerpoint/2010/main" val="344358291"/>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Method Invocation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5" name="Object 5">
            <a:extLst>
              <a:ext uri="{FF2B5EF4-FFF2-40B4-BE49-F238E27FC236}">
                <a16:creationId xmlns:a16="http://schemas.microsoft.com/office/drawing/2014/main" id="{8DB822A3-9715-0744-A2FC-A8D17ADD80A7}"/>
              </a:ext>
            </a:extLst>
          </p:cNvPr>
          <p:cNvGraphicFramePr>
            <a:graphicFrameLocks noChangeAspect="1"/>
          </p:cNvGraphicFramePr>
          <p:nvPr/>
        </p:nvGraphicFramePr>
        <p:xfrm>
          <a:off x="348791" y="2683890"/>
          <a:ext cx="11724312" cy="3546790"/>
        </p:xfrm>
        <a:graphic>
          <a:graphicData uri="http://schemas.openxmlformats.org/presentationml/2006/ole">
            <mc:AlternateContent xmlns:mc="http://schemas.openxmlformats.org/markup-compatibility/2006">
              <mc:Choice xmlns:v="urn:schemas-microsoft-com:vml" Requires="v">
                <p:oleObj name="Picture" r:id="rId2" imgW="4229280" imgH="1085760" progId="Word.Picture.8">
                  <p:embed/>
                </p:oleObj>
              </mc:Choice>
              <mc:Fallback>
                <p:oleObj name="Picture" r:id="rId2" imgW="4229280" imgH="1085760" progId="Word.Picture.8">
                  <p:embed/>
                  <p:pic>
                    <p:nvPicPr>
                      <p:cNvPr id="5" name="Object 5">
                        <a:extLst>
                          <a:ext uri="{FF2B5EF4-FFF2-40B4-BE49-F238E27FC236}">
                            <a16:creationId xmlns:a16="http://schemas.microsoft.com/office/drawing/2014/main" id="{8DB822A3-9715-0744-A2FC-A8D17ADD80A7}"/>
                          </a:ext>
                        </a:extLst>
                      </p:cNvPr>
                      <p:cNvPicPr>
                        <a:picLocks noChangeAspect="1" noChangeArrowheads="1"/>
                      </p:cNvPicPr>
                      <p:nvPr/>
                    </p:nvPicPr>
                    <p:blipFill>
                      <a:blip r:embed="rId3"/>
                      <a:srcRect/>
                      <a:stretch>
                        <a:fillRect/>
                      </a:stretch>
                    </p:blipFill>
                    <p:spPr bwMode="auto">
                      <a:xfrm>
                        <a:off x="348791" y="2683890"/>
                        <a:ext cx="11724312" cy="3546790"/>
                      </a:xfrm>
                      <a:prstGeom prst="rect">
                        <a:avLst/>
                      </a:prstGeom>
                      <a:noFill/>
                      <a:ln>
                        <a:noFill/>
                      </a:ln>
                    </p:spPr>
                  </p:pic>
                </p:oleObj>
              </mc:Fallback>
            </mc:AlternateContent>
          </a:graphicData>
        </a:graphic>
      </p:graphicFrame>
      <p:sp>
        <p:nvSpPr>
          <p:cNvPr id="6" name="Rectangle 6">
            <a:extLst>
              <a:ext uri="{FF2B5EF4-FFF2-40B4-BE49-F238E27FC236}">
                <a16:creationId xmlns:a16="http://schemas.microsoft.com/office/drawing/2014/main" id="{9DB0B2E1-C0F2-4825-DD76-1C5BE739921C}"/>
              </a:ext>
            </a:extLst>
          </p:cNvPr>
          <p:cNvSpPr>
            <a:spLocks noChangeArrowheads="1"/>
          </p:cNvSpPr>
          <p:nvPr/>
        </p:nvSpPr>
        <p:spPr bwMode="auto">
          <a:xfrm>
            <a:off x="6616700" y="4190999"/>
            <a:ext cx="1638300" cy="304801"/>
          </a:xfrm>
          <a:prstGeom prst="rect">
            <a:avLst/>
          </a:prstGeom>
          <a:solidFill>
            <a:srgbClr val="D9A0FF">
              <a:alpha val="28000"/>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 name="AutoShape 7">
            <a:extLst>
              <a:ext uri="{FF2B5EF4-FFF2-40B4-BE49-F238E27FC236}">
                <a16:creationId xmlns:a16="http://schemas.microsoft.com/office/drawing/2014/main" id="{2C9E0707-4235-F34C-E78A-93168AF20373}"/>
              </a:ext>
            </a:extLst>
          </p:cNvPr>
          <p:cNvSpPr>
            <a:spLocks noChangeArrowheads="1"/>
          </p:cNvSpPr>
          <p:nvPr/>
        </p:nvSpPr>
        <p:spPr bwMode="auto">
          <a:xfrm>
            <a:off x="3927735" y="2161610"/>
            <a:ext cx="3533775" cy="384175"/>
          </a:xfrm>
          <a:prstGeom prst="wedgeRoundRectCallout">
            <a:avLst>
              <a:gd name="adj1" fmla="val 48069"/>
              <a:gd name="adj2" fmla="val 478510"/>
              <a:gd name="adj3" fmla="val 16667"/>
            </a:avLst>
          </a:prstGeom>
          <a:solidFill>
            <a:srgbClr val="D9A0FF">
              <a:alpha val="28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latin typeface="+mj-lt"/>
              </a:rPr>
              <a:t>return the area, which is 50.0</a:t>
            </a:r>
          </a:p>
        </p:txBody>
      </p:sp>
    </p:spTree>
    <p:extLst>
      <p:ext uri="{BB962C8B-B14F-4D97-AF65-F5344CB8AC3E}">
        <p14:creationId xmlns:p14="http://schemas.microsoft.com/office/powerpoint/2010/main" val="132458169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Constructors</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Classes can have special methods called constructors.</a:t>
            </a:r>
          </a:p>
          <a:p>
            <a:r>
              <a:rPr lang="en-US" altLang="en-US" dirty="0"/>
              <a:t>A constructor is a method that is automatically called when an object is created.</a:t>
            </a:r>
          </a:p>
          <a:p>
            <a:r>
              <a:rPr lang="en-US" altLang="en-US" dirty="0"/>
              <a:t>Constructors are used to perform operations at the time an object is created.</a:t>
            </a:r>
          </a:p>
          <a:p>
            <a:r>
              <a:rPr lang="en-US" altLang="en-US" dirty="0"/>
              <a:t>Constructors typically initialize instance fields and perform other object initialization tasks.</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43634987"/>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Constructors</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Constructors have a few special properties that set them apart from normal methods.</a:t>
            </a:r>
          </a:p>
          <a:p>
            <a:pPr lvl="1"/>
            <a:r>
              <a:rPr lang="en-US" altLang="en-US" dirty="0"/>
              <a:t>Constructors have the same name as the class.</a:t>
            </a:r>
          </a:p>
          <a:p>
            <a:pPr lvl="1"/>
            <a:r>
              <a:rPr lang="en-US" altLang="en-US" dirty="0"/>
              <a:t>Constructors have no return type (not even void).</a:t>
            </a:r>
          </a:p>
          <a:p>
            <a:pPr lvl="1"/>
            <a:r>
              <a:rPr lang="en-US" altLang="en-US" dirty="0"/>
              <a:t>Constructors may not return any values.</a:t>
            </a:r>
          </a:p>
          <a:p>
            <a:pPr lvl="1"/>
            <a:r>
              <a:rPr lang="en-US" altLang="en-US" dirty="0"/>
              <a:t>Constructors are typically public.</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241031427"/>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The Default Constructor</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594556" cy="4450792"/>
          </a:xfrm>
        </p:spPr>
        <p:txBody>
          <a:bodyPr>
            <a:normAutofit fontScale="92500" lnSpcReduction="10000"/>
          </a:bodyPr>
          <a:lstStyle/>
          <a:p>
            <a:r>
              <a:rPr lang="en-US" altLang="en-US" dirty="0"/>
              <a:t>When an object is created, its constructor is always called.</a:t>
            </a:r>
          </a:p>
          <a:p>
            <a:r>
              <a:rPr lang="en-US" altLang="en-US" dirty="0"/>
              <a:t>If you do not write a constructor, Java provides one when the class is compiled.  The constructor that Java provides is known as the default constructor.</a:t>
            </a:r>
          </a:p>
          <a:p>
            <a:pPr lvl="1"/>
            <a:r>
              <a:rPr lang="en-US" altLang="en-US" dirty="0"/>
              <a:t>It sets all of the object’s numeric fields to 0.</a:t>
            </a:r>
          </a:p>
          <a:p>
            <a:pPr lvl="1"/>
            <a:r>
              <a:rPr lang="en-US" altLang="en-US" dirty="0"/>
              <a:t>It sets all of the object’s </a:t>
            </a:r>
            <a:r>
              <a:rPr lang="en-US" altLang="en-US" dirty="0" err="1"/>
              <a:t>boolean</a:t>
            </a:r>
            <a:r>
              <a:rPr lang="en-US" altLang="en-US" dirty="0"/>
              <a:t> fields to false. </a:t>
            </a:r>
          </a:p>
          <a:p>
            <a:pPr lvl="1"/>
            <a:r>
              <a:rPr lang="en-US" altLang="en-US" dirty="0"/>
              <a:t>It sets all of the object’s reference variables to the special value null. </a:t>
            </a:r>
          </a:p>
          <a:p>
            <a:r>
              <a:rPr lang="en-US" altLang="en-US" dirty="0"/>
              <a:t>The default constructor is a constructor with no parameters, used to initialize an object in a default configuration.</a:t>
            </a:r>
          </a:p>
          <a:p>
            <a:r>
              <a:rPr lang="en-US" altLang="en-US" dirty="0"/>
              <a:t>The only time that Java provides a default constructor is when you do not write any constructor for a class.</a:t>
            </a:r>
          </a:p>
          <a:p>
            <a:r>
              <a:rPr lang="en-US" altLang="en-US" dirty="0"/>
              <a:t>A default constructor is not provided by Java if a constructor is already written.</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953035288"/>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Writing Your Own No-Arg Constructor</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A constructor that does not accept arguments is known as a </a:t>
            </a:r>
            <a:r>
              <a:rPr lang="en-US" altLang="en-US" b="1" dirty="0"/>
              <a:t>no-</a:t>
            </a:r>
            <a:r>
              <a:rPr lang="en-US" altLang="en-US" b="1" dirty="0" err="1"/>
              <a:t>arg</a:t>
            </a:r>
            <a:r>
              <a:rPr lang="en-US" altLang="en-US" b="1" dirty="0"/>
              <a:t> constructor</a:t>
            </a:r>
            <a:r>
              <a:rPr lang="en-US" altLang="en-US" dirty="0"/>
              <a:t>.  </a:t>
            </a:r>
          </a:p>
          <a:p>
            <a:r>
              <a:rPr lang="en-US" altLang="en-US" dirty="0"/>
              <a:t>The default constructor (provided by Java) is a no-</a:t>
            </a:r>
            <a:r>
              <a:rPr lang="en-US" altLang="en-US" dirty="0" err="1"/>
              <a:t>arg</a:t>
            </a:r>
            <a:r>
              <a:rPr lang="en-US" altLang="en-US" dirty="0"/>
              <a:t> constructor.</a:t>
            </a:r>
          </a:p>
          <a:p>
            <a:r>
              <a:rPr lang="en-US" altLang="en-US" dirty="0"/>
              <a:t>If you include even one constructor in your class, Java will not provide this default constructor</a:t>
            </a:r>
          </a:p>
          <a:p>
            <a:r>
              <a:rPr lang="en-US" altLang="en-US" dirty="0"/>
              <a:t>If you include any constructors in your class, be sure to provide your own no-argument constructor as well</a:t>
            </a:r>
          </a:p>
          <a:p>
            <a:r>
              <a:rPr lang="en-US" altLang="en-US" dirty="0"/>
              <a:t>We can write our own no-</a:t>
            </a:r>
            <a:r>
              <a:rPr lang="en-US" altLang="en-US" dirty="0" err="1"/>
              <a:t>arg</a:t>
            </a:r>
            <a:r>
              <a:rPr lang="en-US" altLang="en-US" dirty="0"/>
              <a:t> constructor</a:t>
            </a:r>
            <a:br>
              <a:rPr lang="en-US" altLang="en-US" dirty="0"/>
            </a:br>
            <a:r>
              <a:rPr lang="en-US" altLang="en-US" dirty="0"/>
              <a:t>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TextBox 5">
            <a:extLst>
              <a:ext uri="{FF2B5EF4-FFF2-40B4-BE49-F238E27FC236}">
                <a16:creationId xmlns:a16="http://schemas.microsoft.com/office/drawing/2014/main" id="{035C1DCE-ABEE-3383-D0E6-9D32425E7F67}"/>
              </a:ext>
            </a:extLst>
          </p:cNvPr>
          <p:cNvSpPr txBox="1"/>
          <p:nvPr/>
        </p:nvSpPr>
        <p:spPr>
          <a:xfrm>
            <a:off x="6645565" y="4303295"/>
            <a:ext cx="3954379" cy="1631216"/>
          </a:xfrm>
          <a:prstGeom prst="rect">
            <a:avLst/>
          </a:prstGeom>
          <a:noFill/>
          <a:ln>
            <a:solidFill>
              <a:schemeClr val="tx1"/>
            </a:solidFill>
          </a:ln>
        </p:spPr>
        <p:txBody>
          <a:bodyPr wrap="square" rtlCol="0">
            <a:spAutoFit/>
          </a:bodyPr>
          <a:lstStyle/>
          <a:p>
            <a:r>
              <a:rPr lang="en-US" altLang="en-US" sz="2000" b="1" dirty="0">
                <a:latin typeface="Courier New" panose="02070309020205020404" pitchFamily="49" charset="0"/>
                <a:cs typeface="Courier New" panose="02070309020205020404" pitchFamily="49" charset="0"/>
              </a:rPr>
              <a:t>public Rectangle()</a:t>
            </a:r>
          </a:p>
          <a:p>
            <a:r>
              <a:rPr lang="en-US" altLang="en-US" sz="2000" b="1" dirty="0">
                <a:latin typeface="Courier New" panose="02070309020205020404" pitchFamily="49" charset="0"/>
                <a:cs typeface="Courier New" panose="02070309020205020404" pitchFamily="49" charset="0"/>
              </a:rPr>
              <a:t>		{</a:t>
            </a:r>
          </a:p>
          <a:p>
            <a:r>
              <a:rPr lang="en-US" altLang="en-US" sz="2000" b="1" dirty="0">
                <a:latin typeface="Courier New" panose="02070309020205020404" pitchFamily="49" charset="0"/>
                <a:cs typeface="Courier New" panose="02070309020205020404" pitchFamily="49" charset="0"/>
              </a:rPr>
              <a:t>			length = 1.0;</a:t>
            </a:r>
          </a:p>
          <a:p>
            <a:r>
              <a:rPr lang="en-US" altLang="en-US" sz="2000" b="1" dirty="0">
                <a:latin typeface="Courier New" panose="02070309020205020404" pitchFamily="49" charset="0"/>
                <a:cs typeface="Courier New" panose="02070309020205020404" pitchFamily="49" charset="0"/>
              </a:rPr>
              <a:t>			width = 1.0;</a:t>
            </a:r>
          </a:p>
          <a:p>
            <a:r>
              <a:rPr lang="en-US" altLang="en-US" sz="20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35108424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Parametrized Constructor</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Constructor like other methods can be overloaded.</a:t>
            </a:r>
          </a:p>
          <a:p>
            <a:r>
              <a:rPr lang="en-US" altLang="en-US" dirty="0"/>
              <a:t>The constructor that takes parameters named a parametrized constructor.</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Rectangle 3">
            <a:extLst>
              <a:ext uri="{FF2B5EF4-FFF2-40B4-BE49-F238E27FC236}">
                <a16:creationId xmlns:a16="http://schemas.microsoft.com/office/drawing/2014/main" id="{4AAEE0E5-905D-052E-9C7F-07E6720DC6CA}"/>
              </a:ext>
            </a:extLst>
          </p:cNvPr>
          <p:cNvSpPr txBox="1">
            <a:spLocks noChangeArrowheads="1"/>
          </p:cNvSpPr>
          <p:nvPr/>
        </p:nvSpPr>
        <p:spPr bwMode="auto">
          <a:xfrm>
            <a:off x="3068650" y="3108691"/>
            <a:ext cx="6042128" cy="1455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en-US" altLang="ar-SA" sz="2000" b="1" dirty="0">
                <a:latin typeface="Courier New" panose="02070309020205020404" pitchFamily="49" charset="0"/>
              </a:rPr>
              <a:t>public Rectangle(double </a:t>
            </a:r>
            <a:r>
              <a:rPr lang="en-US" altLang="ar-SA" sz="2000" b="1" dirty="0" err="1">
                <a:latin typeface="Courier New" panose="02070309020205020404" pitchFamily="49" charset="0"/>
              </a:rPr>
              <a:t>len</a:t>
            </a:r>
            <a:r>
              <a:rPr lang="en-US" altLang="ar-SA" sz="2000" b="1" dirty="0">
                <a:latin typeface="Courier New" panose="02070309020205020404" pitchFamily="49" charset="0"/>
              </a:rPr>
              <a:t>, double w)</a:t>
            </a:r>
          </a:p>
          <a:p>
            <a:pPr eaLnBrk="1" hangingPunct="1">
              <a:buFontTx/>
              <a:buNone/>
            </a:pPr>
            <a:r>
              <a:rPr lang="en-US" altLang="ar-SA" sz="2000" b="1" dirty="0">
                <a:latin typeface="Courier New" panose="02070309020205020404" pitchFamily="49" charset="0"/>
              </a:rPr>
              <a:t>   {  length = </a:t>
            </a:r>
            <a:r>
              <a:rPr lang="en-US" altLang="ar-SA" sz="2000" b="1" dirty="0" err="1">
                <a:latin typeface="Courier New" panose="02070309020205020404" pitchFamily="49" charset="0"/>
              </a:rPr>
              <a:t>len</a:t>
            </a:r>
            <a:r>
              <a:rPr lang="en-US" altLang="ar-SA" sz="2000" b="1" dirty="0">
                <a:latin typeface="Courier New" panose="02070309020205020404" pitchFamily="49" charset="0"/>
              </a:rPr>
              <a:t>;</a:t>
            </a:r>
          </a:p>
          <a:p>
            <a:pPr eaLnBrk="1" hangingPunct="1">
              <a:buFontTx/>
              <a:buNone/>
            </a:pPr>
            <a:r>
              <a:rPr lang="en-US" altLang="ar-SA" sz="2000" b="1" dirty="0">
                <a:latin typeface="Courier New" panose="02070309020205020404" pitchFamily="49" charset="0"/>
              </a:rPr>
              <a:t>      width = w;     </a:t>
            </a:r>
          </a:p>
          <a:p>
            <a:pPr eaLnBrk="1" hangingPunct="1">
              <a:buFontTx/>
              <a:buNone/>
            </a:pPr>
            <a:r>
              <a:rPr lang="en-US" altLang="ar-SA" sz="2000" b="1" dirty="0">
                <a:latin typeface="Courier New" panose="02070309020205020404" pitchFamily="49" charset="0"/>
              </a:rPr>
              <a:t>     }</a:t>
            </a:r>
          </a:p>
        </p:txBody>
      </p:sp>
    </p:spTree>
    <p:extLst>
      <p:ext uri="{BB962C8B-B14F-4D97-AF65-F5344CB8AC3E}">
        <p14:creationId xmlns:p14="http://schemas.microsoft.com/office/powerpoint/2010/main" val="773475574"/>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Parametrized Constructor</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What would happen when we execute the following calls?</a:t>
            </a:r>
          </a:p>
          <a:p>
            <a:endParaRPr lang="en-US" altLang="en-US" dirty="0"/>
          </a:p>
          <a:p>
            <a:endParaRPr lang="en-US" altLang="en-US" dirty="0"/>
          </a:p>
          <a:p>
            <a:r>
              <a:rPr lang="en-US" altLang="en-US" dirty="0"/>
              <a:t>The first call would use the no-</a:t>
            </a:r>
            <a:r>
              <a:rPr lang="en-US" altLang="en-US" dirty="0" err="1"/>
              <a:t>arg</a:t>
            </a:r>
            <a:r>
              <a:rPr lang="en-US" altLang="en-US" dirty="0"/>
              <a:t> constructor and </a:t>
            </a:r>
            <a:r>
              <a:rPr lang="en-US" altLang="en-US" dirty="0">
                <a:solidFill>
                  <a:srgbClr val="0070C0"/>
                </a:solidFill>
              </a:rPr>
              <a:t>box1</a:t>
            </a:r>
            <a:r>
              <a:rPr lang="en-US" altLang="en-US" dirty="0"/>
              <a:t> would have a </a:t>
            </a:r>
            <a:r>
              <a:rPr lang="en-US" altLang="en-US" b="1" dirty="0"/>
              <a:t>length</a:t>
            </a:r>
            <a:r>
              <a:rPr lang="en-US" altLang="en-US" dirty="0"/>
              <a:t> of </a:t>
            </a:r>
            <a:r>
              <a:rPr lang="en-US" altLang="en-US" b="1" dirty="0"/>
              <a:t>1.0</a:t>
            </a:r>
            <a:r>
              <a:rPr lang="en-US" altLang="en-US" dirty="0"/>
              <a:t> and </a:t>
            </a:r>
            <a:r>
              <a:rPr lang="en-US" altLang="en-US" b="1" dirty="0"/>
              <a:t>width</a:t>
            </a:r>
            <a:r>
              <a:rPr lang="en-US" altLang="en-US" dirty="0"/>
              <a:t> of </a:t>
            </a:r>
            <a:r>
              <a:rPr lang="en-US" altLang="en-US" b="1" dirty="0"/>
              <a:t>1.0</a:t>
            </a:r>
            <a:r>
              <a:rPr lang="en-US" altLang="en-US" dirty="0"/>
              <a:t>.</a:t>
            </a:r>
          </a:p>
          <a:p>
            <a:r>
              <a:rPr lang="en-US" altLang="en-US" dirty="0"/>
              <a:t>The second call would use the original constructor and </a:t>
            </a:r>
            <a:r>
              <a:rPr lang="en-US" altLang="en-US" dirty="0">
                <a:solidFill>
                  <a:srgbClr val="0070C0"/>
                </a:solidFill>
              </a:rPr>
              <a:t>box2</a:t>
            </a:r>
            <a:r>
              <a:rPr lang="en-US" altLang="en-US" dirty="0"/>
              <a:t> would have a </a:t>
            </a:r>
            <a:r>
              <a:rPr lang="en-US" altLang="en-US" b="1" dirty="0"/>
              <a:t>length</a:t>
            </a:r>
            <a:r>
              <a:rPr lang="en-US" altLang="en-US" dirty="0"/>
              <a:t> of </a:t>
            </a:r>
            <a:r>
              <a:rPr lang="en-US" altLang="en-US" b="1" dirty="0"/>
              <a:t>5.0</a:t>
            </a:r>
            <a:r>
              <a:rPr lang="en-US" altLang="en-US" dirty="0"/>
              <a:t> and a </a:t>
            </a:r>
            <a:r>
              <a:rPr lang="en-US" altLang="en-US" b="1" dirty="0"/>
              <a:t>width</a:t>
            </a:r>
            <a:r>
              <a:rPr lang="en-US" altLang="en-US" dirty="0"/>
              <a:t> of </a:t>
            </a:r>
            <a:r>
              <a:rPr lang="en-US" altLang="en-US" b="1" dirty="0"/>
              <a:t>10.0</a:t>
            </a:r>
            <a:r>
              <a:rPr lang="en-US" altLang="en-US" dirty="0"/>
              <a:t>.</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TextBox 4">
            <a:extLst>
              <a:ext uri="{FF2B5EF4-FFF2-40B4-BE49-F238E27FC236}">
                <a16:creationId xmlns:a16="http://schemas.microsoft.com/office/drawing/2014/main" id="{AEAD2275-7EDB-DD71-C2B8-9CE06C445E90}"/>
              </a:ext>
            </a:extLst>
          </p:cNvPr>
          <p:cNvSpPr txBox="1"/>
          <p:nvPr/>
        </p:nvSpPr>
        <p:spPr>
          <a:xfrm>
            <a:off x="2541536" y="2394285"/>
            <a:ext cx="7096356" cy="652936"/>
          </a:xfrm>
          <a:prstGeom prst="rect">
            <a:avLst/>
          </a:prstGeom>
          <a:noFill/>
          <a:ln>
            <a:solidFill>
              <a:schemeClr val="tx1"/>
            </a:solidFill>
          </a:ln>
        </p:spPr>
        <p:txBody>
          <a:bodyPr wrap="square" rtlCol="0">
            <a:spAutoFit/>
          </a:bodyPr>
          <a:lstStyle/>
          <a:p>
            <a:pPr lvl="1" eaLnBrk="1" hangingPunct="1">
              <a:lnSpc>
                <a:spcPct val="90000"/>
              </a:lnSpc>
              <a:buFontTx/>
              <a:buNone/>
            </a:pPr>
            <a:r>
              <a:rPr lang="en-US" altLang="ar-SA" sz="2000" b="1" dirty="0">
                <a:latin typeface="Courier New" panose="02070309020205020404" pitchFamily="49" charset="0"/>
              </a:rPr>
              <a:t>Rectangle box1 = new Rectangle();</a:t>
            </a:r>
          </a:p>
          <a:p>
            <a:pPr lvl="1" eaLnBrk="1" hangingPunct="1">
              <a:lnSpc>
                <a:spcPct val="90000"/>
              </a:lnSpc>
              <a:buFontTx/>
              <a:buNone/>
            </a:pPr>
            <a:r>
              <a:rPr lang="en-US" altLang="ar-SA" sz="2000" b="1" dirty="0">
                <a:latin typeface="Courier New" panose="02070309020205020404" pitchFamily="49" charset="0"/>
              </a:rPr>
              <a:t>Rectangle box2 = new Rectangle(5.0, 10.0);</a:t>
            </a:r>
            <a:endParaRPr lang="en-US" sz="2000" b="1" dirty="0"/>
          </a:p>
        </p:txBody>
      </p:sp>
    </p:spTree>
    <p:extLst>
      <p:ext uri="{BB962C8B-B14F-4D97-AF65-F5344CB8AC3E}">
        <p14:creationId xmlns:p14="http://schemas.microsoft.com/office/powerpoint/2010/main" val="253668896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Summarization Constructors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Constructors: are a special type of methods which have exactly </a:t>
            </a:r>
            <a:r>
              <a:rPr lang="en-US" altLang="en-US" b="1" dirty="0"/>
              <a:t>the same name as the class </a:t>
            </a:r>
            <a:r>
              <a:rPr lang="en-US" altLang="en-US" dirty="0"/>
              <a:t>and they are used to </a:t>
            </a:r>
            <a:r>
              <a:rPr lang="en-US" altLang="en-US" b="1" dirty="0"/>
              <a:t>construct objects of that class</a:t>
            </a:r>
            <a:r>
              <a:rPr lang="en-US" altLang="en-US" dirty="0"/>
              <a:t>. </a:t>
            </a:r>
          </a:p>
          <a:p>
            <a:pPr lvl="1"/>
            <a:r>
              <a:rPr lang="en-US" altLang="en-US" dirty="0"/>
              <a:t>You can write as many constructors as required in each class, each has different assignments (</a:t>
            </a:r>
            <a:r>
              <a:rPr lang="en-US" altLang="en-US" b="1" dirty="0"/>
              <a:t>Overloading</a:t>
            </a:r>
            <a:r>
              <a:rPr lang="en-US" altLang="en-US" dirty="0"/>
              <a:t>).</a:t>
            </a:r>
          </a:p>
          <a:p>
            <a:pPr lvl="1"/>
            <a:r>
              <a:rPr lang="en-US" altLang="en-US" b="1" dirty="0"/>
              <a:t>Overloading</a:t>
            </a:r>
            <a:r>
              <a:rPr lang="en-US" altLang="en-US" dirty="0"/>
              <a:t>: is when two or more methods have the same name but different parameters within the same class. </a:t>
            </a:r>
          </a:p>
          <a:p>
            <a:pPr lvl="1"/>
            <a:r>
              <a:rPr lang="en-US" altLang="en-US" dirty="0"/>
              <a:t>Constructors are example of overloading. All the constructors of a specific class have the </a:t>
            </a:r>
            <a:r>
              <a:rPr lang="en-US" altLang="en-US" b="1" dirty="0"/>
              <a:t>same name </a:t>
            </a:r>
            <a:r>
              <a:rPr lang="en-US" altLang="en-US" dirty="0"/>
              <a:t>(the class name), but </a:t>
            </a:r>
            <a:r>
              <a:rPr lang="en-US" altLang="en-US" b="1" dirty="0"/>
              <a:t>the list of parameters should be different between each others</a:t>
            </a:r>
            <a:r>
              <a:rPr lang="en-US" altLang="en-US" dirty="0"/>
              <a:t>.</a:t>
            </a:r>
          </a:p>
          <a:p>
            <a:pPr lvl="1"/>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847834455"/>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Constructors Types </a:t>
            </a:r>
            <a:endParaRPr lang="en-US" dirty="0"/>
          </a:p>
        </p:txBody>
      </p:sp>
      <p:pic>
        <p:nvPicPr>
          <p:cNvPr id="5" name="Content Placeholder 4">
            <a:extLst>
              <a:ext uri="{FF2B5EF4-FFF2-40B4-BE49-F238E27FC236}">
                <a16:creationId xmlns:a16="http://schemas.microsoft.com/office/drawing/2014/main" id="{85DAE252-FF14-47F6-40DF-D7A86DBB520C}"/>
              </a:ext>
            </a:extLst>
          </p:cNvPr>
          <p:cNvPicPr>
            <a:picLocks noGrp="1" noChangeAspect="1"/>
          </p:cNvPicPr>
          <p:nvPr>
            <p:ph idx="1"/>
          </p:nvPr>
        </p:nvPicPr>
        <p:blipFill>
          <a:blip r:embed="rId2"/>
          <a:stretch>
            <a:fillRect/>
          </a:stretch>
        </p:blipFill>
        <p:spPr>
          <a:xfrm>
            <a:off x="3052098" y="1737360"/>
            <a:ext cx="4660843" cy="4647397"/>
          </a:xfrm>
          <a:prstGeom prst="rect">
            <a:avLst/>
          </a:prstGeom>
        </p:spPr>
      </p:pic>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Right Brace 5">
            <a:extLst>
              <a:ext uri="{FF2B5EF4-FFF2-40B4-BE49-F238E27FC236}">
                <a16:creationId xmlns:a16="http://schemas.microsoft.com/office/drawing/2014/main" id="{F20914CE-90C9-17CD-C0C6-02FF04CECD1F}"/>
              </a:ext>
            </a:extLst>
          </p:cNvPr>
          <p:cNvSpPr/>
          <p:nvPr/>
        </p:nvSpPr>
        <p:spPr>
          <a:xfrm>
            <a:off x="6848722" y="3429000"/>
            <a:ext cx="500066" cy="752139"/>
          </a:xfrm>
          <a:prstGeom prst="rightBrace">
            <a:avLst>
              <a:gd name="adj1" fmla="val 8333"/>
              <a:gd name="adj2" fmla="val 5716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92A78B98-A243-A98E-5B52-DB5A2E5AD6FC}"/>
              </a:ext>
            </a:extLst>
          </p:cNvPr>
          <p:cNvCxnSpPr>
            <a:cxnSpLocks/>
          </p:cNvCxnSpPr>
          <p:nvPr/>
        </p:nvCxnSpPr>
        <p:spPr>
          <a:xfrm>
            <a:off x="7314450" y="3855208"/>
            <a:ext cx="1857388" cy="1588"/>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F0C57C6-D204-6DBC-3037-F618B7133F11}"/>
              </a:ext>
            </a:extLst>
          </p:cNvPr>
          <p:cNvSpPr/>
          <p:nvPr/>
        </p:nvSpPr>
        <p:spPr>
          <a:xfrm>
            <a:off x="8200411" y="3315564"/>
            <a:ext cx="3549847" cy="496996"/>
          </a:xfrm>
          <a:prstGeom prst="rect">
            <a:avLst/>
          </a:prstGeom>
          <a:ln w="19050">
            <a:solidFill>
              <a:srgbClr val="800000"/>
            </a:solidFill>
            <a:prstDash val="dash"/>
          </a:ln>
        </p:spPr>
        <p:txBody>
          <a:bodyPr wrap="square">
            <a:spAutoFit/>
          </a:bodyPr>
          <a:lstStyle/>
          <a:p>
            <a:pPr algn="just" rtl="0">
              <a:lnSpc>
                <a:spcPct val="150000"/>
              </a:lnSpc>
            </a:pPr>
            <a:r>
              <a:rPr lang="en-US" sz="2000" b="1" dirty="0">
                <a:solidFill>
                  <a:srgbClr val="C00000"/>
                </a:solidFill>
                <a:latin typeface="+mj-lt"/>
                <a:cs typeface="Times New Roman" pitchFamily="18" charset="0"/>
              </a:rPr>
              <a:t>Parameterized  constructor</a:t>
            </a:r>
          </a:p>
        </p:txBody>
      </p:sp>
      <p:sp>
        <p:nvSpPr>
          <p:cNvPr id="9" name="Right Brace 8">
            <a:extLst>
              <a:ext uri="{FF2B5EF4-FFF2-40B4-BE49-F238E27FC236}">
                <a16:creationId xmlns:a16="http://schemas.microsoft.com/office/drawing/2014/main" id="{9447B1BE-82C4-3315-E87D-526E07E2EC2F}"/>
              </a:ext>
            </a:extLst>
          </p:cNvPr>
          <p:cNvSpPr/>
          <p:nvPr/>
        </p:nvSpPr>
        <p:spPr>
          <a:xfrm>
            <a:off x="6848722" y="4329759"/>
            <a:ext cx="500066" cy="387171"/>
          </a:xfrm>
          <a:prstGeom prst="rightBrace">
            <a:avLst>
              <a:gd name="adj1" fmla="val 8333"/>
              <a:gd name="adj2" fmla="val 57161"/>
            </a:avLst>
          </a:prstGeom>
          <a:ln w="19050">
            <a:solidFill>
              <a:srgbClr val="00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7A3B10D-A2D1-8A64-BA3B-78386D0FE5EE}"/>
              </a:ext>
            </a:extLst>
          </p:cNvPr>
          <p:cNvCxnSpPr>
            <a:cxnSpLocks/>
          </p:cNvCxnSpPr>
          <p:nvPr/>
        </p:nvCxnSpPr>
        <p:spPr>
          <a:xfrm>
            <a:off x="7330492" y="4552307"/>
            <a:ext cx="1857388" cy="1588"/>
          </a:xfrm>
          <a:prstGeom prst="straightConnector1">
            <a:avLst/>
          </a:prstGeom>
          <a:ln w="28575">
            <a:solidFill>
              <a:srgbClr val="0033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4A6D286-4C21-B0DE-6A54-29CB66DCAC83}"/>
              </a:ext>
            </a:extLst>
          </p:cNvPr>
          <p:cNvSpPr/>
          <p:nvPr/>
        </p:nvSpPr>
        <p:spPr>
          <a:xfrm>
            <a:off x="8483938" y="3992911"/>
            <a:ext cx="3266320" cy="496996"/>
          </a:xfrm>
          <a:prstGeom prst="rect">
            <a:avLst/>
          </a:prstGeom>
          <a:ln w="19050">
            <a:solidFill>
              <a:srgbClr val="003300"/>
            </a:solidFill>
            <a:prstDash val="dash"/>
          </a:ln>
        </p:spPr>
        <p:txBody>
          <a:bodyPr wrap="square">
            <a:spAutoFit/>
          </a:bodyPr>
          <a:lstStyle/>
          <a:p>
            <a:pPr algn="just" rtl="0">
              <a:lnSpc>
                <a:spcPct val="150000"/>
              </a:lnSpc>
            </a:pPr>
            <a:r>
              <a:rPr lang="en-US" sz="2000" b="1" dirty="0">
                <a:solidFill>
                  <a:srgbClr val="003300"/>
                </a:solidFill>
                <a:latin typeface="+mj-lt"/>
                <a:cs typeface="Times New Roman" pitchFamily="18" charset="0"/>
              </a:rPr>
              <a:t>No argument constructor</a:t>
            </a:r>
          </a:p>
        </p:txBody>
      </p:sp>
      <p:sp>
        <p:nvSpPr>
          <p:cNvPr id="12" name="Right Brace 11">
            <a:extLst>
              <a:ext uri="{FF2B5EF4-FFF2-40B4-BE49-F238E27FC236}">
                <a16:creationId xmlns:a16="http://schemas.microsoft.com/office/drawing/2014/main" id="{3B6EE312-4BEA-00A8-EED8-AF5BEDEC2F39}"/>
              </a:ext>
            </a:extLst>
          </p:cNvPr>
          <p:cNvSpPr/>
          <p:nvPr/>
        </p:nvSpPr>
        <p:spPr>
          <a:xfrm>
            <a:off x="6848722" y="4798556"/>
            <a:ext cx="500066" cy="1443790"/>
          </a:xfrm>
          <a:prstGeom prst="rightBrace">
            <a:avLst>
              <a:gd name="adj1" fmla="val 8333"/>
              <a:gd name="adj2" fmla="val 57161"/>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5686ADA-9C45-DE3B-54DF-5D4987361964}"/>
              </a:ext>
            </a:extLst>
          </p:cNvPr>
          <p:cNvCxnSpPr>
            <a:cxnSpLocks/>
          </p:cNvCxnSpPr>
          <p:nvPr/>
        </p:nvCxnSpPr>
        <p:spPr>
          <a:xfrm>
            <a:off x="7348788" y="5624928"/>
            <a:ext cx="1846920" cy="0"/>
          </a:xfrm>
          <a:prstGeom prst="straightConnector1">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2642A49-9A00-2F85-B9D4-8CA6196C1DD9}"/>
              </a:ext>
            </a:extLst>
          </p:cNvPr>
          <p:cNvSpPr/>
          <p:nvPr/>
        </p:nvSpPr>
        <p:spPr>
          <a:xfrm>
            <a:off x="8280516" y="5090418"/>
            <a:ext cx="3469742" cy="496996"/>
          </a:xfrm>
          <a:prstGeom prst="rect">
            <a:avLst/>
          </a:prstGeom>
          <a:ln w="19050">
            <a:solidFill>
              <a:srgbClr val="0000FF"/>
            </a:solidFill>
            <a:prstDash val="dash"/>
          </a:ln>
        </p:spPr>
        <p:txBody>
          <a:bodyPr wrap="square">
            <a:spAutoFit/>
          </a:bodyPr>
          <a:lstStyle/>
          <a:p>
            <a:pPr algn="just" rtl="0">
              <a:lnSpc>
                <a:spcPct val="150000"/>
              </a:lnSpc>
            </a:pPr>
            <a:r>
              <a:rPr lang="en-US" sz="2000" b="1" dirty="0">
                <a:solidFill>
                  <a:srgbClr val="0000FF"/>
                </a:solidFill>
                <a:latin typeface="+mj-lt"/>
                <a:cs typeface="Times New Roman" pitchFamily="18" charset="0"/>
              </a:rPr>
              <a:t>One parameter constructor</a:t>
            </a:r>
          </a:p>
        </p:txBody>
      </p:sp>
    </p:spTree>
    <p:extLst>
      <p:ext uri="{BB962C8B-B14F-4D97-AF65-F5344CB8AC3E}">
        <p14:creationId xmlns:p14="http://schemas.microsoft.com/office/powerpoint/2010/main" val="159256309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Constructors Types </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EB51790B-A912-5CAE-6529-17BCB320BFC4}"/>
              </a:ext>
            </a:extLst>
          </p:cNvPr>
          <p:cNvPicPr>
            <a:picLocks noChangeAspect="1" noChangeArrowheads="1"/>
          </p:cNvPicPr>
          <p:nvPr/>
        </p:nvPicPr>
        <p:blipFill>
          <a:blip r:embed="rId2"/>
          <a:srcRect/>
          <a:stretch>
            <a:fillRect/>
          </a:stretch>
        </p:blipFill>
        <p:spPr bwMode="auto">
          <a:xfrm>
            <a:off x="1415480" y="1700808"/>
            <a:ext cx="8001056" cy="4627803"/>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C4693F3F-31BC-51EB-E8B3-663DE8E28505}"/>
              </a:ext>
            </a:extLst>
          </p:cNvPr>
          <p:cNvSpPr txBox="1"/>
          <p:nvPr/>
        </p:nvSpPr>
        <p:spPr>
          <a:xfrm>
            <a:off x="9605318" y="3208421"/>
            <a:ext cx="2225319" cy="1015663"/>
          </a:xfrm>
          <a:prstGeom prst="rect">
            <a:avLst/>
          </a:prstGeom>
          <a:noFill/>
        </p:spPr>
        <p:txBody>
          <a:bodyPr wrap="square" rtlCol="0">
            <a:spAutoFit/>
          </a:bodyPr>
          <a:lstStyle/>
          <a:p>
            <a:r>
              <a:rPr lang="en-US" sz="2000" dirty="0">
                <a:solidFill>
                  <a:srgbClr val="FF0000"/>
                </a:solidFill>
              </a:rPr>
              <a:t>Code and Error explanation in next slides</a:t>
            </a:r>
          </a:p>
        </p:txBody>
      </p:sp>
    </p:spTree>
    <p:extLst>
      <p:ext uri="{BB962C8B-B14F-4D97-AF65-F5344CB8AC3E}">
        <p14:creationId xmlns:p14="http://schemas.microsoft.com/office/powerpoint/2010/main" val="1018871719"/>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Constructors Types: </a:t>
            </a:r>
            <a:r>
              <a:rPr lang="en-US" altLang="en-US" dirty="0">
                <a:solidFill>
                  <a:srgbClr val="FF0000"/>
                </a:solidFill>
              </a:rPr>
              <a:t>Explanation </a:t>
            </a:r>
            <a:endParaRPr lang="en-US" dirty="0">
              <a:solidFill>
                <a:srgbClr val="FF0000"/>
              </a:solidFill>
            </a:endParaRP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Line 4: creates an object (r1) from the class circle using the constructor without parameters in line 13 in the circle class. Note that there no default constructor in the class now, since there is at least one user defined constructor written.</a:t>
            </a:r>
          </a:p>
          <a:p>
            <a:pPr lvl="1"/>
            <a:r>
              <a:rPr lang="en-US" altLang="en-US" dirty="0"/>
              <a:t>(r1) now has radius = 0.0 and color = null. </a:t>
            </a:r>
          </a:p>
          <a:p>
            <a:pPr lvl="1"/>
            <a:r>
              <a:rPr lang="en-US" altLang="en-US" dirty="0"/>
              <a:t>The code of this constructor can be left empty ({}) so the default values are going to be assigned to the attributes. Instead of this, you can assign any required values to the attributes.</a:t>
            </a:r>
          </a:p>
          <a:p>
            <a:r>
              <a:rPr lang="en-US" altLang="en-US" dirty="0"/>
              <a:t>Line 5: creates an object (r2) from the class circle using the constructor with full parameters in line 8 in the circle class, passing the values 5 and "red" to be the values of radius and color attributes respectively.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847820381"/>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sz="4800" kern="1200" spc="-50" baseline="0" dirty="0">
                <a:solidFill>
                  <a:srgbClr val="404040"/>
                </a:solidFill>
                <a:effectLst/>
                <a:latin typeface="Arial" panose="020B0604020202020204" pitchFamily="34" charset="0"/>
                <a:ea typeface="+mj-ea"/>
                <a:cs typeface="+mj-cs"/>
              </a:rPr>
              <a:t>Constructors Types: </a:t>
            </a:r>
            <a:r>
              <a:rPr lang="en-US" sz="4800" kern="1200" spc="-50" baseline="0" dirty="0">
                <a:solidFill>
                  <a:srgbClr val="FF0000"/>
                </a:solidFill>
                <a:effectLst/>
                <a:latin typeface="Arial" panose="020B0604020202020204" pitchFamily="34" charset="0"/>
                <a:ea typeface="+mj-ea"/>
                <a:cs typeface="+mj-cs"/>
              </a:rPr>
              <a:t>Explanation </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Line 6 : creates an object (r3) from the class circle using the constructor with one parameter in line 16 in the circle class, passing the values 12 to be the value of radius. </a:t>
            </a:r>
          </a:p>
          <a:p>
            <a:r>
              <a:rPr lang="en-US" altLang="en-US" dirty="0"/>
              <a:t>The constructors in line (7) generates </a:t>
            </a:r>
            <a:r>
              <a:rPr lang="en-US" altLang="en-US" dirty="0">
                <a:solidFill>
                  <a:srgbClr val="FF0000"/>
                </a:solidFill>
              </a:rPr>
              <a:t>error</a:t>
            </a:r>
            <a:r>
              <a:rPr lang="en-US" altLang="en-US" dirty="0"/>
              <a:t>, since there are </a:t>
            </a:r>
            <a:r>
              <a:rPr lang="en-US" altLang="en-US" dirty="0">
                <a:solidFill>
                  <a:srgbClr val="FF0000"/>
                </a:solidFill>
              </a:rPr>
              <a:t>no constructors in the class matching the given parameters.</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22075E27-0375-0E13-34C3-EB3EFC5F5360}"/>
              </a:ext>
            </a:extLst>
          </p:cNvPr>
          <p:cNvPicPr>
            <a:picLocks noChangeAspect="1" noChangeArrowheads="1"/>
          </p:cNvPicPr>
          <p:nvPr/>
        </p:nvPicPr>
        <p:blipFill>
          <a:blip r:embed="rId2"/>
          <a:srcRect/>
          <a:stretch>
            <a:fillRect/>
          </a:stretch>
        </p:blipFill>
        <p:spPr bwMode="auto">
          <a:xfrm>
            <a:off x="5598694" y="3759852"/>
            <a:ext cx="6530583" cy="2500330"/>
          </a:xfrm>
          <a:prstGeom prst="rect">
            <a:avLst/>
          </a:prstGeom>
          <a:ln w="12700" cap="sq">
            <a:noFill/>
            <a:prstDash val="lg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55556070"/>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Example: Circle Class with Constructors</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7" name="Content Placeholder 6">
            <a:extLst>
              <a:ext uri="{FF2B5EF4-FFF2-40B4-BE49-F238E27FC236}">
                <a16:creationId xmlns:a16="http://schemas.microsoft.com/office/drawing/2014/main" id="{5C10771F-6266-540E-6126-ED48027351E3}"/>
              </a:ext>
            </a:extLst>
          </p:cNvPr>
          <p:cNvGraphicFramePr>
            <a:graphicFrameLocks noGrp="1" noChangeAspect="1"/>
          </p:cNvGraphicFramePr>
          <p:nvPr>
            <p:ph idx="1"/>
            <p:extLst>
              <p:ext uri="{D42A27DB-BD31-4B8C-83A1-F6EECF244321}">
                <p14:modId xmlns:p14="http://schemas.microsoft.com/office/powerpoint/2010/main" val="2404095380"/>
              </p:ext>
            </p:extLst>
          </p:nvPr>
        </p:nvGraphicFramePr>
        <p:xfrm>
          <a:off x="2378697" y="1737360"/>
          <a:ext cx="7220537" cy="4834037"/>
        </p:xfrm>
        <a:graphic>
          <a:graphicData uri="http://schemas.openxmlformats.org/presentationml/2006/ole">
            <mc:AlternateContent xmlns:mc="http://schemas.openxmlformats.org/markup-compatibility/2006">
              <mc:Choice xmlns:v="urn:schemas-microsoft-com:vml" Requires="v">
                <p:oleObj name="Picture" r:id="rId2" imgW="3543480" imgH="2286000" progId="Word.Picture.8">
                  <p:embed/>
                </p:oleObj>
              </mc:Choice>
              <mc:Fallback>
                <p:oleObj name="Picture" r:id="rId2" imgW="3543480" imgH="2286000" progId="Word.Picture.8">
                  <p:embed/>
                  <p:pic>
                    <p:nvPicPr>
                      <p:cNvPr id="5" name="Object 6">
                        <a:extLst>
                          <a:ext uri="{FF2B5EF4-FFF2-40B4-BE49-F238E27FC236}">
                            <a16:creationId xmlns:a16="http://schemas.microsoft.com/office/drawing/2014/main" id="{53BB0ED5-B70D-D5A5-9965-31CF2133BF3E}"/>
                          </a:ext>
                        </a:extLst>
                      </p:cNvPr>
                      <p:cNvPicPr>
                        <a:picLocks noChangeAspect="1" noChangeArrowheads="1"/>
                      </p:cNvPicPr>
                      <p:nvPr/>
                    </p:nvPicPr>
                    <p:blipFill>
                      <a:blip r:embed="rId3"/>
                      <a:srcRect/>
                      <a:stretch>
                        <a:fillRect/>
                      </a:stretch>
                    </p:blipFill>
                    <p:spPr bwMode="auto">
                      <a:xfrm>
                        <a:off x="2378697" y="1737360"/>
                        <a:ext cx="7220537" cy="483403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6462129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Code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Text Box 6">
            <a:extLst>
              <a:ext uri="{FF2B5EF4-FFF2-40B4-BE49-F238E27FC236}">
                <a16:creationId xmlns:a16="http://schemas.microsoft.com/office/drawing/2014/main" id="{BBC02D2C-3DF6-E135-7C95-7D346AE07873}"/>
              </a:ext>
            </a:extLst>
          </p:cNvPr>
          <p:cNvSpPr txBox="1">
            <a:spLocks noChangeArrowheads="1"/>
          </p:cNvSpPr>
          <p:nvPr/>
        </p:nvSpPr>
        <p:spPr bwMode="auto">
          <a:xfrm>
            <a:off x="1676400" y="3453060"/>
            <a:ext cx="550244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myCircle</a:t>
            </a:r>
            <a:r>
              <a:rPr lang="en-US" altLang="en-US" sz="2000" b="1" dirty="0">
                <a:solidFill>
                  <a:schemeClr val="tx2"/>
                </a:solidFill>
                <a:latin typeface="Courier New" panose="02070309020205020404" pitchFamily="49" charset="0"/>
                <a:cs typeface="Courier New" panose="02070309020205020404" pitchFamily="49" charset="0"/>
              </a:rPr>
              <a:t> = new Circle(5.0);</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yourCircle</a:t>
            </a:r>
            <a:r>
              <a:rPr lang="en-US" altLang="en-US" sz="2000" b="1" dirty="0">
                <a:solidFill>
                  <a:schemeClr val="tx2"/>
                </a:solidFill>
                <a:latin typeface="Courier New" panose="02070309020205020404" pitchFamily="49" charset="0"/>
                <a:cs typeface="Courier New" panose="02070309020205020404" pitchFamily="49" charset="0"/>
              </a:rPr>
              <a:t> = new Circle();</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err="1">
                <a:solidFill>
                  <a:schemeClr val="tx2"/>
                </a:solidFill>
                <a:latin typeface="Courier New" panose="02070309020205020404" pitchFamily="49" charset="0"/>
                <a:cs typeface="Courier New" panose="02070309020205020404" pitchFamily="49" charset="0"/>
              </a:rPr>
              <a:t>yourCircle.radius</a:t>
            </a:r>
            <a:r>
              <a:rPr lang="en-US" altLang="en-US" sz="2000" b="1" dirty="0">
                <a:solidFill>
                  <a:schemeClr val="tx2"/>
                </a:solidFill>
                <a:latin typeface="Courier New" panose="02070309020205020404" pitchFamily="49" charset="0"/>
                <a:cs typeface="Courier New" panose="02070309020205020404" pitchFamily="49" charset="0"/>
              </a:rPr>
              <a:t> = 100;</a:t>
            </a:r>
          </a:p>
        </p:txBody>
      </p:sp>
      <p:sp>
        <p:nvSpPr>
          <p:cNvPr id="8" name="AutoShape 9">
            <a:extLst>
              <a:ext uri="{FF2B5EF4-FFF2-40B4-BE49-F238E27FC236}">
                <a16:creationId xmlns:a16="http://schemas.microsoft.com/office/drawing/2014/main" id="{575CD760-895C-F579-16AD-1D8F166C56D5}"/>
              </a:ext>
            </a:extLst>
          </p:cNvPr>
          <p:cNvSpPr>
            <a:spLocks noChangeArrowheads="1"/>
          </p:cNvSpPr>
          <p:nvPr/>
        </p:nvSpPr>
        <p:spPr bwMode="auto">
          <a:xfrm>
            <a:off x="3993984" y="2100199"/>
            <a:ext cx="2265363" cy="466538"/>
          </a:xfrm>
          <a:prstGeom prst="wedgeRoundRectCallout">
            <a:avLst>
              <a:gd name="adj1" fmla="val -67251"/>
              <a:gd name="adj2" fmla="val 247975"/>
              <a:gd name="adj3" fmla="val 16667"/>
            </a:avLst>
          </a:prstGeom>
          <a:solidFill>
            <a:srgbClr val="ADBADA"/>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a:latin typeface="+mj-lt"/>
              </a:rPr>
              <a:t>Declare </a:t>
            </a:r>
            <a:r>
              <a:rPr lang="en-US" altLang="en-US" sz="2000" dirty="0" err="1">
                <a:latin typeface="+mj-lt"/>
              </a:rPr>
              <a:t>myCircle</a:t>
            </a:r>
            <a:endParaRPr lang="en-US" altLang="en-US" sz="2000" dirty="0">
              <a:latin typeface="+mj-lt"/>
            </a:endParaRPr>
          </a:p>
          <a:p>
            <a:pPr algn="ctr">
              <a:spcBef>
                <a:spcPct val="0"/>
              </a:spcBef>
              <a:buClrTx/>
              <a:buSzTx/>
              <a:buFontTx/>
              <a:buNone/>
            </a:pPr>
            <a:endParaRPr lang="en-US" altLang="en-US" sz="2000" dirty="0">
              <a:latin typeface="+mj-lt"/>
            </a:endParaRPr>
          </a:p>
        </p:txBody>
      </p:sp>
      <p:sp>
        <p:nvSpPr>
          <p:cNvPr id="9" name="Rectangle 10">
            <a:extLst>
              <a:ext uri="{FF2B5EF4-FFF2-40B4-BE49-F238E27FC236}">
                <a16:creationId xmlns:a16="http://schemas.microsoft.com/office/drawing/2014/main" id="{45DF46C5-3697-F081-23AF-4A4C2B49F852}"/>
              </a:ext>
            </a:extLst>
          </p:cNvPr>
          <p:cNvSpPr>
            <a:spLocks noChangeArrowheads="1"/>
          </p:cNvSpPr>
          <p:nvPr/>
        </p:nvSpPr>
        <p:spPr bwMode="auto">
          <a:xfrm>
            <a:off x="9923254" y="4120685"/>
            <a:ext cx="1524000" cy="3063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latin typeface="+mj-lt"/>
              </a:rPr>
              <a:t>no value</a:t>
            </a:r>
          </a:p>
        </p:txBody>
      </p:sp>
      <p:sp>
        <p:nvSpPr>
          <p:cNvPr id="10" name="Text Box 11">
            <a:extLst>
              <a:ext uri="{FF2B5EF4-FFF2-40B4-BE49-F238E27FC236}">
                <a16:creationId xmlns:a16="http://schemas.microsoft.com/office/drawing/2014/main" id="{063E4393-029E-13AD-6534-F83659887195}"/>
              </a:ext>
            </a:extLst>
          </p:cNvPr>
          <p:cNvSpPr txBox="1">
            <a:spLocks noChangeArrowheads="1"/>
          </p:cNvSpPr>
          <p:nvPr/>
        </p:nvSpPr>
        <p:spPr bwMode="auto">
          <a:xfrm>
            <a:off x="7869864" y="4073823"/>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myCircle</a:t>
            </a:r>
            <a:endParaRPr lang="en-US" altLang="en-US" sz="2000" b="1" dirty="0">
              <a:latin typeface="Courier New" panose="02070309020205020404" pitchFamily="49" charset="0"/>
              <a:cs typeface="Courier New" panose="02070309020205020404" pitchFamily="49" charset="0"/>
            </a:endParaRPr>
          </a:p>
        </p:txBody>
      </p:sp>
      <p:sp>
        <p:nvSpPr>
          <p:cNvPr id="11" name="Rectangle 7">
            <a:extLst>
              <a:ext uri="{FF2B5EF4-FFF2-40B4-BE49-F238E27FC236}">
                <a16:creationId xmlns:a16="http://schemas.microsoft.com/office/drawing/2014/main" id="{9DF70360-E22D-C0E0-A5D5-1D977E3CDEBC}"/>
              </a:ext>
            </a:extLst>
          </p:cNvPr>
          <p:cNvSpPr>
            <a:spLocks noChangeArrowheads="1"/>
          </p:cNvSpPr>
          <p:nvPr/>
        </p:nvSpPr>
        <p:spPr bwMode="auto">
          <a:xfrm>
            <a:off x="1748589" y="3511433"/>
            <a:ext cx="2328111" cy="274499"/>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 name="Text Box 11">
            <a:extLst>
              <a:ext uri="{FF2B5EF4-FFF2-40B4-BE49-F238E27FC236}">
                <a16:creationId xmlns:a16="http://schemas.microsoft.com/office/drawing/2014/main" id="{DEA9DD82-4158-BB60-B850-31397A7404F9}"/>
              </a:ext>
            </a:extLst>
          </p:cNvPr>
          <p:cNvSpPr txBox="1">
            <a:spLocks noChangeArrowheads="1"/>
          </p:cNvSpPr>
          <p:nvPr/>
        </p:nvSpPr>
        <p:spPr bwMode="auto">
          <a:xfrm>
            <a:off x="8944686" y="1887916"/>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a:solidFill>
                  <a:srgbClr val="FF0000"/>
                </a:solidFill>
                <a:latin typeface="+mj-lt"/>
                <a:cs typeface="Courier New" panose="02070309020205020404" pitchFamily="49" charset="0"/>
              </a:rPr>
              <a:t>Memory</a:t>
            </a:r>
          </a:p>
        </p:txBody>
      </p:sp>
      <p:sp>
        <p:nvSpPr>
          <p:cNvPr id="13" name="AutoShape 9">
            <a:extLst>
              <a:ext uri="{FF2B5EF4-FFF2-40B4-BE49-F238E27FC236}">
                <a16:creationId xmlns:a16="http://schemas.microsoft.com/office/drawing/2014/main" id="{68C3952A-9D01-1EFA-156E-2F0C8B42C2F9}"/>
              </a:ext>
            </a:extLst>
          </p:cNvPr>
          <p:cNvSpPr>
            <a:spLocks noChangeArrowheads="1"/>
          </p:cNvSpPr>
          <p:nvPr/>
        </p:nvSpPr>
        <p:spPr bwMode="auto">
          <a:xfrm>
            <a:off x="8419891" y="2446678"/>
            <a:ext cx="2673225" cy="982322"/>
          </a:xfrm>
          <a:prstGeom prst="wedgeRoundRectCallout">
            <a:avLst>
              <a:gd name="adj1" fmla="val -32624"/>
              <a:gd name="adj2" fmla="val 124859"/>
              <a:gd name="adj3" fmla="val 16667"/>
            </a:avLst>
          </a:prstGeom>
          <a:solidFill>
            <a:srgbClr val="ADBADA"/>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err="1">
                <a:latin typeface="+mj-lt"/>
              </a:rPr>
              <a:t>myCircle</a:t>
            </a:r>
            <a:r>
              <a:rPr lang="en-US" altLang="en-US" sz="2000" dirty="0">
                <a:latin typeface="+mj-lt"/>
              </a:rPr>
              <a:t> declared In the memory</a:t>
            </a:r>
          </a:p>
          <a:p>
            <a:pPr algn="ctr">
              <a:spcBef>
                <a:spcPct val="0"/>
              </a:spcBef>
              <a:buClrTx/>
              <a:buSzTx/>
              <a:buFontTx/>
              <a:buNone/>
            </a:pPr>
            <a:endParaRPr lang="en-US" altLang="en-US" sz="2000" dirty="0">
              <a:latin typeface="+mj-lt"/>
            </a:endParaRPr>
          </a:p>
        </p:txBody>
      </p:sp>
    </p:spTree>
    <p:extLst>
      <p:ext uri="{BB962C8B-B14F-4D97-AF65-F5344CB8AC3E}">
        <p14:creationId xmlns:p14="http://schemas.microsoft.com/office/powerpoint/2010/main" val="3751556218"/>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Code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Text Box 6">
            <a:extLst>
              <a:ext uri="{FF2B5EF4-FFF2-40B4-BE49-F238E27FC236}">
                <a16:creationId xmlns:a16="http://schemas.microsoft.com/office/drawing/2014/main" id="{BBC02D2C-3DF6-E135-7C95-7D346AE07873}"/>
              </a:ext>
            </a:extLst>
          </p:cNvPr>
          <p:cNvSpPr txBox="1">
            <a:spLocks noChangeArrowheads="1"/>
          </p:cNvSpPr>
          <p:nvPr/>
        </p:nvSpPr>
        <p:spPr bwMode="auto">
          <a:xfrm>
            <a:off x="1034716" y="3453060"/>
            <a:ext cx="5442284"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myCircle</a:t>
            </a:r>
            <a:r>
              <a:rPr lang="en-US" altLang="en-US" sz="2000" b="1" dirty="0">
                <a:solidFill>
                  <a:schemeClr val="tx2"/>
                </a:solidFill>
                <a:latin typeface="Courier New" panose="02070309020205020404" pitchFamily="49" charset="0"/>
                <a:cs typeface="Courier New" panose="02070309020205020404" pitchFamily="49" charset="0"/>
              </a:rPr>
              <a:t> = new Circle(5.0);</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yourCircle</a:t>
            </a:r>
            <a:r>
              <a:rPr lang="en-US" altLang="en-US" sz="2000" b="1" dirty="0">
                <a:solidFill>
                  <a:schemeClr val="tx2"/>
                </a:solidFill>
                <a:latin typeface="Courier New" panose="02070309020205020404" pitchFamily="49" charset="0"/>
                <a:cs typeface="Courier New" panose="02070309020205020404" pitchFamily="49" charset="0"/>
              </a:rPr>
              <a:t> = new Circle();</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err="1">
                <a:solidFill>
                  <a:schemeClr val="tx2"/>
                </a:solidFill>
                <a:latin typeface="Courier New" panose="02070309020205020404" pitchFamily="49" charset="0"/>
                <a:cs typeface="Courier New" panose="02070309020205020404" pitchFamily="49" charset="0"/>
              </a:rPr>
              <a:t>yourCircle.radius</a:t>
            </a:r>
            <a:r>
              <a:rPr lang="en-US" altLang="en-US" sz="2000" b="1" dirty="0">
                <a:solidFill>
                  <a:schemeClr val="tx2"/>
                </a:solidFill>
                <a:latin typeface="Courier New" panose="02070309020205020404" pitchFamily="49" charset="0"/>
                <a:cs typeface="Courier New" panose="02070309020205020404" pitchFamily="49" charset="0"/>
              </a:rPr>
              <a:t> = 100;</a:t>
            </a:r>
          </a:p>
        </p:txBody>
      </p:sp>
      <p:sp>
        <p:nvSpPr>
          <p:cNvPr id="8" name="AutoShape 9">
            <a:extLst>
              <a:ext uri="{FF2B5EF4-FFF2-40B4-BE49-F238E27FC236}">
                <a16:creationId xmlns:a16="http://schemas.microsoft.com/office/drawing/2014/main" id="{575CD760-895C-F579-16AD-1D8F166C56D5}"/>
              </a:ext>
            </a:extLst>
          </p:cNvPr>
          <p:cNvSpPr>
            <a:spLocks noChangeArrowheads="1"/>
          </p:cNvSpPr>
          <p:nvPr/>
        </p:nvSpPr>
        <p:spPr bwMode="auto">
          <a:xfrm>
            <a:off x="3328737" y="2100198"/>
            <a:ext cx="3607771" cy="689183"/>
          </a:xfrm>
          <a:prstGeom prst="wedgeRoundRectCallout">
            <a:avLst>
              <a:gd name="adj1" fmla="val -37674"/>
              <a:gd name="adj2" fmla="val 151860"/>
              <a:gd name="adj3" fmla="val 16667"/>
            </a:avLst>
          </a:prstGeom>
          <a:solidFill>
            <a:srgbClr val="ADBADA"/>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a:latin typeface="+mj-lt"/>
              </a:rPr>
              <a:t>Assign object reference to </a:t>
            </a:r>
            <a:r>
              <a:rPr lang="en-US" altLang="en-US" sz="2000" dirty="0" err="1">
                <a:latin typeface="+mj-lt"/>
              </a:rPr>
              <a:t>myCircle</a:t>
            </a:r>
            <a:endParaRPr lang="en-US" altLang="en-US" sz="2000" dirty="0">
              <a:latin typeface="+mj-lt"/>
            </a:endParaRPr>
          </a:p>
          <a:p>
            <a:pPr algn="ctr">
              <a:spcBef>
                <a:spcPct val="0"/>
              </a:spcBef>
              <a:buClrTx/>
              <a:buSzTx/>
              <a:buFontTx/>
              <a:buNone/>
            </a:pPr>
            <a:endParaRPr lang="en-US" altLang="en-US" sz="2000" dirty="0">
              <a:latin typeface="+mj-lt"/>
            </a:endParaRPr>
          </a:p>
        </p:txBody>
      </p:sp>
      <p:sp>
        <p:nvSpPr>
          <p:cNvPr id="11" name="Rectangle 7">
            <a:extLst>
              <a:ext uri="{FF2B5EF4-FFF2-40B4-BE49-F238E27FC236}">
                <a16:creationId xmlns:a16="http://schemas.microsoft.com/office/drawing/2014/main" id="{9DF70360-E22D-C0E0-A5D5-1D977E3CDEBC}"/>
              </a:ext>
            </a:extLst>
          </p:cNvPr>
          <p:cNvSpPr>
            <a:spLocks noChangeArrowheads="1"/>
          </p:cNvSpPr>
          <p:nvPr/>
        </p:nvSpPr>
        <p:spPr bwMode="auto">
          <a:xfrm>
            <a:off x="3497179" y="3511433"/>
            <a:ext cx="296779" cy="274499"/>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 name="Text Box 11">
            <a:extLst>
              <a:ext uri="{FF2B5EF4-FFF2-40B4-BE49-F238E27FC236}">
                <a16:creationId xmlns:a16="http://schemas.microsoft.com/office/drawing/2014/main" id="{DEA9DD82-4158-BB60-B850-31397A7404F9}"/>
              </a:ext>
            </a:extLst>
          </p:cNvPr>
          <p:cNvSpPr txBox="1">
            <a:spLocks noChangeArrowheads="1"/>
          </p:cNvSpPr>
          <p:nvPr/>
        </p:nvSpPr>
        <p:spPr bwMode="auto">
          <a:xfrm>
            <a:off x="8944686" y="1887916"/>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a:solidFill>
                  <a:srgbClr val="FF0000"/>
                </a:solidFill>
                <a:latin typeface="+mj-lt"/>
                <a:cs typeface="Courier New" panose="02070309020205020404" pitchFamily="49" charset="0"/>
              </a:rPr>
              <a:t>Memory</a:t>
            </a:r>
          </a:p>
        </p:txBody>
      </p:sp>
      <p:sp>
        <p:nvSpPr>
          <p:cNvPr id="16" name="Rectangle 10">
            <a:extLst>
              <a:ext uri="{FF2B5EF4-FFF2-40B4-BE49-F238E27FC236}">
                <a16:creationId xmlns:a16="http://schemas.microsoft.com/office/drawing/2014/main" id="{318F400A-BBCE-54B0-7705-3DF7B5834F14}"/>
              </a:ext>
            </a:extLst>
          </p:cNvPr>
          <p:cNvSpPr>
            <a:spLocks noChangeArrowheads="1"/>
          </p:cNvSpPr>
          <p:nvPr/>
        </p:nvSpPr>
        <p:spPr bwMode="auto">
          <a:xfrm>
            <a:off x="9773197" y="4115474"/>
            <a:ext cx="1795504" cy="3063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latin typeface="+mj-lt"/>
              </a:rPr>
              <a:t>Reference value</a:t>
            </a:r>
          </a:p>
        </p:txBody>
      </p:sp>
      <p:sp>
        <p:nvSpPr>
          <p:cNvPr id="17" name="Text Box 11">
            <a:extLst>
              <a:ext uri="{FF2B5EF4-FFF2-40B4-BE49-F238E27FC236}">
                <a16:creationId xmlns:a16="http://schemas.microsoft.com/office/drawing/2014/main" id="{52456094-BD82-38CF-C5EF-6F73EED24388}"/>
              </a:ext>
            </a:extLst>
          </p:cNvPr>
          <p:cNvSpPr txBox="1">
            <a:spLocks noChangeArrowheads="1"/>
          </p:cNvSpPr>
          <p:nvPr/>
        </p:nvSpPr>
        <p:spPr bwMode="auto">
          <a:xfrm>
            <a:off x="7869864" y="4073823"/>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myCircle</a:t>
            </a:r>
            <a:endParaRPr lang="en-US" altLang="en-US" sz="2000" b="1" dirty="0">
              <a:latin typeface="Courier New" panose="02070309020205020404" pitchFamily="49" charset="0"/>
              <a:cs typeface="Courier New" panose="02070309020205020404" pitchFamily="49" charset="0"/>
            </a:endParaRPr>
          </a:p>
        </p:txBody>
      </p:sp>
      <p:pic>
        <p:nvPicPr>
          <p:cNvPr id="19" name="Picture 18">
            <a:extLst>
              <a:ext uri="{FF2B5EF4-FFF2-40B4-BE49-F238E27FC236}">
                <a16:creationId xmlns:a16="http://schemas.microsoft.com/office/drawing/2014/main" id="{86091434-1F7A-353F-A4BD-E5DC9230AFD0}"/>
              </a:ext>
            </a:extLst>
          </p:cNvPr>
          <p:cNvPicPr>
            <a:picLocks noChangeAspect="1"/>
          </p:cNvPicPr>
          <p:nvPr/>
        </p:nvPicPr>
        <p:blipFill>
          <a:blip r:embed="rId2"/>
          <a:stretch>
            <a:fillRect/>
          </a:stretch>
        </p:blipFill>
        <p:spPr>
          <a:xfrm>
            <a:off x="8258175" y="2379394"/>
            <a:ext cx="2686050" cy="1190625"/>
          </a:xfrm>
          <a:prstGeom prst="rect">
            <a:avLst/>
          </a:prstGeom>
        </p:spPr>
      </p:pic>
      <p:sp>
        <p:nvSpPr>
          <p:cNvPr id="20" name="Line 11">
            <a:extLst>
              <a:ext uri="{FF2B5EF4-FFF2-40B4-BE49-F238E27FC236}">
                <a16:creationId xmlns:a16="http://schemas.microsoft.com/office/drawing/2014/main" id="{52B6E782-5486-322F-B296-B457A57A11E1}"/>
              </a:ext>
            </a:extLst>
          </p:cNvPr>
          <p:cNvSpPr>
            <a:spLocks noChangeShapeType="1"/>
          </p:cNvSpPr>
          <p:nvPr/>
        </p:nvSpPr>
        <p:spPr bwMode="auto">
          <a:xfrm flipH="1" flipV="1">
            <a:off x="9705474" y="3511432"/>
            <a:ext cx="954504" cy="562389"/>
          </a:xfrm>
          <a:prstGeom prst="line">
            <a:avLst/>
          </a:prstGeom>
          <a:noFill/>
          <a:ln w="381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684478681"/>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Code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Text Box 6">
            <a:extLst>
              <a:ext uri="{FF2B5EF4-FFF2-40B4-BE49-F238E27FC236}">
                <a16:creationId xmlns:a16="http://schemas.microsoft.com/office/drawing/2014/main" id="{BBC02D2C-3DF6-E135-7C95-7D346AE07873}"/>
              </a:ext>
            </a:extLst>
          </p:cNvPr>
          <p:cNvSpPr txBox="1">
            <a:spLocks noChangeArrowheads="1"/>
          </p:cNvSpPr>
          <p:nvPr/>
        </p:nvSpPr>
        <p:spPr bwMode="auto">
          <a:xfrm>
            <a:off x="978568" y="3453060"/>
            <a:ext cx="549843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myCircle</a:t>
            </a:r>
            <a:r>
              <a:rPr lang="en-US" altLang="en-US" sz="2000" b="1" dirty="0">
                <a:solidFill>
                  <a:schemeClr val="tx2"/>
                </a:solidFill>
                <a:latin typeface="Courier New" panose="02070309020205020404" pitchFamily="49" charset="0"/>
                <a:cs typeface="Courier New" panose="02070309020205020404" pitchFamily="49" charset="0"/>
              </a:rPr>
              <a:t> = new Circle(5.0);</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yourCircle</a:t>
            </a:r>
            <a:r>
              <a:rPr lang="en-US" altLang="en-US" sz="2000" b="1" dirty="0">
                <a:solidFill>
                  <a:schemeClr val="tx2"/>
                </a:solidFill>
                <a:latin typeface="Courier New" panose="02070309020205020404" pitchFamily="49" charset="0"/>
                <a:cs typeface="Courier New" panose="02070309020205020404" pitchFamily="49" charset="0"/>
              </a:rPr>
              <a:t> = new Circle();</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err="1">
                <a:solidFill>
                  <a:schemeClr val="tx2"/>
                </a:solidFill>
                <a:latin typeface="Courier New" panose="02070309020205020404" pitchFamily="49" charset="0"/>
                <a:cs typeface="Courier New" panose="02070309020205020404" pitchFamily="49" charset="0"/>
              </a:rPr>
              <a:t>yourCircle.radius</a:t>
            </a:r>
            <a:r>
              <a:rPr lang="en-US" altLang="en-US" sz="2000" b="1" dirty="0">
                <a:solidFill>
                  <a:schemeClr val="tx2"/>
                </a:solidFill>
                <a:latin typeface="Courier New" panose="02070309020205020404" pitchFamily="49" charset="0"/>
                <a:cs typeface="Courier New" panose="02070309020205020404" pitchFamily="49" charset="0"/>
              </a:rPr>
              <a:t> = 100;</a:t>
            </a:r>
          </a:p>
        </p:txBody>
      </p:sp>
      <p:sp>
        <p:nvSpPr>
          <p:cNvPr id="8" name="AutoShape 9">
            <a:extLst>
              <a:ext uri="{FF2B5EF4-FFF2-40B4-BE49-F238E27FC236}">
                <a16:creationId xmlns:a16="http://schemas.microsoft.com/office/drawing/2014/main" id="{575CD760-895C-F579-16AD-1D8F166C56D5}"/>
              </a:ext>
            </a:extLst>
          </p:cNvPr>
          <p:cNvSpPr>
            <a:spLocks noChangeArrowheads="1"/>
          </p:cNvSpPr>
          <p:nvPr/>
        </p:nvSpPr>
        <p:spPr bwMode="auto">
          <a:xfrm>
            <a:off x="3842084" y="2100199"/>
            <a:ext cx="2417263" cy="466538"/>
          </a:xfrm>
          <a:prstGeom prst="wedgeRoundRectCallout">
            <a:avLst>
              <a:gd name="adj1" fmla="val -3164"/>
              <a:gd name="adj2" fmla="val 244537"/>
              <a:gd name="adj3" fmla="val 16667"/>
            </a:avLst>
          </a:prstGeom>
          <a:solidFill>
            <a:srgbClr val="ADBADA"/>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a:latin typeface="+mj-lt"/>
              </a:rPr>
              <a:t>New circle created</a:t>
            </a:r>
          </a:p>
          <a:p>
            <a:pPr algn="ctr">
              <a:spcBef>
                <a:spcPct val="0"/>
              </a:spcBef>
              <a:buClrTx/>
              <a:buSzTx/>
              <a:buFontTx/>
              <a:buNone/>
            </a:pPr>
            <a:endParaRPr lang="en-US" altLang="en-US" sz="2000" dirty="0">
              <a:latin typeface="+mj-lt"/>
            </a:endParaRPr>
          </a:p>
        </p:txBody>
      </p:sp>
      <p:sp>
        <p:nvSpPr>
          <p:cNvPr id="9" name="Rectangle 10">
            <a:extLst>
              <a:ext uri="{FF2B5EF4-FFF2-40B4-BE49-F238E27FC236}">
                <a16:creationId xmlns:a16="http://schemas.microsoft.com/office/drawing/2014/main" id="{45DF46C5-3697-F081-23AF-4A4C2B49F852}"/>
              </a:ext>
            </a:extLst>
          </p:cNvPr>
          <p:cNvSpPr>
            <a:spLocks noChangeArrowheads="1"/>
          </p:cNvSpPr>
          <p:nvPr/>
        </p:nvSpPr>
        <p:spPr bwMode="auto">
          <a:xfrm>
            <a:off x="9923254" y="4120685"/>
            <a:ext cx="1524000" cy="3063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latin typeface="+mj-lt"/>
              </a:rPr>
              <a:t>Radius = 5.0</a:t>
            </a:r>
          </a:p>
        </p:txBody>
      </p:sp>
      <p:sp>
        <p:nvSpPr>
          <p:cNvPr id="10" name="Text Box 11">
            <a:extLst>
              <a:ext uri="{FF2B5EF4-FFF2-40B4-BE49-F238E27FC236}">
                <a16:creationId xmlns:a16="http://schemas.microsoft.com/office/drawing/2014/main" id="{063E4393-029E-13AD-6534-F83659887195}"/>
              </a:ext>
            </a:extLst>
          </p:cNvPr>
          <p:cNvSpPr txBox="1">
            <a:spLocks noChangeArrowheads="1"/>
          </p:cNvSpPr>
          <p:nvPr/>
        </p:nvSpPr>
        <p:spPr bwMode="auto">
          <a:xfrm>
            <a:off x="7869864" y="4073823"/>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myCircle</a:t>
            </a:r>
            <a:endParaRPr lang="en-US" altLang="en-US" sz="2000" b="1" dirty="0">
              <a:latin typeface="Courier New" panose="02070309020205020404" pitchFamily="49" charset="0"/>
              <a:cs typeface="Courier New" panose="02070309020205020404" pitchFamily="49" charset="0"/>
            </a:endParaRPr>
          </a:p>
        </p:txBody>
      </p:sp>
      <p:sp>
        <p:nvSpPr>
          <p:cNvPr id="11" name="Rectangle 7">
            <a:extLst>
              <a:ext uri="{FF2B5EF4-FFF2-40B4-BE49-F238E27FC236}">
                <a16:creationId xmlns:a16="http://schemas.microsoft.com/office/drawing/2014/main" id="{9DF70360-E22D-C0E0-A5D5-1D977E3CDEBC}"/>
              </a:ext>
            </a:extLst>
          </p:cNvPr>
          <p:cNvSpPr>
            <a:spLocks noChangeArrowheads="1"/>
          </p:cNvSpPr>
          <p:nvPr/>
        </p:nvSpPr>
        <p:spPr bwMode="auto">
          <a:xfrm>
            <a:off x="3761603" y="3489469"/>
            <a:ext cx="2328111" cy="274499"/>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 name="Text Box 11">
            <a:extLst>
              <a:ext uri="{FF2B5EF4-FFF2-40B4-BE49-F238E27FC236}">
                <a16:creationId xmlns:a16="http://schemas.microsoft.com/office/drawing/2014/main" id="{DEA9DD82-4158-BB60-B850-31397A7404F9}"/>
              </a:ext>
            </a:extLst>
          </p:cNvPr>
          <p:cNvSpPr txBox="1">
            <a:spLocks noChangeArrowheads="1"/>
          </p:cNvSpPr>
          <p:nvPr/>
        </p:nvSpPr>
        <p:spPr bwMode="auto">
          <a:xfrm>
            <a:off x="8944686" y="1887916"/>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a:solidFill>
                  <a:srgbClr val="FF0000"/>
                </a:solidFill>
                <a:latin typeface="+mj-lt"/>
                <a:cs typeface="Courier New" panose="02070309020205020404" pitchFamily="49" charset="0"/>
              </a:rPr>
              <a:t>Memory</a:t>
            </a:r>
          </a:p>
        </p:txBody>
      </p:sp>
      <p:pic>
        <p:nvPicPr>
          <p:cNvPr id="5" name="Picture 4">
            <a:extLst>
              <a:ext uri="{FF2B5EF4-FFF2-40B4-BE49-F238E27FC236}">
                <a16:creationId xmlns:a16="http://schemas.microsoft.com/office/drawing/2014/main" id="{71577008-E713-0437-A688-D12CDA798BE5}"/>
              </a:ext>
            </a:extLst>
          </p:cNvPr>
          <p:cNvPicPr>
            <a:picLocks noChangeAspect="1"/>
          </p:cNvPicPr>
          <p:nvPr/>
        </p:nvPicPr>
        <p:blipFill>
          <a:blip r:embed="rId2"/>
          <a:stretch>
            <a:fillRect/>
          </a:stretch>
        </p:blipFill>
        <p:spPr>
          <a:xfrm>
            <a:off x="8258175" y="2379394"/>
            <a:ext cx="2686050" cy="1190625"/>
          </a:xfrm>
          <a:prstGeom prst="rect">
            <a:avLst/>
          </a:prstGeom>
        </p:spPr>
      </p:pic>
      <p:sp>
        <p:nvSpPr>
          <p:cNvPr id="6" name="Arrow: Right 5">
            <a:extLst>
              <a:ext uri="{FF2B5EF4-FFF2-40B4-BE49-F238E27FC236}">
                <a16:creationId xmlns:a16="http://schemas.microsoft.com/office/drawing/2014/main" id="{B3FC7D53-1257-08F2-8330-AE7681686B90}"/>
              </a:ext>
            </a:extLst>
          </p:cNvPr>
          <p:cNvSpPr/>
          <p:nvPr/>
        </p:nvSpPr>
        <p:spPr>
          <a:xfrm>
            <a:off x="9208168" y="4120685"/>
            <a:ext cx="715086" cy="306387"/>
          </a:xfrm>
          <a:prstGeom prst="rightArrow">
            <a:avLst/>
          </a:prstGeom>
          <a:solidFill>
            <a:srgbClr val="ADBA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949621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Code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Text Box 6">
            <a:extLst>
              <a:ext uri="{FF2B5EF4-FFF2-40B4-BE49-F238E27FC236}">
                <a16:creationId xmlns:a16="http://schemas.microsoft.com/office/drawing/2014/main" id="{BBC02D2C-3DF6-E135-7C95-7D346AE07873}"/>
              </a:ext>
            </a:extLst>
          </p:cNvPr>
          <p:cNvSpPr txBox="1">
            <a:spLocks noChangeArrowheads="1"/>
          </p:cNvSpPr>
          <p:nvPr/>
        </p:nvSpPr>
        <p:spPr bwMode="auto">
          <a:xfrm>
            <a:off x="1676400" y="3453060"/>
            <a:ext cx="550244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myCircle</a:t>
            </a:r>
            <a:r>
              <a:rPr lang="en-US" altLang="en-US" sz="2000" b="1" dirty="0">
                <a:solidFill>
                  <a:schemeClr val="tx2"/>
                </a:solidFill>
                <a:latin typeface="Courier New" panose="02070309020205020404" pitchFamily="49" charset="0"/>
                <a:cs typeface="Courier New" panose="02070309020205020404" pitchFamily="49" charset="0"/>
              </a:rPr>
              <a:t> = new Circle(5.0);</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yourCircle</a:t>
            </a:r>
            <a:r>
              <a:rPr lang="en-US" altLang="en-US" sz="2000" b="1" dirty="0">
                <a:solidFill>
                  <a:schemeClr val="tx2"/>
                </a:solidFill>
                <a:latin typeface="Courier New" panose="02070309020205020404" pitchFamily="49" charset="0"/>
                <a:cs typeface="Courier New" panose="02070309020205020404" pitchFamily="49" charset="0"/>
              </a:rPr>
              <a:t> = new Circle();</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err="1">
                <a:solidFill>
                  <a:schemeClr val="tx2"/>
                </a:solidFill>
                <a:latin typeface="Courier New" panose="02070309020205020404" pitchFamily="49" charset="0"/>
                <a:cs typeface="Courier New" panose="02070309020205020404" pitchFamily="49" charset="0"/>
              </a:rPr>
              <a:t>yourCircle.radius</a:t>
            </a:r>
            <a:r>
              <a:rPr lang="en-US" altLang="en-US" sz="2000" b="1" dirty="0">
                <a:solidFill>
                  <a:schemeClr val="tx2"/>
                </a:solidFill>
                <a:latin typeface="Courier New" panose="02070309020205020404" pitchFamily="49" charset="0"/>
                <a:cs typeface="Courier New" panose="02070309020205020404" pitchFamily="49" charset="0"/>
              </a:rPr>
              <a:t> = 100;</a:t>
            </a:r>
          </a:p>
        </p:txBody>
      </p:sp>
      <p:sp>
        <p:nvSpPr>
          <p:cNvPr id="8" name="AutoShape 9">
            <a:extLst>
              <a:ext uri="{FF2B5EF4-FFF2-40B4-BE49-F238E27FC236}">
                <a16:creationId xmlns:a16="http://schemas.microsoft.com/office/drawing/2014/main" id="{575CD760-895C-F579-16AD-1D8F166C56D5}"/>
              </a:ext>
            </a:extLst>
          </p:cNvPr>
          <p:cNvSpPr>
            <a:spLocks noChangeArrowheads="1"/>
          </p:cNvSpPr>
          <p:nvPr/>
        </p:nvSpPr>
        <p:spPr bwMode="auto">
          <a:xfrm>
            <a:off x="3772110" y="2100199"/>
            <a:ext cx="2487237" cy="466538"/>
          </a:xfrm>
          <a:prstGeom prst="wedgeRoundRectCallout">
            <a:avLst>
              <a:gd name="adj1" fmla="val -46007"/>
              <a:gd name="adj2" fmla="val 371763"/>
              <a:gd name="adj3" fmla="val 16667"/>
            </a:avLst>
          </a:prstGeom>
          <a:solidFill>
            <a:srgbClr val="ADBADA">
              <a:alpha val="50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a:latin typeface="+mj-lt"/>
              </a:rPr>
              <a:t>Declare </a:t>
            </a:r>
            <a:r>
              <a:rPr lang="en-US" altLang="en-US" sz="2000" dirty="0" err="1">
                <a:latin typeface="+mj-lt"/>
              </a:rPr>
              <a:t>yourCircle</a:t>
            </a:r>
            <a:endParaRPr lang="en-US" altLang="en-US" sz="2000" dirty="0">
              <a:latin typeface="+mj-lt"/>
            </a:endParaRPr>
          </a:p>
          <a:p>
            <a:pPr algn="ctr">
              <a:spcBef>
                <a:spcPct val="0"/>
              </a:spcBef>
              <a:buClrTx/>
              <a:buSzTx/>
              <a:buFontTx/>
              <a:buNone/>
            </a:pPr>
            <a:endParaRPr lang="en-US" altLang="en-US" sz="2000" dirty="0">
              <a:latin typeface="+mj-lt"/>
            </a:endParaRPr>
          </a:p>
        </p:txBody>
      </p:sp>
      <p:sp>
        <p:nvSpPr>
          <p:cNvPr id="9" name="Rectangle 10">
            <a:extLst>
              <a:ext uri="{FF2B5EF4-FFF2-40B4-BE49-F238E27FC236}">
                <a16:creationId xmlns:a16="http://schemas.microsoft.com/office/drawing/2014/main" id="{45DF46C5-3697-F081-23AF-4A4C2B49F852}"/>
              </a:ext>
            </a:extLst>
          </p:cNvPr>
          <p:cNvSpPr>
            <a:spLocks noChangeArrowheads="1"/>
          </p:cNvSpPr>
          <p:nvPr/>
        </p:nvSpPr>
        <p:spPr bwMode="auto">
          <a:xfrm>
            <a:off x="9923254" y="4120685"/>
            <a:ext cx="1524000" cy="3063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latin typeface="+mj-lt"/>
              </a:rPr>
              <a:t>no value</a:t>
            </a:r>
          </a:p>
        </p:txBody>
      </p:sp>
      <p:sp>
        <p:nvSpPr>
          <p:cNvPr id="10" name="Text Box 11">
            <a:extLst>
              <a:ext uri="{FF2B5EF4-FFF2-40B4-BE49-F238E27FC236}">
                <a16:creationId xmlns:a16="http://schemas.microsoft.com/office/drawing/2014/main" id="{063E4393-029E-13AD-6534-F83659887195}"/>
              </a:ext>
            </a:extLst>
          </p:cNvPr>
          <p:cNvSpPr txBox="1">
            <a:spLocks noChangeArrowheads="1"/>
          </p:cNvSpPr>
          <p:nvPr/>
        </p:nvSpPr>
        <p:spPr bwMode="auto">
          <a:xfrm>
            <a:off x="7869863" y="4073823"/>
            <a:ext cx="17174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yourCircle</a:t>
            </a:r>
            <a:endParaRPr lang="en-US" altLang="en-US" sz="2000" b="1" dirty="0">
              <a:latin typeface="Courier New" panose="02070309020205020404" pitchFamily="49" charset="0"/>
              <a:cs typeface="Courier New" panose="02070309020205020404" pitchFamily="49" charset="0"/>
            </a:endParaRPr>
          </a:p>
        </p:txBody>
      </p:sp>
      <p:sp>
        <p:nvSpPr>
          <p:cNvPr id="11" name="Rectangle 7">
            <a:extLst>
              <a:ext uri="{FF2B5EF4-FFF2-40B4-BE49-F238E27FC236}">
                <a16:creationId xmlns:a16="http://schemas.microsoft.com/office/drawing/2014/main" id="{9DF70360-E22D-C0E0-A5D5-1D977E3CDEBC}"/>
              </a:ext>
            </a:extLst>
          </p:cNvPr>
          <p:cNvSpPr>
            <a:spLocks noChangeArrowheads="1"/>
          </p:cNvSpPr>
          <p:nvPr/>
        </p:nvSpPr>
        <p:spPr bwMode="auto">
          <a:xfrm>
            <a:off x="1682839" y="4102855"/>
            <a:ext cx="2712698" cy="274499"/>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 name="Text Box 11">
            <a:extLst>
              <a:ext uri="{FF2B5EF4-FFF2-40B4-BE49-F238E27FC236}">
                <a16:creationId xmlns:a16="http://schemas.microsoft.com/office/drawing/2014/main" id="{DEA9DD82-4158-BB60-B850-31397A7404F9}"/>
              </a:ext>
            </a:extLst>
          </p:cNvPr>
          <p:cNvSpPr txBox="1">
            <a:spLocks noChangeArrowheads="1"/>
          </p:cNvSpPr>
          <p:nvPr/>
        </p:nvSpPr>
        <p:spPr bwMode="auto">
          <a:xfrm>
            <a:off x="8944686" y="1887916"/>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a:solidFill>
                  <a:srgbClr val="FF0000"/>
                </a:solidFill>
                <a:latin typeface="+mj-lt"/>
                <a:cs typeface="Courier New" panose="02070309020205020404" pitchFamily="49" charset="0"/>
              </a:rPr>
              <a:t>Memory</a:t>
            </a:r>
          </a:p>
        </p:txBody>
      </p:sp>
      <p:sp>
        <p:nvSpPr>
          <p:cNvPr id="13" name="AutoShape 9">
            <a:extLst>
              <a:ext uri="{FF2B5EF4-FFF2-40B4-BE49-F238E27FC236}">
                <a16:creationId xmlns:a16="http://schemas.microsoft.com/office/drawing/2014/main" id="{68C3952A-9D01-1EFA-156E-2F0C8B42C2F9}"/>
              </a:ext>
            </a:extLst>
          </p:cNvPr>
          <p:cNvSpPr>
            <a:spLocks noChangeArrowheads="1"/>
          </p:cNvSpPr>
          <p:nvPr/>
        </p:nvSpPr>
        <p:spPr bwMode="auto">
          <a:xfrm>
            <a:off x="8419891" y="2446678"/>
            <a:ext cx="2673225" cy="982322"/>
          </a:xfrm>
          <a:prstGeom prst="wedgeRoundRectCallout">
            <a:avLst>
              <a:gd name="adj1" fmla="val -32624"/>
              <a:gd name="adj2" fmla="val 124859"/>
              <a:gd name="adj3" fmla="val 16667"/>
            </a:avLst>
          </a:prstGeom>
          <a:solidFill>
            <a:srgbClr val="ADBADA"/>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err="1">
                <a:latin typeface="+mj-lt"/>
              </a:rPr>
              <a:t>yourCircle</a:t>
            </a:r>
            <a:r>
              <a:rPr lang="en-US" altLang="en-US" sz="2000" dirty="0">
                <a:latin typeface="+mj-lt"/>
              </a:rPr>
              <a:t> declared In the memory</a:t>
            </a:r>
          </a:p>
          <a:p>
            <a:pPr algn="ctr">
              <a:spcBef>
                <a:spcPct val="0"/>
              </a:spcBef>
              <a:buClrTx/>
              <a:buSzTx/>
              <a:buFontTx/>
              <a:buNone/>
            </a:pPr>
            <a:endParaRPr lang="en-US" altLang="en-US" sz="2000" dirty="0">
              <a:latin typeface="+mj-lt"/>
            </a:endParaRPr>
          </a:p>
        </p:txBody>
      </p:sp>
    </p:spTree>
    <p:extLst>
      <p:ext uri="{BB962C8B-B14F-4D97-AF65-F5344CB8AC3E}">
        <p14:creationId xmlns:p14="http://schemas.microsoft.com/office/powerpoint/2010/main" val="2834949851"/>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Code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Text Box 6">
            <a:extLst>
              <a:ext uri="{FF2B5EF4-FFF2-40B4-BE49-F238E27FC236}">
                <a16:creationId xmlns:a16="http://schemas.microsoft.com/office/drawing/2014/main" id="{BBC02D2C-3DF6-E135-7C95-7D346AE07873}"/>
              </a:ext>
            </a:extLst>
          </p:cNvPr>
          <p:cNvSpPr txBox="1">
            <a:spLocks noChangeArrowheads="1"/>
          </p:cNvSpPr>
          <p:nvPr/>
        </p:nvSpPr>
        <p:spPr bwMode="auto">
          <a:xfrm>
            <a:off x="1034716" y="3453060"/>
            <a:ext cx="5442284"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myCircle</a:t>
            </a:r>
            <a:r>
              <a:rPr lang="en-US" altLang="en-US" sz="2000" b="1" dirty="0">
                <a:solidFill>
                  <a:schemeClr val="tx2"/>
                </a:solidFill>
                <a:latin typeface="Courier New" panose="02070309020205020404" pitchFamily="49" charset="0"/>
                <a:cs typeface="Courier New" panose="02070309020205020404" pitchFamily="49" charset="0"/>
              </a:rPr>
              <a:t> = new Circle(5.0);</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yourCircle</a:t>
            </a:r>
            <a:r>
              <a:rPr lang="en-US" altLang="en-US" sz="2000" b="1" dirty="0">
                <a:solidFill>
                  <a:schemeClr val="tx2"/>
                </a:solidFill>
                <a:latin typeface="Courier New" panose="02070309020205020404" pitchFamily="49" charset="0"/>
                <a:cs typeface="Courier New" panose="02070309020205020404" pitchFamily="49" charset="0"/>
              </a:rPr>
              <a:t> = new Circle();</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err="1">
                <a:solidFill>
                  <a:schemeClr val="tx2"/>
                </a:solidFill>
                <a:latin typeface="Courier New" panose="02070309020205020404" pitchFamily="49" charset="0"/>
                <a:cs typeface="Courier New" panose="02070309020205020404" pitchFamily="49" charset="0"/>
              </a:rPr>
              <a:t>yourCircle.radius</a:t>
            </a:r>
            <a:r>
              <a:rPr lang="en-US" altLang="en-US" sz="2000" b="1" dirty="0">
                <a:solidFill>
                  <a:schemeClr val="tx2"/>
                </a:solidFill>
                <a:latin typeface="Courier New" panose="02070309020205020404" pitchFamily="49" charset="0"/>
                <a:cs typeface="Courier New" panose="02070309020205020404" pitchFamily="49" charset="0"/>
              </a:rPr>
              <a:t> = 100;</a:t>
            </a:r>
          </a:p>
        </p:txBody>
      </p:sp>
      <p:sp>
        <p:nvSpPr>
          <p:cNvPr id="8" name="AutoShape 9">
            <a:extLst>
              <a:ext uri="{FF2B5EF4-FFF2-40B4-BE49-F238E27FC236}">
                <a16:creationId xmlns:a16="http://schemas.microsoft.com/office/drawing/2014/main" id="{575CD760-895C-F579-16AD-1D8F166C56D5}"/>
              </a:ext>
            </a:extLst>
          </p:cNvPr>
          <p:cNvSpPr>
            <a:spLocks noChangeArrowheads="1"/>
          </p:cNvSpPr>
          <p:nvPr/>
        </p:nvSpPr>
        <p:spPr bwMode="auto">
          <a:xfrm>
            <a:off x="3328738" y="2100199"/>
            <a:ext cx="2930610" cy="466538"/>
          </a:xfrm>
          <a:prstGeom prst="wedgeRoundRectCallout">
            <a:avLst>
              <a:gd name="adj1" fmla="val -27963"/>
              <a:gd name="adj2" fmla="val 374419"/>
              <a:gd name="adj3" fmla="val 16667"/>
            </a:avLst>
          </a:prstGeom>
          <a:solidFill>
            <a:srgbClr val="ADBADA">
              <a:alpha val="45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a:latin typeface="+mj-lt"/>
              </a:rPr>
              <a:t>Assign object reference to </a:t>
            </a:r>
            <a:r>
              <a:rPr lang="en-US" altLang="en-US" sz="2000" dirty="0" err="1">
                <a:latin typeface="+mj-lt"/>
              </a:rPr>
              <a:t>yourCircle</a:t>
            </a:r>
            <a:endParaRPr lang="en-US" altLang="en-US" sz="2000" dirty="0">
              <a:latin typeface="+mj-lt"/>
            </a:endParaRPr>
          </a:p>
          <a:p>
            <a:pPr algn="ctr">
              <a:spcBef>
                <a:spcPct val="0"/>
              </a:spcBef>
              <a:buClrTx/>
              <a:buSzTx/>
              <a:buFontTx/>
              <a:buNone/>
            </a:pPr>
            <a:endParaRPr lang="en-US" altLang="en-US" sz="2000" dirty="0">
              <a:latin typeface="+mj-lt"/>
            </a:endParaRPr>
          </a:p>
        </p:txBody>
      </p:sp>
      <p:sp>
        <p:nvSpPr>
          <p:cNvPr id="9" name="Rectangle 10">
            <a:extLst>
              <a:ext uri="{FF2B5EF4-FFF2-40B4-BE49-F238E27FC236}">
                <a16:creationId xmlns:a16="http://schemas.microsoft.com/office/drawing/2014/main" id="{45DF46C5-3697-F081-23AF-4A4C2B49F852}"/>
              </a:ext>
            </a:extLst>
          </p:cNvPr>
          <p:cNvSpPr>
            <a:spLocks noChangeArrowheads="1"/>
          </p:cNvSpPr>
          <p:nvPr/>
        </p:nvSpPr>
        <p:spPr bwMode="auto">
          <a:xfrm>
            <a:off x="8046934" y="5247769"/>
            <a:ext cx="1795504" cy="3063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latin typeface="+mj-lt"/>
              </a:rPr>
              <a:t>Reference value</a:t>
            </a:r>
          </a:p>
        </p:txBody>
      </p:sp>
      <p:sp>
        <p:nvSpPr>
          <p:cNvPr id="10" name="Text Box 11">
            <a:extLst>
              <a:ext uri="{FF2B5EF4-FFF2-40B4-BE49-F238E27FC236}">
                <a16:creationId xmlns:a16="http://schemas.microsoft.com/office/drawing/2014/main" id="{063E4393-029E-13AD-6534-F83659887195}"/>
              </a:ext>
            </a:extLst>
          </p:cNvPr>
          <p:cNvSpPr txBox="1">
            <a:spLocks noChangeArrowheads="1"/>
          </p:cNvSpPr>
          <p:nvPr/>
        </p:nvSpPr>
        <p:spPr bwMode="auto">
          <a:xfrm>
            <a:off x="6249655" y="2854381"/>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myCircle</a:t>
            </a:r>
            <a:endParaRPr lang="en-US" altLang="en-US" sz="2000" b="1" dirty="0">
              <a:latin typeface="Courier New" panose="02070309020205020404" pitchFamily="49" charset="0"/>
              <a:cs typeface="Courier New" panose="02070309020205020404" pitchFamily="49" charset="0"/>
            </a:endParaRPr>
          </a:p>
        </p:txBody>
      </p:sp>
      <p:sp>
        <p:nvSpPr>
          <p:cNvPr id="11" name="Rectangle 7">
            <a:extLst>
              <a:ext uri="{FF2B5EF4-FFF2-40B4-BE49-F238E27FC236}">
                <a16:creationId xmlns:a16="http://schemas.microsoft.com/office/drawing/2014/main" id="{9DF70360-E22D-C0E0-A5D5-1D977E3CDEBC}"/>
              </a:ext>
            </a:extLst>
          </p:cNvPr>
          <p:cNvSpPr>
            <a:spLocks noChangeArrowheads="1"/>
          </p:cNvSpPr>
          <p:nvPr/>
        </p:nvSpPr>
        <p:spPr bwMode="auto">
          <a:xfrm>
            <a:off x="3755858" y="4101822"/>
            <a:ext cx="296779" cy="274499"/>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 name="Text Box 11">
            <a:extLst>
              <a:ext uri="{FF2B5EF4-FFF2-40B4-BE49-F238E27FC236}">
                <a16:creationId xmlns:a16="http://schemas.microsoft.com/office/drawing/2014/main" id="{DEA9DD82-4158-BB60-B850-31397A7404F9}"/>
              </a:ext>
            </a:extLst>
          </p:cNvPr>
          <p:cNvSpPr txBox="1">
            <a:spLocks noChangeArrowheads="1"/>
          </p:cNvSpPr>
          <p:nvPr/>
        </p:nvSpPr>
        <p:spPr bwMode="auto">
          <a:xfrm>
            <a:off x="8944686" y="1887916"/>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a:solidFill>
                  <a:srgbClr val="FF0000"/>
                </a:solidFill>
                <a:latin typeface="+mj-lt"/>
                <a:cs typeface="Courier New" panose="02070309020205020404" pitchFamily="49" charset="0"/>
              </a:rPr>
              <a:t>Memory</a:t>
            </a:r>
          </a:p>
        </p:txBody>
      </p:sp>
      <p:pic>
        <p:nvPicPr>
          <p:cNvPr id="3" name="Picture 2">
            <a:extLst>
              <a:ext uri="{FF2B5EF4-FFF2-40B4-BE49-F238E27FC236}">
                <a16:creationId xmlns:a16="http://schemas.microsoft.com/office/drawing/2014/main" id="{8C24BBB5-D945-468A-65A9-C5D5F09B3829}"/>
              </a:ext>
            </a:extLst>
          </p:cNvPr>
          <p:cNvPicPr>
            <a:picLocks noChangeAspect="1"/>
          </p:cNvPicPr>
          <p:nvPr/>
        </p:nvPicPr>
        <p:blipFill>
          <a:blip r:embed="rId2"/>
          <a:stretch>
            <a:fillRect/>
          </a:stretch>
        </p:blipFill>
        <p:spPr>
          <a:xfrm>
            <a:off x="8258175" y="2379394"/>
            <a:ext cx="2686050" cy="1190625"/>
          </a:xfrm>
          <a:prstGeom prst="rect">
            <a:avLst/>
          </a:prstGeom>
        </p:spPr>
      </p:pic>
      <p:sp>
        <p:nvSpPr>
          <p:cNvPr id="5" name="Line 11">
            <a:extLst>
              <a:ext uri="{FF2B5EF4-FFF2-40B4-BE49-F238E27FC236}">
                <a16:creationId xmlns:a16="http://schemas.microsoft.com/office/drawing/2014/main" id="{9AC729CB-DA5A-8A2E-49CA-046BBBF09FF6}"/>
              </a:ext>
            </a:extLst>
          </p:cNvPr>
          <p:cNvSpPr>
            <a:spLocks noChangeShapeType="1"/>
          </p:cNvSpPr>
          <p:nvPr/>
        </p:nvSpPr>
        <p:spPr bwMode="auto">
          <a:xfrm flipV="1">
            <a:off x="8783782" y="4835971"/>
            <a:ext cx="1029522" cy="411796"/>
          </a:xfrm>
          <a:prstGeom prst="line">
            <a:avLst/>
          </a:prstGeom>
          <a:noFill/>
          <a:ln w="381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graphicFrame>
        <p:nvGraphicFramePr>
          <p:cNvPr id="6" name="Object 13">
            <a:extLst>
              <a:ext uri="{FF2B5EF4-FFF2-40B4-BE49-F238E27FC236}">
                <a16:creationId xmlns:a16="http://schemas.microsoft.com/office/drawing/2014/main" id="{7306EEBE-CA35-BAA5-26D2-29E09CBA9E74}"/>
              </a:ext>
            </a:extLst>
          </p:cNvPr>
          <p:cNvGraphicFramePr>
            <a:graphicFrameLocks noChangeAspect="1"/>
          </p:cNvGraphicFramePr>
          <p:nvPr/>
        </p:nvGraphicFramePr>
        <p:xfrm>
          <a:off x="8258175" y="3642172"/>
          <a:ext cx="2687638" cy="1193800"/>
        </p:xfrm>
        <a:graphic>
          <a:graphicData uri="http://schemas.openxmlformats.org/presentationml/2006/ole">
            <mc:AlternateContent xmlns:mc="http://schemas.openxmlformats.org/markup-compatibility/2006">
              <mc:Choice xmlns:v="urn:schemas-microsoft-com:vml" Requires="v">
                <p:oleObj name="Picture" r:id="rId3" imgW="1028510" imgH="456439" progId="Word.Picture.8">
                  <p:embed/>
                </p:oleObj>
              </mc:Choice>
              <mc:Fallback>
                <p:oleObj name="Picture" r:id="rId3" imgW="1028510" imgH="456439" progId="Word.Picture.8">
                  <p:embed/>
                  <p:pic>
                    <p:nvPicPr>
                      <p:cNvPr id="6" name="Object 13">
                        <a:extLst>
                          <a:ext uri="{FF2B5EF4-FFF2-40B4-BE49-F238E27FC236}">
                            <a16:creationId xmlns:a16="http://schemas.microsoft.com/office/drawing/2014/main" id="{7306EEBE-CA35-BAA5-26D2-29E09CBA9E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8175" y="3642172"/>
                        <a:ext cx="2687638"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Line 11">
            <a:extLst>
              <a:ext uri="{FF2B5EF4-FFF2-40B4-BE49-F238E27FC236}">
                <a16:creationId xmlns:a16="http://schemas.microsoft.com/office/drawing/2014/main" id="{B38FD85E-CC82-C755-5102-F071A2F93589}"/>
              </a:ext>
            </a:extLst>
          </p:cNvPr>
          <p:cNvSpPr>
            <a:spLocks noChangeShapeType="1"/>
          </p:cNvSpPr>
          <p:nvPr/>
        </p:nvSpPr>
        <p:spPr bwMode="auto">
          <a:xfrm flipV="1">
            <a:off x="7610765" y="2974107"/>
            <a:ext cx="858980" cy="36947"/>
          </a:xfrm>
          <a:prstGeom prst="line">
            <a:avLst/>
          </a:prstGeom>
          <a:noFill/>
          <a:ln w="381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
        <p:nvSpPr>
          <p:cNvPr id="15" name="Text Box 11">
            <a:extLst>
              <a:ext uri="{FF2B5EF4-FFF2-40B4-BE49-F238E27FC236}">
                <a16:creationId xmlns:a16="http://schemas.microsoft.com/office/drawing/2014/main" id="{5647E708-B85D-E05B-D186-E8F7E8063D46}"/>
              </a:ext>
            </a:extLst>
          </p:cNvPr>
          <p:cNvSpPr txBox="1">
            <a:spLocks noChangeArrowheads="1"/>
          </p:cNvSpPr>
          <p:nvPr/>
        </p:nvSpPr>
        <p:spPr bwMode="auto">
          <a:xfrm>
            <a:off x="6172827" y="5192353"/>
            <a:ext cx="17498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yourCircle</a:t>
            </a:r>
            <a:endParaRPr lang="en-US" altLang="en-US" sz="20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97029948"/>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Code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Text Box 6">
            <a:extLst>
              <a:ext uri="{FF2B5EF4-FFF2-40B4-BE49-F238E27FC236}">
                <a16:creationId xmlns:a16="http://schemas.microsoft.com/office/drawing/2014/main" id="{BBC02D2C-3DF6-E135-7C95-7D346AE07873}"/>
              </a:ext>
            </a:extLst>
          </p:cNvPr>
          <p:cNvSpPr txBox="1">
            <a:spLocks noChangeArrowheads="1"/>
          </p:cNvSpPr>
          <p:nvPr/>
        </p:nvSpPr>
        <p:spPr bwMode="auto">
          <a:xfrm>
            <a:off x="1034716" y="3453060"/>
            <a:ext cx="5442284"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myCircle</a:t>
            </a:r>
            <a:r>
              <a:rPr lang="en-US" altLang="en-US" sz="2000" b="1" dirty="0">
                <a:solidFill>
                  <a:schemeClr val="tx2"/>
                </a:solidFill>
                <a:latin typeface="Courier New" panose="02070309020205020404" pitchFamily="49" charset="0"/>
                <a:cs typeface="Courier New" panose="02070309020205020404" pitchFamily="49" charset="0"/>
              </a:rPr>
              <a:t> = new Circle(5.0);</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yourCircle</a:t>
            </a:r>
            <a:r>
              <a:rPr lang="en-US" altLang="en-US" sz="2000" b="1" dirty="0">
                <a:solidFill>
                  <a:schemeClr val="tx2"/>
                </a:solidFill>
                <a:latin typeface="Courier New" panose="02070309020205020404" pitchFamily="49" charset="0"/>
                <a:cs typeface="Courier New" panose="02070309020205020404" pitchFamily="49" charset="0"/>
              </a:rPr>
              <a:t> = new Circle();</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err="1">
                <a:solidFill>
                  <a:schemeClr val="tx2"/>
                </a:solidFill>
                <a:latin typeface="Courier New" panose="02070309020205020404" pitchFamily="49" charset="0"/>
                <a:cs typeface="Courier New" panose="02070309020205020404" pitchFamily="49" charset="0"/>
              </a:rPr>
              <a:t>yourCircle.radius</a:t>
            </a:r>
            <a:r>
              <a:rPr lang="en-US" altLang="en-US" sz="2000" b="1" dirty="0">
                <a:solidFill>
                  <a:schemeClr val="tx2"/>
                </a:solidFill>
                <a:latin typeface="Courier New" panose="02070309020205020404" pitchFamily="49" charset="0"/>
                <a:cs typeface="Courier New" panose="02070309020205020404" pitchFamily="49" charset="0"/>
              </a:rPr>
              <a:t> = 100;</a:t>
            </a:r>
          </a:p>
        </p:txBody>
      </p:sp>
      <p:sp>
        <p:nvSpPr>
          <p:cNvPr id="8" name="AutoShape 9">
            <a:extLst>
              <a:ext uri="{FF2B5EF4-FFF2-40B4-BE49-F238E27FC236}">
                <a16:creationId xmlns:a16="http://schemas.microsoft.com/office/drawing/2014/main" id="{575CD760-895C-F579-16AD-1D8F166C56D5}"/>
              </a:ext>
            </a:extLst>
          </p:cNvPr>
          <p:cNvSpPr>
            <a:spLocks noChangeArrowheads="1"/>
          </p:cNvSpPr>
          <p:nvPr/>
        </p:nvSpPr>
        <p:spPr bwMode="auto">
          <a:xfrm>
            <a:off x="3328738" y="2100199"/>
            <a:ext cx="2930610" cy="754182"/>
          </a:xfrm>
          <a:prstGeom prst="wedgeRoundRectCallout">
            <a:avLst>
              <a:gd name="adj1" fmla="val -40254"/>
              <a:gd name="adj2" fmla="val 292936"/>
              <a:gd name="adj3" fmla="val 16667"/>
            </a:avLst>
          </a:prstGeom>
          <a:solidFill>
            <a:srgbClr val="ADBADA">
              <a:alpha val="45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a:latin typeface="+mj-lt"/>
              </a:rPr>
              <a:t>Change radius value in </a:t>
            </a:r>
            <a:r>
              <a:rPr lang="en-US" altLang="en-US" sz="2000" dirty="0" err="1">
                <a:latin typeface="+mj-lt"/>
              </a:rPr>
              <a:t>yourCircle</a:t>
            </a:r>
            <a:endParaRPr lang="en-US" altLang="en-US" sz="2000" dirty="0">
              <a:latin typeface="+mj-lt"/>
            </a:endParaRPr>
          </a:p>
        </p:txBody>
      </p:sp>
      <p:sp>
        <p:nvSpPr>
          <p:cNvPr id="10" name="Text Box 11">
            <a:extLst>
              <a:ext uri="{FF2B5EF4-FFF2-40B4-BE49-F238E27FC236}">
                <a16:creationId xmlns:a16="http://schemas.microsoft.com/office/drawing/2014/main" id="{063E4393-029E-13AD-6534-F83659887195}"/>
              </a:ext>
            </a:extLst>
          </p:cNvPr>
          <p:cNvSpPr txBox="1">
            <a:spLocks noChangeArrowheads="1"/>
          </p:cNvSpPr>
          <p:nvPr/>
        </p:nvSpPr>
        <p:spPr bwMode="auto">
          <a:xfrm>
            <a:off x="6249655" y="2854381"/>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myCircle</a:t>
            </a:r>
            <a:endParaRPr lang="en-US" altLang="en-US" sz="2000" b="1" dirty="0">
              <a:latin typeface="Courier New" panose="02070309020205020404" pitchFamily="49" charset="0"/>
              <a:cs typeface="Courier New" panose="02070309020205020404" pitchFamily="49" charset="0"/>
            </a:endParaRPr>
          </a:p>
        </p:txBody>
      </p:sp>
      <p:sp>
        <p:nvSpPr>
          <p:cNvPr id="11" name="Rectangle 7">
            <a:extLst>
              <a:ext uri="{FF2B5EF4-FFF2-40B4-BE49-F238E27FC236}">
                <a16:creationId xmlns:a16="http://schemas.microsoft.com/office/drawing/2014/main" id="{9DF70360-E22D-C0E0-A5D5-1D977E3CDEBC}"/>
              </a:ext>
            </a:extLst>
          </p:cNvPr>
          <p:cNvSpPr>
            <a:spLocks noChangeArrowheads="1"/>
          </p:cNvSpPr>
          <p:nvPr/>
        </p:nvSpPr>
        <p:spPr bwMode="auto">
          <a:xfrm>
            <a:off x="1034716" y="4710546"/>
            <a:ext cx="3611175" cy="30480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 name="Text Box 11">
            <a:extLst>
              <a:ext uri="{FF2B5EF4-FFF2-40B4-BE49-F238E27FC236}">
                <a16:creationId xmlns:a16="http://schemas.microsoft.com/office/drawing/2014/main" id="{DEA9DD82-4158-BB60-B850-31397A7404F9}"/>
              </a:ext>
            </a:extLst>
          </p:cNvPr>
          <p:cNvSpPr txBox="1">
            <a:spLocks noChangeArrowheads="1"/>
          </p:cNvSpPr>
          <p:nvPr/>
        </p:nvSpPr>
        <p:spPr bwMode="auto">
          <a:xfrm>
            <a:off x="8944686" y="1887916"/>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a:solidFill>
                  <a:srgbClr val="FF0000"/>
                </a:solidFill>
                <a:latin typeface="+mj-lt"/>
                <a:cs typeface="Courier New" panose="02070309020205020404" pitchFamily="49" charset="0"/>
              </a:rPr>
              <a:t>Memory</a:t>
            </a:r>
          </a:p>
        </p:txBody>
      </p:sp>
      <p:pic>
        <p:nvPicPr>
          <p:cNvPr id="3" name="Picture 2">
            <a:extLst>
              <a:ext uri="{FF2B5EF4-FFF2-40B4-BE49-F238E27FC236}">
                <a16:creationId xmlns:a16="http://schemas.microsoft.com/office/drawing/2014/main" id="{8C24BBB5-D945-468A-65A9-C5D5F09B3829}"/>
              </a:ext>
            </a:extLst>
          </p:cNvPr>
          <p:cNvPicPr>
            <a:picLocks noChangeAspect="1"/>
          </p:cNvPicPr>
          <p:nvPr/>
        </p:nvPicPr>
        <p:blipFill>
          <a:blip r:embed="rId2"/>
          <a:stretch>
            <a:fillRect/>
          </a:stretch>
        </p:blipFill>
        <p:spPr>
          <a:xfrm>
            <a:off x="8258175" y="2379394"/>
            <a:ext cx="2686050" cy="1190625"/>
          </a:xfrm>
          <a:prstGeom prst="rect">
            <a:avLst/>
          </a:prstGeom>
        </p:spPr>
      </p:pic>
      <p:sp>
        <p:nvSpPr>
          <p:cNvPr id="5" name="Line 11">
            <a:extLst>
              <a:ext uri="{FF2B5EF4-FFF2-40B4-BE49-F238E27FC236}">
                <a16:creationId xmlns:a16="http://schemas.microsoft.com/office/drawing/2014/main" id="{9AC729CB-DA5A-8A2E-49CA-046BBBF09FF6}"/>
              </a:ext>
            </a:extLst>
          </p:cNvPr>
          <p:cNvSpPr>
            <a:spLocks noChangeShapeType="1"/>
          </p:cNvSpPr>
          <p:nvPr/>
        </p:nvSpPr>
        <p:spPr bwMode="auto">
          <a:xfrm flipV="1">
            <a:off x="8783782" y="4835971"/>
            <a:ext cx="1029522" cy="411796"/>
          </a:xfrm>
          <a:prstGeom prst="line">
            <a:avLst/>
          </a:prstGeom>
          <a:noFill/>
          <a:ln w="381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
        <p:nvSpPr>
          <p:cNvPr id="14" name="Line 11">
            <a:extLst>
              <a:ext uri="{FF2B5EF4-FFF2-40B4-BE49-F238E27FC236}">
                <a16:creationId xmlns:a16="http://schemas.microsoft.com/office/drawing/2014/main" id="{B38FD85E-CC82-C755-5102-F071A2F93589}"/>
              </a:ext>
            </a:extLst>
          </p:cNvPr>
          <p:cNvSpPr>
            <a:spLocks noChangeShapeType="1"/>
          </p:cNvSpPr>
          <p:nvPr/>
        </p:nvSpPr>
        <p:spPr bwMode="auto">
          <a:xfrm flipV="1">
            <a:off x="7610765" y="2974107"/>
            <a:ext cx="858980" cy="36947"/>
          </a:xfrm>
          <a:prstGeom prst="line">
            <a:avLst/>
          </a:prstGeom>
          <a:noFill/>
          <a:ln w="381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
        <p:nvSpPr>
          <p:cNvPr id="15" name="Text Box 11">
            <a:extLst>
              <a:ext uri="{FF2B5EF4-FFF2-40B4-BE49-F238E27FC236}">
                <a16:creationId xmlns:a16="http://schemas.microsoft.com/office/drawing/2014/main" id="{5647E708-B85D-E05B-D186-E8F7E8063D46}"/>
              </a:ext>
            </a:extLst>
          </p:cNvPr>
          <p:cNvSpPr txBox="1">
            <a:spLocks noChangeArrowheads="1"/>
          </p:cNvSpPr>
          <p:nvPr/>
        </p:nvSpPr>
        <p:spPr bwMode="auto">
          <a:xfrm>
            <a:off x="6172827" y="5192353"/>
            <a:ext cx="17498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yourCircle</a:t>
            </a:r>
            <a:endParaRPr lang="en-US" altLang="en-US" sz="2000" b="1" dirty="0">
              <a:latin typeface="Courier New" panose="02070309020205020404" pitchFamily="49" charset="0"/>
              <a:cs typeface="Courier New" panose="02070309020205020404" pitchFamily="49" charset="0"/>
            </a:endParaRPr>
          </a:p>
        </p:txBody>
      </p:sp>
      <p:sp>
        <p:nvSpPr>
          <p:cNvPr id="13" name="Rectangle 10">
            <a:extLst>
              <a:ext uri="{FF2B5EF4-FFF2-40B4-BE49-F238E27FC236}">
                <a16:creationId xmlns:a16="http://schemas.microsoft.com/office/drawing/2014/main" id="{C82AC498-17C4-9EFD-40C2-B9FE75A43B11}"/>
              </a:ext>
            </a:extLst>
          </p:cNvPr>
          <p:cNvSpPr>
            <a:spLocks noChangeArrowheads="1"/>
          </p:cNvSpPr>
          <p:nvPr/>
        </p:nvSpPr>
        <p:spPr bwMode="auto">
          <a:xfrm>
            <a:off x="8046934" y="5247769"/>
            <a:ext cx="1795504" cy="3063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latin typeface="+mj-lt"/>
              </a:rPr>
              <a:t>Reference value</a:t>
            </a:r>
          </a:p>
        </p:txBody>
      </p:sp>
      <p:graphicFrame>
        <p:nvGraphicFramePr>
          <p:cNvPr id="16" name="Object 13">
            <a:extLst>
              <a:ext uri="{FF2B5EF4-FFF2-40B4-BE49-F238E27FC236}">
                <a16:creationId xmlns:a16="http://schemas.microsoft.com/office/drawing/2014/main" id="{3CBFF2F2-913A-23B9-FDF1-9E5BF622D2F2}"/>
              </a:ext>
            </a:extLst>
          </p:cNvPr>
          <p:cNvGraphicFramePr>
            <a:graphicFrameLocks noChangeAspect="1"/>
          </p:cNvGraphicFramePr>
          <p:nvPr>
            <p:extLst>
              <p:ext uri="{D42A27DB-BD31-4B8C-83A1-F6EECF244321}">
                <p14:modId xmlns:p14="http://schemas.microsoft.com/office/powerpoint/2010/main" val="3452422570"/>
              </p:ext>
            </p:extLst>
          </p:nvPr>
        </p:nvGraphicFramePr>
        <p:xfrm>
          <a:off x="8269596" y="3660735"/>
          <a:ext cx="2687638" cy="1193800"/>
        </p:xfrm>
        <a:graphic>
          <a:graphicData uri="http://schemas.openxmlformats.org/presentationml/2006/ole">
            <mc:AlternateContent xmlns:mc="http://schemas.openxmlformats.org/markup-compatibility/2006">
              <mc:Choice xmlns:v="urn:schemas-microsoft-com:vml" Requires="v">
                <p:oleObj name="Picture" r:id="rId3" imgW="1026429" imgH="457200" progId="Word.Picture.8">
                  <p:embed/>
                </p:oleObj>
              </mc:Choice>
              <mc:Fallback>
                <p:oleObj name="Picture" r:id="rId3" imgW="1026429" imgH="457200" progId="Word.Picture.8">
                  <p:embed/>
                  <p:pic>
                    <p:nvPicPr>
                      <p:cNvPr id="28686" name="Object 13">
                        <a:extLst>
                          <a:ext uri="{FF2B5EF4-FFF2-40B4-BE49-F238E27FC236}">
                            <a16:creationId xmlns:a16="http://schemas.microsoft.com/office/drawing/2014/main" id="{49DC3F61-8018-D3F6-11CA-FCE3D9BF3F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9596" y="3660735"/>
                        <a:ext cx="2687638"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99534040"/>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Trace Code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Text Box 6">
            <a:extLst>
              <a:ext uri="{FF2B5EF4-FFF2-40B4-BE49-F238E27FC236}">
                <a16:creationId xmlns:a16="http://schemas.microsoft.com/office/drawing/2014/main" id="{BBC02D2C-3DF6-E135-7C95-7D346AE07873}"/>
              </a:ext>
            </a:extLst>
          </p:cNvPr>
          <p:cNvSpPr txBox="1">
            <a:spLocks noChangeArrowheads="1"/>
          </p:cNvSpPr>
          <p:nvPr/>
        </p:nvSpPr>
        <p:spPr bwMode="auto">
          <a:xfrm>
            <a:off x="1034716" y="3453060"/>
            <a:ext cx="5442284"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myCircle</a:t>
            </a:r>
            <a:r>
              <a:rPr lang="en-US" altLang="en-US" sz="2000" b="1" dirty="0">
                <a:solidFill>
                  <a:schemeClr val="tx2"/>
                </a:solidFill>
                <a:latin typeface="Courier New" panose="02070309020205020404" pitchFamily="49" charset="0"/>
                <a:cs typeface="Courier New" panose="02070309020205020404" pitchFamily="49" charset="0"/>
              </a:rPr>
              <a:t> = new Circle(5.0);</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a:solidFill>
                  <a:schemeClr val="tx2"/>
                </a:solidFill>
                <a:latin typeface="Courier New" panose="02070309020205020404" pitchFamily="49" charset="0"/>
                <a:cs typeface="Courier New" panose="02070309020205020404" pitchFamily="49" charset="0"/>
              </a:rPr>
              <a:t>Circle </a:t>
            </a:r>
            <a:r>
              <a:rPr lang="en-US" altLang="en-US" sz="2000" b="1" dirty="0" err="1">
                <a:solidFill>
                  <a:schemeClr val="tx2"/>
                </a:solidFill>
                <a:latin typeface="Courier New" panose="02070309020205020404" pitchFamily="49" charset="0"/>
                <a:cs typeface="Courier New" panose="02070309020205020404" pitchFamily="49" charset="0"/>
              </a:rPr>
              <a:t>yourCircle</a:t>
            </a:r>
            <a:r>
              <a:rPr lang="en-US" altLang="en-US" sz="2000" b="1" dirty="0">
                <a:solidFill>
                  <a:schemeClr val="tx2"/>
                </a:solidFill>
                <a:latin typeface="Courier New" panose="02070309020205020404" pitchFamily="49" charset="0"/>
                <a:cs typeface="Courier New" panose="02070309020205020404" pitchFamily="49" charset="0"/>
              </a:rPr>
              <a:t> = new Circle();</a:t>
            </a:r>
          </a:p>
          <a:p>
            <a:pPr>
              <a:spcBef>
                <a:spcPct val="0"/>
              </a:spcBef>
              <a:buClrTx/>
              <a:buSzTx/>
              <a:buFontTx/>
              <a:buNone/>
            </a:pPr>
            <a:endParaRPr lang="en-US" altLang="en-US" sz="2000" b="1" dirty="0">
              <a:solidFill>
                <a:schemeClr val="tx2"/>
              </a:solidFill>
              <a:latin typeface="Courier New" panose="02070309020205020404" pitchFamily="49" charset="0"/>
              <a:cs typeface="Courier New" panose="02070309020205020404" pitchFamily="49" charset="0"/>
            </a:endParaRPr>
          </a:p>
          <a:p>
            <a:pPr>
              <a:spcBef>
                <a:spcPct val="0"/>
              </a:spcBef>
              <a:buClrTx/>
              <a:buSzTx/>
              <a:buFontTx/>
              <a:buNone/>
            </a:pPr>
            <a:r>
              <a:rPr lang="en-US" altLang="en-US" sz="2000" b="1" dirty="0" err="1">
                <a:solidFill>
                  <a:schemeClr val="tx2"/>
                </a:solidFill>
                <a:latin typeface="Courier New" panose="02070309020205020404" pitchFamily="49" charset="0"/>
                <a:cs typeface="Courier New" panose="02070309020205020404" pitchFamily="49" charset="0"/>
              </a:rPr>
              <a:t>yourCircle.radius</a:t>
            </a:r>
            <a:r>
              <a:rPr lang="en-US" altLang="en-US" sz="2000" b="1" dirty="0">
                <a:solidFill>
                  <a:schemeClr val="tx2"/>
                </a:solidFill>
                <a:latin typeface="Courier New" panose="02070309020205020404" pitchFamily="49" charset="0"/>
                <a:cs typeface="Courier New" panose="02070309020205020404" pitchFamily="49" charset="0"/>
              </a:rPr>
              <a:t> = 100;</a:t>
            </a:r>
          </a:p>
        </p:txBody>
      </p:sp>
      <p:sp>
        <p:nvSpPr>
          <p:cNvPr id="8" name="AutoShape 9">
            <a:extLst>
              <a:ext uri="{FF2B5EF4-FFF2-40B4-BE49-F238E27FC236}">
                <a16:creationId xmlns:a16="http://schemas.microsoft.com/office/drawing/2014/main" id="{575CD760-895C-F579-16AD-1D8F166C56D5}"/>
              </a:ext>
            </a:extLst>
          </p:cNvPr>
          <p:cNvSpPr>
            <a:spLocks noChangeArrowheads="1"/>
          </p:cNvSpPr>
          <p:nvPr/>
        </p:nvSpPr>
        <p:spPr bwMode="auto">
          <a:xfrm>
            <a:off x="3328738" y="2100199"/>
            <a:ext cx="2930610" cy="466538"/>
          </a:xfrm>
          <a:prstGeom prst="wedgeRoundRectCallout">
            <a:avLst>
              <a:gd name="adj1" fmla="val -27963"/>
              <a:gd name="adj2" fmla="val 374419"/>
              <a:gd name="adj3" fmla="val 16667"/>
            </a:avLst>
          </a:prstGeom>
          <a:solidFill>
            <a:srgbClr val="ADBADA">
              <a:alpha val="45000"/>
            </a:srgbClr>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None/>
            </a:pPr>
            <a:r>
              <a:rPr lang="en-US" altLang="en-US" sz="2000" dirty="0">
                <a:latin typeface="+mj-lt"/>
              </a:rPr>
              <a:t>Assign object reference to </a:t>
            </a:r>
            <a:r>
              <a:rPr lang="en-US" altLang="en-US" sz="2000" dirty="0" err="1">
                <a:latin typeface="+mj-lt"/>
              </a:rPr>
              <a:t>yourCircle</a:t>
            </a:r>
            <a:endParaRPr lang="en-US" altLang="en-US" sz="2000" dirty="0">
              <a:latin typeface="+mj-lt"/>
            </a:endParaRPr>
          </a:p>
          <a:p>
            <a:pPr algn="ctr">
              <a:spcBef>
                <a:spcPct val="0"/>
              </a:spcBef>
              <a:buClrTx/>
              <a:buSzTx/>
              <a:buFontTx/>
              <a:buNone/>
            </a:pPr>
            <a:endParaRPr lang="en-US" altLang="en-US" sz="2000" dirty="0">
              <a:latin typeface="+mj-lt"/>
            </a:endParaRPr>
          </a:p>
        </p:txBody>
      </p:sp>
      <p:sp>
        <p:nvSpPr>
          <p:cNvPr id="9" name="Rectangle 10">
            <a:extLst>
              <a:ext uri="{FF2B5EF4-FFF2-40B4-BE49-F238E27FC236}">
                <a16:creationId xmlns:a16="http://schemas.microsoft.com/office/drawing/2014/main" id="{45DF46C5-3697-F081-23AF-4A4C2B49F852}"/>
              </a:ext>
            </a:extLst>
          </p:cNvPr>
          <p:cNvSpPr>
            <a:spLocks noChangeArrowheads="1"/>
          </p:cNvSpPr>
          <p:nvPr/>
        </p:nvSpPr>
        <p:spPr bwMode="auto">
          <a:xfrm>
            <a:off x="8046934" y="5247769"/>
            <a:ext cx="1795504" cy="3063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latin typeface="+mj-lt"/>
              </a:rPr>
              <a:t>Reference value</a:t>
            </a:r>
          </a:p>
        </p:txBody>
      </p:sp>
      <p:sp>
        <p:nvSpPr>
          <p:cNvPr id="10" name="Text Box 11">
            <a:extLst>
              <a:ext uri="{FF2B5EF4-FFF2-40B4-BE49-F238E27FC236}">
                <a16:creationId xmlns:a16="http://schemas.microsoft.com/office/drawing/2014/main" id="{063E4393-029E-13AD-6534-F83659887195}"/>
              </a:ext>
            </a:extLst>
          </p:cNvPr>
          <p:cNvSpPr txBox="1">
            <a:spLocks noChangeArrowheads="1"/>
          </p:cNvSpPr>
          <p:nvPr/>
        </p:nvSpPr>
        <p:spPr bwMode="auto">
          <a:xfrm>
            <a:off x="6249655" y="2854381"/>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myCircle</a:t>
            </a:r>
            <a:endParaRPr lang="en-US" altLang="en-US" sz="2000" b="1" dirty="0">
              <a:latin typeface="Courier New" panose="02070309020205020404" pitchFamily="49" charset="0"/>
              <a:cs typeface="Courier New" panose="02070309020205020404" pitchFamily="49" charset="0"/>
            </a:endParaRPr>
          </a:p>
        </p:txBody>
      </p:sp>
      <p:sp>
        <p:nvSpPr>
          <p:cNvPr id="11" name="Rectangle 7">
            <a:extLst>
              <a:ext uri="{FF2B5EF4-FFF2-40B4-BE49-F238E27FC236}">
                <a16:creationId xmlns:a16="http://schemas.microsoft.com/office/drawing/2014/main" id="{9DF70360-E22D-C0E0-A5D5-1D977E3CDEBC}"/>
              </a:ext>
            </a:extLst>
          </p:cNvPr>
          <p:cNvSpPr>
            <a:spLocks noChangeArrowheads="1"/>
          </p:cNvSpPr>
          <p:nvPr/>
        </p:nvSpPr>
        <p:spPr bwMode="auto">
          <a:xfrm>
            <a:off x="3755858" y="4101822"/>
            <a:ext cx="296779" cy="274499"/>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 name="Text Box 11">
            <a:extLst>
              <a:ext uri="{FF2B5EF4-FFF2-40B4-BE49-F238E27FC236}">
                <a16:creationId xmlns:a16="http://schemas.microsoft.com/office/drawing/2014/main" id="{DEA9DD82-4158-BB60-B850-31397A7404F9}"/>
              </a:ext>
            </a:extLst>
          </p:cNvPr>
          <p:cNvSpPr txBox="1">
            <a:spLocks noChangeArrowheads="1"/>
          </p:cNvSpPr>
          <p:nvPr/>
        </p:nvSpPr>
        <p:spPr bwMode="auto">
          <a:xfrm>
            <a:off x="8944686" y="1887916"/>
            <a:ext cx="15961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a:solidFill>
                  <a:srgbClr val="FF0000"/>
                </a:solidFill>
                <a:latin typeface="+mj-lt"/>
                <a:cs typeface="Courier New" panose="02070309020205020404" pitchFamily="49" charset="0"/>
              </a:rPr>
              <a:t>Memory</a:t>
            </a:r>
          </a:p>
        </p:txBody>
      </p:sp>
      <p:pic>
        <p:nvPicPr>
          <p:cNvPr id="3" name="Picture 2">
            <a:extLst>
              <a:ext uri="{FF2B5EF4-FFF2-40B4-BE49-F238E27FC236}">
                <a16:creationId xmlns:a16="http://schemas.microsoft.com/office/drawing/2014/main" id="{8C24BBB5-D945-468A-65A9-C5D5F09B3829}"/>
              </a:ext>
            </a:extLst>
          </p:cNvPr>
          <p:cNvPicPr>
            <a:picLocks noChangeAspect="1"/>
          </p:cNvPicPr>
          <p:nvPr/>
        </p:nvPicPr>
        <p:blipFill>
          <a:blip r:embed="rId2"/>
          <a:stretch>
            <a:fillRect/>
          </a:stretch>
        </p:blipFill>
        <p:spPr>
          <a:xfrm>
            <a:off x="8258175" y="2379394"/>
            <a:ext cx="2686050" cy="1190625"/>
          </a:xfrm>
          <a:prstGeom prst="rect">
            <a:avLst/>
          </a:prstGeom>
        </p:spPr>
      </p:pic>
      <p:sp>
        <p:nvSpPr>
          <p:cNvPr id="5" name="Line 11">
            <a:extLst>
              <a:ext uri="{FF2B5EF4-FFF2-40B4-BE49-F238E27FC236}">
                <a16:creationId xmlns:a16="http://schemas.microsoft.com/office/drawing/2014/main" id="{9AC729CB-DA5A-8A2E-49CA-046BBBF09FF6}"/>
              </a:ext>
            </a:extLst>
          </p:cNvPr>
          <p:cNvSpPr>
            <a:spLocks noChangeShapeType="1"/>
          </p:cNvSpPr>
          <p:nvPr/>
        </p:nvSpPr>
        <p:spPr bwMode="auto">
          <a:xfrm flipV="1">
            <a:off x="8783782" y="4835971"/>
            <a:ext cx="1029522" cy="411796"/>
          </a:xfrm>
          <a:prstGeom prst="line">
            <a:avLst/>
          </a:prstGeom>
          <a:noFill/>
          <a:ln w="381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graphicFrame>
        <p:nvGraphicFramePr>
          <p:cNvPr id="6" name="Object 13">
            <a:extLst>
              <a:ext uri="{FF2B5EF4-FFF2-40B4-BE49-F238E27FC236}">
                <a16:creationId xmlns:a16="http://schemas.microsoft.com/office/drawing/2014/main" id="{7306EEBE-CA35-BAA5-26D2-29E09CBA9E74}"/>
              </a:ext>
            </a:extLst>
          </p:cNvPr>
          <p:cNvGraphicFramePr>
            <a:graphicFrameLocks noChangeAspect="1"/>
          </p:cNvGraphicFramePr>
          <p:nvPr/>
        </p:nvGraphicFramePr>
        <p:xfrm>
          <a:off x="8258175" y="3642172"/>
          <a:ext cx="2687638" cy="1193800"/>
        </p:xfrm>
        <a:graphic>
          <a:graphicData uri="http://schemas.openxmlformats.org/presentationml/2006/ole">
            <mc:AlternateContent xmlns:mc="http://schemas.openxmlformats.org/markup-compatibility/2006">
              <mc:Choice xmlns:v="urn:schemas-microsoft-com:vml" Requires="v">
                <p:oleObj name="Picture" r:id="rId3" imgW="1028510" imgH="456439" progId="Word.Picture.8">
                  <p:embed/>
                </p:oleObj>
              </mc:Choice>
              <mc:Fallback>
                <p:oleObj name="Picture" r:id="rId3" imgW="1028510" imgH="456439" progId="Word.Picture.8">
                  <p:embed/>
                  <p:pic>
                    <p:nvPicPr>
                      <p:cNvPr id="6" name="Object 13">
                        <a:extLst>
                          <a:ext uri="{FF2B5EF4-FFF2-40B4-BE49-F238E27FC236}">
                            <a16:creationId xmlns:a16="http://schemas.microsoft.com/office/drawing/2014/main" id="{7306EEBE-CA35-BAA5-26D2-29E09CBA9E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8175" y="3642172"/>
                        <a:ext cx="2687638"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Line 11">
            <a:extLst>
              <a:ext uri="{FF2B5EF4-FFF2-40B4-BE49-F238E27FC236}">
                <a16:creationId xmlns:a16="http://schemas.microsoft.com/office/drawing/2014/main" id="{B38FD85E-CC82-C755-5102-F071A2F93589}"/>
              </a:ext>
            </a:extLst>
          </p:cNvPr>
          <p:cNvSpPr>
            <a:spLocks noChangeShapeType="1"/>
          </p:cNvSpPr>
          <p:nvPr/>
        </p:nvSpPr>
        <p:spPr bwMode="auto">
          <a:xfrm flipV="1">
            <a:off x="7610765" y="2974107"/>
            <a:ext cx="858980" cy="36947"/>
          </a:xfrm>
          <a:prstGeom prst="line">
            <a:avLst/>
          </a:prstGeom>
          <a:noFill/>
          <a:ln w="381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
        <p:nvSpPr>
          <p:cNvPr id="15" name="Text Box 11">
            <a:extLst>
              <a:ext uri="{FF2B5EF4-FFF2-40B4-BE49-F238E27FC236}">
                <a16:creationId xmlns:a16="http://schemas.microsoft.com/office/drawing/2014/main" id="{5647E708-B85D-E05B-D186-E8F7E8063D46}"/>
              </a:ext>
            </a:extLst>
          </p:cNvPr>
          <p:cNvSpPr txBox="1">
            <a:spLocks noChangeArrowheads="1"/>
          </p:cNvSpPr>
          <p:nvPr/>
        </p:nvSpPr>
        <p:spPr bwMode="auto">
          <a:xfrm>
            <a:off x="6172827" y="5192353"/>
            <a:ext cx="17498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dirty="0" err="1">
                <a:latin typeface="Courier New" panose="02070309020205020404" pitchFamily="49" charset="0"/>
                <a:cs typeface="Courier New" panose="02070309020205020404" pitchFamily="49" charset="0"/>
              </a:rPr>
              <a:t>yourCircle</a:t>
            </a:r>
            <a:endParaRPr lang="en-US" altLang="en-US" sz="20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00474329"/>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Exercise </a:t>
            </a:r>
            <a:endParaRPr lang="en-US" dirty="0">
              <a:solidFill>
                <a:srgbClr val="FF0000"/>
              </a:solidFill>
            </a:endParaRP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Design a class named (Book) that has the following members:</a:t>
            </a:r>
          </a:p>
          <a:p>
            <a:pPr lvl="1"/>
            <a:r>
              <a:rPr lang="en-US" altLang="en-US" dirty="0"/>
              <a:t>Two instance variables number of type int and name of type String </a:t>
            </a:r>
          </a:p>
          <a:p>
            <a:pPr lvl="1"/>
            <a:r>
              <a:rPr lang="en-US" altLang="en-US" dirty="0"/>
              <a:t>Three  different constructors.</a:t>
            </a:r>
          </a:p>
          <a:p>
            <a:pPr lvl="1"/>
            <a:r>
              <a:rPr lang="en-US" altLang="en-US" dirty="0"/>
              <a:t> display( )  method to print the details of the book .</a:t>
            </a:r>
          </a:p>
          <a:p>
            <a:r>
              <a:rPr lang="en-US" altLang="en-US" dirty="0"/>
              <a:t>In the main class , create  three  objects of type (Book) using different  constructors to represent three books and print the details for each book.</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025048359"/>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References </a:t>
            </a:r>
            <a:endParaRPr lang="en-US" dirty="0">
              <a:solidFill>
                <a:srgbClr val="FF0000"/>
              </a:solidFill>
            </a:endParaRP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[1] Introduction to Java Programming, Comprehensive Version, Student Value Edition, Daniel Liang, 12th Edition, Pearson 2019</a:t>
            </a:r>
          </a:p>
          <a:p>
            <a:r>
              <a:rPr lang="en-US" altLang="en-US" dirty="0"/>
              <a:t>lecture Notes :edugate.asu.edu.jo.</a:t>
            </a:r>
          </a:p>
          <a:p>
            <a:r>
              <a:rPr lang="en-US" altLang="en-US" dirty="0"/>
              <a:t>lecture  Videos : YouTube channel.</a:t>
            </a:r>
          </a:p>
          <a:p>
            <a:r>
              <a:rPr lang="en-US" altLang="en-US" dirty="0"/>
              <a:t>Lab manual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27438597"/>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AD21629-8556-4260-8D0A-66F958DBEB56}">
  <ds:schemaRefs>
    <ds:schemaRef ds:uri="http://schemas.microsoft.com/sharepoint/v3/contenttype/forms"/>
  </ds:schemaRefs>
</ds:datastoreItem>
</file>

<file path=customXml/itemProps2.xml><?xml version="1.0" encoding="utf-8"?>
<ds:datastoreItem xmlns:ds="http://schemas.openxmlformats.org/officeDocument/2006/customXml" ds:itemID="{4C7B2579-71B7-4618-B31F-9C0A92F89A53}"/>
</file>

<file path=customXml/itemProps3.xml><?xml version="1.0" encoding="utf-8"?>
<ds:datastoreItem xmlns:ds="http://schemas.openxmlformats.org/officeDocument/2006/customXml" ds:itemID="{0E53023F-D92C-427B-8DED-E3357D01DBEE}">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docProps/app.xml><?xml version="1.0" encoding="utf-8"?>
<Properties xmlns="http://schemas.openxmlformats.org/officeDocument/2006/extended-properties" xmlns:vt="http://schemas.openxmlformats.org/officeDocument/2006/docPropsVTypes">
  <Template>Retrospect</Template>
  <TotalTime>2861</TotalTime>
  <Words>2951</Words>
  <Application>Microsoft Office PowerPoint</Application>
  <PresentationFormat>Widescreen</PresentationFormat>
  <Paragraphs>364</Paragraphs>
  <Slides>51</Slides>
  <Notes>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Retrospect</vt:lpstr>
      <vt:lpstr>Fundamental Programming Structures in JAVA</vt:lpstr>
      <vt:lpstr>Objectives</vt:lpstr>
      <vt:lpstr>Object-Oriented Programming Terminologies</vt:lpstr>
      <vt:lpstr>Classes and Objects</vt:lpstr>
      <vt:lpstr>Classes and Objects</vt:lpstr>
      <vt:lpstr>Classes and Objects</vt:lpstr>
      <vt:lpstr>Classes and Objects</vt:lpstr>
      <vt:lpstr>Classes in Java</vt:lpstr>
      <vt:lpstr>Class Diagram</vt:lpstr>
      <vt:lpstr>Class Template</vt:lpstr>
      <vt:lpstr>Class Template</vt:lpstr>
      <vt:lpstr>Class Syntax</vt:lpstr>
      <vt:lpstr>Writing a Class, (Step by Step)</vt:lpstr>
      <vt:lpstr>Cont. Writing a Class</vt:lpstr>
      <vt:lpstr>Cont. Writing a Class</vt:lpstr>
      <vt:lpstr>Instance Variables</vt:lpstr>
      <vt:lpstr>Writing a Class, Step by Step</vt:lpstr>
      <vt:lpstr>Writing a Class, Step by Step , cont..</vt:lpstr>
      <vt:lpstr>Instance Methods</vt:lpstr>
      <vt:lpstr>Writing a Class, Step by Step</vt:lpstr>
      <vt:lpstr>Writing a Class, Step by Step</vt:lpstr>
      <vt:lpstr>Object Instantiation (Creating Object)</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Constructors</vt:lpstr>
      <vt:lpstr>Constructors</vt:lpstr>
      <vt:lpstr>The Default Constructor</vt:lpstr>
      <vt:lpstr>Writing Your Own No-Arg Constructor</vt:lpstr>
      <vt:lpstr>Parametrized Constructor</vt:lpstr>
      <vt:lpstr>Parametrized Constructor</vt:lpstr>
      <vt:lpstr>Summarization Constructors</vt:lpstr>
      <vt:lpstr>Constructors Types </vt:lpstr>
      <vt:lpstr>Constructors Types </vt:lpstr>
      <vt:lpstr>Constructors Types: Explanation </vt:lpstr>
      <vt:lpstr>Constructors Types: Explanation </vt:lpstr>
      <vt:lpstr>Example: Circle Class with Constructors</vt:lpstr>
      <vt:lpstr>Trace Code</vt:lpstr>
      <vt:lpstr>Trace Code</vt:lpstr>
      <vt:lpstr>Trace Code</vt:lpstr>
      <vt:lpstr>Trace Code</vt:lpstr>
      <vt:lpstr>Trace Code</vt:lpstr>
      <vt:lpstr>Trace Code</vt:lpstr>
      <vt:lpstr>Trace Code</vt:lpstr>
      <vt:lpstr>Exercise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 Hamada</cp:lastModifiedBy>
  <cp:revision>30</cp:revision>
  <dcterms:created xsi:type="dcterms:W3CDTF">2023-12-21T19:04:58Z</dcterms:created>
  <dcterms:modified xsi:type="dcterms:W3CDTF">2024-02-25T22:58:47Z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ies>
</file>