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4"/>
  </p:sldMasterIdLst>
  <p:notesMasterIdLst>
    <p:notesMasterId r:id="rId34"/>
  </p:notesMasterIdLst>
  <p:sldIdLst>
    <p:sldId id="256" r:id="rId5"/>
    <p:sldId id="257" r:id="rId6"/>
    <p:sldId id="385" r:id="rId7"/>
    <p:sldId id="386" r:id="rId8"/>
    <p:sldId id="387" r:id="rId9"/>
    <p:sldId id="273" r:id="rId10"/>
    <p:sldId id="388" r:id="rId11"/>
    <p:sldId id="339" r:id="rId12"/>
    <p:sldId id="390" r:id="rId13"/>
    <p:sldId id="391" r:id="rId14"/>
    <p:sldId id="392" r:id="rId15"/>
    <p:sldId id="393" r:id="rId16"/>
    <p:sldId id="394" r:id="rId17"/>
    <p:sldId id="409" r:id="rId18"/>
    <p:sldId id="389" r:id="rId19"/>
    <p:sldId id="395" r:id="rId20"/>
    <p:sldId id="396" r:id="rId21"/>
    <p:sldId id="397" r:id="rId22"/>
    <p:sldId id="398" r:id="rId23"/>
    <p:sldId id="399" r:id="rId24"/>
    <p:sldId id="400" r:id="rId25"/>
    <p:sldId id="402" r:id="rId26"/>
    <p:sldId id="403" r:id="rId27"/>
    <p:sldId id="404" r:id="rId28"/>
    <p:sldId id="405" r:id="rId29"/>
    <p:sldId id="406" r:id="rId30"/>
    <p:sldId id="407" r:id="rId31"/>
    <p:sldId id="408" r:id="rId32"/>
    <p:sldId id="38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BADA"/>
    <a:srgbClr val="0070C0"/>
    <a:srgbClr val="D9A0FF"/>
    <a:srgbClr val="E8ECF5"/>
    <a:srgbClr val="B240FF"/>
    <a:srgbClr val="FF8080"/>
    <a:srgbClr val="FF0000"/>
    <a:srgbClr val="CDD4E8"/>
    <a:srgbClr val="FF8C8C"/>
    <a:srgbClr val="CCEFD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5CB209-DA24-CE4C-0309-66D7F330B700}" v="26" dt="2024-02-25T23:07:13.4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017" autoAdjust="0"/>
    <p:restoredTop sz="93220" autoAdjust="0"/>
  </p:normalViewPr>
  <p:slideViewPr>
    <p:cSldViewPr snapToGrid="0">
      <p:cViewPr varScale="1">
        <p:scale>
          <a:sx n="74" d="100"/>
          <a:sy n="74" d="100"/>
        </p:scale>
        <p:origin x="48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a Hamadeh" userId="S::b_hamadeh@asu.edu.jo::ba91a99f-f3ba-46e6-ad5d-582794b375a9" providerId="AD" clId="Web-{765CB209-DA24-CE4C-0309-66D7F330B700}"/>
    <pc:docChg chg="mod modSld modMainMaster">
      <pc:chgData name="Bara Hamadeh" userId="S::b_hamadeh@asu.edu.jo::ba91a99f-f3ba-46e6-ad5d-582794b375a9" providerId="AD" clId="Web-{765CB209-DA24-CE4C-0309-66D7F330B700}" dt="2024-02-25T23:07:13.414" v="26" actId="20577"/>
      <pc:docMkLst>
        <pc:docMk/>
      </pc:docMkLst>
      <pc:sldChg chg="delSp modSp modTransition">
        <pc:chgData name="Bara Hamadeh" userId="S::b_hamadeh@asu.edu.jo::ba91a99f-f3ba-46e6-ad5d-582794b375a9" providerId="AD" clId="Web-{765CB209-DA24-CE4C-0309-66D7F330B700}" dt="2024-02-25T23:07:13.414" v="26" actId="20577"/>
        <pc:sldMkLst>
          <pc:docMk/>
          <pc:sldMk cId="98556299" sldId="256"/>
        </pc:sldMkLst>
        <pc:spChg chg="mod">
          <ac:chgData name="Bara Hamadeh" userId="S::b_hamadeh@asu.edu.jo::ba91a99f-f3ba-46e6-ad5d-582794b375a9" providerId="AD" clId="Web-{765CB209-DA24-CE4C-0309-66D7F330B700}" dt="2024-02-25T23:07:05.476" v="21" actId="20577"/>
          <ac:spMkLst>
            <pc:docMk/>
            <pc:sldMk cId="98556299" sldId="256"/>
            <ac:spMk id="2" creationId="{0E3426FD-D193-2F6D-1700-2CC522B16D18}"/>
          </ac:spMkLst>
        </pc:spChg>
        <pc:spChg chg="mod">
          <ac:chgData name="Bara Hamadeh" userId="S::b_hamadeh@asu.edu.jo::ba91a99f-f3ba-46e6-ad5d-582794b375a9" providerId="AD" clId="Web-{765CB209-DA24-CE4C-0309-66D7F330B700}" dt="2024-02-25T23:07:13.414" v="26" actId="20577"/>
          <ac:spMkLst>
            <pc:docMk/>
            <pc:sldMk cId="98556299" sldId="256"/>
            <ac:spMk id="3" creationId="{F67DB7FE-4890-3792-0238-F23914BC3E4F}"/>
          </ac:spMkLst>
        </pc:spChg>
        <pc:spChg chg="del">
          <ac:chgData name="Bara Hamadeh" userId="S::b_hamadeh@asu.edu.jo::ba91a99f-f3ba-46e6-ad5d-582794b375a9" providerId="AD" clId="Web-{765CB209-DA24-CE4C-0309-66D7F330B700}" dt="2024-02-25T23:06:42.288" v="18"/>
          <ac:spMkLst>
            <pc:docMk/>
            <pc:sldMk cId="98556299" sldId="256"/>
            <ac:spMk id="4" creationId="{3E2AE632-31A0-217D-FD10-0A342181E0D1}"/>
          </ac:spMkLst>
        </pc:spChg>
      </pc:sldChg>
      <pc:sldChg chg="modSp">
        <pc:chgData name="Bara Hamadeh" userId="S::b_hamadeh@asu.edu.jo::ba91a99f-f3ba-46e6-ad5d-582794b375a9" providerId="AD" clId="Web-{765CB209-DA24-CE4C-0309-66D7F330B700}" dt="2024-02-25T23:06:54.898" v="19"/>
        <pc:sldMkLst>
          <pc:docMk/>
          <pc:sldMk cId="763895569" sldId="257"/>
        </pc:sldMkLst>
        <pc:spChg chg="mod">
          <ac:chgData name="Bara Hamadeh" userId="S::b_hamadeh@asu.edu.jo::ba91a99f-f3ba-46e6-ad5d-582794b375a9" providerId="AD" clId="Web-{765CB209-DA24-CE4C-0309-66D7F330B700}" dt="2024-02-25T23:06:54.898" v="19"/>
          <ac:spMkLst>
            <pc:docMk/>
            <pc:sldMk cId="763895569" sldId="257"/>
            <ac:spMk id="4" creationId="{8258CA88-4CE1-2FF4-DD8D-F6AFF13B654D}"/>
          </ac:spMkLst>
        </pc:spChg>
      </pc:sldChg>
      <pc:sldChg chg="modSp">
        <pc:chgData name="Bara Hamadeh" userId="S::b_hamadeh@asu.edu.jo::ba91a99f-f3ba-46e6-ad5d-582794b375a9" providerId="AD" clId="Web-{765CB209-DA24-CE4C-0309-66D7F330B700}" dt="2024-02-25T23:06:54.898" v="19"/>
        <pc:sldMkLst>
          <pc:docMk/>
          <pc:sldMk cId="2205240147" sldId="273"/>
        </pc:sldMkLst>
        <pc:spChg chg="mod">
          <ac:chgData name="Bara Hamadeh" userId="S::b_hamadeh@asu.edu.jo::ba91a99f-f3ba-46e6-ad5d-582794b375a9" providerId="AD" clId="Web-{765CB209-DA24-CE4C-0309-66D7F330B700}" dt="2024-02-25T23:06:54.898" v="19"/>
          <ac:spMkLst>
            <pc:docMk/>
            <pc:sldMk cId="2205240147" sldId="273"/>
            <ac:spMk id="4" creationId="{66738BBB-0AA8-3DCA-D70D-202ADE3D7914}"/>
          </ac:spMkLst>
        </pc:spChg>
      </pc:sldChg>
      <pc:sldChg chg="delSp modSp">
        <pc:chgData name="Bara Hamadeh" userId="S::b_hamadeh@asu.edu.jo::ba91a99f-f3ba-46e6-ad5d-582794b375a9" providerId="AD" clId="Web-{765CB209-DA24-CE4C-0309-66D7F330B700}" dt="2024-02-25T23:06:54.898" v="19"/>
        <pc:sldMkLst>
          <pc:docMk/>
          <pc:sldMk cId="315302620" sldId="339"/>
        </pc:sldMkLst>
        <pc:spChg chg="mod">
          <ac:chgData name="Bara Hamadeh" userId="S::b_hamadeh@asu.edu.jo::ba91a99f-f3ba-46e6-ad5d-582794b375a9" providerId="AD" clId="Web-{765CB209-DA24-CE4C-0309-66D7F330B700}" dt="2024-02-25T23:06:54.898" v="19"/>
          <ac:spMkLst>
            <pc:docMk/>
            <pc:sldMk cId="315302620" sldId="339"/>
            <ac:spMk id="4" creationId="{66738BBB-0AA8-3DCA-D70D-202ADE3D7914}"/>
          </ac:spMkLst>
        </pc:spChg>
        <pc:spChg chg="del">
          <ac:chgData name="Bara Hamadeh" userId="S::b_hamadeh@asu.edu.jo::ba91a99f-f3ba-46e6-ad5d-582794b375a9" providerId="AD" clId="Web-{765CB209-DA24-CE4C-0309-66D7F330B700}" dt="2024-02-25T23:06:54.898" v="19"/>
          <ac:spMkLst>
            <pc:docMk/>
            <pc:sldMk cId="315302620" sldId="339"/>
            <ac:spMk id="8" creationId="{04C8C462-16B2-9C79-0C6D-ACA5F8EBF5D1}"/>
          </ac:spMkLst>
        </pc:spChg>
      </pc:sldChg>
      <pc:sldChg chg="modSp modTransition">
        <pc:chgData name="Bara Hamadeh" userId="S::b_hamadeh@asu.edu.jo::ba91a99f-f3ba-46e6-ad5d-582794b375a9" providerId="AD" clId="Web-{765CB209-DA24-CE4C-0309-66D7F330B700}" dt="2024-02-25T23:06:54.898" v="19"/>
        <pc:sldMkLst>
          <pc:docMk/>
          <pc:sldMk cId="1327438597" sldId="384"/>
        </pc:sldMkLst>
        <pc:spChg chg="mod">
          <ac:chgData name="Bara Hamadeh" userId="S::b_hamadeh@asu.edu.jo::ba91a99f-f3ba-46e6-ad5d-582794b375a9" providerId="AD" clId="Web-{765CB209-DA24-CE4C-0309-66D7F330B700}" dt="2024-02-25T23:06:54.898" v="19"/>
          <ac:spMkLst>
            <pc:docMk/>
            <pc:sldMk cId="1327438597" sldId="384"/>
            <ac:spMk id="4" creationId="{66738BBB-0AA8-3DCA-D70D-202ADE3D7914}"/>
          </ac:spMkLst>
        </pc:spChg>
      </pc:sldChg>
      <pc:sldChg chg="modSp">
        <pc:chgData name="Bara Hamadeh" userId="S::b_hamadeh@asu.edu.jo::ba91a99f-f3ba-46e6-ad5d-582794b375a9" providerId="AD" clId="Web-{765CB209-DA24-CE4C-0309-66D7F330B700}" dt="2024-02-25T23:06:54.898" v="19"/>
        <pc:sldMkLst>
          <pc:docMk/>
          <pc:sldMk cId="3564258084" sldId="385"/>
        </pc:sldMkLst>
        <pc:spChg chg="mod">
          <ac:chgData name="Bara Hamadeh" userId="S::b_hamadeh@asu.edu.jo::ba91a99f-f3ba-46e6-ad5d-582794b375a9" providerId="AD" clId="Web-{765CB209-DA24-CE4C-0309-66D7F330B700}" dt="2024-02-25T23:06:54.898" v="19"/>
          <ac:spMkLst>
            <pc:docMk/>
            <pc:sldMk cId="3564258084" sldId="385"/>
            <ac:spMk id="4" creationId="{66738BBB-0AA8-3DCA-D70D-202ADE3D7914}"/>
          </ac:spMkLst>
        </pc:spChg>
      </pc:sldChg>
      <pc:sldChg chg="modSp">
        <pc:chgData name="Bara Hamadeh" userId="S::b_hamadeh@asu.edu.jo::ba91a99f-f3ba-46e6-ad5d-582794b375a9" providerId="AD" clId="Web-{765CB209-DA24-CE4C-0309-66D7F330B700}" dt="2024-02-25T23:06:54.898" v="19"/>
        <pc:sldMkLst>
          <pc:docMk/>
          <pc:sldMk cId="3740700707" sldId="386"/>
        </pc:sldMkLst>
        <pc:spChg chg="mod">
          <ac:chgData name="Bara Hamadeh" userId="S::b_hamadeh@asu.edu.jo::ba91a99f-f3ba-46e6-ad5d-582794b375a9" providerId="AD" clId="Web-{765CB209-DA24-CE4C-0309-66D7F330B700}" dt="2024-02-25T23:06:54.898" v="19"/>
          <ac:spMkLst>
            <pc:docMk/>
            <pc:sldMk cId="3740700707" sldId="386"/>
            <ac:spMk id="4" creationId="{66738BBB-0AA8-3DCA-D70D-202ADE3D7914}"/>
          </ac:spMkLst>
        </pc:spChg>
      </pc:sldChg>
      <pc:sldChg chg="modSp">
        <pc:chgData name="Bara Hamadeh" userId="S::b_hamadeh@asu.edu.jo::ba91a99f-f3ba-46e6-ad5d-582794b375a9" providerId="AD" clId="Web-{765CB209-DA24-CE4C-0309-66D7F330B700}" dt="2024-02-25T23:06:54.898" v="19"/>
        <pc:sldMkLst>
          <pc:docMk/>
          <pc:sldMk cId="2782191417" sldId="387"/>
        </pc:sldMkLst>
        <pc:spChg chg="mod">
          <ac:chgData name="Bara Hamadeh" userId="S::b_hamadeh@asu.edu.jo::ba91a99f-f3ba-46e6-ad5d-582794b375a9" providerId="AD" clId="Web-{765CB209-DA24-CE4C-0309-66D7F330B700}" dt="2024-02-25T23:06:54.898" v="19"/>
          <ac:spMkLst>
            <pc:docMk/>
            <pc:sldMk cId="2782191417" sldId="387"/>
            <ac:spMk id="4" creationId="{66738BBB-0AA8-3DCA-D70D-202ADE3D7914}"/>
          </ac:spMkLst>
        </pc:spChg>
      </pc:sldChg>
      <pc:sldChg chg="modSp">
        <pc:chgData name="Bara Hamadeh" userId="S::b_hamadeh@asu.edu.jo::ba91a99f-f3ba-46e6-ad5d-582794b375a9" providerId="AD" clId="Web-{765CB209-DA24-CE4C-0309-66D7F330B700}" dt="2024-02-25T23:06:54.898" v="19"/>
        <pc:sldMkLst>
          <pc:docMk/>
          <pc:sldMk cId="1019326069" sldId="388"/>
        </pc:sldMkLst>
        <pc:spChg chg="mod">
          <ac:chgData name="Bara Hamadeh" userId="S::b_hamadeh@asu.edu.jo::ba91a99f-f3ba-46e6-ad5d-582794b375a9" providerId="AD" clId="Web-{765CB209-DA24-CE4C-0309-66D7F330B700}" dt="2024-02-25T23:06:54.898" v="19"/>
          <ac:spMkLst>
            <pc:docMk/>
            <pc:sldMk cId="1019326069" sldId="388"/>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1563674312" sldId="389"/>
        </pc:sldMkLst>
        <pc:spChg chg="mod">
          <ac:chgData name="Bara Hamadeh" userId="S::b_hamadeh@asu.edu.jo::ba91a99f-f3ba-46e6-ad5d-582794b375a9" providerId="AD" clId="Web-{765CB209-DA24-CE4C-0309-66D7F330B700}" dt="2024-02-25T23:06:54.898" v="19"/>
          <ac:spMkLst>
            <pc:docMk/>
            <pc:sldMk cId="1563674312" sldId="389"/>
            <ac:spMk id="4" creationId="{66738BBB-0AA8-3DCA-D70D-202ADE3D7914}"/>
          </ac:spMkLst>
        </pc:spChg>
      </pc:sldChg>
      <pc:sldChg chg="delSp modSp">
        <pc:chgData name="Bara Hamadeh" userId="S::b_hamadeh@asu.edu.jo::ba91a99f-f3ba-46e6-ad5d-582794b375a9" providerId="AD" clId="Web-{765CB209-DA24-CE4C-0309-66D7F330B700}" dt="2024-02-25T23:06:54.898" v="19"/>
        <pc:sldMkLst>
          <pc:docMk/>
          <pc:sldMk cId="3385640442" sldId="390"/>
        </pc:sldMkLst>
        <pc:spChg chg="mod">
          <ac:chgData name="Bara Hamadeh" userId="S::b_hamadeh@asu.edu.jo::ba91a99f-f3ba-46e6-ad5d-582794b375a9" providerId="AD" clId="Web-{765CB209-DA24-CE4C-0309-66D7F330B700}" dt="2024-02-25T23:06:54.898" v="19"/>
          <ac:spMkLst>
            <pc:docMk/>
            <pc:sldMk cId="3385640442" sldId="390"/>
            <ac:spMk id="4" creationId="{66738BBB-0AA8-3DCA-D70D-202ADE3D7914}"/>
          </ac:spMkLst>
        </pc:spChg>
        <pc:spChg chg="del">
          <ac:chgData name="Bara Hamadeh" userId="S::b_hamadeh@asu.edu.jo::ba91a99f-f3ba-46e6-ad5d-582794b375a9" providerId="AD" clId="Web-{765CB209-DA24-CE4C-0309-66D7F330B700}" dt="2024-02-25T23:06:54.898" v="19"/>
          <ac:spMkLst>
            <pc:docMk/>
            <pc:sldMk cId="3385640442" sldId="390"/>
            <ac:spMk id="8" creationId="{04C8C462-16B2-9C79-0C6D-ACA5F8EBF5D1}"/>
          </ac:spMkLst>
        </pc:spChg>
      </pc:sldChg>
      <pc:sldChg chg="delSp modSp">
        <pc:chgData name="Bara Hamadeh" userId="S::b_hamadeh@asu.edu.jo::ba91a99f-f3ba-46e6-ad5d-582794b375a9" providerId="AD" clId="Web-{765CB209-DA24-CE4C-0309-66D7F330B700}" dt="2024-02-25T23:06:54.898" v="19"/>
        <pc:sldMkLst>
          <pc:docMk/>
          <pc:sldMk cId="425405831" sldId="391"/>
        </pc:sldMkLst>
        <pc:spChg chg="mod">
          <ac:chgData name="Bara Hamadeh" userId="S::b_hamadeh@asu.edu.jo::ba91a99f-f3ba-46e6-ad5d-582794b375a9" providerId="AD" clId="Web-{765CB209-DA24-CE4C-0309-66D7F330B700}" dt="2024-02-25T23:06:54.898" v="19"/>
          <ac:spMkLst>
            <pc:docMk/>
            <pc:sldMk cId="425405831" sldId="391"/>
            <ac:spMk id="4" creationId="{66738BBB-0AA8-3DCA-D70D-202ADE3D7914}"/>
          </ac:spMkLst>
        </pc:spChg>
        <pc:spChg chg="del">
          <ac:chgData name="Bara Hamadeh" userId="S::b_hamadeh@asu.edu.jo::ba91a99f-f3ba-46e6-ad5d-582794b375a9" providerId="AD" clId="Web-{765CB209-DA24-CE4C-0309-66D7F330B700}" dt="2024-02-25T23:06:54.898" v="19"/>
          <ac:spMkLst>
            <pc:docMk/>
            <pc:sldMk cId="425405831" sldId="391"/>
            <ac:spMk id="8" creationId="{04C8C462-16B2-9C79-0C6D-ACA5F8EBF5D1}"/>
          </ac:spMkLst>
        </pc:spChg>
      </pc:sldChg>
      <pc:sldChg chg="delSp modSp">
        <pc:chgData name="Bara Hamadeh" userId="S::b_hamadeh@asu.edu.jo::ba91a99f-f3ba-46e6-ad5d-582794b375a9" providerId="AD" clId="Web-{765CB209-DA24-CE4C-0309-66D7F330B700}" dt="2024-02-25T23:06:54.898" v="19"/>
        <pc:sldMkLst>
          <pc:docMk/>
          <pc:sldMk cId="1709839700" sldId="392"/>
        </pc:sldMkLst>
        <pc:spChg chg="mod">
          <ac:chgData name="Bara Hamadeh" userId="S::b_hamadeh@asu.edu.jo::ba91a99f-f3ba-46e6-ad5d-582794b375a9" providerId="AD" clId="Web-{765CB209-DA24-CE4C-0309-66D7F330B700}" dt="2024-02-25T23:06:54.898" v="19"/>
          <ac:spMkLst>
            <pc:docMk/>
            <pc:sldMk cId="1709839700" sldId="392"/>
            <ac:spMk id="4" creationId="{66738BBB-0AA8-3DCA-D70D-202ADE3D7914}"/>
          </ac:spMkLst>
        </pc:spChg>
        <pc:spChg chg="del">
          <ac:chgData name="Bara Hamadeh" userId="S::b_hamadeh@asu.edu.jo::ba91a99f-f3ba-46e6-ad5d-582794b375a9" providerId="AD" clId="Web-{765CB209-DA24-CE4C-0309-66D7F330B700}" dt="2024-02-25T23:06:54.898" v="19"/>
          <ac:spMkLst>
            <pc:docMk/>
            <pc:sldMk cId="1709839700" sldId="392"/>
            <ac:spMk id="8" creationId="{04C8C462-16B2-9C79-0C6D-ACA5F8EBF5D1}"/>
          </ac:spMkLst>
        </pc:spChg>
      </pc:sldChg>
      <pc:sldChg chg="delSp modSp">
        <pc:chgData name="Bara Hamadeh" userId="S::b_hamadeh@asu.edu.jo::ba91a99f-f3ba-46e6-ad5d-582794b375a9" providerId="AD" clId="Web-{765CB209-DA24-CE4C-0309-66D7F330B700}" dt="2024-02-25T23:06:54.898" v="19"/>
        <pc:sldMkLst>
          <pc:docMk/>
          <pc:sldMk cId="1782474096" sldId="393"/>
        </pc:sldMkLst>
        <pc:spChg chg="mod">
          <ac:chgData name="Bara Hamadeh" userId="S::b_hamadeh@asu.edu.jo::ba91a99f-f3ba-46e6-ad5d-582794b375a9" providerId="AD" clId="Web-{765CB209-DA24-CE4C-0309-66D7F330B700}" dt="2024-02-25T23:06:54.898" v="19"/>
          <ac:spMkLst>
            <pc:docMk/>
            <pc:sldMk cId="1782474096" sldId="393"/>
            <ac:spMk id="4" creationId="{66738BBB-0AA8-3DCA-D70D-202ADE3D7914}"/>
          </ac:spMkLst>
        </pc:spChg>
        <pc:spChg chg="del">
          <ac:chgData name="Bara Hamadeh" userId="S::b_hamadeh@asu.edu.jo::ba91a99f-f3ba-46e6-ad5d-582794b375a9" providerId="AD" clId="Web-{765CB209-DA24-CE4C-0309-66D7F330B700}" dt="2024-02-25T23:06:54.898" v="19"/>
          <ac:spMkLst>
            <pc:docMk/>
            <pc:sldMk cId="1782474096" sldId="393"/>
            <ac:spMk id="8" creationId="{04C8C462-16B2-9C79-0C6D-ACA5F8EBF5D1}"/>
          </ac:spMkLst>
        </pc:spChg>
      </pc:sldChg>
      <pc:sldChg chg="delSp modSp modTransition">
        <pc:chgData name="Bara Hamadeh" userId="S::b_hamadeh@asu.edu.jo::ba91a99f-f3ba-46e6-ad5d-582794b375a9" providerId="AD" clId="Web-{765CB209-DA24-CE4C-0309-66D7F330B700}" dt="2024-02-25T23:06:54.898" v="19"/>
        <pc:sldMkLst>
          <pc:docMk/>
          <pc:sldMk cId="4163068476" sldId="394"/>
        </pc:sldMkLst>
        <pc:spChg chg="mod">
          <ac:chgData name="Bara Hamadeh" userId="S::b_hamadeh@asu.edu.jo::ba91a99f-f3ba-46e6-ad5d-582794b375a9" providerId="AD" clId="Web-{765CB209-DA24-CE4C-0309-66D7F330B700}" dt="2024-02-25T23:06:54.898" v="19"/>
          <ac:spMkLst>
            <pc:docMk/>
            <pc:sldMk cId="4163068476" sldId="394"/>
            <ac:spMk id="4" creationId="{66738BBB-0AA8-3DCA-D70D-202ADE3D7914}"/>
          </ac:spMkLst>
        </pc:spChg>
        <pc:spChg chg="del">
          <ac:chgData name="Bara Hamadeh" userId="S::b_hamadeh@asu.edu.jo::ba91a99f-f3ba-46e6-ad5d-582794b375a9" providerId="AD" clId="Web-{765CB209-DA24-CE4C-0309-66D7F330B700}" dt="2024-02-25T23:06:54.898" v="19"/>
          <ac:spMkLst>
            <pc:docMk/>
            <pc:sldMk cId="4163068476" sldId="394"/>
            <ac:spMk id="8" creationId="{04C8C462-16B2-9C79-0C6D-ACA5F8EBF5D1}"/>
          </ac:spMkLst>
        </pc:spChg>
      </pc:sldChg>
      <pc:sldChg chg="modSp modTransition">
        <pc:chgData name="Bara Hamadeh" userId="S::b_hamadeh@asu.edu.jo::ba91a99f-f3ba-46e6-ad5d-582794b375a9" providerId="AD" clId="Web-{765CB209-DA24-CE4C-0309-66D7F330B700}" dt="2024-02-25T23:06:54.898" v="19"/>
        <pc:sldMkLst>
          <pc:docMk/>
          <pc:sldMk cId="3788931731" sldId="395"/>
        </pc:sldMkLst>
        <pc:spChg chg="mod">
          <ac:chgData name="Bara Hamadeh" userId="S::b_hamadeh@asu.edu.jo::ba91a99f-f3ba-46e6-ad5d-582794b375a9" providerId="AD" clId="Web-{765CB209-DA24-CE4C-0309-66D7F330B700}" dt="2024-02-25T23:06:54.898" v="19"/>
          <ac:spMkLst>
            <pc:docMk/>
            <pc:sldMk cId="3788931731" sldId="395"/>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2681445844" sldId="396"/>
        </pc:sldMkLst>
        <pc:spChg chg="mod">
          <ac:chgData name="Bara Hamadeh" userId="S::b_hamadeh@asu.edu.jo::ba91a99f-f3ba-46e6-ad5d-582794b375a9" providerId="AD" clId="Web-{765CB209-DA24-CE4C-0309-66D7F330B700}" dt="2024-02-25T23:06:54.898" v="19"/>
          <ac:spMkLst>
            <pc:docMk/>
            <pc:sldMk cId="2681445844" sldId="396"/>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3020067925" sldId="397"/>
        </pc:sldMkLst>
        <pc:spChg chg="mod">
          <ac:chgData name="Bara Hamadeh" userId="S::b_hamadeh@asu.edu.jo::ba91a99f-f3ba-46e6-ad5d-582794b375a9" providerId="AD" clId="Web-{765CB209-DA24-CE4C-0309-66D7F330B700}" dt="2024-02-25T23:06:54.898" v="19"/>
          <ac:spMkLst>
            <pc:docMk/>
            <pc:sldMk cId="3020067925" sldId="397"/>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2870229019" sldId="398"/>
        </pc:sldMkLst>
        <pc:spChg chg="mod">
          <ac:chgData name="Bara Hamadeh" userId="S::b_hamadeh@asu.edu.jo::ba91a99f-f3ba-46e6-ad5d-582794b375a9" providerId="AD" clId="Web-{765CB209-DA24-CE4C-0309-66D7F330B700}" dt="2024-02-25T23:06:54.898" v="19"/>
          <ac:spMkLst>
            <pc:docMk/>
            <pc:sldMk cId="2870229019" sldId="398"/>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1729728843" sldId="399"/>
        </pc:sldMkLst>
        <pc:spChg chg="mod">
          <ac:chgData name="Bara Hamadeh" userId="S::b_hamadeh@asu.edu.jo::ba91a99f-f3ba-46e6-ad5d-582794b375a9" providerId="AD" clId="Web-{765CB209-DA24-CE4C-0309-66D7F330B700}" dt="2024-02-25T23:06:54.898" v="19"/>
          <ac:spMkLst>
            <pc:docMk/>
            <pc:sldMk cId="1729728843" sldId="399"/>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924811803" sldId="400"/>
        </pc:sldMkLst>
        <pc:spChg chg="mod">
          <ac:chgData name="Bara Hamadeh" userId="S::b_hamadeh@asu.edu.jo::ba91a99f-f3ba-46e6-ad5d-582794b375a9" providerId="AD" clId="Web-{765CB209-DA24-CE4C-0309-66D7F330B700}" dt="2024-02-25T23:06:54.898" v="19"/>
          <ac:spMkLst>
            <pc:docMk/>
            <pc:sldMk cId="924811803" sldId="400"/>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357478997" sldId="402"/>
        </pc:sldMkLst>
        <pc:spChg chg="mod">
          <ac:chgData name="Bara Hamadeh" userId="S::b_hamadeh@asu.edu.jo::ba91a99f-f3ba-46e6-ad5d-582794b375a9" providerId="AD" clId="Web-{765CB209-DA24-CE4C-0309-66D7F330B700}" dt="2024-02-25T23:06:54.898" v="19"/>
          <ac:spMkLst>
            <pc:docMk/>
            <pc:sldMk cId="357478997" sldId="402"/>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1325476760" sldId="403"/>
        </pc:sldMkLst>
        <pc:spChg chg="mod">
          <ac:chgData name="Bara Hamadeh" userId="S::b_hamadeh@asu.edu.jo::ba91a99f-f3ba-46e6-ad5d-582794b375a9" providerId="AD" clId="Web-{765CB209-DA24-CE4C-0309-66D7F330B700}" dt="2024-02-25T23:06:54.898" v="19"/>
          <ac:spMkLst>
            <pc:docMk/>
            <pc:sldMk cId="1325476760" sldId="403"/>
            <ac:spMk id="4" creationId="{66738BBB-0AA8-3DCA-D70D-202ADE3D7914}"/>
          </ac:spMkLst>
        </pc:spChg>
      </pc:sldChg>
      <pc:sldChg chg="modSp modTransition">
        <pc:chgData name="Bara Hamadeh" userId="S::b_hamadeh@asu.edu.jo::ba91a99f-f3ba-46e6-ad5d-582794b375a9" providerId="AD" clId="Web-{765CB209-DA24-CE4C-0309-66D7F330B700}" dt="2024-02-25T23:06:54.898" v="19"/>
        <pc:sldMkLst>
          <pc:docMk/>
          <pc:sldMk cId="1198893338" sldId="404"/>
        </pc:sldMkLst>
        <pc:spChg chg="mod">
          <ac:chgData name="Bara Hamadeh" userId="S::b_hamadeh@asu.edu.jo::ba91a99f-f3ba-46e6-ad5d-582794b375a9" providerId="AD" clId="Web-{765CB209-DA24-CE4C-0309-66D7F330B700}" dt="2024-02-25T23:06:54.898" v="19"/>
          <ac:spMkLst>
            <pc:docMk/>
            <pc:sldMk cId="1198893338" sldId="404"/>
            <ac:spMk id="4" creationId="{66738BBB-0AA8-3DCA-D70D-202ADE3D7914}"/>
          </ac:spMkLst>
        </pc:spChg>
      </pc:sldChg>
      <pc:sldChg chg="delSp modSp modTransition">
        <pc:chgData name="Bara Hamadeh" userId="S::b_hamadeh@asu.edu.jo::ba91a99f-f3ba-46e6-ad5d-582794b375a9" providerId="AD" clId="Web-{765CB209-DA24-CE4C-0309-66D7F330B700}" dt="2024-02-25T23:06:54.898" v="19"/>
        <pc:sldMkLst>
          <pc:docMk/>
          <pc:sldMk cId="3017213107" sldId="405"/>
        </pc:sldMkLst>
        <pc:spChg chg="mod">
          <ac:chgData name="Bara Hamadeh" userId="S::b_hamadeh@asu.edu.jo::ba91a99f-f3ba-46e6-ad5d-582794b375a9" providerId="AD" clId="Web-{765CB209-DA24-CE4C-0309-66D7F330B700}" dt="2024-02-25T23:06:54.898" v="19"/>
          <ac:spMkLst>
            <pc:docMk/>
            <pc:sldMk cId="3017213107" sldId="405"/>
            <ac:spMk id="4" creationId="{66738BBB-0AA8-3DCA-D70D-202ADE3D7914}"/>
          </ac:spMkLst>
        </pc:spChg>
        <pc:spChg chg="del">
          <ac:chgData name="Bara Hamadeh" userId="S::b_hamadeh@asu.edu.jo::ba91a99f-f3ba-46e6-ad5d-582794b375a9" providerId="AD" clId="Web-{765CB209-DA24-CE4C-0309-66D7F330B700}" dt="2024-02-25T23:06:54.898" v="19"/>
          <ac:spMkLst>
            <pc:docMk/>
            <pc:sldMk cId="3017213107" sldId="405"/>
            <ac:spMk id="18" creationId="{79146D42-64F8-8B7B-F507-11FB17B1BE0A}"/>
          </ac:spMkLst>
        </pc:spChg>
      </pc:sldChg>
      <pc:sldChg chg="delSp modSp modTransition">
        <pc:chgData name="Bara Hamadeh" userId="S::b_hamadeh@asu.edu.jo::ba91a99f-f3ba-46e6-ad5d-582794b375a9" providerId="AD" clId="Web-{765CB209-DA24-CE4C-0309-66D7F330B700}" dt="2024-02-25T23:06:54.898" v="19"/>
        <pc:sldMkLst>
          <pc:docMk/>
          <pc:sldMk cId="485882252" sldId="406"/>
        </pc:sldMkLst>
        <pc:spChg chg="mod">
          <ac:chgData name="Bara Hamadeh" userId="S::b_hamadeh@asu.edu.jo::ba91a99f-f3ba-46e6-ad5d-582794b375a9" providerId="AD" clId="Web-{765CB209-DA24-CE4C-0309-66D7F330B700}" dt="2024-02-25T23:06:54.898" v="19"/>
          <ac:spMkLst>
            <pc:docMk/>
            <pc:sldMk cId="485882252" sldId="406"/>
            <ac:spMk id="4" creationId="{66738BBB-0AA8-3DCA-D70D-202ADE3D7914}"/>
          </ac:spMkLst>
        </pc:spChg>
        <pc:spChg chg="del">
          <ac:chgData name="Bara Hamadeh" userId="S::b_hamadeh@asu.edu.jo::ba91a99f-f3ba-46e6-ad5d-582794b375a9" providerId="AD" clId="Web-{765CB209-DA24-CE4C-0309-66D7F330B700}" dt="2024-02-25T23:06:54.898" v="19"/>
          <ac:spMkLst>
            <pc:docMk/>
            <pc:sldMk cId="485882252" sldId="406"/>
            <ac:spMk id="18" creationId="{79146D42-64F8-8B7B-F507-11FB17B1BE0A}"/>
          </ac:spMkLst>
        </pc:spChg>
      </pc:sldChg>
      <pc:sldChg chg="addSp delSp modSp modTransition">
        <pc:chgData name="Bara Hamadeh" userId="S::b_hamadeh@asu.edu.jo::ba91a99f-f3ba-46e6-ad5d-582794b375a9" providerId="AD" clId="Web-{765CB209-DA24-CE4C-0309-66D7F330B700}" dt="2024-02-25T23:06:54.898" v="19"/>
        <pc:sldMkLst>
          <pc:docMk/>
          <pc:sldMk cId="3015736677" sldId="407"/>
        </pc:sldMkLst>
        <pc:spChg chg="add mod">
          <ac:chgData name="Bara Hamadeh" userId="S::b_hamadeh@asu.edu.jo::ba91a99f-f3ba-46e6-ad5d-582794b375a9" providerId="AD" clId="Web-{765CB209-DA24-CE4C-0309-66D7F330B700}" dt="2024-02-25T23:06:54.898" v="19"/>
          <ac:spMkLst>
            <pc:docMk/>
            <pc:sldMk cId="3015736677" sldId="407"/>
            <ac:spMk id="3" creationId="{7D7B8629-5D60-7BC8-9CCA-727FDE06DA52}"/>
          </ac:spMkLst>
        </pc:spChg>
        <pc:spChg chg="del">
          <ac:chgData name="Bara Hamadeh" userId="S::b_hamadeh@asu.edu.jo::ba91a99f-f3ba-46e6-ad5d-582794b375a9" providerId="AD" clId="Web-{765CB209-DA24-CE4C-0309-66D7F330B700}" dt="2024-02-25T23:06:54.898" v="19"/>
          <ac:spMkLst>
            <pc:docMk/>
            <pc:sldMk cId="3015736677" sldId="407"/>
            <ac:spMk id="22" creationId="{FDD0B817-2894-0E9D-315F-EEB44B9CBAF2}"/>
          </ac:spMkLst>
        </pc:spChg>
      </pc:sldChg>
      <pc:sldChg chg="addSp delSp modSp modTransition">
        <pc:chgData name="Bara Hamadeh" userId="S::b_hamadeh@asu.edu.jo::ba91a99f-f3ba-46e6-ad5d-582794b375a9" providerId="AD" clId="Web-{765CB209-DA24-CE4C-0309-66D7F330B700}" dt="2024-02-25T23:06:54.898" v="19"/>
        <pc:sldMkLst>
          <pc:docMk/>
          <pc:sldMk cId="2470777441" sldId="408"/>
        </pc:sldMkLst>
        <pc:spChg chg="add mod">
          <ac:chgData name="Bara Hamadeh" userId="S::b_hamadeh@asu.edu.jo::ba91a99f-f3ba-46e6-ad5d-582794b375a9" providerId="AD" clId="Web-{765CB209-DA24-CE4C-0309-66D7F330B700}" dt="2024-02-25T23:06:54.898" v="19"/>
          <ac:spMkLst>
            <pc:docMk/>
            <pc:sldMk cId="2470777441" sldId="408"/>
            <ac:spMk id="3" creationId="{4E601FF0-ADF1-F01C-3EDD-458ACE7EA6BA}"/>
          </ac:spMkLst>
        </pc:spChg>
        <pc:spChg chg="del">
          <ac:chgData name="Bara Hamadeh" userId="S::b_hamadeh@asu.edu.jo::ba91a99f-f3ba-46e6-ad5d-582794b375a9" providerId="AD" clId="Web-{765CB209-DA24-CE4C-0309-66D7F330B700}" dt="2024-02-25T23:06:54.898" v="19"/>
          <ac:spMkLst>
            <pc:docMk/>
            <pc:sldMk cId="2470777441" sldId="408"/>
            <ac:spMk id="22" creationId="{FDD0B817-2894-0E9D-315F-EEB44B9CBAF2}"/>
          </ac:spMkLst>
        </pc:spChg>
      </pc:sldChg>
      <pc:sldChg chg="modSp modTransition">
        <pc:chgData name="Bara Hamadeh" userId="S::b_hamadeh@asu.edu.jo::ba91a99f-f3ba-46e6-ad5d-582794b375a9" providerId="AD" clId="Web-{765CB209-DA24-CE4C-0309-66D7F330B700}" dt="2024-02-25T23:06:54.898" v="19"/>
        <pc:sldMkLst>
          <pc:docMk/>
          <pc:sldMk cId="401032120" sldId="409"/>
        </pc:sldMkLst>
        <pc:spChg chg="mod">
          <ac:chgData name="Bara Hamadeh" userId="S::b_hamadeh@asu.edu.jo::ba91a99f-f3ba-46e6-ad5d-582794b375a9" providerId="AD" clId="Web-{765CB209-DA24-CE4C-0309-66D7F330B700}" dt="2024-02-25T23:06:54.898" v="19"/>
          <ac:spMkLst>
            <pc:docMk/>
            <pc:sldMk cId="401032120" sldId="409"/>
            <ac:spMk id="4" creationId="{66738BBB-0AA8-3DCA-D70D-202ADE3D7914}"/>
          </ac:spMkLst>
        </pc:spChg>
      </pc:sldChg>
      <pc:sldMasterChg chg="modSp mod modSldLayout">
        <pc:chgData name="Bara Hamadeh" userId="S::b_hamadeh@asu.edu.jo::ba91a99f-f3ba-46e6-ad5d-582794b375a9" providerId="AD" clId="Web-{765CB209-DA24-CE4C-0309-66D7F330B700}" dt="2024-02-25T23:06:54.898" v="19"/>
        <pc:sldMasterMkLst>
          <pc:docMk/>
          <pc:sldMasterMk cId="1719295273" sldId="2147483672"/>
        </pc:sldMasterMkLst>
        <pc:spChg chg="mod">
          <ac:chgData name="Bara Hamadeh" userId="S::b_hamadeh@asu.edu.jo::ba91a99f-f3ba-46e6-ad5d-582794b375a9" providerId="AD" clId="Web-{765CB209-DA24-CE4C-0309-66D7F330B700}" dt="2024-02-25T23:06:54.898" v="19"/>
          <ac:spMkLst>
            <pc:docMk/>
            <pc:sldMasterMk cId="1719295273" sldId="2147483672"/>
            <ac:spMk id="5" creationId="{00000000-0000-0000-0000-000000000000}"/>
          </ac:spMkLst>
        </pc:sp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1136942225" sldId="2147483673"/>
          </pc:sldLayoutMkLst>
          <pc:spChg chg="mod">
            <ac:chgData name="Bara Hamadeh" userId="S::b_hamadeh@asu.edu.jo::ba91a99f-f3ba-46e6-ad5d-582794b375a9" providerId="AD" clId="Web-{765CB209-DA24-CE4C-0309-66D7F330B700}" dt="2024-02-25T23:06:54.898" v="19"/>
            <ac:spMkLst>
              <pc:docMk/>
              <pc:sldMasterMk cId="1719295273" sldId="2147483672"/>
              <pc:sldLayoutMk cId="1136942225" sldId="2147483673"/>
              <ac:spMk id="5"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543625086" sldId="2147483674"/>
          </pc:sldLayoutMkLst>
          <pc:spChg chg="mod">
            <ac:chgData name="Bara Hamadeh" userId="S::b_hamadeh@asu.edu.jo::ba91a99f-f3ba-46e6-ad5d-582794b375a9" providerId="AD" clId="Web-{765CB209-DA24-CE4C-0309-66D7F330B700}" dt="2024-02-25T23:06:54.898" v="19"/>
            <ac:spMkLst>
              <pc:docMk/>
              <pc:sldMasterMk cId="1719295273" sldId="2147483672"/>
              <pc:sldLayoutMk cId="543625086" sldId="2147483674"/>
              <ac:spMk id="5"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695053800" sldId="2147483675"/>
          </pc:sldLayoutMkLst>
          <pc:spChg chg="mod">
            <ac:chgData name="Bara Hamadeh" userId="S::b_hamadeh@asu.edu.jo::ba91a99f-f3ba-46e6-ad5d-582794b375a9" providerId="AD" clId="Web-{765CB209-DA24-CE4C-0309-66D7F330B700}" dt="2024-02-25T23:06:54.898" v="19"/>
            <ac:spMkLst>
              <pc:docMk/>
              <pc:sldMasterMk cId="1719295273" sldId="2147483672"/>
              <pc:sldLayoutMk cId="695053800" sldId="2147483675"/>
              <ac:spMk id="5"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1555795183" sldId="2147483676"/>
          </pc:sldLayoutMkLst>
          <pc:spChg chg="mod">
            <ac:chgData name="Bara Hamadeh" userId="S::b_hamadeh@asu.edu.jo::ba91a99f-f3ba-46e6-ad5d-582794b375a9" providerId="AD" clId="Web-{765CB209-DA24-CE4C-0309-66D7F330B700}" dt="2024-02-25T23:06:54.898" v="19"/>
            <ac:spMkLst>
              <pc:docMk/>
              <pc:sldMasterMk cId="1719295273" sldId="2147483672"/>
              <pc:sldLayoutMk cId="1555795183" sldId="2147483676"/>
              <ac:spMk id="6"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3154714844" sldId="2147483677"/>
          </pc:sldLayoutMkLst>
          <pc:spChg chg="mod">
            <ac:chgData name="Bara Hamadeh" userId="S::b_hamadeh@asu.edu.jo::ba91a99f-f3ba-46e6-ad5d-582794b375a9" providerId="AD" clId="Web-{765CB209-DA24-CE4C-0309-66D7F330B700}" dt="2024-02-25T23:06:54.898" v="19"/>
            <ac:spMkLst>
              <pc:docMk/>
              <pc:sldMasterMk cId="1719295273" sldId="2147483672"/>
              <pc:sldLayoutMk cId="3154714844" sldId="2147483677"/>
              <ac:spMk id="8"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1943265441" sldId="2147483678"/>
          </pc:sldLayoutMkLst>
          <pc:spChg chg="mod">
            <ac:chgData name="Bara Hamadeh" userId="S::b_hamadeh@asu.edu.jo::ba91a99f-f3ba-46e6-ad5d-582794b375a9" providerId="AD" clId="Web-{765CB209-DA24-CE4C-0309-66D7F330B700}" dt="2024-02-25T23:06:54.898" v="19"/>
            <ac:spMkLst>
              <pc:docMk/>
              <pc:sldMasterMk cId="1719295273" sldId="2147483672"/>
              <pc:sldLayoutMk cId="1943265441" sldId="2147483678"/>
              <ac:spMk id="4"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1103728720" sldId="2147483679"/>
          </pc:sldLayoutMkLst>
          <pc:spChg chg="mod">
            <ac:chgData name="Bara Hamadeh" userId="S::b_hamadeh@asu.edu.jo::ba91a99f-f3ba-46e6-ad5d-582794b375a9" providerId="AD" clId="Web-{765CB209-DA24-CE4C-0309-66D7F330B700}" dt="2024-02-25T23:06:54.898" v="19"/>
            <ac:spMkLst>
              <pc:docMk/>
              <pc:sldMasterMk cId="1719295273" sldId="2147483672"/>
              <pc:sldLayoutMk cId="1103728720" sldId="2147483679"/>
              <ac:spMk id="8"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3199667561" sldId="2147483680"/>
          </pc:sldLayoutMkLst>
          <pc:spChg chg="mod">
            <ac:chgData name="Bara Hamadeh" userId="S::b_hamadeh@asu.edu.jo::ba91a99f-f3ba-46e6-ad5d-582794b375a9" providerId="AD" clId="Web-{765CB209-DA24-CE4C-0309-66D7F330B700}" dt="2024-02-25T23:06:54.898" v="19"/>
            <ac:spMkLst>
              <pc:docMk/>
              <pc:sldMasterMk cId="1719295273" sldId="2147483672"/>
              <pc:sldLayoutMk cId="3199667561" sldId="2147483680"/>
              <ac:spMk id="6"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1593807278" sldId="2147483681"/>
          </pc:sldLayoutMkLst>
          <pc:spChg chg="mod">
            <ac:chgData name="Bara Hamadeh" userId="S::b_hamadeh@asu.edu.jo::ba91a99f-f3ba-46e6-ad5d-582794b375a9" providerId="AD" clId="Web-{765CB209-DA24-CE4C-0309-66D7F330B700}" dt="2024-02-25T23:06:54.898" v="19"/>
            <ac:spMkLst>
              <pc:docMk/>
              <pc:sldMasterMk cId="1719295273" sldId="2147483672"/>
              <pc:sldLayoutMk cId="1593807278" sldId="2147483681"/>
              <ac:spMk id="6"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4052592978" sldId="2147483682"/>
          </pc:sldLayoutMkLst>
          <pc:spChg chg="mod">
            <ac:chgData name="Bara Hamadeh" userId="S::b_hamadeh@asu.edu.jo::ba91a99f-f3ba-46e6-ad5d-582794b375a9" providerId="AD" clId="Web-{765CB209-DA24-CE4C-0309-66D7F330B700}" dt="2024-02-25T23:06:54.898" v="19"/>
            <ac:spMkLst>
              <pc:docMk/>
              <pc:sldMasterMk cId="1719295273" sldId="2147483672"/>
              <pc:sldLayoutMk cId="4052592978" sldId="2147483682"/>
              <ac:spMk id="5" creationId="{00000000-0000-0000-0000-000000000000}"/>
            </ac:spMkLst>
          </pc:spChg>
        </pc:sldLayoutChg>
        <pc:sldLayoutChg chg="modSp mod">
          <pc:chgData name="Bara Hamadeh" userId="S::b_hamadeh@asu.edu.jo::ba91a99f-f3ba-46e6-ad5d-582794b375a9" providerId="AD" clId="Web-{765CB209-DA24-CE4C-0309-66D7F330B700}" dt="2024-02-25T23:06:54.898" v="19"/>
          <pc:sldLayoutMkLst>
            <pc:docMk/>
            <pc:sldMasterMk cId="1719295273" sldId="2147483672"/>
            <pc:sldLayoutMk cId="2606264647" sldId="2147483683"/>
          </pc:sldLayoutMkLst>
          <pc:spChg chg="mod">
            <ac:chgData name="Bara Hamadeh" userId="S::b_hamadeh@asu.edu.jo::ba91a99f-f3ba-46e6-ad5d-582794b375a9" providerId="AD" clId="Web-{765CB209-DA24-CE4C-0309-66D7F330B700}" dt="2024-02-25T23:06:54.898" v="19"/>
            <ac:spMkLst>
              <pc:docMk/>
              <pc:sldMasterMk cId="1719295273" sldId="2147483672"/>
              <pc:sldLayoutMk cId="2606264647" sldId="2147483683"/>
              <ac:spMk id="5"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5B87DE-9E73-458A-8E46-5005C259709B}" type="datetimeFigureOut">
              <a:rPr lang="en-US" smtClean="0"/>
              <a:t>2/25/2024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C0B3B-8708-4C1B-BF63-D2C17A953311}" type="slidenum">
              <a:rPr lang="en-US" smtClean="0"/>
              <a:t>‹#›</a:t>
            </a:fld>
            <a:endParaRPr lang="en-US"/>
          </a:p>
        </p:txBody>
      </p:sp>
    </p:spTree>
    <p:extLst>
      <p:ext uri="{BB962C8B-B14F-4D97-AF65-F5344CB8AC3E}">
        <p14:creationId xmlns:p14="http://schemas.microsoft.com/office/powerpoint/2010/main" val="338235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5C0B3B-8708-4C1B-BF63-D2C17A953311}" type="slidenum">
              <a:rPr lang="en-US" smtClean="0"/>
              <a:t>1</a:t>
            </a:fld>
            <a:endParaRPr lang="en-US"/>
          </a:p>
        </p:txBody>
      </p:sp>
    </p:spTree>
    <p:extLst>
      <p:ext uri="{BB962C8B-B14F-4D97-AF65-F5344CB8AC3E}">
        <p14:creationId xmlns:p14="http://schemas.microsoft.com/office/powerpoint/2010/main" val="35136814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03BE2A-8381-40C9-B3D6-6229E5CD3030}"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694222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A062AF-8B3E-4DB9-828D-83ADE13B6805}"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543625086"/>
      </p:ext>
    </p:extLst>
  </p:cSld>
  <p:clrMapOvr>
    <a:masterClrMapping/>
  </p:clrMapOvr>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99FF2BB-DF0E-4B1C-ACD2-7C019724981D}"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5053800"/>
      </p:ext>
    </p:extLst>
  </p:cSld>
  <p:clrMapOvr>
    <a:masterClrMapping/>
  </p:clrMapOvr>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05A3755-EACB-46D1-BFD1-81FC7701AE8C}"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55795183"/>
      </p:ext>
    </p:extLst>
  </p:cSld>
  <p:clrMapOvr>
    <a:masterClrMapping/>
  </p:clrMapOvr>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75FC37-99B6-4B88-B98A-9BD403B4378A}" type="datetime1">
              <a:rPr lang="en-US" smtClean="0"/>
              <a:t>2/25/2024</a:t>
            </a:fld>
            <a:endParaRPr lang="en-US"/>
          </a:p>
        </p:txBody>
      </p:sp>
      <p:sp>
        <p:nvSpPr>
          <p:cNvPr id="8" name="Footer Placeholder 7"/>
          <p:cNvSpPr>
            <a:spLocks noGrp="1"/>
          </p:cNvSpPr>
          <p:nvPr>
            <p:ph type="ftr" sz="quarter" idx="11"/>
          </p:nvPr>
        </p:nvSpPr>
        <p:spPr/>
        <p:txBody>
          <a:body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3154714844"/>
      </p:ext>
    </p:extLst>
  </p:cSld>
  <p:clrMapOvr>
    <a:masterClrMapping/>
  </p:clrMapOvr>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5CDD88-3789-4638-AB8D-650CA7D4E8A9}" type="datetime1">
              <a:rPr lang="en-US" smtClean="0"/>
              <a:t>2/25/2024</a:t>
            </a:fld>
            <a:endParaRPr lang="en-US"/>
          </a:p>
        </p:txBody>
      </p:sp>
      <p:sp>
        <p:nvSpPr>
          <p:cNvPr id="4" name="Footer Placeholder 3"/>
          <p:cNvSpPr>
            <a:spLocks noGrp="1"/>
          </p:cNvSpPr>
          <p:nvPr>
            <p:ph type="ftr" sz="quarter" idx="11"/>
          </p:nvPr>
        </p:nvSpPr>
        <p:spPr/>
        <p:txBody>
          <a:bodyPr/>
          <a:lstStyle/>
          <a:p>
            <a:r>
              <a:rPr lang="en-US"/>
              <a:t>Edited and Reviewed By: I. Bara' Qadomi &amp; I. Bara' Hamadah (FIT, Applied Science Private University)</a:t>
            </a:r>
          </a:p>
        </p:txBody>
      </p:sp>
      <p:sp>
        <p:nvSpPr>
          <p:cNvPr id="5" name="Slide Number Placeholder 4"/>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943265441"/>
      </p:ext>
    </p:extLst>
  </p:cSld>
  <p:clrMapOvr>
    <a:masterClrMapping/>
  </p:clrMapOvr>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A04F46A-2CA9-4AE5-AF29-103B9F7CEC13}" type="datetime1">
              <a:rPr lang="en-US" smtClean="0"/>
              <a:t>2/25/2024</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Edited and Reviewed By: I. Bara' Qadomi &amp; I. Bara' Hamadah (FIT, Applied Science Private University)</a:t>
            </a:r>
          </a:p>
        </p:txBody>
      </p:sp>
      <p:sp>
        <p:nvSpPr>
          <p:cNvPr id="9" name="Slide Number Placeholder 8"/>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103728720"/>
      </p:ext>
    </p:extLst>
  </p:cSld>
  <p:clrMapOvr>
    <a:masterClrMapping/>
  </p:clrMapOvr>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8C4C7BBA-DF5C-454A-B94F-8E4E2F8638DD}" type="datetime1">
              <a:rPr lang="en-US" smtClean="0"/>
              <a:t>2/25/2024</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C396071-E751-40D2-A926-BDB6331B5672}" type="slidenum">
              <a:rPr lang="en-US" smtClean="0"/>
              <a:t>‹#›</a:t>
            </a:fld>
            <a:endParaRPr lang="en-US"/>
          </a:p>
        </p:txBody>
      </p:sp>
    </p:spTree>
    <p:extLst>
      <p:ext uri="{BB962C8B-B14F-4D97-AF65-F5344CB8AC3E}">
        <p14:creationId xmlns:p14="http://schemas.microsoft.com/office/powerpoint/2010/main" val="3199667561"/>
      </p:ext>
    </p:extLst>
  </p:cSld>
  <p:clrMapOvr>
    <a:masterClrMapping/>
  </p:clrMapOvr>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DE9E84-9BE9-4967-ADFE-B13858CEC510}" type="datetime1">
              <a:rPr lang="en-US" smtClean="0"/>
              <a:t>2/25/2024</a:t>
            </a:fld>
            <a:endParaRPr lang="en-US"/>
          </a:p>
        </p:txBody>
      </p:sp>
      <p:sp>
        <p:nvSpPr>
          <p:cNvPr id="6" name="Footer Placeholder 5"/>
          <p:cNvSpPr>
            <a:spLocks noGrp="1"/>
          </p:cNvSpPr>
          <p:nvPr>
            <p:ph type="ftr" sz="quarter" idx="11"/>
          </p:nvPr>
        </p:nvSpPr>
        <p:spPr/>
        <p:txBody>
          <a:bodyPr/>
          <a:lstStyle/>
          <a:p>
            <a:r>
              <a:rPr lang="en-US"/>
              <a:t>Edited and Reviewed By: I. Bara' Qadomi &amp; I. Bara' Hamadah (FIT, Applied Science Private University)</a:t>
            </a:r>
          </a:p>
        </p:txBody>
      </p:sp>
      <p:sp>
        <p:nvSpPr>
          <p:cNvPr id="7" name="Slide Number Placeholder 6"/>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1593807278"/>
      </p:ext>
    </p:extLst>
  </p:cSld>
  <p:clrMapOvr>
    <a:masterClrMapping/>
  </p:clrMapOvr>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B2448B-D712-4438-B98F-BC01B3FC3196}"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4052592978"/>
      </p:ext>
    </p:extLst>
  </p:cSld>
  <p:clrMapOvr>
    <a:masterClrMapping/>
  </p:clrMapOvr>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A2A8D3-2D4A-40A6-A64D-6BFF16A79ACA}" type="datetime1">
              <a:rPr lang="en-US" smtClean="0"/>
              <a:t>2/25/2024</a:t>
            </a:fld>
            <a:endParaRPr lang="en-US"/>
          </a:p>
        </p:txBody>
      </p:sp>
      <p:sp>
        <p:nvSpPr>
          <p:cNvPr id="5" name="Footer Placeholder 4"/>
          <p:cNvSpPr>
            <a:spLocks noGrp="1"/>
          </p:cNvSpPr>
          <p:nvPr>
            <p:ph type="ftr" sz="quarter" idx="11"/>
          </p:nvPr>
        </p:nvSpPr>
        <p:spPr/>
        <p:txBody>
          <a:bodyPr/>
          <a:lstStyle/>
          <a:p>
            <a:r>
              <a:rPr lang="en-US"/>
              <a:t>Edited and Reviewed By: I. Bara' Qadomi &amp; I. Bara' Hamadah (FIT, Applied Science Private University)</a:t>
            </a:r>
          </a:p>
        </p:txBody>
      </p:sp>
      <p:sp>
        <p:nvSpPr>
          <p:cNvPr id="6" name="Slide Number Placeholder 5"/>
          <p:cNvSpPr>
            <a:spLocks noGrp="1"/>
          </p:cNvSpPr>
          <p:nvPr>
            <p:ph type="sldNum" sz="quarter" idx="12"/>
          </p:nvPr>
        </p:nvSpPr>
        <p:spPr/>
        <p:txBody>
          <a:bodyPr/>
          <a:lstStyle/>
          <a:p>
            <a:fld id="{CC396071-E751-40D2-A926-BDB6331B5672}" type="slidenum">
              <a:rPr lang="en-US" smtClean="0"/>
              <a:t>‹#›</a:t>
            </a:fld>
            <a:endParaRPr lang="en-US"/>
          </a:p>
        </p:txBody>
      </p:sp>
    </p:spTree>
    <p:extLst>
      <p:ext uri="{BB962C8B-B14F-4D97-AF65-F5344CB8AC3E}">
        <p14:creationId xmlns:p14="http://schemas.microsoft.com/office/powerpoint/2010/main" val="2606264647"/>
      </p:ext>
    </p:extLst>
  </p:cSld>
  <p:clrMapOvr>
    <a:masterClrMapping/>
  </p:clrMapOvr>
  <p:hf sldNum="0"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348791" y="286603"/>
            <a:ext cx="11481847"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48791" y="1845734"/>
            <a:ext cx="11481847" cy="402336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48792" y="6459785"/>
            <a:ext cx="2422688" cy="365125"/>
          </a:xfrm>
          <a:prstGeom prst="rect">
            <a:avLst/>
          </a:prstGeom>
        </p:spPr>
        <p:txBody>
          <a:bodyPr vert="horz" lIns="91440" tIns="45720" rIns="91440" bIns="45720" rtlCol="0" anchor="ctr"/>
          <a:lstStyle>
            <a:lvl1pPr algn="l">
              <a:defRPr sz="900">
                <a:solidFill>
                  <a:srgbClr val="FFFFFF"/>
                </a:solidFill>
              </a:defRPr>
            </a:lvl1pPr>
          </a:lstStyle>
          <a:p>
            <a:fld id="{E78F382D-057B-4A0C-9363-4D711C8934E2}" type="datetime1">
              <a:rPr lang="en-US" smtClean="0"/>
              <a:t>2/25/2024</a:t>
            </a:fld>
            <a:endParaRPr lang="en-US" dirty="0"/>
          </a:p>
        </p:txBody>
      </p:sp>
      <p:sp>
        <p:nvSpPr>
          <p:cNvPr id="5" name="Footer Placeholder 4"/>
          <p:cNvSpPr>
            <a:spLocks noGrp="1"/>
          </p:cNvSpPr>
          <p:nvPr>
            <p:ph type="ftr" sz="quarter" idx="3"/>
          </p:nvPr>
        </p:nvSpPr>
        <p:spPr>
          <a:xfrm>
            <a:off x="2846895" y="6459785"/>
            <a:ext cx="6966408"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Edited and Reviewed By: I. Bara' Qadomi &amp; I. Bara' Hamadah (FIT, Applied Science Private University)</a:t>
            </a:r>
          </a:p>
        </p:txBody>
      </p:sp>
      <p:sp>
        <p:nvSpPr>
          <p:cNvPr id="6" name="Slide Number Placeholder 5"/>
          <p:cNvSpPr>
            <a:spLocks noGrp="1"/>
          </p:cNvSpPr>
          <p:nvPr>
            <p:ph type="sldNum" sz="quarter" idx="4"/>
          </p:nvPr>
        </p:nvSpPr>
        <p:spPr>
          <a:xfrm>
            <a:off x="9900458" y="6459785"/>
            <a:ext cx="1930180" cy="365125"/>
          </a:xfrm>
          <a:prstGeom prst="rect">
            <a:avLst/>
          </a:prstGeom>
        </p:spPr>
        <p:txBody>
          <a:bodyPr vert="horz" lIns="91440" tIns="45720" rIns="91440" bIns="45720" rtlCol="0" anchor="ctr"/>
          <a:lstStyle>
            <a:lvl1pPr algn="r">
              <a:defRPr sz="1050">
                <a:solidFill>
                  <a:srgbClr val="FFFFFF"/>
                </a:solidFill>
              </a:defRPr>
            </a:lvl1pPr>
          </a:lstStyle>
          <a:p>
            <a:fld id="{CC396071-E751-40D2-A926-BDB6331B5672}" type="slidenum">
              <a:rPr lang="en-US" smtClean="0"/>
              <a:t>‹#›</a:t>
            </a:fld>
            <a:endParaRPr lang="en-US"/>
          </a:p>
        </p:txBody>
      </p:sp>
      <p:cxnSp>
        <p:nvCxnSpPr>
          <p:cNvPr id="10" name="Straight Connector 9"/>
          <p:cNvCxnSpPr>
            <a:cxnSpLocks/>
          </p:cNvCxnSpPr>
          <p:nvPr/>
        </p:nvCxnSpPr>
        <p:spPr>
          <a:xfrm flipV="1">
            <a:off x="348791" y="1737360"/>
            <a:ext cx="11481847" cy="485"/>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92952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180000" indent="-360000" algn="l" defTabSz="914400" rtl="0" eaLnBrk="1" latinLnBrk="0" hangingPunct="1">
        <a:lnSpc>
          <a:spcPct val="100000"/>
        </a:lnSpc>
        <a:spcBef>
          <a:spcPts val="1200"/>
        </a:spcBef>
        <a:spcAft>
          <a:spcPts val="200"/>
        </a:spcAft>
        <a:buClr>
          <a:schemeClr val="accent1"/>
        </a:buClr>
        <a:buSzPct val="100000"/>
        <a:buFont typeface="Wingdings" panose="05000000000000000000" pitchFamily="2" charset="2"/>
        <a:buChar char="§"/>
        <a:defRPr sz="2400" kern="1200">
          <a:solidFill>
            <a:schemeClr val="tx1">
              <a:lumMod val="75000"/>
              <a:lumOff val="25000"/>
            </a:schemeClr>
          </a:solidFill>
          <a:latin typeface="+mn-lt"/>
          <a:ea typeface="+mn-ea"/>
          <a:cs typeface="+mn-cs"/>
        </a:defRPr>
      </a:lvl1pPr>
      <a:lvl2pPr marL="720000" indent="-360000" algn="l" defTabSz="914400" rtl="0" eaLnBrk="1" latinLnBrk="0" hangingPunct="1">
        <a:lnSpc>
          <a:spcPct val="100000"/>
        </a:lnSpc>
        <a:spcBef>
          <a:spcPts val="200"/>
        </a:spcBef>
        <a:spcAft>
          <a:spcPts val="400"/>
        </a:spcAft>
        <a:buClr>
          <a:schemeClr val="accent1"/>
        </a:buClr>
        <a:buFont typeface="Arial" panose="020B0604020202020204" pitchFamily="34" charset="0"/>
        <a:buChar char="•"/>
        <a:defRPr sz="2200" kern="1200">
          <a:solidFill>
            <a:schemeClr val="tx1">
              <a:lumMod val="75000"/>
              <a:lumOff val="25000"/>
            </a:schemeClr>
          </a:solidFill>
          <a:latin typeface="+mn-lt"/>
          <a:ea typeface="+mn-ea"/>
          <a:cs typeface="+mn-cs"/>
        </a:defRPr>
      </a:lvl2pPr>
      <a:lvl3pPr marL="1080000" indent="-360000" algn="l" defTabSz="914400" rtl="0" eaLnBrk="1" latinLnBrk="0" hangingPunct="1">
        <a:lnSpc>
          <a:spcPct val="100000"/>
        </a:lnSpc>
        <a:spcBef>
          <a:spcPts val="200"/>
        </a:spcBef>
        <a:spcAft>
          <a:spcPts val="400"/>
        </a:spcAft>
        <a:buClr>
          <a:schemeClr val="accent1"/>
        </a:buClr>
        <a:buFont typeface="Calibri" pitchFamily="34" charset="0"/>
        <a:buChar char="◦"/>
        <a:defRPr sz="20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426FD-D193-2F6D-1700-2CC522B16D18}"/>
              </a:ext>
            </a:extLst>
          </p:cNvPr>
          <p:cNvSpPr>
            <a:spLocks noGrp="1"/>
          </p:cNvSpPr>
          <p:nvPr>
            <p:ph type="ctrTitle"/>
          </p:nvPr>
        </p:nvSpPr>
        <p:spPr>
          <a:xfrm>
            <a:off x="1097280" y="758952"/>
            <a:ext cx="10058400" cy="3566160"/>
          </a:xfrm>
        </p:spPr>
        <p:txBody>
          <a:bodyPr/>
          <a:lstStyle/>
          <a:p>
            <a:r>
              <a:rPr lang="en-US" dirty="0">
                <a:solidFill>
                  <a:srgbClr val="262626"/>
                </a:solidFill>
              </a:rPr>
              <a:t>Fundamental Programming in JAVA</a:t>
            </a:r>
            <a:endParaRPr lang="en-US" dirty="0"/>
          </a:p>
        </p:txBody>
      </p:sp>
      <p:sp>
        <p:nvSpPr>
          <p:cNvPr id="3" name="Subtitle 2">
            <a:extLst>
              <a:ext uri="{FF2B5EF4-FFF2-40B4-BE49-F238E27FC236}">
                <a16:creationId xmlns:a16="http://schemas.microsoft.com/office/drawing/2014/main" id="{F67DB7FE-4890-3792-0238-F23914BC3E4F}"/>
              </a:ext>
            </a:extLst>
          </p:cNvPr>
          <p:cNvSpPr>
            <a:spLocks noGrp="1"/>
          </p:cNvSpPr>
          <p:nvPr>
            <p:ph type="subTitle" idx="1"/>
          </p:nvPr>
        </p:nvSpPr>
        <p:spPr>
          <a:xfrm>
            <a:off x="1100051" y="4455621"/>
            <a:ext cx="10058400" cy="1143000"/>
          </a:xfrm>
        </p:spPr>
        <p:txBody>
          <a:bodyPr vert="horz" lIns="91440" tIns="45720" rIns="91440" bIns="45720" rtlCol="0" anchor="t">
            <a:normAutofit/>
          </a:bodyPr>
          <a:lstStyle/>
          <a:p>
            <a:pPr>
              <a:lnSpc>
                <a:spcPct val="80000"/>
              </a:lnSpc>
            </a:pPr>
            <a:r>
              <a:rPr lang="en-US">
                <a:solidFill>
                  <a:srgbClr val="242852"/>
                </a:solidFill>
                <a:cs typeface="Arial"/>
              </a:rPr>
              <a:t>Exception Handling</a:t>
            </a:r>
          </a:p>
          <a:p>
            <a:endParaRPr lang="en-US" altLang="ar-SA" dirty="0">
              <a:cs typeface="Arial"/>
            </a:endParaRPr>
          </a:p>
        </p:txBody>
      </p:sp>
    </p:spTree>
    <p:extLst>
      <p:ext uri="{BB962C8B-B14F-4D97-AF65-F5344CB8AC3E}">
        <p14:creationId xmlns:p14="http://schemas.microsoft.com/office/powerpoint/2010/main" val="9855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ar-SA" dirty="0"/>
              <a:t>Objectives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737361"/>
            <a:ext cx="11481847" cy="4640348"/>
          </a:xfrm>
        </p:spPr>
        <p:txBody>
          <a:bodyPr>
            <a:normAutofit/>
          </a:bodyPr>
          <a:lstStyle/>
          <a:p>
            <a:r>
              <a:rPr lang="en-US" altLang="ar-SA" sz="2400" dirty="0"/>
              <a:t>To get an overview of exceptions and exception handling</a:t>
            </a:r>
          </a:p>
          <a:p>
            <a:r>
              <a:rPr lang="en-US" altLang="ar-SA" sz="2400" dirty="0"/>
              <a:t>To explore the advantages of using exception handling.</a:t>
            </a:r>
          </a:p>
          <a:p>
            <a:r>
              <a:rPr lang="en-US" altLang="ar-SA" sz="2400" dirty="0"/>
              <a:t>To distinguish exception types: Error (fatal) vs. Exception (nonfatal) and checked vs. unchecked.</a:t>
            </a:r>
          </a:p>
          <a:p>
            <a:r>
              <a:rPr lang="en-US" altLang="ar-SA" sz="2400" dirty="0"/>
              <a:t>To declare exceptions in a method header.</a:t>
            </a:r>
          </a:p>
          <a:p>
            <a:r>
              <a:rPr lang="en-US" altLang="ar-SA" sz="2400" dirty="0"/>
              <a:t>To throw exceptions in a method.</a:t>
            </a:r>
          </a:p>
          <a:p>
            <a:r>
              <a:rPr lang="en-US" altLang="ar-SA" sz="2400" dirty="0"/>
              <a:t>To write a try-catch block to handle exceptions.</a:t>
            </a:r>
          </a:p>
          <a:p>
            <a:r>
              <a:rPr lang="en-US" altLang="ar-SA" sz="2400" dirty="0"/>
              <a:t>To use the finally clause in a try-catch block.</a:t>
            </a:r>
          </a:p>
        </p:txBody>
      </p:sp>
      <p:sp>
        <p:nvSpPr>
          <p:cNvPr id="4" name="Footer Placeholder 3">
            <a:extLst>
              <a:ext uri="{FF2B5EF4-FFF2-40B4-BE49-F238E27FC236}">
                <a16:creationId xmlns:a16="http://schemas.microsoft.com/office/drawing/2014/main" id="{8258CA88-4CE1-2FF4-DD8D-F6AFF13B654D}"/>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76389556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Exception-Handling Overview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pPr>
              <a:buFont typeface="Wingdings" panose="05000000000000000000" pitchFamily="2" charset="2"/>
              <a:buChar char="§"/>
            </a:pPr>
            <a:r>
              <a:rPr lang="en-US" altLang="ar-JO" sz="2400" dirty="0"/>
              <a:t>When a program runs into a runtime error, the program </a:t>
            </a:r>
            <a:r>
              <a:rPr lang="en-US" altLang="ar-JO" sz="2400" b="1" dirty="0">
                <a:solidFill>
                  <a:schemeClr val="bg2">
                    <a:lumMod val="75000"/>
                  </a:schemeClr>
                </a:solidFill>
              </a:rPr>
              <a:t>terminates abnormally</a:t>
            </a:r>
            <a:r>
              <a:rPr lang="en-US" altLang="ar-JO" sz="2400" dirty="0">
                <a:solidFill>
                  <a:schemeClr val="bg2">
                    <a:lumMod val="75000"/>
                  </a:schemeClr>
                </a:solidFill>
              </a:rPr>
              <a:t>. </a:t>
            </a:r>
            <a:r>
              <a:rPr lang="en-US" altLang="ar-JO" sz="2400" dirty="0"/>
              <a:t>How can you handle the runtime error so that the program can continue to run or terminate gracefully? This is the subject we will introduce in this chapter.</a:t>
            </a:r>
          </a:p>
          <a:p>
            <a:pPr>
              <a:buFont typeface="Wingdings" panose="05000000000000000000" pitchFamily="2" charset="2"/>
              <a:buChar char="§"/>
            </a:pPr>
            <a:r>
              <a:rPr lang="en-US" altLang="ar-JO" sz="2400" dirty="0"/>
              <a:t>What is an exception?</a:t>
            </a:r>
          </a:p>
          <a:p>
            <a:pPr lvl="1"/>
            <a:r>
              <a:rPr lang="en-US" altLang="ar-JO" dirty="0"/>
              <a:t>In Java, an exception is an event that occurs during the execution of a program and disrupts its normal flow. </a:t>
            </a:r>
          </a:p>
          <a:p>
            <a:pPr lvl="1"/>
            <a:r>
              <a:rPr lang="en-US" altLang="ar-JO" dirty="0"/>
              <a:t>It represents an abnormal condition or error situation that needs to be handled. </a:t>
            </a:r>
          </a:p>
          <a:p>
            <a:pPr lvl="1"/>
            <a:r>
              <a:rPr lang="en-US" altLang="ar-JO" dirty="0"/>
              <a:t>When an exceptional condition occurs, an exception object is created and thrown, which can be caught and handled by appropriate code.</a:t>
            </a:r>
          </a:p>
          <a:p>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5642580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Exception-Handling Overview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42930" y="1845733"/>
            <a:ext cx="12020281" cy="4516429"/>
          </a:xfrm>
        </p:spPr>
        <p:txBody>
          <a:bodyPr>
            <a:normAutofit lnSpcReduction="10000"/>
          </a:bodyPr>
          <a:lstStyle/>
          <a:p>
            <a:pPr>
              <a:buFont typeface="Wingdings" panose="05000000000000000000" pitchFamily="2" charset="2"/>
              <a:buChar char="§"/>
            </a:pPr>
            <a:r>
              <a:rPr lang="en-US" altLang="ar-JO" dirty="0"/>
              <a:t>What is an exception?</a:t>
            </a:r>
          </a:p>
          <a:p>
            <a:pPr lvl="1"/>
            <a:r>
              <a:rPr lang="en-US" altLang="ar-JO" dirty="0"/>
              <a:t>Exceptions are the objects representing the logical errors that occur at run time and makes JVM enters into the state of  "ambiguity".</a:t>
            </a:r>
          </a:p>
          <a:p>
            <a:pPr lvl="1"/>
            <a:r>
              <a:rPr lang="en-US" altLang="ar-JO" dirty="0"/>
              <a:t>The objects which are automatically created by the JVM for representing these run time errors are known as Exceptions.</a:t>
            </a:r>
          </a:p>
          <a:p>
            <a:pPr lvl="1"/>
            <a:r>
              <a:rPr lang="en-US" altLang="ar-JO" dirty="0"/>
              <a:t>An exception can occur for many different reasons, including the following:</a:t>
            </a:r>
          </a:p>
          <a:p>
            <a:pPr lvl="2">
              <a:buFont typeface="Courier New" panose="02070309020205020404" pitchFamily="49" charset="0"/>
              <a:buChar char="o"/>
            </a:pPr>
            <a:r>
              <a:rPr lang="en-US" altLang="ar-JO" dirty="0"/>
              <a:t>A user has entered invalid data.</a:t>
            </a:r>
          </a:p>
          <a:p>
            <a:pPr lvl="2">
              <a:buFont typeface="Courier New" panose="02070309020205020404" pitchFamily="49" charset="0"/>
              <a:buChar char="o"/>
            </a:pPr>
            <a:r>
              <a:rPr lang="en-US" altLang="ar-JO" dirty="0"/>
              <a:t>A file that needs to be opened cannot be found.</a:t>
            </a:r>
          </a:p>
          <a:p>
            <a:pPr lvl="2">
              <a:buFont typeface="Courier New" panose="02070309020205020404" pitchFamily="49" charset="0"/>
              <a:buChar char="o"/>
            </a:pPr>
            <a:r>
              <a:rPr lang="en-US" altLang="ar-JO" dirty="0"/>
              <a:t>A network connection has been lost in the middle of communications or the JVM has run out of memory</a:t>
            </a:r>
          </a:p>
          <a:p>
            <a:pPr lvl="1"/>
            <a:r>
              <a:rPr lang="en-US" altLang="ar-JO" dirty="0"/>
              <a:t>Some of these exceptions are caused by user error, others by programmer error, and others by physical resources that have failed in some manner.</a:t>
            </a:r>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740700707"/>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Exception-Handling Overview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023360"/>
          </a:xfrm>
        </p:spPr>
        <p:txBody>
          <a:bodyPr/>
          <a:lstStyle/>
          <a:p>
            <a:pPr>
              <a:buFont typeface="Wingdings" panose="05000000000000000000" pitchFamily="2" charset="2"/>
              <a:buChar char="§"/>
            </a:pPr>
            <a:r>
              <a:rPr lang="en-US" altLang="ar-JO" sz="2400" dirty="0"/>
              <a:t>When an error occurs within a method, the method creates an object and hands it off to the runtime system. The object, called an exception object, contains information about the error, including its type and the state of the program when the error occurred. Creating an exception object and handing it to the runtime system is called throwing an exception</a:t>
            </a:r>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782191417"/>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 Types </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7" name="Picture 1">
            <a:extLst>
              <a:ext uri="{FF2B5EF4-FFF2-40B4-BE49-F238E27FC236}">
                <a16:creationId xmlns:a16="http://schemas.microsoft.com/office/drawing/2014/main" id="{7DF910DB-19FD-E9D5-37BB-04A6D759045B}"/>
              </a:ext>
            </a:extLst>
          </p:cNvPr>
          <p:cNvPicPr>
            <a:picLocks noChangeAspect="1" noChangeArrowheads="1"/>
          </p:cNvPicPr>
          <p:nvPr/>
        </p:nvPicPr>
        <p:blipFill>
          <a:blip r:embed="rId2"/>
          <a:srcRect/>
          <a:stretch>
            <a:fillRect/>
          </a:stretch>
        </p:blipFill>
        <p:spPr bwMode="auto">
          <a:xfrm>
            <a:off x="1223493" y="1817782"/>
            <a:ext cx="9787943" cy="4548673"/>
          </a:xfrm>
          <a:prstGeom prst="rect">
            <a:avLst/>
          </a:prstGeom>
          <a:noFill/>
          <a:ln w="9525">
            <a:noFill/>
            <a:miter lim="800000"/>
            <a:headEnd/>
            <a:tailEnd/>
          </a:ln>
          <a:effectLst/>
        </p:spPr>
      </p:pic>
    </p:spTree>
    <p:extLst>
      <p:ext uri="{BB962C8B-B14F-4D97-AF65-F5344CB8AC3E}">
        <p14:creationId xmlns:p14="http://schemas.microsoft.com/office/powerpoint/2010/main" val="220524014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 Types </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6" name="Content Placeholder 2">
            <a:extLst>
              <a:ext uri="{FF2B5EF4-FFF2-40B4-BE49-F238E27FC236}">
                <a16:creationId xmlns:a16="http://schemas.microsoft.com/office/drawing/2014/main" id="{9C93EA75-DDD0-C19E-41EB-EA936196B0EF}"/>
              </a:ext>
            </a:extLst>
          </p:cNvPr>
          <p:cNvSpPr>
            <a:spLocks noGrp="1"/>
          </p:cNvSpPr>
          <p:nvPr>
            <p:ph idx="1"/>
          </p:nvPr>
        </p:nvSpPr>
        <p:spPr>
          <a:xfrm>
            <a:off x="348791" y="1845734"/>
            <a:ext cx="11481847" cy="4306074"/>
          </a:xfrm>
        </p:spPr>
        <p:txBody>
          <a:bodyPr>
            <a:normAutofit/>
          </a:bodyPr>
          <a:lstStyle/>
          <a:p>
            <a:r>
              <a:rPr lang="en-US" altLang="en-US" dirty="0">
                <a:solidFill>
                  <a:schemeClr val="bg2">
                    <a:lumMod val="75000"/>
                  </a:schemeClr>
                </a:solidFill>
              </a:rPr>
              <a:t>System errors </a:t>
            </a:r>
            <a:r>
              <a:rPr lang="en-US" altLang="en-US" dirty="0"/>
              <a:t>are thrown by JVM and represented in the Error class. The Error class describes internal system errors. Such errors rarely occur. If one does, there is little you can do beyond notifying the user and trying to terminate the program gracefully. </a:t>
            </a:r>
          </a:p>
          <a:p>
            <a:r>
              <a:rPr lang="en-US" altLang="en-US" dirty="0">
                <a:solidFill>
                  <a:schemeClr val="bg2">
                    <a:lumMod val="75000"/>
                  </a:schemeClr>
                </a:solidFill>
              </a:rPr>
              <a:t>Exception</a:t>
            </a:r>
            <a:r>
              <a:rPr lang="en-US" altLang="en-US" dirty="0"/>
              <a:t> describes errors caused by your program and external circumstances. These errors can be caught and handled by your program. </a:t>
            </a:r>
          </a:p>
          <a:p>
            <a:endParaRPr lang="en-US" altLang="en-US" dirty="0"/>
          </a:p>
          <a:p>
            <a:endParaRPr lang="en-US" altLang="en-US" b="1" dirty="0"/>
          </a:p>
        </p:txBody>
      </p:sp>
    </p:spTree>
    <p:extLst>
      <p:ext uri="{BB962C8B-B14F-4D97-AF65-F5344CB8AC3E}">
        <p14:creationId xmlns:p14="http://schemas.microsoft.com/office/powerpoint/2010/main" val="1019326069"/>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Checked Exceptions vs. Unchecked Exceptions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sz="2400" b="1" dirty="0">
                <a:latin typeface="+mj-lt"/>
                <a:cs typeface="Times New Roman" pitchFamily="18" charset="0"/>
              </a:rPr>
              <a:t>The Exception class has two main subclasses: the </a:t>
            </a:r>
            <a:r>
              <a:rPr lang="en-US" sz="2400" b="1" dirty="0" err="1">
                <a:latin typeface="+mj-lt"/>
                <a:cs typeface="Times New Roman" pitchFamily="18" charset="0"/>
              </a:rPr>
              <a:t>IOException</a:t>
            </a:r>
            <a:r>
              <a:rPr lang="en-US" sz="2400" b="1" dirty="0">
                <a:latin typeface="+mj-lt"/>
                <a:cs typeface="Times New Roman" pitchFamily="18" charset="0"/>
              </a:rPr>
              <a:t> class and the </a:t>
            </a:r>
            <a:r>
              <a:rPr lang="en-US" sz="2400" b="1" dirty="0" err="1">
                <a:latin typeface="+mj-lt"/>
                <a:cs typeface="Times New Roman" pitchFamily="18" charset="0"/>
              </a:rPr>
              <a:t>RuntimeException</a:t>
            </a:r>
            <a:r>
              <a:rPr lang="en-US" sz="2400" b="1" dirty="0">
                <a:latin typeface="+mj-lt"/>
                <a:cs typeface="Times New Roman" pitchFamily="18" charset="0"/>
              </a:rPr>
              <a:t> class.</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Footer Placeholder 5">
            <a:extLst>
              <a:ext uri="{FF2B5EF4-FFF2-40B4-BE49-F238E27FC236}">
                <a16:creationId xmlns:a16="http://schemas.microsoft.com/office/drawing/2014/main" id="{5644D30A-226E-3788-C240-8E8F11CAC254}"/>
              </a:ext>
            </a:extLst>
          </p:cNvPr>
          <p:cNvSpPr txBox="1">
            <a:spLocks/>
          </p:cNvSpPr>
          <p:nvPr/>
        </p:nvSpPr>
        <p:spPr>
          <a:xfrm>
            <a:off x="1563333" y="7928033"/>
            <a:ext cx="8286808" cy="43495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a:solidFill>
                  <a:schemeClr val="tx1"/>
                </a:solidFill>
                <a:latin typeface="Times New Roman" pitchFamily="18" charset="0"/>
                <a:cs typeface="Times New Roman" pitchFamily="18" charset="0"/>
              </a:rPr>
              <a:t>Liang, Introduction to Java Programming, Eighth Edition, (c) 2011 Pearson Education, Inc. All rights reserved.  PREPARED BY: Siham Haimour</a:t>
            </a:r>
            <a:endParaRPr lang="ar-JO" b="1" dirty="0">
              <a:solidFill>
                <a:schemeClr val="tx1"/>
              </a:solidFill>
              <a:latin typeface="Times New Roman" pitchFamily="18" charset="0"/>
              <a:cs typeface="Times New Roman" pitchFamily="18" charset="0"/>
            </a:endParaRPr>
          </a:p>
        </p:txBody>
      </p:sp>
      <p:grpSp>
        <p:nvGrpSpPr>
          <p:cNvPr id="9" name="Group 8">
            <a:extLst>
              <a:ext uri="{FF2B5EF4-FFF2-40B4-BE49-F238E27FC236}">
                <a16:creationId xmlns:a16="http://schemas.microsoft.com/office/drawing/2014/main" id="{AC95B6EF-2736-9E28-7E8A-9B78038B0D32}"/>
              </a:ext>
            </a:extLst>
          </p:cNvPr>
          <p:cNvGrpSpPr/>
          <p:nvPr/>
        </p:nvGrpSpPr>
        <p:grpSpPr>
          <a:xfrm>
            <a:off x="1777647" y="2261890"/>
            <a:ext cx="8842108" cy="4219218"/>
            <a:chOff x="1071538" y="1214422"/>
            <a:chExt cx="7915141" cy="4753904"/>
          </a:xfrm>
        </p:grpSpPr>
        <p:sp>
          <p:nvSpPr>
            <p:cNvPr id="10" name="TextBox 9">
              <a:extLst>
                <a:ext uri="{FF2B5EF4-FFF2-40B4-BE49-F238E27FC236}">
                  <a16:creationId xmlns:a16="http://schemas.microsoft.com/office/drawing/2014/main" id="{2A2B2DC4-0CE2-702D-2FE7-17755AB655CA}"/>
                </a:ext>
              </a:extLst>
            </p:cNvPr>
            <p:cNvSpPr txBox="1"/>
            <p:nvPr/>
          </p:nvSpPr>
          <p:spPr>
            <a:xfrm>
              <a:off x="4020200" y="1214422"/>
              <a:ext cx="1152553" cy="416136"/>
            </a:xfrm>
            <a:prstGeom prst="rect">
              <a:avLst/>
            </a:prstGeom>
            <a:solidFill>
              <a:schemeClr val="accent2"/>
            </a:solidFill>
            <a:ln w="3175"/>
          </p:spPr>
          <p:style>
            <a:lnRef idx="2">
              <a:schemeClr val="dk1"/>
            </a:lnRef>
            <a:fillRef idx="1">
              <a:schemeClr val="lt1"/>
            </a:fillRef>
            <a:effectRef idx="0">
              <a:schemeClr val="dk1"/>
            </a:effectRef>
            <a:fontRef idx="minor">
              <a:schemeClr val="dk1"/>
            </a:fontRef>
          </p:style>
          <p:txBody>
            <a:bodyPr wrap="none" rtlCol="0">
              <a:spAutoFit/>
            </a:bodyPr>
            <a:lstStyle/>
            <a:p>
              <a:pPr algn="l" rtl="0"/>
              <a:r>
                <a:rPr lang="en-GB" b="1" dirty="0">
                  <a:solidFill>
                    <a:schemeClr val="bg1"/>
                  </a:solidFill>
                </a:rPr>
                <a:t>Exception</a:t>
              </a:r>
              <a:endParaRPr lang="en-US" b="1" dirty="0">
                <a:solidFill>
                  <a:schemeClr val="bg1"/>
                </a:solidFill>
              </a:endParaRPr>
            </a:p>
          </p:txBody>
        </p:sp>
        <p:cxnSp>
          <p:nvCxnSpPr>
            <p:cNvPr id="11" name="Straight Connector 10">
              <a:extLst>
                <a:ext uri="{FF2B5EF4-FFF2-40B4-BE49-F238E27FC236}">
                  <a16:creationId xmlns:a16="http://schemas.microsoft.com/office/drawing/2014/main" id="{5C198861-A166-D94A-5053-D721A2EB0783}"/>
                </a:ext>
              </a:extLst>
            </p:cNvPr>
            <p:cNvCxnSpPr/>
            <p:nvPr/>
          </p:nvCxnSpPr>
          <p:spPr>
            <a:xfrm rot="5400000">
              <a:off x="4606925" y="1677975"/>
              <a:ext cx="21431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13DFDAB-7AFD-56AA-C209-D8814F5ACD5A}"/>
                </a:ext>
              </a:extLst>
            </p:cNvPr>
            <p:cNvCxnSpPr/>
            <p:nvPr/>
          </p:nvCxnSpPr>
          <p:spPr>
            <a:xfrm>
              <a:off x="1857356" y="1785926"/>
              <a:ext cx="464347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10D0C14-D553-0FAB-52B5-5BD0BD277BE9}"/>
                </a:ext>
              </a:extLst>
            </p:cNvPr>
            <p:cNvCxnSpPr/>
            <p:nvPr/>
          </p:nvCxnSpPr>
          <p:spPr>
            <a:xfrm rot="5400000">
              <a:off x="6382023" y="1892289"/>
              <a:ext cx="21431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542F3D6-40D1-8FE3-F219-6C29352D00DD}"/>
                </a:ext>
              </a:extLst>
            </p:cNvPr>
            <p:cNvCxnSpPr/>
            <p:nvPr/>
          </p:nvCxnSpPr>
          <p:spPr>
            <a:xfrm rot="5400000">
              <a:off x="1759934" y="1892289"/>
              <a:ext cx="214314"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31ECC47-AC81-2FF7-FDD9-FEBBACF3EA4A}"/>
                </a:ext>
              </a:extLst>
            </p:cNvPr>
            <p:cNvSpPr txBox="1"/>
            <p:nvPr/>
          </p:nvSpPr>
          <p:spPr>
            <a:xfrm>
              <a:off x="5472879" y="2071678"/>
              <a:ext cx="1902516" cy="416136"/>
            </a:xfrm>
            <a:prstGeom prst="rect">
              <a:avLst/>
            </a:prstGeom>
            <a:solidFill>
              <a:schemeClr val="accent2"/>
            </a:solidFill>
            <a:ln w="3175">
              <a:solidFill>
                <a:srgbClr val="000099"/>
              </a:solidFill>
            </a:ln>
          </p:spPr>
          <p:style>
            <a:lnRef idx="2">
              <a:schemeClr val="dk1"/>
            </a:lnRef>
            <a:fillRef idx="1">
              <a:schemeClr val="lt1"/>
            </a:fillRef>
            <a:effectRef idx="0">
              <a:schemeClr val="dk1"/>
            </a:effectRef>
            <a:fontRef idx="minor">
              <a:schemeClr val="dk1"/>
            </a:fontRef>
          </p:style>
          <p:txBody>
            <a:bodyPr wrap="none" rtlCol="0">
              <a:spAutoFit/>
            </a:bodyPr>
            <a:lstStyle/>
            <a:p>
              <a:pPr algn="l" rtl="0"/>
              <a:r>
                <a:rPr lang="en-GB" dirty="0" err="1">
                  <a:solidFill>
                    <a:schemeClr val="bg1"/>
                  </a:solidFill>
                </a:rPr>
                <a:t>RunTimeException</a:t>
              </a:r>
              <a:endParaRPr lang="en-US" dirty="0">
                <a:solidFill>
                  <a:schemeClr val="bg1"/>
                </a:solidFill>
              </a:endParaRPr>
            </a:p>
          </p:txBody>
        </p:sp>
        <p:sp>
          <p:nvSpPr>
            <p:cNvPr id="16" name="TextBox 15">
              <a:extLst>
                <a:ext uri="{FF2B5EF4-FFF2-40B4-BE49-F238E27FC236}">
                  <a16:creationId xmlns:a16="http://schemas.microsoft.com/office/drawing/2014/main" id="{79BBB2C4-ED0A-D47B-6A4D-801E8EDE5AA6}"/>
                </a:ext>
              </a:extLst>
            </p:cNvPr>
            <p:cNvSpPr txBox="1"/>
            <p:nvPr/>
          </p:nvSpPr>
          <p:spPr>
            <a:xfrm>
              <a:off x="1142976" y="2059535"/>
              <a:ext cx="1290308" cy="416136"/>
            </a:xfrm>
            <a:prstGeom prst="rect">
              <a:avLst/>
            </a:prstGeom>
            <a:solidFill>
              <a:schemeClr val="accent2"/>
            </a:solidFill>
            <a:ln w="3175">
              <a:solidFill>
                <a:srgbClr val="000099"/>
              </a:solidFill>
            </a:ln>
          </p:spPr>
          <p:style>
            <a:lnRef idx="2">
              <a:schemeClr val="dk1"/>
            </a:lnRef>
            <a:fillRef idx="1">
              <a:schemeClr val="lt1"/>
            </a:fillRef>
            <a:effectRef idx="0">
              <a:schemeClr val="dk1"/>
            </a:effectRef>
            <a:fontRef idx="minor">
              <a:schemeClr val="dk1"/>
            </a:fontRef>
          </p:style>
          <p:txBody>
            <a:bodyPr wrap="none" rtlCol="0">
              <a:spAutoFit/>
            </a:bodyPr>
            <a:lstStyle/>
            <a:p>
              <a:pPr algn="l" rtl="0"/>
              <a:r>
                <a:rPr lang="en-GB" dirty="0" err="1">
                  <a:solidFill>
                    <a:schemeClr val="bg1"/>
                  </a:solidFill>
                </a:rPr>
                <a:t>IOException</a:t>
              </a:r>
              <a:endParaRPr lang="en-US" dirty="0">
                <a:solidFill>
                  <a:schemeClr val="bg1"/>
                </a:solidFill>
              </a:endParaRPr>
            </a:p>
          </p:txBody>
        </p:sp>
        <p:sp>
          <p:nvSpPr>
            <p:cNvPr id="17" name="Rectangle 16">
              <a:extLst>
                <a:ext uri="{FF2B5EF4-FFF2-40B4-BE49-F238E27FC236}">
                  <a16:creationId xmlns:a16="http://schemas.microsoft.com/office/drawing/2014/main" id="{85E39E46-62B4-5328-5165-6FCB09B75A81}"/>
                </a:ext>
              </a:extLst>
            </p:cNvPr>
            <p:cNvSpPr/>
            <p:nvPr/>
          </p:nvSpPr>
          <p:spPr>
            <a:xfrm>
              <a:off x="7571654" y="2071678"/>
              <a:ext cx="1358064" cy="369332"/>
            </a:xfrm>
            <a:prstGeom prst="rect">
              <a:avLst/>
            </a:prstGeom>
          </p:spPr>
          <p:txBody>
            <a:bodyPr wrap="none">
              <a:spAutoFit/>
            </a:bodyPr>
            <a:lstStyle/>
            <a:p>
              <a:r>
                <a:rPr lang="en-US" b="1" dirty="0" err="1">
                  <a:latin typeface="Times New Roman" pitchFamily="18" charset="0"/>
                  <a:cs typeface="Times New Roman" pitchFamily="18" charset="0"/>
                </a:rPr>
                <a:t>unChecked</a:t>
              </a:r>
              <a:r>
                <a:rPr lang="en-US" dirty="0">
                  <a:latin typeface="Times New Roman" pitchFamily="18" charset="0"/>
                  <a:cs typeface="Times New Roman" pitchFamily="18" charset="0"/>
                </a:rPr>
                <a:t> </a:t>
              </a:r>
              <a:endParaRPr lang="en-US" dirty="0"/>
            </a:p>
          </p:txBody>
        </p:sp>
        <p:sp>
          <p:nvSpPr>
            <p:cNvPr id="18" name="Rectangle 17">
              <a:extLst>
                <a:ext uri="{FF2B5EF4-FFF2-40B4-BE49-F238E27FC236}">
                  <a16:creationId xmlns:a16="http://schemas.microsoft.com/office/drawing/2014/main" id="{16E468C1-0025-981D-BAAB-B566317604D2}"/>
                </a:ext>
              </a:extLst>
            </p:cNvPr>
            <p:cNvSpPr/>
            <p:nvPr/>
          </p:nvSpPr>
          <p:spPr>
            <a:xfrm>
              <a:off x="2652115" y="2071678"/>
              <a:ext cx="1043876" cy="369332"/>
            </a:xfrm>
            <a:prstGeom prst="rect">
              <a:avLst/>
            </a:prstGeom>
          </p:spPr>
          <p:txBody>
            <a:bodyPr wrap="none">
              <a:spAutoFit/>
            </a:bodyPr>
            <a:lstStyle/>
            <a:p>
              <a:r>
                <a:rPr lang="en-US" b="1" dirty="0">
                  <a:latin typeface="Times New Roman" pitchFamily="18" charset="0"/>
                  <a:cs typeface="Times New Roman" pitchFamily="18" charset="0"/>
                </a:rPr>
                <a:t>Checked</a:t>
              </a:r>
              <a:endParaRPr lang="en-US" dirty="0"/>
            </a:p>
          </p:txBody>
        </p:sp>
        <p:sp>
          <p:nvSpPr>
            <p:cNvPr id="19" name="TextBox 18">
              <a:extLst>
                <a:ext uri="{FF2B5EF4-FFF2-40B4-BE49-F238E27FC236}">
                  <a16:creationId xmlns:a16="http://schemas.microsoft.com/office/drawing/2014/main" id="{E8680F1E-7156-2FDC-6AA1-26EA0E8937DC}"/>
                </a:ext>
              </a:extLst>
            </p:cNvPr>
            <p:cNvSpPr txBox="1"/>
            <p:nvPr/>
          </p:nvSpPr>
          <p:spPr>
            <a:xfrm>
              <a:off x="5271903" y="2327137"/>
              <a:ext cx="3714776" cy="3641189"/>
            </a:xfrm>
            <a:prstGeom prst="rect">
              <a:avLst/>
            </a:prstGeom>
            <a:noFill/>
          </p:spPr>
          <p:txBody>
            <a:bodyPr wrap="square" rtlCol="0">
              <a:spAutoFit/>
            </a:bodyPr>
            <a:lstStyle/>
            <a:p>
              <a:pPr marL="352425" lvl="2" indent="-260350" algn="l" rtl="0">
                <a:lnSpc>
                  <a:spcPct val="150000"/>
                </a:lnSpc>
                <a:buFont typeface="Times New Roman" pitchFamily="18" charset="0"/>
                <a:buChar char="−"/>
              </a:pPr>
              <a:r>
                <a:rPr lang="en-US" sz="1700" dirty="0" err="1">
                  <a:latin typeface="Times New Roman" pitchFamily="18" charset="0"/>
                  <a:cs typeface="Times New Roman" pitchFamily="18" charset="0"/>
                </a:rPr>
                <a:t>ArithmeticException</a:t>
              </a:r>
              <a:endParaRPr lang="en-US" sz="1700" dirty="0">
                <a:latin typeface="Times New Roman" pitchFamily="18" charset="0"/>
                <a:cs typeface="Times New Roman" pitchFamily="18" charset="0"/>
              </a:endParaRPr>
            </a:p>
            <a:p>
              <a:pPr marL="352425" lvl="2" indent="-260350" algn="l" rtl="0">
                <a:lnSpc>
                  <a:spcPct val="150000"/>
                </a:lnSpc>
                <a:buFont typeface="Times New Roman" pitchFamily="18" charset="0"/>
                <a:buChar char="−"/>
              </a:pPr>
              <a:r>
                <a:rPr lang="en-US" sz="1700" dirty="0" err="1">
                  <a:latin typeface="Times New Roman" pitchFamily="18" charset="0"/>
                  <a:cs typeface="Times New Roman" pitchFamily="18" charset="0"/>
                </a:rPr>
                <a:t>IndexOutOfBoundException</a:t>
              </a:r>
              <a:endParaRPr lang="en-US" sz="1700" dirty="0">
                <a:latin typeface="Times New Roman" pitchFamily="18" charset="0"/>
                <a:cs typeface="Times New Roman" pitchFamily="18" charset="0"/>
              </a:endParaRPr>
            </a:p>
            <a:p>
              <a:pPr marL="534988" lvl="3" indent="-182563" algn="l" rtl="0">
                <a:lnSpc>
                  <a:spcPct val="150000"/>
                </a:lnSpc>
                <a:buFont typeface="Wingdings" pitchFamily="2" charset="2"/>
                <a:buChar char="§"/>
                <a:tabLst>
                  <a:tab pos="627063" algn="l"/>
                </a:tabLst>
              </a:pPr>
              <a:r>
                <a:rPr lang="en-US" sz="1700" dirty="0" err="1">
                  <a:latin typeface="Times New Roman" pitchFamily="18" charset="0"/>
                  <a:cs typeface="Times New Roman" pitchFamily="18" charset="0"/>
                </a:rPr>
                <a:t>ArrayIndexOutOfBoundException</a:t>
              </a:r>
              <a:endParaRPr lang="en-US" sz="1700" dirty="0">
                <a:latin typeface="Times New Roman" pitchFamily="18" charset="0"/>
                <a:cs typeface="Times New Roman" pitchFamily="18" charset="0"/>
              </a:endParaRPr>
            </a:p>
            <a:p>
              <a:pPr marL="352425" lvl="2" indent="-260350" algn="l" rtl="0">
                <a:lnSpc>
                  <a:spcPct val="150000"/>
                </a:lnSpc>
                <a:buFont typeface="Times New Roman" pitchFamily="18" charset="0"/>
                <a:buChar char="−"/>
              </a:pPr>
              <a:r>
                <a:rPr lang="en-US" sz="1700" dirty="0" err="1">
                  <a:latin typeface="Times New Roman" pitchFamily="18" charset="0"/>
                  <a:cs typeface="Times New Roman" pitchFamily="18" charset="0"/>
                </a:rPr>
                <a:t>ClassCastException</a:t>
              </a:r>
              <a:endParaRPr lang="en-US" sz="1700" dirty="0">
                <a:latin typeface="Times New Roman" pitchFamily="18" charset="0"/>
                <a:cs typeface="Times New Roman" pitchFamily="18" charset="0"/>
              </a:endParaRPr>
            </a:p>
            <a:p>
              <a:pPr marL="352425" lvl="2" indent="-260350" algn="l" rtl="0">
                <a:lnSpc>
                  <a:spcPct val="150000"/>
                </a:lnSpc>
                <a:buFont typeface="Times New Roman" pitchFamily="18" charset="0"/>
                <a:buChar char="−"/>
              </a:pPr>
              <a:r>
                <a:rPr lang="en-US" sz="1700" dirty="0" err="1">
                  <a:latin typeface="Times New Roman" pitchFamily="18" charset="0"/>
                  <a:cs typeface="Times New Roman" pitchFamily="18" charset="0"/>
                </a:rPr>
                <a:t>IllegalArgumentException</a:t>
              </a:r>
              <a:endParaRPr lang="en-US" sz="1700" dirty="0">
                <a:latin typeface="Times New Roman" pitchFamily="18" charset="0"/>
                <a:cs typeface="Times New Roman" pitchFamily="18" charset="0"/>
              </a:endParaRPr>
            </a:p>
            <a:p>
              <a:pPr marL="352425" lvl="3" indent="-260350" algn="l" rtl="0">
                <a:lnSpc>
                  <a:spcPct val="150000"/>
                </a:lnSpc>
                <a:buFont typeface="Times New Roman" pitchFamily="18" charset="0"/>
                <a:buChar char="−"/>
              </a:pPr>
              <a:r>
                <a:rPr lang="en-US" sz="1700" dirty="0" err="1">
                  <a:latin typeface="Times New Roman" pitchFamily="18" charset="0"/>
                  <a:cs typeface="Times New Roman" pitchFamily="18" charset="0"/>
                </a:rPr>
                <a:t>NumberFormatException</a:t>
              </a:r>
              <a:endParaRPr lang="en-US" sz="1700" dirty="0">
                <a:latin typeface="Times New Roman" pitchFamily="18" charset="0"/>
                <a:cs typeface="Times New Roman" pitchFamily="18" charset="0"/>
              </a:endParaRPr>
            </a:p>
            <a:p>
              <a:pPr marL="352425" lvl="2" indent="-260350" algn="l" rtl="0">
                <a:lnSpc>
                  <a:spcPct val="150000"/>
                </a:lnSpc>
                <a:buFont typeface="Times New Roman" pitchFamily="18" charset="0"/>
                <a:buChar char="−"/>
              </a:pPr>
              <a:r>
                <a:rPr lang="en-US" sz="1700" dirty="0" err="1">
                  <a:latin typeface="Times New Roman" pitchFamily="18" charset="0"/>
                  <a:cs typeface="Times New Roman" pitchFamily="18" charset="0"/>
                </a:rPr>
                <a:t>NegativeArraySizeException</a:t>
              </a:r>
              <a:endParaRPr lang="en-US" sz="1700" dirty="0">
                <a:latin typeface="Times New Roman" pitchFamily="18" charset="0"/>
                <a:cs typeface="Times New Roman" pitchFamily="18" charset="0"/>
              </a:endParaRPr>
            </a:p>
            <a:p>
              <a:pPr marL="352425" lvl="2" indent="-260350" algn="l" rtl="0">
                <a:lnSpc>
                  <a:spcPct val="150000"/>
                </a:lnSpc>
                <a:buFont typeface="Times New Roman" pitchFamily="18" charset="0"/>
                <a:buChar char="−"/>
              </a:pPr>
              <a:r>
                <a:rPr lang="en-US" sz="1700" dirty="0" err="1">
                  <a:latin typeface="Times New Roman" pitchFamily="18" charset="0"/>
                  <a:cs typeface="Times New Roman" pitchFamily="18" charset="0"/>
                </a:rPr>
                <a:t>NullPointerException</a:t>
              </a:r>
              <a:endParaRPr lang="en-US" sz="1700" dirty="0"/>
            </a:p>
          </p:txBody>
        </p:sp>
        <p:sp>
          <p:nvSpPr>
            <p:cNvPr id="20" name="TextBox 19">
              <a:extLst>
                <a:ext uri="{FF2B5EF4-FFF2-40B4-BE49-F238E27FC236}">
                  <a16:creationId xmlns:a16="http://schemas.microsoft.com/office/drawing/2014/main" id="{FF50C374-4A69-39F7-840C-2B86D4529A07}"/>
                </a:ext>
              </a:extLst>
            </p:cNvPr>
            <p:cNvSpPr txBox="1"/>
            <p:nvPr/>
          </p:nvSpPr>
          <p:spPr>
            <a:xfrm>
              <a:off x="1071538" y="2357430"/>
              <a:ext cx="2571768" cy="923330"/>
            </a:xfrm>
            <a:prstGeom prst="rect">
              <a:avLst/>
            </a:prstGeom>
            <a:noFill/>
          </p:spPr>
          <p:txBody>
            <a:bodyPr wrap="square" rtlCol="0">
              <a:spAutoFit/>
            </a:bodyPr>
            <a:lstStyle/>
            <a:p>
              <a:pPr marL="182563" lvl="2" indent="-182563" algn="l" rtl="0">
                <a:lnSpc>
                  <a:spcPct val="150000"/>
                </a:lnSpc>
                <a:buFont typeface="Times New Roman" pitchFamily="18" charset="0"/>
                <a:buChar char="−"/>
              </a:pPr>
              <a:r>
                <a:rPr lang="en-US" dirty="0" err="1">
                  <a:latin typeface="Times New Roman" pitchFamily="18" charset="0"/>
                  <a:cs typeface="Times New Roman" pitchFamily="18" charset="0"/>
                </a:rPr>
                <a:t>EOFException</a:t>
              </a:r>
              <a:endParaRPr lang="en-US" dirty="0">
                <a:latin typeface="Times New Roman" pitchFamily="18" charset="0"/>
                <a:cs typeface="Times New Roman" pitchFamily="18" charset="0"/>
              </a:endParaRPr>
            </a:p>
            <a:p>
              <a:pPr algn="l" rtl="0">
                <a:lnSpc>
                  <a:spcPct val="150000"/>
                </a:lnSpc>
                <a:buFont typeface="Times New Roman" pitchFamily="18" charset="0"/>
                <a:buChar char="−"/>
              </a:pPr>
              <a:r>
                <a:rPr lang="en-US" dirty="0" err="1">
                  <a:latin typeface="Times New Roman" pitchFamily="18" charset="0"/>
                  <a:cs typeface="Times New Roman" pitchFamily="18" charset="0"/>
                </a:rPr>
                <a:t>FileNotFoundException</a:t>
              </a:r>
              <a:endParaRPr lang="en-US" sz="2400" b="1" dirty="0">
                <a:solidFill>
                  <a:srgbClr val="FF0000"/>
                </a:solidFill>
                <a:latin typeface="Times New Roman" pitchFamily="18" charset="0"/>
                <a:cs typeface="Times New Roman" pitchFamily="18" charset="0"/>
              </a:endParaRPr>
            </a:p>
          </p:txBody>
        </p:sp>
      </p:grpSp>
    </p:spTree>
    <p:extLst>
      <p:ext uri="{BB962C8B-B14F-4D97-AF65-F5344CB8AC3E}">
        <p14:creationId xmlns:p14="http://schemas.microsoft.com/office/powerpoint/2010/main" val="315302620"/>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Checked Exceptions vs. Unchecked Exceptions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a:buFont typeface="Wingdings" panose="05000000000000000000" pitchFamily="2" charset="2"/>
              <a:buChar char="§"/>
            </a:pPr>
            <a:r>
              <a:rPr lang="en-US" altLang="ar-JO" dirty="0" err="1">
                <a:solidFill>
                  <a:schemeClr val="bg2">
                    <a:lumMod val="75000"/>
                  </a:schemeClr>
                </a:solidFill>
              </a:rPr>
              <a:t>RuntimeException</a:t>
            </a:r>
            <a:r>
              <a:rPr lang="en-US" altLang="ar-JO" dirty="0">
                <a:solidFill>
                  <a:schemeClr val="bg2">
                    <a:lumMod val="75000"/>
                  </a:schemeClr>
                </a:solidFill>
              </a:rPr>
              <a:t>, </a:t>
            </a:r>
            <a:r>
              <a:rPr lang="en-US" altLang="ar-JO" b="1" dirty="0"/>
              <a:t>Error</a:t>
            </a:r>
            <a:r>
              <a:rPr lang="en-US" altLang="ar-JO" dirty="0"/>
              <a:t> and their </a:t>
            </a:r>
            <a:r>
              <a:rPr lang="en-US" altLang="ar-JO" b="1" dirty="0"/>
              <a:t>subclasses</a:t>
            </a:r>
            <a:r>
              <a:rPr lang="en-US" altLang="ar-JO" dirty="0"/>
              <a:t> are known as </a:t>
            </a:r>
            <a:r>
              <a:rPr lang="en-US" altLang="ar-JO" b="1" dirty="0">
                <a:solidFill>
                  <a:schemeClr val="bg2">
                    <a:lumMod val="75000"/>
                  </a:schemeClr>
                </a:solidFill>
              </a:rPr>
              <a:t>unchecked</a:t>
            </a:r>
            <a:r>
              <a:rPr lang="en-US" altLang="ar-JO" dirty="0"/>
              <a:t> </a:t>
            </a:r>
            <a:r>
              <a:rPr lang="en-US" altLang="ar-JO" b="1" dirty="0"/>
              <a:t>exceptions</a:t>
            </a:r>
            <a:r>
              <a:rPr lang="en-US" altLang="ar-JO" dirty="0"/>
              <a:t>. </a:t>
            </a:r>
            <a:r>
              <a:rPr lang="en-US" altLang="ar-JO" b="1" dirty="0"/>
              <a:t>All other exceptions are known as </a:t>
            </a:r>
            <a:r>
              <a:rPr lang="en-US" altLang="ar-JO" b="1" dirty="0">
                <a:solidFill>
                  <a:schemeClr val="bg2">
                    <a:lumMod val="75000"/>
                  </a:schemeClr>
                </a:solidFill>
              </a:rPr>
              <a:t>checked exceptions</a:t>
            </a:r>
            <a:r>
              <a:rPr lang="en-US" altLang="ar-JO" dirty="0"/>
              <a:t>, </a:t>
            </a:r>
            <a:r>
              <a:rPr lang="en-US" altLang="ar-JO" i="1" dirty="0"/>
              <a:t>meaning that the compiler forces the programmer to check and deal with the exceptions</a:t>
            </a:r>
            <a:r>
              <a:rPr lang="en-US" altLang="ar-JO" dirty="0"/>
              <a:t>. </a:t>
            </a:r>
          </a:p>
          <a:p>
            <a:pPr>
              <a:buFont typeface="Wingdings" panose="05000000000000000000" pitchFamily="2" charset="2"/>
              <a:buChar char="§"/>
            </a:pPr>
            <a:endParaRPr lang="en-US" altLang="ar-JO" dirty="0"/>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Footer Placeholder 5">
            <a:extLst>
              <a:ext uri="{FF2B5EF4-FFF2-40B4-BE49-F238E27FC236}">
                <a16:creationId xmlns:a16="http://schemas.microsoft.com/office/drawing/2014/main" id="{5644D30A-226E-3788-C240-8E8F11CAC254}"/>
              </a:ext>
            </a:extLst>
          </p:cNvPr>
          <p:cNvSpPr txBox="1">
            <a:spLocks/>
          </p:cNvSpPr>
          <p:nvPr/>
        </p:nvSpPr>
        <p:spPr>
          <a:xfrm>
            <a:off x="1563333" y="7928033"/>
            <a:ext cx="8286808" cy="43495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a:solidFill>
                  <a:schemeClr val="tx1"/>
                </a:solidFill>
                <a:latin typeface="Times New Roman" pitchFamily="18" charset="0"/>
                <a:cs typeface="Times New Roman" pitchFamily="18" charset="0"/>
              </a:rPr>
              <a:t>Liang, Introduction to Java Programming, Eighth Edition, (c) 2011 Pearson Education, Inc. All rights reserved.  PREPARED BY: Siham Haimour</a:t>
            </a:r>
            <a:endParaRPr lang="ar-JO"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338564044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Unchecked Exceptions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a:buFont typeface="Wingdings" panose="05000000000000000000" pitchFamily="2" charset="2"/>
              <a:buChar char="§"/>
            </a:pPr>
            <a:r>
              <a:rPr lang="en-US" altLang="ar-JO" dirty="0"/>
              <a:t>In most cases, </a:t>
            </a:r>
            <a:r>
              <a:rPr lang="en-US" altLang="ar-JO" dirty="0">
                <a:solidFill>
                  <a:schemeClr val="bg2">
                    <a:lumMod val="75000"/>
                  </a:schemeClr>
                </a:solidFill>
              </a:rPr>
              <a:t>unchecked exceptions</a:t>
            </a:r>
            <a:r>
              <a:rPr lang="en-US" altLang="ar-JO" dirty="0"/>
              <a:t> reflect programming logic errors that are not recoverable. For example, a </a:t>
            </a:r>
            <a:r>
              <a:rPr lang="en-US" altLang="ar-JO" dirty="0" err="1"/>
              <a:t>NullPointerException</a:t>
            </a:r>
            <a:r>
              <a:rPr lang="en-US" altLang="ar-JO" dirty="0"/>
              <a:t> is thrown if you access an object through a reference variable before an object is assigned to it; an </a:t>
            </a:r>
            <a:r>
              <a:rPr lang="en-US" altLang="ar-JO" dirty="0" err="1"/>
              <a:t>IndexOutOfBoundsException</a:t>
            </a:r>
            <a:r>
              <a:rPr lang="en-US" altLang="ar-JO" dirty="0"/>
              <a:t> is thrown if you access an element in an array outside the bounds of the array. These are the logic errors that should be corrected in the program. </a:t>
            </a:r>
          </a:p>
          <a:p>
            <a:pPr>
              <a:buFont typeface="Wingdings" panose="05000000000000000000" pitchFamily="2" charset="2"/>
              <a:buChar char="§"/>
            </a:pPr>
            <a:r>
              <a:rPr lang="en-US" altLang="ar-JO" dirty="0">
                <a:solidFill>
                  <a:schemeClr val="bg2">
                    <a:lumMod val="75000"/>
                  </a:schemeClr>
                </a:solidFill>
              </a:rPr>
              <a:t>For Unchecked Exceptions, </a:t>
            </a:r>
            <a:r>
              <a:rPr lang="en-US" altLang="ar-JO" dirty="0"/>
              <a:t>the </a:t>
            </a:r>
            <a:r>
              <a:rPr lang="en-US" altLang="ar-JO" i="1" dirty="0"/>
              <a:t>compiler doesn't check during the compilation process</a:t>
            </a:r>
            <a:r>
              <a:rPr lang="en-US" altLang="ar-JO" dirty="0"/>
              <a:t>. Hence, it </a:t>
            </a:r>
            <a:r>
              <a:rPr lang="en-US" altLang="ar-JO" u="sng" dirty="0"/>
              <a:t>isn't mandatory </a:t>
            </a:r>
            <a:r>
              <a:rPr lang="en-US" altLang="ar-JO" dirty="0"/>
              <a:t>for the method to handle these exceptions. All unchecked exceptions extend the class </a:t>
            </a:r>
            <a:r>
              <a:rPr lang="en-US" altLang="ar-JO" dirty="0" err="1"/>
              <a:t>RuntimeException</a:t>
            </a:r>
            <a:r>
              <a:rPr lang="en-US" altLang="ar-JO" dirty="0"/>
              <a:t>.</a:t>
            </a:r>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Footer Placeholder 5">
            <a:extLst>
              <a:ext uri="{FF2B5EF4-FFF2-40B4-BE49-F238E27FC236}">
                <a16:creationId xmlns:a16="http://schemas.microsoft.com/office/drawing/2014/main" id="{5644D30A-226E-3788-C240-8E8F11CAC254}"/>
              </a:ext>
            </a:extLst>
          </p:cNvPr>
          <p:cNvSpPr txBox="1">
            <a:spLocks/>
          </p:cNvSpPr>
          <p:nvPr/>
        </p:nvSpPr>
        <p:spPr>
          <a:xfrm>
            <a:off x="1563333" y="7928033"/>
            <a:ext cx="8286808" cy="43495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a:solidFill>
                  <a:schemeClr val="tx1"/>
                </a:solidFill>
                <a:latin typeface="Times New Roman" pitchFamily="18" charset="0"/>
                <a:cs typeface="Times New Roman" pitchFamily="18" charset="0"/>
              </a:rPr>
              <a:t>Liang, Introduction to Java Programming, Eighth Edition, (c) 2011 Pearson Education, Inc. All rights reserved.  PREPARED BY: Siham Haimour</a:t>
            </a:r>
            <a:endParaRPr lang="ar-JO" b="1"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425405831"/>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Exceptions Classes  </a:t>
            </a:r>
            <a:r>
              <a:rPr lang="en-US" altLang="en-US" sz="2200" dirty="0"/>
              <a:t>Example</a:t>
            </a:r>
            <a:endParaRPr lang="en-US" sz="2200"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a:buFont typeface="Wingdings" panose="05000000000000000000" pitchFamily="2" charset="2"/>
              <a:buChar char="§"/>
            </a:pPr>
            <a:r>
              <a:rPr lang="en-US" altLang="ar-JO" dirty="0"/>
              <a:t>In this short introductory note on exceptions, we will concentrate on runtime exceptions ,example1 :</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Footer Placeholder 5">
            <a:extLst>
              <a:ext uri="{FF2B5EF4-FFF2-40B4-BE49-F238E27FC236}">
                <a16:creationId xmlns:a16="http://schemas.microsoft.com/office/drawing/2014/main" id="{5644D30A-226E-3788-C240-8E8F11CAC254}"/>
              </a:ext>
            </a:extLst>
          </p:cNvPr>
          <p:cNvSpPr txBox="1">
            <a:spLocks/>
          </p:cNvSpPr>
          <p:nvPr/>
        </p:nvSpPr>
        <p:spPr>
          <a:xfrm>
            <a:off x="1563333" y="7928033"/>
            <a:ext cx="8286808" cy="43495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a:solidFill>
                  <a:schemeClr val="tx1"/>
                </a:solidFill>
                <a:latin typeface="Times New Roman" pitchFamily="18" charset="0"/>
                <a:cs typeface="Times New Roman" pitchFamily="18" charset="0"/>
              </a:rPr>
              <a:t>Liang, Introduction to Java Programming, Eighth Edition, (c) 2011 Pearson Education, Inc. All rights reserved.  PREPARED BY: Siham Haimour</a:t>
            </a:r>
            <a:endParaRPr lang="ar-JO" b="1" dirty="0">
              <a:solidFill>
                <a:schemeClr val="tx1"/>
              </a:solidFill>
              <a:latin typeface="Times New Roman" pitchFamily="18" charset="0"/>
              <a:cs typeface="Times New Roman" pitchFamily="18" charset="0"/>
            </a:endParaRPr>
          </a:p>
        </p:txBody>
      </p:sp>
      <p:pic>
        <p:nvPicPr>
          <p:cNvPr id="5" name="Picture 2">
            <a:extLst>
              <a:ext uri="{FF2B5EF4-FFF2-40B4-BE49-F238E27FC236}">
                <a16:creationId xmlns:a16="http://schemas.microsoft.com/office/drawing/2014/main" id="{2ECFA4E4-CC4A-995B-BD89-112C22C0ECF4}"/>
              </a:ext>
            </a:extLst>
          </p:cNvPr>
          <p:cNvPicPr>
            <a:picLocks noChangeAspect="1" noChangeArrowheads="1"/>
          </p:cNvPicPr>
          <p:nvPr/>
        </p:nvPicPr>
        <p:blipFill>
          <a:blip r:embed="rId2"/>
          <a:srcRect/>
          <a:stretch>
            <a:fillRect/>
          </a:stretch>
        </p:blipFill>
        <p:spPr bwMode="auto">
          <a:xfrm>
            <a:off x="-38637" y="2840483"/>
            <a:ext cx="6042830" cy="2844220"/>
          </a:xfrm>
          <a:prstGeom prst="rect">
            <a:avLst/>
          </a:prstGeom>
          <a:noFill/>
          <a:ln w="3175">
            <a:solidFill>
              <a:schemeClr val="tx1"/>
            </a:solidFill>
            <a:prstDash val="lgDash"/>
            <a:miter lim="800000"/>
            <a:headEnd/>
            <a:tailEnd/>
          </a:ln>
          <a:effectLst/>
        </p:spPr>
      </p:pic>
      <p:pic>
        <p:nvPicPr>
          <p:cNvPr id="6" name="Picture 4">
            <a:extLst>
              <a:ext uri="{FF2B5EF4-FFF2-40B4-BE49-F238E27FC236}">
                <a16:creationId xmlns:a16="http://schemas.microsoft.com/office/drawing/2014/main" id="{EAF6CE93-B74C-06E1-E9CB-D98963E8C4A8}"/>
              </a:ext>
            </a:extLst>
          </p:cNvPr>
          <p:cNvPicPr>
            <a:picLocks noChangeAspect="1" noChangeArrowheads="1"/>
          </p:cNvPicPr>
          <p:nvPr/>
        </p:nvPicPr>
        <p:blipFill>
          <a:blip r:embed="rId3"/>
          <a:srcRect/>
          <a:stretch>
            <a:fillRect/>
          </a:stretch>
        </p:blipFill>
        <p:spPr bwMode="auto">
          <a:xfrm>
            <a:off x="6187809" y="2840482"/>
            <a:ext cx="5948383" cy="2844221"/>
          </a:xfrm>
          <a:prstGeom prst="rect">
            <a:avLst/>
          </a:prstGeom>
          <a:noFill/>
          <a:ln w="3175">
            <a:solidFill>
              <a:schemeClr val="tx1"/>
            </a:solidFill>
            <a:prstDash val="lgDash"/>
            <a:miter lim="800000"/>
            <a:headEnd/>
            <a:tailEnd/>
          </a:ln>
          <a:effectLst/>
        </p:spPr>
      </p:pic>
    </p:spTree>
    <p:extLst>
      <p:ext uri="{BB962C8B-B14F-4D97-AF65-F5344CB8AC3E}">
        <p14:creationId xmlns:p14="http://schemas.microsoft.com/office/powerpoint/2010/main" val="1709839700"/>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Exceptions Classes </a:t>
            </a:r>
            <a:r>
              <a:rPr lang="en-US" altLang="en-US" sz="2400" dirty="0"/>
              <a:t>Example</a:t>
            </a:r>
            <a:endParaRPr lang="en-US" sz="2400"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a:buFont typeface="Wingdings" panose="05000000000000000000" pitchFamily="2" charset="2"/>
              <a:buChar char="§"/>
            </a:pPr>
            <a:r>
              <a:rPr lang="en-US" altLang="ar-JO" dirty="0"/>
              <a:t>Example 2</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Footer Placeholder 5">
            <a:extLst>
              <a:ext uri="{FF2B5EF4-FFF2-40B4-BE49-F238E27FC236}">
                <a16:creationId xmlns:a16="http://schemas.microsoft.com/office/drawing/2014/main" id="{5644D30A-226E-3788-C240-8E8F11CAC254}"/>
              </a:ext>
            </a:extLst>
          </p:cNvPr>
          <p:cNvSpPr txBox="1">
            <a:spLocks/>
          </p:cNvSpPr>
          <p:nvPr/>
        </p:nvSpPr>
        <p:spPr>
          <a:xfrm>
            <a:off x="1563333" y="7928033"/>
            <a:ext cx="8286808" cy="43495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a:solidFill>
                  <a:schemeClr val="tx1"/>
                </a:solidFill>
                <a:latin typeface="Times New Roman" pitchFamily="18" charset="0"/>
                <a:cs typeface="Times New Roman" pitchFamily="18" charset="0"/>
              </a:rPr>
              <a:t>Liang, Introduction to Java Programming, Eighth Edition, (c) 2011 Pearson Education, Inc. All rights reserved.  PREPARED BY: Siham Haimour</a:t>
            </a:r>
            <a:endParaRPr lang="ar-JO" b="1" dirty="0">
              <a:solidFill>
                <a:schemeClr val="tx1"/>
              </a:solidFill>
              <a:latin typeface="Times New Roman" pitchFamily="18" charset="0"/>
              <a:cs typeface="Times New Roman" pitchFamily="18" charset="0"/>
            </a:endParaRPr>
          </a:p>
        </p:txBody>
      </p:sp>
      <p:pic>
        <p:nvPicPr>
          <p:cNvPr id="9" name="Picture 2">
            <a:extLst>
              <a:ext uri="{FF2B5EF4-FFF2-40B4-BE49-F238E27FC236}">
                <a16:creationId xmlns:a16="http://schemas.microsoft.com/office/drawing/2014/main" id="{AFA0293D-4A55-7F00-311A-269A03086B80}"/>
              </a:ext>
            </a:extLst>
          </p:cNvPr>
          <p:cNvPicPr>
            <a:picLocks noChangeAspect="1" noChangeArrowheads="1"/>
          </p:cNvPicPr>
          <p:nvPr/>
        </p:nvPicPr>
        <p:blipFill>
          <a:blip r:embed="rId2"/>
          <a:srcRect/>
          <a:stretch>
            <a:fillRect/>
          </a:stretch>
        </p:blipFill>
        <p:spPr bwMode="auto">
          <a:xfrm>
            <a:off x="64393" y="2444602"/>
            <a:ext cx="5263167" cy="2667225"/>
          </a:xfrm>
          <a:prstGeom prst="rect">
            <a:avLst/>
          </a:prstGeom>
          <a:noFill/>
          <a:ln w="3175">
            <a:solidFill>
              <a:schemeClr val="tx1"/>
            </a:solidFill>
            <a:prstDash val="lgDash"/>
            <a:miter lim="800000"/>
            <a:headEnd/>
            <a:tailEnd/>
          </a:ln>
          <a:effectLst/>
        </p:spPr>
      </p:pic>
      <p:pic>
        <p:nvPicPr>
          <p:cNvPr id="10" name="Picture 3">
            <a:extLst>
              <a:ext uri="{FF2B5EF4-FFF2-40B4-BE49-F238E27FC236}">
                <a16:creationId xmlns:a16="http://schemas.microsoft.com/office/drawing/2014/main" id="{EAB3E3C9-A468-AB1A-191E-6B0E43081671}"/>
              </a:ext>
            </a:extLst>
          </p:cNvPr>
          <p:cNvPicPr>
            <a:picLocks noChangeAspect="1" noChangeArrowheads="1"/>
          </p:cNvPicPr>
          <p:nvPr/>
        </p:nvPicPr>
        <p:blipFill>
          <a:blip r:embed="rId3"/>
          <a:srcRect/>
          <a:stretch>
            <a:fillRect/>
          </a:stretch>
        </p:blipFill>
        <p:spPr bwMode="auto">
          <a:xfrm>
            <a:off x="5401984" y="2444603"/>
            <a:ext cx="6790016" cy="2667223"/>
          </a:xfrm>
          <a:prstGeom prst="rect">
            <a:avLst/>
          </a:prstGeom>
          <a:noFill/>
          <a:ln w="3175">
            <a:solidFill>
              <a:schemeClr val="tx1"/>
            </a:solidFill>
            <a:prstDash val="lgDash"/>
            <a:miter lim="800000"/>
            <a:headEnd/>
            <a:tailEnd/>
          </a:ln>
          <a:effectLst/>
        </p:spPr>
      </p:pic>
    </p:spTree>
    <p:extLst>
      <p:ext uri="{BB962C8B-B14F-4D97-AF65-F5344CB8AC3E}">
        <p14:creationId xmlns:p14="http://schemas.microsoft.com/office/powerpoint/2010/main" val="178247409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Exceptions Classes  </a:t>
            </a:r>
            <a:r>
              <a:rPr lang="en-US" altLang="en-US" sz="2200" dirty="0"/>
              <a:t>Example</a:t>
            </a:r>
            <a:endParaRPr lang="en-US" sz="2200"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a:buFont typeface="Wingdings" panose="05000000000000000000" pitchFamily="2" charset="2"/>
              <a:buChar char="§"/>
            </a:pPr>
            <a:r>
              <a:rPr lang="en-US" altLang="ar-JO" dirty="0"/>
              <a:t>example3 :</a:t>
            </a:r>
            <a:br>
              <a:rPr lang="en-US" altLang="ar-JO" dirty="0"/>
            </a:br>
            <a:endParaRPr lang="en-US" altLang="ar-JO" dirty="0"/>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Footer Placeholder 5">
            <a:extLst>
              <a:ext uri="{FF2B5EF4-FFF2-40B4-BE49-F238E27FC236}">
                <a16:creationId xmlns:a16="http://schemas.microsoft.com/office/drawing/2014/main" id="{5644D30A-226E-3788-C240-8E8F11CAC254}"/>
              </a:ext>
            </a:extLst>
          </p:cNvPr>
          <p:cNvSpPr txBox="1">
            <a:spLocks/>
          </p:cNvSpPr>
          <p:nvPr/>
        </p:nvSpPr>
        <p:spPr>
          <a:xfrm>
            <a:off x="1563333" y="7928033"/>
            <a:ext cx="8286808" cy="434955"/>
          </a:xfrm>
          <a:prstGeom prst="rect">
            <a:avLst/>
          </a:prstGeom>
        </p:spPr>
        <p:txBody>
          <a:bodyPr vert="horz" lIns="91440" tIns="45720" rIns="91440" bIns="45720" rtlCol="0" anchor="ctr"/>
          <a:lstStyle>
            <a:defPPr>
              <a:defRPr lang="en-US"/>
            </a:defPPr>
            <a:lvl1pPr marL="0" algn="ctr" defTabSz="457200" rtl="0" eaLnBrk="1" latinLnBrk="0" hangingPunct="1">
              <a:defRPr sz="900"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a:solidFill>
                  <a:schemeClr val="tx1"/>
                </a:solidFill>
                <a:latin typeface="Times New Roman" pitchFamily="18" charset="0"/>
                <a:cs typeface="Times New Roman" pitchFamily="18" charset="0"/>
              </a:rPr>
              <a:t>Liang, Introduction to Java Programming, Eighth Edition, (c) 2011 Pearson Education, Inc. All rights reserved.  PREPARED BY: Siham Haimour</a:t>
            </a:r>
            <a:endParaRPr lang="ar-JO" b="1" dirty="0">
              <a:solidFill>
                <a:schemeClr val="tx1"/>
              </a:solidFill>
              <a:latin typeface="Times New Roman" pitchFamily="18" charset="0"/>
              <a:cs typeface="Times New Roman" pitchFamily="18" charset="0"/>
            </a:endParaRPr>
          </a:p>
        </p:txBody>
      </p:sp>
      <p:pic>
        <p:nvPicPr>
          <p:cNvPr id="9" name="Picture 2">
            <a:extLst>
              <a:ext uri="{FF2B5EF4-FFF2-40B4-BE49-F238E27FC236}">
                <a16:creationId xmlns:a16="http://schemas.microsoft.com/office/drawing/2014/main" id="{91262332-809C-7A06-1EF9-9A7096101FCA}"/>
              </a:ext>
            </a:extLst>
          </p:cNvPr>
          <p:cNvPicPr>
            <a:picLocks noChangeAspect="1" noChangeArrowheads="1"/>
          </p:cNvPicPr>
          <p:nvPr/>
        </p:nvPicPr>
        <p:blipFill>
          <a:blip r:embed="rId2"/>
          <a:srcRect/>
          <a:stretch>
            <a:fillRect/>
          </a:stretch>
        </p:blipFill>
        <p:spPr bwMode="auto">
          <a:xfrm>
            <a:off x="0" y="2738560"/>
            <a:ext cx="5122843" cy="2071701"/>
          </a:xfrm>
          <a:prstGeom prst="rect">
            <a:avLst/>
          </a:prstGeom>
          <a:noFill/>
          <a:ln w="3175">
            <a:solidFill>
              <a:schemeClr val="tx1"/>
            </a:solidFill>
            <a:prstDash val="lgDash"/>
            <a:miter lim="800000"/>
            <a:headEnd/>
            <a:tailEnd/>
          </a:ln>
          <a:effectLst/>
        </p:spPr>
      </p:pic>
      <p:pic>
        <p:nvPicPr>
          <p:cNvPr id="10" name="Picture 3">
            <a:extLst>
              <a:ext uri="{FF2B5EF4-FFF2-40B4-BE49-F238E27FC236}">
                <a16:creationId xmlns:a16="http://schemas.microsoft.com/office/drawing/2014/main" id="{FB38E713-1628-0DDA-34F6-B7ED3B486BEC}"/>
              </a:ext>
            </a:extLst>
          </p:cNvPr>
          <p:cNvPicPr>
            <a:picLocks noChangeAspect="1" noChangeArrowheads="1"/>
          </p:cNvPicPr>
          <p:nvPr/>
        </p:nvPicPr>
        <p:blipFill>
          <a:blip r:embed="rId3"/>
          <a:srcRect/>
          <a:stretch>
            <a:fillRect/>
          </a:stretch>
        </p:blipFill>
        <p:spPr bwMode="auto">
          <a:xfrm>
            <a:off x="5260062" y="2738560"/>
            <a:ext cx="6876130" cy="2071702"/>
          </a:xfrm>
          <a:prstGeom prst="rect">
            <a:avLst/>
          </a:prstGeom>
          <a:noFill/>
          <a:ln w="3175">
            <a:solidFill>
              <a:schemeClr val="tx1"/>
            </a:solidFill>
            <a:prstDash val="lgDash"/>
            <a:miter lim="800000"/>
            <a:headEnd/>
            <a:tailEnd/>
          </a:ln>
          <a:effectLst/>
        </p:spPr>
      </p:pic>
    </p:spTree>
    <p:extLst>
      <p:ext uri="{BB962C8B-B14F-4D97-AF65-F5344CB8AC3E}">
        <p14:creationId xmlns:p14="http://schemas.microsoft.com/office/powerpoint/2010/main" val="4163068476"/>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Most Common Java Exceptions</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7">
            <a:extLst>
              <a:ext uri="{FF2B5EF4-FFF2-40B4-BE49-F238E27FC236}">
                <a16:creationId xmlns:a16="http://schemas.microsoft.com/office/drawing/2014/main" id="{3200DE63-C9A4-A6E6-C904-29A9F9C4AF60}"/>
              </a:ext>
            </a:extLst>
          </p:cNvPr>
          <p:cNvSpPr/>
          <p:nvPr/>
        </p:nvSpPr>
        <p:spPr>
          <a:xfrm>
            <a:off x="242652" y="1811173"/>
            <a:ext cx="11694123" cy="3970318"/>
          </a:xfrm>
          <a:prstGeom prst="rect">
            <a:avLst/>
          </a:prstGeom>
          <a:ln w="3175">
            <a:solidFill>
              <a:schemeClr val="tx1"/>
            </a:solidFill>
            <a:prstDash val="dash"/>
          </a:ln>
        </p:spPr>
        <p:txBody>
          <a:bodyPr wrap="square">
            <a:spAutoFit/>
          </a:bodyPr>
          <a:lstStyle/>
          <a:p>
            <a:pPr marL="342900" indent="-342900">
              <a:buFont typeface="Wingdings" panose="05000000000000000000" pitchFamily="2" charset="2"/>
              <a:buChar char="§"/>
            </a:pPr>
            <a:r>
              <a:rPr lang="en-US" altLang="ar-JO" sz="2100" b="1" dirty="0" err="1">
                <a:solidFill>
                  <a:schemeClr val="bg2">
                    <a:lumMod val="75000"/>
                  </a:schemeClr>
                </a:solidFill>
              </a:rPr>
              <a:t>NullPointerException</a:t>
            </a:r>
            <a:r>
              <a:rPr lang="en-US" altLang="ar-JO" sz="2100" b="1" dirty="0"/>
              <a:t> </a:t>
            </a:r>
            <a:r>
              <a:rPr lang="en-US" altLang="ar-JO" sz="2100" dirty="0"/>
              <a:t>: occurs when the program uses the reference of the object set to null.</a:t>
            </a:r>
          </a:p>
          <a:p>
            <a:pPr marL="342900" indent="-342900">
              <a:buFont typeface="Wingdings" panose="05000000000000000000" pitchFamily="2" charset="2"/>
              <a:buChar char="§"/>
            </a:pPr>
            <a:r>
              <a:rPr lang="en-US" altLang="ar-JO" sz="2100" b="1" dirty="0" err="1">
                <a:solidFill>
                  <a:schemeClr val="bg2">
                    <a:lumMod val="75000"/>
                  </a:schemeClr>
                </a:solidFill>
              </a:rPr>
              <a:t>ArrayIndexOutOfBoundsException</a:t>
            </a:r>
            <a:r>
              <a:rPr lang="en-US" altLang="ar-JO" sz="2100" dirty="0"/>
              <a:t> : occurs when an array is accessed with an illegal index.</a:t>
            </a:r>
          </a:p>
          <a:p>
            <a:pPr marL="342900" indent="-342900">
              <a:buFont typeface="Wingdings" panose="05000000000000000000" pitchFamily="2" charset="2"/>
              <a:buChar char="§"/>
            </a:pPr>
            <a:r>
              <a:rPr lang="en-US" altLang="ar-JO" sz="2100" b="1" dirty="0" err="1">
                <a:solidFill>
                  <a:schemeClr val="bg2">
                    <a:lumMod val="75000"/>
                  </a:schemeClr>
                </a:solidFill>
              </a:rPr>
              <a:t>StringIndexOutOfBoundsException</a:t>
            </a:r>
            <a:r>
              <a:rPr lang="en-US" altLang="ar-JO" sz="2100" dirty="0"/>
              <a:t>:  occurs when an attempt is made to access the character of a string at an index which is either negative or greater than the length of the string.</a:t>
            </a:r>
          </a:p>
          <a:p>
            <a:pPr marL="342900" indent="-342900">
              <a:buFont typeface="Wingdings" panose="05000000000000000000" pitchFamily="2" charset="2"/>
              <a:buChar char="§"/>
            </a:pPr>
            <a:r>
              <a:rPr lang="en-US" altLang="ar-JO" sz="2100" b="1" dirty="0" err="1">
                <a:solidFill>
                  <a:schemeClr val="bg2">
                    <a:lumMod val="75000"/>
                  </a:schemeClr>
                </a:solidFill>
              </a:rPr>
              <a:t>NumberFormatException</a:t>
            </a:r>
            <a:r>
              <a:rPr lang="en-US" altLang="ar-JO" sz="2100" dirty="0"/>
              <a:t> : Java allows the conversion of String to numeric types. if the String doesn't have an appropriate format during the conversion, the method throws a </a:t>
            </a:r>
            <a:r>
              <a:rPr lang="en-US" altLang="ar-JO" sz="2100" dirty="0" err="1"/>
              <a:t>NumberFormatException</a:t>
            </a:r>
            <a:endParaRPr lang="en-US" altLang="ar-JO" sz="2100" dirty="0"/>
          </a:p>
          <a:p>
            <a:pPr marL="342900" indent="-342900">
              <a:buFont typeface="Wingdings" panose="05000000000000000000" pitchFamily="2" charset="2"/>
              <a:buChar char="§"/>
            </a:pPr>
            <a:r>
              <a:rPr lang="en-US" altLang="ar-JO" sz="2100" b="1" dirty="0" err="1">
                <a:solidFill>
                  <a:schemeClr val="bg2">
                    <a:lumMod val="75000"/>
                  </a:schemeClr>
                </a:solidFill>
              </a:rPr>
              <a:t>ClassCastException</a:t>
            </a:r>
            <a:r>
              <a:rPr lang="en-US" altLang="ar-JO" sz="2100" b="1" dirty="0">
                <a:solidFill>
                  <a:schemeClr val="bg2">
                    <a:lumMod val="75000"/>
                  </a:schemeClr>
                </a:solidFill>
              </a:rPr>
              <a:t> </a:t>
            </a:r>
            <a:r>
              <a:rPr lang="en-US" altLang="ar-JO" sz="2100" dirty="0"/>
              <a:t>: at runtime, if the code attempts to downcast an object to a subtype of which it isn't an instance, the method throws a </a:t>
            </a:r>
            <a:r>
              <a:rPr lang="en-US" altLang="ar-JO" sz="2100" dirty="0" err="1"/>
              <a:t>ClassCastException</a:t>
            </a:r>
            <a:r>
              <a:rPr lang="en-US" altLang="ar-JO" sz="2100" dirty="0"/>
              <a:t>.</a:t>
            </a:r>
          </a:p>
          <a:p>
            <a:pPr marL="342900" indent="-342900">
              <a:buFont typeface="Wingdings" panose="05000000000000000000" pitchFamily="2" charset="2"/>
              <a:buChar char="§"/>
            </a:pPr>
            <a:r>
              <a:rPr lang="en-US" altLang="ar-JO" sz="2100" b="1" dirty="0" err="1">
                <a:solidFill>
                  <a:schemeClr val="bg2">
                    <a:lumMod val="75000"/>
                  </a:schemeClr>
                </a:solidFill>
              </a:rPr>
              <a:t>ArithmeticException</a:t>
            </a:r>
            <a:r>
              <a:rPr lang="en-US" altLang="ar-JO" sz="2100" b="1" dirty="0"/>
              <a:t> </a:t>
            </a:r>
            <a:r>
              <a:rPr lang="en-US" altLang="ar-JO" sz="2100" dirty="0"/>
              <a:t>: For instance, if we try to divide an integer by zero, we get an </a:t>
            </a:r>
            <a:r>
              <a:rPr lang="en-US" altLang="ar-JO" sz="2100" dirty="0" err="1"/>
              <a:t>ArithmeticException</a:t>
            </a:r>
            <a:r>
              <a:rPr lang="en-US" altLang="ar-JO" sz="2100" dirty="0"/>
              <a:t>:</a:t>
            </a:r>
          </a:p>
        </p:txBody>
      </p:sp>
    </p:spTree>
    <p:extLst>
      <p:ext uri="{BB962C8B-B14F-4D97-AF65-F5344CB8AC3E}">
        <p14:creationId xmlns:p14="http://schemas.microsoft.com/office/powerpoint/2010/main" val="40103212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Catching Exceptions</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a:buFont typeface="Wingdings" panose="05000000000000000000" pitchFamily="2" charset="2"/>
              <a:buChar char="§"/>
            </a:pPr>
            <a:r>
              <a:rPr lang="en-US" altLang="ar-JO" sz="2200" dirty="0"/>
              <a:t>A method catches an exception using a combination of the </a:t>
            </a:r>
            <a:r>
              <a:rPr lang="en-US" altLang="ar-JO" sz="2200" b="1" dirty="0"/>
              <a:t>try</a:t>
            </a:r>
            <a:r>
              <a:rPr lang="en-US" altLang="ar-JO" sz="2200" dirty="0"/>
              <a:t> and </a:t>
            </a:r>
            <a:r>
              <a:rPr lang="en-US" altLang="ar-JO" sz="2200" b="1" dirty="0"/>
              <a:t>catch</a:t>
            </a:r>
            <a:r>
              <a:rPr lang="en-US" altLang="ar-JO" sz="2200" dirty="0"/>
              <a:t> keywords. A try/catch block is placed around the code that might generate an exception. Code within a try/catch block is referred to as </a:t>
            </a:r>
            <a:r>
              <a:rPr lang="en-US" altLang="ar-JO" sz="2200" b="1" dirty="0"/>
              <a:t>protected code</a:t>
            </a:r>
            <a:r>
              <a:rPr lang="en-US" altLang="ar-JO" sz="2200" dirty="0"/>
              <a:t>, and the syntax for using try/catch looks like the following:</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C34AED99-A673-D240-FBFA-E66E57483091}"/>
              </a:ext>
            </a:extLst>
          </p:cNvPr>
          <p:cNvSpPr/>
          <p:nvPr/>
        </p:nvSpPr>
        <p:spPr>
          <a:xfrm>
            <a:off x="482297" y="3248507"/>
            <a:ext cx="6425280" cy="3000821"/>
          </a:xfrm>
          <a:prstGeom prst="rect">
            <a:avLst/>
          </a:prstGeom>
          <a:ln w="3175">
            <a:solidFill>
              <a:schemeClr val="tx1"/>
            </a:solidFill>
            <a:prstDash val="dash"/>
          </a:ln>
        </p:spPr>
        <p:txBody>
          <a:bodyPr wrap="square">
            <a:spAutoFit/>
          </a:bodyPr>
          <a:lstStyle/>
          <a:p>
            <a:pPr marL="352425" indent="-352425" algn="l" rtl="0">
              <a:lnSpc>
                <a:spcPct val="150000"/>
              </a:lnSpc>
            </a:pPr>
            <a:r>
              <a:rPr lang="en-US" b="1" dirty="0">
                <a:solidFill>
                  <a:srgbClr val="C00000"/>
                </a:solidFill>
                <a:latin typeface="Times New Roman" pitchFamily="18" charset="0"/>
                <a:cs typeface="Times New Roman" pitchFamily="18" charset="0"/>
              </a:rPr>
              <a:t>try {</a:t>
            </a:r>
          </a:p>
          <a:p>
            <a:pPr marL="352425" indent="-352425" algn="l" rtl="0">
              <a:lnSpc>
                <a:spcPct val="150000"/>
              </a:lnSpc>
            </a:pPr>
            <a:r>
              <a:rPr lang="en-US" b="1" dirty="0">
                <a:latin typeface="Times New Roman" pitchFamily="18" charset="0"/>
                <a:cs typeface="Times New Roman" pitchFamily="18" charset="0"/>
              </a:rPr>
              <a:t>    // your code</a:t>
            </a:r>
          </a:p>
          <a:p>
            <a:pPr marL="352425" indent="-352425" algn="l" rtl="0">
              <a:lnSpc>
                <a:spcPct val="150000"/>
              </a:lnSpc>
            </a:pPr>
            <a:r>
              <a:rPr lang="en-US" b="1" dirty="0">
                <a:solidFill>
                  <a:srgbClr val="C00000"/>
                </a:solidFill>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catch (</a:t>
            </a:r>
            <a:r>
              <a:rPr lang="en-US" b="1" dirty="0" err="1">
                <a:solidFill>
                  <a:srgbClr val="000099"/>
                </a:solidFill>
                <a:latin typeface="Times New Roman" pitchFamily="18" charset="0"/>
                <a:cs typeface="Times New Roman" pitchFamily="18" charset="0"/>
              </a:rPr>
              <a:t>FirstException</a:t>
            </a:r>
            <a:r>
              <a:rPr lang="en-US" b="1" dirty="0">
                <a:solidFill>
                  <a:srgbClr val="000099"/>
                </a:solidFill>
                <a:latin typeface="Times New Roman" pitchFamily="18" charset="0"/>
                <a:cs typeface="Times New Roman" pitchFamily="18" charset="0"/>
              </a:rPr>
              <a:t> ex) {</a:t>
            </a:r>
          </a:p>
          <a:p>
            <a:pPr marL="352425" indent="-352425" algn="l" rtl="0">
              <a:lnSpc>
                <a:spcPct val="150000"/>
              </a:lnSpc>
            </a:pPr>
            <a:r>
              <a:rPr lang="en-US" b="1" dirty="0">
                <a:latin typeface="Times New Roman" pitchFamily="18" charset="0"/>
                <a:cs typeface="Times New Roman" pitchFamily="18" charset="0"/>
              </a:rPr>
              <a:t>    // your code for handling the occurrence of </a:t>
            </a:r>
            <a:r>
              <a:rPr lang="en-US" b="1" dirty="0" err="1">
                <a:latin typeface="Times New Roman" pitchFamily="18" charset="0"/>
                <a:cs typeface="Times New Roman" pitchFamily="18" charset="0"/>
              </a:rPr>
              <a:t>FirstException</a:t>
            </a:r>
            <a:endParaRPr lang="en-US" b="1" dirty="0">
              <a:latin typeface="Times New Roman" pitchFamily="18" charset="0"/>
              <a:cs typeface="Times New Roman" pitchFamily="18" charset="0"/>
            </a:endParaRPr>
          </a:p>
          <a:p>
            <a:pPr marL="352425" indent="-352425" algn="l" rtl="0">
              <a:lnSpc>
                <a:spcPct val="150000"/>
              </a:lnSpc>
            </a:pPr>
            <a:r>
              <a:rPr lang="en-US" b="1" dirty="0">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catch (</a:t>
            </a:r>
            <a:r>
              <a:rPr lang="en-US" b="1" dirty="0" err="1">
                <a:solidFill>
                  <a:srgbClr val="000099"/>
                </a:solidFill>
                <a:latin typeface="Times New Roman" pitchFamily="18" charset="0"/>
                <a:cs typeface="Times New Roman" pitchFamily="18" charset="0"/>
              </a:rPr>
              <a:t>SecondException</a:t>
            </a:r>
            <a:r>
              <a:rPr lang="en-US" b="1" dirty="0">
                <a:solidFill>
                  <a:srgbClr val="000099"/>
                </a:solidFill>
                <a:latin typeface="Times New Roman" pitchFamily="18" charset="0"/>
                <a:cs typeface="Times New Roman" pitchFamily="18" charset="0"/>
              </a:rPr>
              <a:t> ex) {</a:t>
            </a:r>
          </a:p>
          <a:p>
            <a:pPr marL="352425" indent="-352425" algn="l" rtl="0">
              <a:lnSpc>
                <a:spcPct val="150000"/>
              </a:lnSpc>
            </a:pPr>
            <a:r>
              <a:rPr lang="en-US" b="1" dirty="0">
                <a:latin typeface="Times New Roman" pitchFamily="18" charset="0"/>
                <a:cs typeface="Times New Roman" pitchFamily="18" charset="0"/>
              </a:rPr>
              <a:t>    // your code for handling the occurrence of </a:t>
            </a:r>
            <a:r>
              <a:rPr lang="en-US" b="1" dirty="0" err="1">
                <a:latin typeface="Times New Roman" pitchFamily="18" charset="0"/>
                <a:cs typeface="Times New Roman" pitchFamily="18" charset="0"/>
              </a:rPr>
              <a:t>SecondException</a:t>
            </a:r>
            <a:endParaRPr lang="en-US" b="1" dirty="0">
              <a:latin typeface="Times New Roman" pitchFamily="18" charset="0"/>
              <a:cs typeface="Times New Roman" pitchFamily="18" charset="0"/>
            </a:endParaRPr>
          </a:p>
          <a:p>
            <a:pPr marL="352425" indent="-352425" algn="l" rtl="0">
              <a:lnSpc>
                <a:spcPct val="150000"/>
              </a:lnSpc>
            </a:pPr>
            <a:r>
              <a:rPr lang="en-US" b="1" dirty="0">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finally </a:t>
            </a:r>
            <a:r>
              <a:rPr lang="en-US" b="1" dirty="0">
                <a:latin typeface="Times New Roman" pitchFamily="18" charset="0"/>
                <a:cs typeface="Times New Roman" pitchFamily="18" charset="0"/>
              </a:rPr>
              <a:t>{ .... }</a:t>
            </a:r>
          </a:p>
        </p:txBody>
      </p:sp>
      <p:pic>
        <p:nvPicPr>
          <p:cNvPr id="6" name="Picture 4">
            <a:extLst>
              <a:ext uri="{FF2B5EF4-FFF2-40B4-BE49-F238E27FC236}">
                <a16:creationId xmlns:a16="http://schemas.microsoft.com/office/drawing/2014/main" id="{7B78D30C-B0D5-93B6-F79C-A9340178EB12}"/>
              </a:ext>
            </a:extLst>
          </p:cNvPr>
          <p:cNvPicPr>
            <a:picLocks noChangeAspect="1" noChangeArrowheads="1"/>
          </p:cNvPicPr>
          <p:nvPr/>
        </p:nvPicPr>
        <p:blipFill>
          <a:blip r:embed="rId2"/>
          <a:srcRect/>
          <a:stretch>
            <a:fillRect/>
          </a:stretch>
        </p:blipFill>
        <p:spPr bwMode="auto">
          <a:xfrm>
            <a:off x="7041083" y="3248506"/>
            <a:ext cx="3571900" cy="2903301"/>
          </a:xfrm>
          <a:prstGeom prst="rect">
            <a:avLst/>
          </a:prstGeom>
          <a:noFill/>
          <a:ln w="9525">
            <a:noFill/>
            <a:miter lim="800000"/>
            <a:headEnd/>
            <a:tailEnd/>
          </a:ln>
          <a:effectLst/>
        </p:spPr>
      </p:pic>
    </p:spTree>
    <p:extLst>
      <p:ext uri="{BB962C8B-B14F-4D97-AF65-F5344CB8AC3E}">
        <p14:creationId xmlns:p14="http://schemas.microsoft.com/office/powerpoint/2010/main" val="156367431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Syntax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marL="285750" indent="-285750" algn="l" rtl="0">
              <a:lnSpc>
                <a:spcPct val="150000"/>
              </a:lnSpc>
            </a:pPr>
            <a:r>
              <a:rPr lang="en-US" dirty="0"/>
              <a:t>The try block : </a:t>
            </a:r>
          </a:p>
          <a:p>
            <a:pPr algn="just" rtl="0">
              <a:lnSpc>
                <a:spcPct val="150000"/>
              </a:lnSpc>
            </a:pPr>
            <a:endParaRPr lang="en-US" dirty="0"/>
          </a:p>
          <a:p>
            <a:pPr algn="just" rtl="0">
              <a:lnSpc>
                <a:spcPct val="150000"/>
              </a:lnSpc>
            </a:pPr>
            <a:endParaRPr lang="en-US" dirty="0"/>
          </a:p>
          <a:p>
            <a:pPr algn="just" rtl="0">
              <a:lnSpc>
                <a:spcPct val="150000"/>
              </a:lnSpc>
            </a:pPr>
            <a:r>
              <a:rPr lang="en-US" dirty="0"/>
              <a:t>If an exception occurs within the try statement, that exception is handled by the appropriate exception handler associated with this try statement. A try statement must be accompanied by at least one catch block or one final block.</a:t>
            </a:r>
            <a:endParaRPr lang="en-US" alt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7" name="Rectangle 6">
            <a:extLst>
              <a:ext uri="{FF2B5EF4-FFF2-40B4-BE49-F238E27FC236}">
                <a16:creationId xmlns:a16="http://schemas.microsoft.com/office/drawing/2014/main" id="{9D950556-D132-1B91-67D0-6A15C60B4101}"/>
              </a:ext>
            </a:extLst>
          </p:cNvPr>
          <p:cNvSpPr/>
          <p:nvPr/>
        </p:nvSpPr>
        <p:spPr>
          <a:xfrm>
            <a:off x="3268880" y="2246053"/>
            <a:ext cx="3781574" cy="1289071"/>
          </a:xfrm>
          <a:prstGeom prst="rect">
            <a:avLst/>
          </a:prstGeom>
          <a:ln w="3175">
            <a:solidFill>
              <a:schemeClr val="tx1"/>
            </a:solidFill>
            <a:prstDash val="dash"/>
          </a:ln>
        </p:spPr>
        <p:txBody>
          <a:bodyPr wrap="square">
            <a:spAutoFit/>
          </a:bodyPr>
          <a:lstStyle/>
          <a:p>
            <a:pPr marL="352425" indent="-352425" algn="l" rtl="0">
              <a:lnSpc>
                <a:spcPct val="150000"/>
              </a:lnSpc>
            </a:pPr>
            <a:r>
              <a:rPr lang="en-US" b="1" dirty="0">
                <a:solidFill>
                  <a:schemeClr val="bg2">
                    <a:lumMod val="75000"/>
                  </a:schemeClr>
                </a:solidFill>
                <a:latin typeface="Times New Roman" pitchFamily="18" charset="0"/>
                <a:cs typeface="Times New Roman" pitchFamily="18" charset="0"/>
              </a:rPr>
              <a:t>Try{</a:t>
            </a:r>
          </a:p>
          <a:p>
            <a:pPr marL="352425" indent="-352425" algn="l" rtl="0">
              <a:lnSpc>
                <a:spcPct val="150000"/>
              </a:lnSpc>
            </a:pPr>
            <a:r>
              <a:rPr lang="en-US" sz="1800" b="1" dirty="0">
                <a:latin typeface="Times New Roman" pitchFamily="18" charset="0"/>
                <a:cs typeface="Times New Roman" pitchFamily="18" charset="0"/>
              </a:rPr>
              <a:t> // your code</a:t>
            </a:r>
            <a:endParaRPr lang="en-US" b="1" dirty="0">
              <a:solidFill>
                <a:schemeClr val="bg2">
                  <a:lumMod val="75000"/>
                </a:schemeClr>
              </a:solidFill>
              <a:latin typeface="Times New Roman" pitchFamily="18" charset="0"/>
              <a:cs typeface="Times New Roman" pitchFamily="18" charset="0"/>
            </a:endParaRPr>
          </a:p>
          <a:p>
            <a:pPr marL="352425" indent="-352425" algn="l" rtl="0">
              <a:lnSpc>
                <a:spcPct val="150000"/>
              </a:lnSpc>
            </a:pPr>
            <a:r>
              <a:rPr lang="en-US" b="1" dirty="0">
                <a:solidFill>
                  <a:schemeClr val="bg2">
                    <a:lumMod val="75000"/>
                  </a:schemeClr>
                </a:solidFill>
                <a:latin typeface="Times New Roman" pitchFamily="18" charset="0"/>
                <a:cs typeface="Times New Roman" pitchFamily="18" charset="0"/>
              </a:rPr>
              <a:t>} </a:t>
            </a:r>
          </a:p>
        </p:txBody>
      </p:sp>
    </p:spTree>
    <p:extLst>
      <p:ext uri="{BB962C8B-B14F-4D97-AF65-F5344CB8AC3E}">
        <p14:creationId xmlns:p14="http://schemas.microsoft.com/office/powerpoint/2010/main" val="3788931731"/>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Syntax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pPr marL="285750" indent="-285750">
              <a:lnSpc>
                <a:spcPct val="150000"/>
              </a:lnSpc>
            </a:pPr>
            <a:r>
              <a:rPr lang="en-US" b="1" dirty="0">
                <a:solidFill>
                  <a:schemeClr val="bg2">
                    <a:lumMod val="75000"/>
                  </a:schemeClr>
                </a:solidFill>
                <a:latin typeface="+mj-lt"/>
                <a:cs typeface="Times New Roman" pitchFamily="18" charset="0"/>
              </a:rPr>
              <a:t>The catch block </a:t>
            </a:r>
            <a:r>
              <a:rPr lang="en-US" sz="1600" b="1" dirty="0">
                <a:solidFill>
                  <a:schemeClr val="tx1">
                    <a:lumMod val="65000"/>
                    <a:lumOff val="35000"/>
                  </a:schemeClr>
                </a:solidFill>
                <a:latin typeface="+mj-lt"/>
                <a:cs typeface="Times New Roman" pitchFamily="18" charset="0"/>
              </a:rPr>
              <a:t>: </a:t>
            </a:r>
            <a:r>
              <a:rPr lang="en-US" sz="2200" dirty="0">
                <a:latin typeface="Times New Roman" panose="02020603050405020304" pitchFamily="18" charset="0"/>
                <a:cs typeface="Times New Roman" pitchFamily="18" charset="0"/>
              </a:rPr>
              <a:t>You associate exception handlers with a try statement by providing one or more catch blocks directly after the try block: </a:t>
            </a:r>
          </a:p>
          <a:p>
            <a:pPr marL="0" indent="0">
              <a:buNone/>
            </a:pPr>
            <a:endParaRPr lang="en-US" altLang="ar-JO" sz="2200" dirty="0"/>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5" name="Rectangle 4">
            <a:extLst>
              <a:ext uri="{FF2B5EF4-FFF2-40B4-BE49-F238E27FC236}">
                <a16:creationId xmlns:a16="http://schemas.microsoft.com/office/drawing/2014/main" id="{D84A82F6-D22D-6667-C09A-24480D985646}"/>
              </a:ext>
            </a:extLst>
          </p:cNvPr>
          <p:cNvSpPr/>
          <p:nvPr/>
        </p:nvSpPr>
        <p:spPr>
          <a:xfrm>
            <a:off x="3643452" y="2951132"/>
            <a:ext cx="3886395" cy="1289071"/>
          </a:xfrm>
          <a:prstGeom prst="rect">
            <a:avLst/>
          </a:prstGeom>
          <a:ln w="3175">
            <a:solidFill>
              <a:schemeClr val="tx1"/>
            </a:solidFill>
            <a:prstDash val="dash"/>
          </a:ln>
        </p:spPr>
        <p:txBody>
          <a:bodyPr wrap="square">
            <a:spAutoFit/>
          </a:bodyPr>
          <a:lstStyle/>
          <a:p>
            <a:pPr marL="352425" indent="-352425" algn="l" rtl="0">
              <a:lnSpc>
                <a:spcPct val="150000"/>
              </a:lnSpc>
            </a:pPr>
            <a:r>
              <a:rPr lang="en-US" b="1" dirty="0">
                <a:solidFill>
                  <a:schemeClr val="bg2">
                    <a:lumMod val="75000"/>
                  </a:schemeClr>
                </a:solidFill>
                <a:latin typeface="Times New Roman" pitchFamily="18" charset="0"/>
                <a:cs typeface="Times New Roman" pitchFamily="18" charset="0"/>
              </a:rPr>
              <a:t>try { // your code} </a:t>
            </a:r>
          </a:p>
          <a:p>
            <a:pPr marL="352425" indent="-352425" algn="l" rtl="0">
              <a:lnSpc>
                <a:spcPct val="150000"/>
              </a:lnSpc>
            </a:pPr>
            <a:r>
              <a:rPr lang="en-US" b="1" dirty="0">
                <a:solidFill>
                  <a:schemeClr val="bg2">
                    <a:lumMod val="75000"/>
                  </a:schemeClr>
                </a:solidFill>
                <a:latin typeface="Times New Roman" pitchFamily="18" charset="0"/>
                <a:cs typeface="Times New Roman" pitchFamily="18" charset="0"/>
              </a:rPr>
              <a:t>catch (….) { …….} </a:t>
            </a:r>
          </a:p>
          <a:p>
            <a:pPr marL="352425" indent="-352425" algn="l" rtl="0">
              <a:lnSpc>
                <a:spcPct val="150000"/>
              </a:lnSpc>
            </a:pPr>
            <a:r>
              <a:rPr lang="en-US" b="1" dirty="0">
                <a:solidFill>
                  <a:schemeClr val="bg2">
                    <a:lumMod val="75000"/>
                  </a:schemeClr>
                </a:solidFill>
                <a:latin typeface="Times New Roman" pitchFamily="18" charset="0"/>
                <a:cs typeface="Times New Roman" pitchFamily="18" charset="0"/>
              </a:rPr>
              <a:t>catch (….) { …… } </a:t>
            </a:r>
          </a:p>
        </p:txBody>
      </p:sp>
      <p:sp>
        <p:nvSpPr>
          <p:cNvPr id="6" name="Rectangle 5">
            <a:extLst>
              <a:ext uri="{FF2B5EF4-FFF2-40B4-BE49-F238E27FC236}">
                <a16:creationId xmlns:a16="http://schemas.microsoft.com/office/drawing/2014/main" id="{06336DF9-4502-78C2-D024-7CC638D460E4}"/>
              </a:ext>
            </a:extLst>
          </p:cNvPr>
          <p:cNvSpPr/>
          <p:nvPr/>
        </p:nvSpPr>
        <p:spPr>
          <a:xfrm>
            <a:off x="361362" y="4289960"/>
            <a:ext cx="7786742" cy="2169825"/>
          </a:xfrm>
          <a:prstGeom prst="rect">
            <a:avLst/>
          </a:prstGeom>
        </p:spPr>
        <p:txBody>
          <a:bodyPr wrap="square">
            <a:spAutoFit/>
          </a:bodyPr>
          <a:lstStyle/>
          <a:p>
            <a:pPr marL="285750" indent="-285750" algn="just" rtl="0">
              <a:lnSpc>
                <a:spcPct val="150000"/>
              </a:lnSpc>
              <a:buFont typeface="Wingdings" panose="05000000000000000000" pitchFamily="2" charset="2"/>
              <a:buChar char="§"/>
            </a:pPr>
            <a:r>
              <a:rPr lang="en-US" dirty="0">
                <a:solidFill>
                  <a:schemeClr val="tx1">
                    <a:lumMod val="75000"/>
                    <a:lumOff val="25000"/>
                  </a:schemeClr>
                </a:solidFill>
                <a:latin typeface="+mj-lt"/>
                <a:cs typeface="Times New Roman" pitchFamily="18" charset="0"/>
              </a:rPr>
              <a:t>The  general form is:</a:t>
            </a:r>
          </a:p>
          <a:p>
            <a:pPr algn="just" rtl="0">
              <a:lnSpc>
                <a:spcPct val="150000"/>
              </a:lnSpc>
            </a:pPr>
            <a:r>
              <a:rPr lang="en-US" b="1" dirty="0">
                <a:solidFill>
                  <a:schemeClr val="bg2">
                    <a:lumMod val="75000"/>
                  </a:schemeClr>
                </a:solidFill>
                <a:latin typeface="+mj-lt"/>
                <a:cs typeface="Times New Roman" pitchFamily="18" charset="0"/>
              </a:rPr>
              <a:t>catch (</a:t>
            </a:r>
            <a:r>
              <a:rPr lang="en-US" b="1" dirty="0" err="1">
                <a:solidFill>
                  <a:schemeClr val="bg2">
                    <a:lumMod val="75000"/>
                  </a:schemeClr>
                </a:solidFill>
                <a:latin typeface="+mj-lt"/>
                <a:cs typeface="Times New Roman" pitchFamily="18" charset="0"/>
              </a:rPr>
              <a:t>SomeException</a:t>
            </a:r>
            <a:r>
              <a:rPr lang="en-US" b="1" dirty="0">
                <a:solidFill>
                  <a:schemeClr val="bg2">
                    <a:lumMod val="75000"/>
                  </a:schemeClr>
                </a:solidFill>
                <a:latin typeface="+mj-lt"/>
                <a:cs typeface="Times New Roman" pitchFamily="18" charset="0"/>
              </a:rPr>
              <a:t> </a:t>
            </a:r>
            <a:r>
              <a:rPr lang="en-US" b="1" dirty="0" err="1">
                <a:solidFill>
                  <a:schemeClr val="bg2">
                    <a:lumMod val="75000"/>
                  </a:schemeClr>
                </a:solidFill>
                <a:latin typeface="+mj-lt"/>
                <a:cs typeface="Times New Roman" pitchFamily="18" charset="0"/>
              </a:rPr>
              <a:t>variableName</a:t>
            </a:r>
            <a:r>
              <a:rPr lang="en-US" b="1" dirty="0">
                <a:solidFill>
                  <a:schemeClr val="bg2">
                    <a:lumMod val="75000"/>
                  </a:schemeClr>
                </a:solidFill>
                <a:latin typeface="+mj-lt"/>
                <a:cs typeface="Times New Roman" pitchFamily="18" charset="0"/>
              </a:rPr>
              <a:t>) {</a:t>
            </a:r>
          </a:p>
          <a:p>
            <a:pPr algn="just" rtl="0">
              <a:lnSpc>
                <a:spcPct val="150000"/>
              </a:lnSpc>
            </a:pPr>
            <a:r>
              <a:rPr lang="en-US" dirty="0">
                <a:latin typeface="+mj-lt"/>
                <a:cs typeface="Times New Roman" pitchFamily="18" charset="0"/>
              </a:rPr>
              <a:t>    // your exceptional handler</a:t>
            </a:r>
          </a:p>
          <a:p>
            <a:pPr algn="just" rtl="0">
              <a:lnSpc>
                <a:spcPct val="150000"/>
              </a:lnSpc>
            </a:pPr>
            <a:r>
              <a:rPr lang="en-US" dirty="0">
                <a:latin typeface="+mj-lt"/>
                <a:cs typeface="Times New Roman" pitchFamily="18" charset="0"/>
              </a:rPr>
              <a:t>    // codes for handling the occurrence of Some Exception</a:t>
            </a:r>
          </a:p>
          <a:p>
            <a:pPr algn="just" rtl="0">
              <a:lnSpc>
                <a:spcPct val="150000"/>
              </a:lnSpc>
            </a:pPr>
            <a:r>
              <a:rPr lang="en-US" b="1" dirty="0">
                <a:solidFill>
                  <a:schemeClr val="bg2">
                    <a:lumMod val="75000"/>
                  </a:schemeClr>
                </a:solidFill>
                <a:latin typeface="+mj-lt"/>
                <a:cs typeface="Times New Roman" pitchFamily="18" charset="0"/>
              </a:rPr>
              <a:t>}</a:t>
            </a:r>
          </a:p>
        </p:txBody>
      </p:sp>
    </p:spTree>
    <p:extLst>
      <p:ext uri="{BB962C8B-B14F-4D97-AF65-F5344CB8AC3E}">
        <p14:creationId xmlns:p14="http://schemas.microsoft.com/office/powerpoint/2010/main" val="268144584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Syntax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fontScale="92500"/>
          </a:bodyPr>
          <a:lstStyle/>
          <a:p>
            <a:pPr marL="285750" indent="-285750">
              <a:lnSpc>
                <a:spcPct val="150000"/>
              </a:lnSpc>
            </a:pPr>
            <a:r>
              <a:rPr lang="en-US" b="1" dirty="0">
                <a:solidFill>
                  <a:schemeClr val="bg2">
                    <a:lumMod val="75000"/>
                  </a:schemeClr>
                </a:solidFill>
                <a:latin typeface="+mj-lt"/>
                <a:cs typeface="Times New Roman" pitchFamily="18" charset="0"/>
              </a:rPr>
              <a:t>The catch block </a:t>
            </a:r>
            <a:r>
              <a:rPr lang="en-US" sz="1600" b="1" dirty="0">
                <a:solidFill>
                  <a:schemeClr val="tx1">
                    <a:lumMod val="65000"/>
                    <a:lumOff val="35000"/>
                  </a:schemeClr>
                </a:solidFill>
                <a:latin typeface="+mj-lt"/>
                <a:cs typeface="Times New Roman" pitchFamily="18" charset="0"/>
              </a:rPr>
              <a:t>:</a:t>
            </a:r>
            <a:r>
              <a:rPr lang="en-US" sz="2200" dirty="0">
                <a:latin typeface="+mj-lt"/>
                <a:cs typeface="Times New Roman" pitchFamily="18" charset="0"/>
              </a:rPr>
              <a:t>The catch block contains a series of legal Java statements, and these statements are executed if the exception handler is invoked.</a:t>
            </a:r>
          </a:p>
          <a:p>
            <a:pPr marL="285750" indent="-285750">
              <a:lnSpc>
                <a:spcPct val="150000"/>
              </a:lnSpc>
            </a:pPr>
            <a:r>
              <a:rPr lang="en-US" altLang="ar-JO" sz="2200" dirty="0"/>
              <a:t>The Steps are :</a:t>
            </a:r>
          </a:p>
          <a:p>
            <a:pPr marL="882900" lvl="1" indent="-342900" algn="just">
              <a:lnSpc>
                <a:spcPct val="150000"/>
              </a:lnSpc>
              <a:buFont typeface="Wingdings" panose="05000000000000000000" pitchFamily="2" charset="2"/>
              <a:buChar char="q"/>
            </a:pPr>
            <a:r>
              <a:rPr lang="en-US" dirty="0">
                <a:latin typeface="+mj-lt"/>
                <a:cs typeface="Times New Roman" pitchFamily="18" charset="0"/>
              </a:rPr>
              <a:t>when an exception occurs in the try block. </a:t>
            </a:r>
          </a:p>
          <a:p>
            <a:pPr marL="882900" lvl="1" indent="-342900" algn="just">
              <a:lnSpc>
                <a:spcPct val="150000"/>
              </a:lnSpc>
              <a:buFont typeface="Wingdings" panose="05000000000000000000" pitchFamily="2" charset="2"/>
              <a:buChar char="q"/>
            </a:pPr>
            <a:r>
              <a:rPr lang="en-US" dirty="0">
                <a:latin typeface="+mj-lt"/>
                <a:cs typeface="Times New Roman" pitchFamily="18" charset="0"/>
              </a:rPr>
              <a:t>The exception matches an exception declared in the catch. </a:t>
            </a:r>
          </a:p>
          <a:p>
            <a:pPr marL="882900" lvl="1" indent="-342900" algn="just">
              <a:lnSpc>
                <a:spcPct val="150000"/>
              </a:lnSpc>
              <a:buFont typeface="Wingdings" panose="05000000000000000000" pitchFamily="2" charset="2"/>
              <a:buChar char="q"/>
            </a:pPr>
            <a:r>
              <a:rPr lang="en-US" dirty="0">
                <a:latin typeface="+mj-lt"/>
                <a:cs typeface="Times New Roman" pitchFamily="18" charset="0"/>
              </a:rPr>
              <a:t>The code inside the catch block will be executed. </a:t>
            </a:r>
          </a:p>
          <a:p>
            <a:pPr marL="882900" lvl="1" indent="-342900" algn="just">
              <a:lnSpc>
                <a:spcPct val="150000"/>
              </a:lnSpc>
              <a:buFont typeface="Wingdings" panose="05000000000000000000" pitchFamily="2" charset="2"/>
              <a:buChar char="q"/>
            </a:pPr>
            <a:r>
              <a:rPr lang="en-US" dirty="0">
                <a:latin typeface="+mj-lt"/>
                <a:cs typeface="Times New Roman" pitchFamily="18" charset="0"/>
              </a:rPr>
              <a:t>After the statements inside the catch block are executed, the flow of the program leaves the whole try-catch block. </a:t>
            </a:r>
          </a:p>
          <a:p>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020067925"/>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Syntax </a:t>
            </a:r>
            <a:endParaRPr lang="en-US" dirty="0"/>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fontScale="92500"/>
          </a:bodyPr>
          <a:lstStyle/>
          <a:p>
            <a:pPr marL="285750" indent="-285750">
              <a:lnSpc>
                <a:spcPct val="150000"/>
              </a:lnSpc>
            </a:pPr>
            <a:r>
              <a:rPr lang="en-US" sz="2800" dirty="0">
                <a:solidFill>
                  <a:schemeClr val="bg2">
                    <a:lumMod val="75000"/>
                  </a:schemeClr>
                </a:solidFill>
                <a:latin typeface="+mj-lt"/>
                <a:cs typeface="Times New Roman" pitchFamily="18" charset="0"/>
              </a:rPr>
              <a:t>The finally block </a:t>
            </a:r>
            <a:r>
              <a:rPr lang="en-US" sz="2800" dirty="0">
                <a:solidFill>
                  <a:schemeClr val="tx1">
                    <a:lumMod val="65000"/>
                    <a:lumOff val="35000"/>
                  </a:schemeClr>
                </a:solidFill>
                <a:latin typeface="+mj-lt"/>
                <a:cs typeface="Times New Roman" pitchFamily="18" charset="0"/>
              </a:rPr>
              <a:t>:</a:t>
            </a:r>
            <a:endParaRPr lang="en-US" altLang="en-US" sz="2800" dirty="0">
              <a:solidFill>
                <a:schemeClr val="tx1">
                  <a:lumMod val="65000"/>
                  <a:lumOff val="35000"/>
                </a:schemeClr>
              </a:solidFill>
              <a:latin typeface="+mj-lt"/>
              <a:cs typeface="Times New Roman" pitchFamily="18" charset="0"/>
            </a:endParaRPr>
          </a:p>
          <a:p>
            <a:pPr marL="997200" lvl="1" indent="-457200" algn="just">
              <a:lnSpc>
                <a:spcPct val="150000"/>
              </a:lnSpc>
              <a:buFont typeface="Wingdings" panose="05000000000000000000" pitchFamily="2" charset="2"/>
              <a:buChar char="q"/>
            </a:pPr>
            <a:r>
              <a:rPr lang="en-US" sz="2400" dirty="0">
                <a:cs typeface="Times New Roman" pitchFamily="18" charset="0"/>
              </a:rPr>
              <a:t>The </a:t>
            </a:r>
            <a:r>
              <a:rPr lang="en-US" sz="2400" dirty="0">
                <a:solidFill>
                  <a:schemeClr val="bg2">
                    <a:lumMod val="75000"/>
                  </a:schemeClr>
                </a:solidFill>
                <a:cs typeface="Times New Roman" pitchFamily="18" charset="0"/>
              </a:rPr>
              <a:t>finally</a:t>
            </a:r>
            <a:r>
              <a:rPr lang="en-US" sz="2400" dirty="0">
                <a:cs typeface="Times New Roman" pitchFamily="18" charset="0"/>
              </a:rPr>
              <a:t> keyword is used to create a block of code that follows a try block. </a:t>
            </a:r>
          </a:p>
          <a:p>
            <a:pPr marL="997200" lvl="1" indent="-457200" algn="just">
              <a:lnSpc>
                <a:spcPct val="150000"/>
              </a:lnSpc>
              <a:buFont typeface="Wingdings" panose="05000000000000000000" pitchFamily="2" charset="2"/>
              <a:buChar char="q"/>
            </a:pPr>
            <a:r>
              <a:rPr lang="en-US" sz="2400" dirty="0">
                <a:cs typeface="Times New Roman" pitchFamily="18" charset="0"/>
              </a:rPr>
              <a:t>A </a:t>
            </a:r>
            <a:r>
              <a:rPr lang="en-US" sz="2400" dirty="0">
                <a:solidFill>
                  <a:schemeClr val="bg2">
                    <a:lumMod val="75000"/>
                  </a:schemeClr>
                </a:solidFill>
                <a:cs typeface="Times New Roman" pitchFamily="18" charset="0"/>
              </a:rPr>
              <a:t>finally</a:t>
            </a:r>
            <a:r>
              <a:rPr lang="en-US" sz="2400" dirty="0">
                <a:cs typeface="Times New Roman" pitchFamily="18" charset="0"/>
              </a:rPr>
              <a:t> block of code always executes, whether or not an exception has occurred.</a:t>
            </a:r>
          </a:p>
          <a:p>
            <a:pPr marL="997200" lvl="1" indent="-457200" algn="just">
              <a:lnSpc>
                <a:spcPct val="150000"/>
              </a:lnSpc>
              <a:buFont typeface="Wingdings" panose="05000000000000000000" pitchFamily="2" charset="2"/>
              <a:buChar char="q"/>
            </a:pPr>
            <a:r>
              <a:rPr lang="en-US" sz="2400" dirty="0">
                <a:cs typeface="Times New Roman" pitchFamily="18" charset="0"/>
              </a:rPr>
              <a:t>Using a </a:t>
            </a:r>
            <a:r>
              <a:rPr lang="en-US" sz="2400" dirty="0">
                <a:solidFill>
                  <a:schemeClr val="bg2">
                    <a:lumMod val="75000"/>
                  </a:schemeClr>
                </a:solidFill>
                <a:cs typeface="Times New Roman" pitchFamily="18" charset="0"/>
              </a:rPr>
              <a:t>finally</a:t>
            </a:r>
            <a:r>
              <a:rPr lang="en-US" sz="2400" dirty="0">
                <a:cs typeface="Times New Roman" pitchFamily="18" charset="0"/>
              </a:rPr>
              <a:t> block allows you to run any cleanup-type statements that you want to execute, no matter what happens in the protected code. </a:t>
            </a:r>
          </a:p>
          <a:p>
            <a:pPr marL="997200" lvl="1" indent="-457200" algn="just">
              <a:lnSpc>
                <a:spcPct val="150000"/>
              </a:lnSpc>
              <a:buFont typeface="Wingdings" panose="05000000000000000000" pitchFamily="2" charset="2"/>
              <a:buChar char="q"/>
            </a:pPr>
            <a:r>
              <a:rPr lang="en-US" sz="2400" dirty="0">
                <a:cs typeface="Times New Roman" pitchFamily="18" charset="0"/>
              </a:rPr>
              <a:t>A </a:t>
            </a:r>
            <a:r>
              <a:rPr lang="en-US" sz="2400" dirty="0">
                <a:solidFill>
                  <a:schemeClr val="bg2">
                    <a:lumMod val="75000"/>
                  </a:schemeClr>
                </a:solidFill>
                <a:cs typeface="Times New Roman" pitchFamily="18" charset="0"/>
              </a:rPr>
              <a:t>finally</a:t>
            </a:r>
            <a:r>
              <a:rPr lang="en-US" sz="2400" dirty="0">
                <a:cs typeface="Times New Roman" pitchFamily="18" charset="0"/>
              </a:rPr>
              <a:t> block appears at the end of the catch blocks and has the following syntax (see next slide).</a:t>
            </a:r>
          </a:p>
          <a:p>
            <a:pPr marL="285750" indent="-285750">
              <a:lnSpc>
                <a:spcPct val="150000"/>
              </a:lnSpc>
            </a:pPr>
            <a:endParaRPr lang="en-US" altLang="en-US" b="1"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870229019"/>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Syntax </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7">
            <a:extLst>
              <a:ext uri="{FF2B5EF4-FFF2-40B4-BE49-F238E27FC236}">
                <a16:creationId xmlns:a16="http://schemas.microsoft.com/office/drawing/2014/main" id="{3200DE63-C9A4-A6E6-C904-29A9F9C4AF60}"/>
              </a:ext>
            </a:extLst>
          </p:cNvPr>
          <p:cNvSpPr/>
          <p:nvPr/>
        </p:nvSpPr>
        <p:spPr>
          <a:xfrm>
            <a:off x="581449" y="1863387"/>
            <a:ext cx="7996416" cy="4247317"/>
          </a:xfrm>
          <a:prstGeom prst="rect">
            <a:avLst/>
          </a:prstGeom>
          <a:ln w="3175">
            <a:solidFill>
              <a:schemeClr val="tx1"/>
            </a:solidFill>
            <a:prstDash val="dash"/>
          </a:ln>
        </p:spPr>
        <p:txBody>
          <a:bodyPr wrap="square">
            <a:spAutoFit/>
          </a:bodyPr>
          <a:lstStyle/>
          <a:p>
            <a:pPr marL="352425" indent="-352425" algn="l" rtl="0">
              <a:lnSpc>
                <a:spcPct val="150000"/>
              </a:lnSpc>
            </a:pPr>
            <a:r>
              <a:rPr lang="en-US" b="1" dirty="0">
                <a:solidFill>
                  <a:srgbClr val="C00000"/>
                </a:solidFill>
                <a:latin typeface="Times New Roman" pitchFamily="18" charset="0"/>
                <a:cs typeface="Times New Roman" pitchFamily="18" charset="0"/>
              </a:rPr>
              <a:t>try {</a:t>
            </a:r>
          </a:p>
          <a:p>
            <a:pPr marL="352425" indent="-352425" algn="l" rtl="0">
              <a:lnSpc>
                <a:spcPct val="150000"/>
              </a:lnSpc>
            </a:pPr>
            <a:r>
              <a:rPr lang="en-US" b="1" dirty="0">
                <a:latin typeface="Times New Roman" pitchFamily="18" charset="0"/>
                <a:cs typeface="Times New Roman" pitchFamily="18" charset="0"/>
              </a:rPr>
              <a:t>    // your code</a:t>
            </a:r>
          </a:p>
          <a:p>
            <a:pPr marL="352425" indent="-352425" algn="l" rtl="0">
              <a:lnSpc>
                <a:spcPct val="150000"/>
              </a:lnSpc>
            </a:pPr>
            <a:r>
              <a:rPr lang="en-US" b="1" dirty="0">
                <a:solidFill>
                  <a:srgbClr val="C00000"/>
                </a:solidFill>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catch (</a:t>
            </a:r>
            <a:r>
              <a:rPr lang="en-US" b="1" dirty="0" err="1">
                <a:solidFill>
                  <a:srgbClr val="000099"/>
                </a:solidFill>
                <a:latin typeface="Times New Roman" pitchFamily="18" charset="0"/>
                <a:cs typeface="Times New Roman" pitchFamily="18" charset="0"/>
              </a:rPr>
              <a:t>FirstException</a:t>
            </a:r>
            <a:r>
              <a:rPr lang="en-US" b="1" dirty="0">
                <a:solidFill>
                  <a:srgbClr val="000099"/>
                </a:solidFill>
                <a:latin typeface="Times New Roman" pitchFamily="18" charset="0"/>
                <a:cs typeface="Times New Roman" pitchFamily="18" charset="0"/>
              </a:rPr>
              <a:t> ex) {</a:t>
            </a:r>
          </a:p>
          <a:p>
            <a:pPr marL="352425" indent="-352425" algn="l" rtl="0">
              <a:lnSpc>
                <a:spcPct val="150000"/>
              </a:lnSpc>
            </a:pPr>
            <a:r>
              <a:rPr lang="en-US" b="1" dirty="0">
                <a:latin typeface="Times New Roman" pitchFamily="18" charset="0"/>
                <a:cs typeface="Times New Roman" pitchFamily="18" charset="0"/>
              </a:rPr>
              <a:t>    // your code for handling the occurrence of </a:t>
            </a:r>
            <a:r>
              <a:rPr lang="en-US" b="1" dirty="0" err="1">
                <a:latin typeface="Times New Roman" pitchFamily="18" charset="0"/>
                <a:cs typeface="Times New Roman" pitchFamily="18" charset="0"/>
              </a:rPr>
              <a:t>FirstException</a:t>
            </a:r>
            <a:endParaRPr lang="en-US" b="1" dirty="0">
              <a:latin typeface="Times New Roman" pitchFamily="18" charset="0"/>
              <a:cs typeface="Times New Roman" pitchFamily="18" charset="0"/>
            </a:endParaRPr>
          </a:p>
          <a:p>
            <a:pPr marL="352425" indent="-352425" algn="l" rtl="0">
              <a:lnSpc>
                <a:spcPct val="150000"/>
              </a:lnSpc>
            </a:pPr>
            <a:r>
              <a:rPr lang="en-US" b="1" dirty="0">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catch (</a:t>
            </a:r>
            <a:r>
              <a:rPr lang="en-US" b="1" dirty="0" err="1">
                <a:solidFill>
                  <a:srgbClr val="000099"/>
                </a:solidFill>
                <a:latin typeface="Times New Roman" pitchFamily="18" charset="0"/>
                <a:cs typeface="Times New Roman" pitchFamily="18" charset="0"/>
              </a:rPr>
              <a:t>SecondException</a:t>
            </a:r>
            <a:r>
              <a:rPr lang="en-US" b="1" dirty="0">
                <a:solidFill>
                  <a:srgbClr val="000099"/>
                </a:solidFill>
                <a:latin typeface="Times New Roman" pitchFamily="18" charset="0"/>
                <a:cs typeface="Times New Roman" pitchFamily="18" charset="0"/>
              </a:rPr>
              <a:t> ex) {</a:t>
            </a:r>
          </a:p>
          <a:p>
            <a:pPr marL="352425" indent="-352425" algn="l" rtl="0">
              <a:lnSpc>
                <a:spcPct val="150000"/>
              </a:lnSpc>
            </a:pPr>
            <a:r>
              <a:rPr lang="en-US" b="1" dirty="0">
                <a:latin typeface="Times New Roman" pitchFamily="18" charset="0"/>
                <a:cs typeface="Times New Roman" pitchFamily="18" charset="0"/>
              </a:rPr>
              <a:t>    // your code for handling the occurrence of </a:t>
            </a:r>
            <a:r>
              <a:rPr lang="en-US" b="1" dirty="0" err="1">
                <a:latin typeface="Times New Roman" pitchFamily="18" charset="0"/>
                <a:cs typeface="Times New Roman" pitchFamily="18" charset="0"/>
              </a:rPr>
              <a:t>SecondException</a:t>
            </a:r>
            <a:endParaRPr lang="en-US" b="1" dirty="0">
              <a:latin typeface="Times New Roman" pitchFamily="18" charset="0"/>
              <a:cs typeface="Times New Roman" pitchFamily="18" charset="0"/>
            </a:endParaRPr>
          </a:p>
          <a:p>
            <a:pPr marL="352425" indent="-352425" algn="l" rtl="0">
              <a:lnSpc>
                <a:spcPct val="150000"/>
              </a:lnSpc>
            </a:pPr>
            <a:r>
              <a:rPr lang="en-US" b="1" dirty="0">
                <a:solidFill>
                  <a:srgbClr val="000099"/>
                </a:solidFill>
                <a:latin typeface="Times New Roman" pitchFamily="18" charset="0"/>
                <a:cs typeface="Times New Roman" pitchFamily="18" charset="0"/>
              </a:rPr>
              <a:t>catch (</a:t>
            </a:r>
            <a:r>
              <a:rPr lang="en-US" b="1" dirty="0" err="1">
                <a:solidFill>
                  <a:srgbClr val="000099"/>
                </a:solidFill>
                <a:latin typeface="Times New Roman" pitchFamily="18" charset="0"/>
                <a:cs typeface="Times New Roman" pitchFamily="18" charset="0"/>
              </a:rPr>
              <a:t>SecondException</a:t>
            </a:r>
            <a:r>
              <a:rPr lang="en-US" b="1" dirty="0">
                <a:solidFill>
                  <a:srgbClr val="000099"/>
                </a:solidFill>
                <a:latin typeface="Times New Roman" pitchFamily="18" charset="0"/>
                <a:cs typeface="Times New Roman" pitchFamily="18" charset="0"/>
              </a:rPr>
              <a:t> ex) {</a:t>
            </a:r>
          </a:p>
          <a:p>
            <a:pPr marL="352425" indent="-352425" algn="l" rtl="0">
              <a:lnSpc>
                <a:spcPct val="150000"/>
              </a:lnSpc>
            </a:pPr>
            <a:r>
              <a:rPr lang="en-US" b="1" dirty="0">
                <a:latin typeface="Times New Roman" pitchFamily="18" charset="0"/>
                <a:cs typeface="Times New Roman" pitchFamily="18" charset="0"/>
              </a:rPr>
              <a:t>    // your code for handling the occurrence of </a:t>
            </a:r>
            <a:r>
              <a:rPr lang="en-US" b="1" dirty="0" err="1">
                <a:latin typeface="Times New Roman" pitchFamily="18" charset="0"/>
                <a:cs typeface="Times New Roman" pitchFamily="18" charset="0"/>
              </a:rPr>
              <a:t>SecondException</a:t>
            </a:r>
            <a:endParaRPr lang="en-US" b="1" dirty="0">
              <a:latin typeface="Times New Roman" pitchFamily="18" charset="0"/>
              <a:cs typeface="Times New Roman" pitchFamily="18" charset="0"/>
            </a:endParaRPr>
          </a:p>
          <a:p>
            <a:pPr marL="352425" indent="-352425" algn="l" rtl="0">
              <a:lnSpc>
                <a:spcPct val="150000"/>
              </a:lnSpc>
            </a:pPr>
            <a:r>
              <a:rPr lang="en-US" b="1" dirty="0">
                <a:latin typeface="Times New Roman" pitchFamily="18" charset="0"/>
                <a:cs typeface="Times New Roman" pitchFamily="18" charset="0"/>
              </a:rPr>
              <a:t>} </a:t>
            </a:r>
            <a:r>
              <a:rPr lang="en-US" b="1" dirty="0">
                <a:solidFill>
                  <a:srgbClr val="000099"/>
                </a:solidFill>
                <a:latin typeface="Times New Roman" pitchFamily="18" charset="0"/>
                <a:cs typeface="Times New Roman" pitchFamily="18" charset="0"/>
              </a:rPr>
              <a:t>finally </a:t>
            </a:r>
            <a:r>
              <a:rPr lang="en-US" b="1" dirty="0">
                <a:latin typeface="Times New Roman" pitchFamily="18" charset="0"/>
                <a:cs typeface="Times New Roman" pitchFamily="18" charset="0"/>
              </a:rPr>
              <a:t>{</a:t>
            </a:r>
          </a:p>
          <a:p>
            <a:pPr marL="352425" indent="-352425" algn="l" rtl="0">
              <a:lnSpc>
                <a:spcPct val="150000"/>
              </a:lnSpc>
            </a:pPr>
            <a:r>
              <a:rPr lang="en-US" dirty="0"/>
              <a:t>  </a:t>
            </a:r>
            <a:r>
              <a:rPr lang="en-US" b="1" dirty="0">
                <a:latin typeface="Times New Roman" pitchFamily="18" charset="0"/>
                <a:cs typeface="Times New Roman" pitchFamily="18" charset="0"/>
              </a:rPr>
              <a:t>//The finally block always executes }</a:t>
            </a:r>
          </a:p>
        </p:txBody>
      </p:sp>
    </p:spTree>
    <p:extLst>
      <p:ext uri="{BB962C8B-B14F-4D97-AF65-F5344CB8AC3E}">
        <p14:creationId xmlns:p14="http://schemas.microsoft.com/office/powerpoint/2010/main" val="1729728843"/>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Steps </a:t>
            </a:r>
            <a:endParaRPr lang="en-US"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
        <p:nvSpPr>
          <p:cNvPr id="8" name="Rectangle 7">
            <a:extLst>
              <a:ext uri="{FF2B5EF4-FFF2-40B4-BE49-F238E27FC236}">
                <a16:creationId xmlns:a16="http://schemas.microsoft.com/office/drawing/2014/main" id="{3200DE63-C9A4-A6E6-C904-29A9F9C4AF60}"/>
              </a:ext>
            </a:extLst>
          </p:cNvPr>
          <p:cNvSpPr/>
          <p:nvPr/>
        </p:nvSpPr>
        <p:spPr>
          <a:xfrm>
            <a:off x="348791" y="1863387"/>
            <a:ext cx="11571460" cy="3897477"/>
          </a:xfrm>
          <a:prstGeom prst="rect">
            <a:avLst/>
          </a:prstGeom>
          <a:ln w="3175">
            <a:solidFill>
              <a:schemeClr val="tx1"/>
            </a:solidFill>
            <a:prstDash val="dash"/>
          </a:ln>
        </p:spPr>
        <p:txBody>
          <a:bodyPr wrap="square">
            <a:spAutoFit/>
          </a:bodyPr>
          <a:lstStyle/>
          <a:p>
            <a:pPr marL="342900" indent="-342900" algn="just" rtl="0">
              <a:lnSpc>
                <a:spcPts val="3000"/>
              </a:lnSpc>
              <a:buFont typeface="Wingdings" panose="05000000000000000000" pitchFamily="2" charset="2"/>
              <a:buChar char="§"/>
            </a:pPr>
            <a:r>
              <a:rPr lang="en-US" dirty="0"/>
              <a:t>Finally will be executed in all cases.</a:t>
            </a:r>
          </a:p>
          <a:p>
            <a:pPr marL="342900" indent="-342900" algn="just" rtl="0">
              <a:lnSpc>
                <a:spcPts val="3000"/>
              </a:lnSpc>
              <a:buFont typeface="Wingdings" panose="05000000000000000000" pitchFamily="2" charset="2"/>
              <a:buChar char="§"/>
            </a:pPr>
            <a:r>
              <a:rPr lang="en-US" dirty="0"/>
              <a:t>If no errors happen……. The catch will not be executed.</a:t>
            </a:r>
          </a:p>
          <a:p>
            <a:pPr marL="342900" indent="-342900" algn="just" rtl="0">
              <a:lnSpc>
                <a:spcPts val="3000"/>
              </a:lnSpc>
              <a:buFont typeface="Wingdings" panose="05000000000000000000" pitchFamily="2" charset="2"/>
              <a:buChar char="§"/>
            </a:pPr>
            <a:r>
              <a:rPr lang="en-US" dirty="0"/>
              <a:t>But, if an error happens and there is a catch statement that can catch the thrown exception:</a:t>
            </a:r>
          </a:p>
          <a:p>
            <a:pPr marL="695325" indent="-342900" algn="just" rtl="0">
              <a:lnSpc>
                <a:spcPts val="3000"/>
              </a:lnSpc>
              <a:buFont typeface="Arial" panose="020B0604020202020204" pitchFamily="34" charset="0"/>
              <a:buChar char="•"/>
            </a:pPr>
            <a:r>
              <a:rPr lang="en-US" dirty="0"/>
              <a:t>Stop executing the try block</a:t>
            </a:r>
          </a:p>
          <a:p>
            <a:pPr marL="695325" indent="-342900" algn="just" rtl="0">
              <a:lnSpc>
                <a:spcPts val="3000"/>
              </a:lnSpc>
              <a:buFont typeface="Arial" panose="020B0604020202020204" pitchFamily="34" charset="0"/>
              <a:buChar char="•"/>
            </a:pPr>
            <a:r>
              <a:rPr lang="en-US" dirty="0"/>
              <a:t>Go directly to catch block</a:t>
            </a:r>
          </a:p>
          <a:p>
            <a:pPr marL="695325" indent="-342900" algn="just" rtl="0">
              <a:lnSpc>
                <a:spcPts val="3000"/>
              </a:lnSpc>
              <a:buFont typeface="Arial" panose="020B0604020202020204" pitchFamily="34" charset="0"/>
              <a:buChar char="•"/>
            </a:pPr>
            <a:r>
              <a:rPr lang="en-US" dirty="0"/>
              <a:t>Search them one by one until finding the proper exception (The same exception or a superclass from it)</a:t>
            </a:r>
          </a:p>
          <a:p>
            <a:pPr marL="695325" indent="-342900" algn="just" rtl="0">
              <a:lnSpc>
                <a:spcPts val="3000"/>
              </a:lnSpc>
              <a:buFont typeface="Arial" panose="020B0604020202020204" pitchFamily="34" charset="0"/>
              <a:buChar char="•"/>
            </a:pPr>
            <a:r>
              <a:rPr lang="en-US" dirty="0"/>
              <a:t>Execute the finally block (if it exists)</a:t>
            </a:r>
          </a:p>
          <a:p>
            <a:pPr marL="695325" indent="-342900" algn="just" rtl="0">
              <a:lnSpc>
                <a:spcPts val="3000"/>
              </a:lnSpc>
              <a:buFont typeface="Arial" panose="020B0604020202020204" pitchFamily="34" charset="0"/>
              <a:buChar char="•"/>
            </a:pPr>
            <a:r>
              <a:rPr lang="en-US" dirty="0"/>
              <a:t>Complete execution after the finally block</a:t>
            </a:r>
          </a:p>
          <a:p>
            <a:pPr marL="342900" indent="-342900" algn="just" rtl="0">
              <a:lnSpc>
                <a:spcPts val="3000"/>
              </a:lnSpc>
              <a:buFont typeface="Wingdings" panose="05000000000000000000" pitchFamily="2" charset="2"/>
              <a:buChar char="§"/>
            </a:pPr>
            <a:r>
              <a:rPr lang="en-US" dirty="0"/>
              <a:t>If an error happens and there is no catch statement that can catch the thrown exception: Propagate back to the calling methods with uncaught exception until reach a proper catch statement or JVM.</a:t>
            </a:r>
          </a:p>
        </p:txBody>
      </p:sp>
    </p:spTree>
    <p:extLst>
      <p:ext uri="{BB962C8B-B14F-4D97-AF65-F5344CB8AC3E}">
        <p14:creationId xmlns:p14="http://schemas.microsoft.com/office/powerpoint/2010/main" val="924811803"/>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a:t>
            </a:r>
            <a:r>
              <a:rPr lang="en-US" altLang="en-US" sz="2400" dirty="0"/>
              <a:t>Example</a:t>
            </a:r>
            <a:endParaRPr lang="en-US" sz="2400"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3" name="Picture 3">
            <a:extLst>
              <a:ext uri="{FF2B5EF4-FFF2-40B4-BE49-F238E27FC236}">
                <a16:creationId xmlns:a16="http://schemas.microsoft.com/office/drawing/2014/main" id="{2484C1D7-848D-9CD2-38EF-BF2A5B41AD31}"/>
              </a:ext>
            </a:extLst>
          </p:cNvPr>
          <p:cNvPicPr>
            <a:picLocks noChangeAspect="1" noChangeArrowheads="1"/>
          </p:cNvPicPr>
          <p:nvPr/>
        </p:nvPicPr>
        <p:blipFill>
          <a:blip r:embed="rId2"/>
          <a:srcRect/>
          <a:stretch>
            <a:fillRect/>
          </a:stretch>
        </p:blipFill>
        <p:spPr bwMode="auto">
          <a:xfrm>
            <a:off x="298250" y="4888148"/>
            <a:ext cx="7429551" cy="1357322"/>
          </a:xfrm>
          <a:prstGeom prst="rect">
            <a:avLst/>
          </a:prstGeom>
          <a:noFill/>
          <a:ln w="3175">
            <a:solidFill>
              <a:srgbClr val="C00000"/>
            </a:solidFill>
            <a:prstDash val="lgDash"/>
            <a:miter lim="800000"/>
            <a:headEnd/>
            <a:tailEnd/>
          </a:ln>
          <a:effectLst/>
        </p:spPr>
      </p:pic>
      <p:pic>
        <p:nvPicPr>
          <p:cNvPr id="5" name="Picture 2">
            <a:extLst>
              <a:ext uri="{FF2B5EF4-FFF2-40B4-BE49-F238E27FC236}">
                <a16:creationId xmlns:a16="http://schemas.microsoft.com/office/drawing/2014/main" id="{63928D82-F19B-108F-D246-5F5B251780F7}"/>
              </a:ext>
            </a:extLst>
          </p:cNvPr>
          <p:cNvPicPr>
            <a:picLocks noChangeAspect="1" noChangeArrowheads="1"/>
          </p:cNvPicPr>
          <p:nvPr/>
        </p:nvPicPr>
        <p:blipFill rotWithShape="1">
          <a:blip r:embed="rId3"/>
          <a:srcRect l="6746"/>
          <a:stretch/>
        </p:blipFill>
        <p:spPr bwMode="auto">
          <a:xfrm>
            <a:off x="55809" y="1772992"/>
            <a:ext cx="7722534" cy="3115156"/>
          </a:xfrm>
          <a:prstGeom prst="rect">
            <a:avLst/>
          </a:prstGeom>
          <a:noFill/>
          <a:ln w="3175">
            <a:solidFill>
              <a:schemeClr val="tx1"/>
            </a:solidFill>
            <a:prstDash val="lgDash"/>
            <a:miter lim="800000"/>
            <a:headEnd/>
            <a:tailEnd/>
          </a:ln>
          <a:effectLst/>
        </p:spPr>
      </p:pic>
      <p:sp>
        <p:nvSpPr>
          <p:cNvPr id="7" name="TextBox 6">
            <a:extLst>
              <a:ext uri="{FF2B5EF4-FFF2-40B4-BE49-F238E27FC236}">
                <a16:creationId xmlns:a16="http://schemas.microsoft.com/office/drawing/2014/main" id="{756A0B87-4E77-BEFB-50BE-75DFEE18FBE0}"/>
              </a:ext>
            </a:extLst>
          </p:cNvPr>
          <p:cNvSpPr txBox="1"/>
          <p:nvPr/>
        </p:nvSpPr>
        <p:spPr>
          <a:xfrm>
            <a:off x="7778343" y="2018158"/>
            <a:ext cx="4266901" cy="3782061"/>
          </a:xfrm>
          <a:prstGeom prst="rect">
            <a:avLst/>
          </a:prstGeom>
          <a:noFill/>
        </p:spPr>
        <p:txBody>
          <a:bodyPr wrap="square">
            <a:spAutoFit/>
          </a:bodyPr>
          <a:lstStyle/>
          <a:p>
            <a:pPr marL="342900" indent="-342900" algn="just" rtl="0">
              <a:lnSpc>
                <a:spcPct val="150000"/>
              </a:lnSpc>
              <a:buFont typeface="+mj-lt"/>
              <a:buAutoNum type="arabicPeriod"/>
            </a:pPr>
            <a:r>
              <a:rPr lang="en-US" dirty="0">
                <a:latin typeface="+mj-lt"/>
                <a:cs typeface="Times New Roman" pitchFamily="18" charset="0"/>
              </a:rPr>
              <a:t>a/b is 5/0. An </a:t>
            </a:r>
            <a:r>
              <a:rPr lang="en-US" dirty="0" err="1">
                <a:solidFill>
                  <a:schemeClr val="bg2">
                    <a:lumMod val="75000"/>
                  </a:schemeClr>
                </a:solidFill>
                <a:latin typeface="+mj-lt"/>
                <a:cs typeface="Times New Roman" pitchFamily="18" charset="0"/>
              </a:rPr>
              <a:t>ArithmeticException</a:t>
            </a:r>
            <a:r>
              <a:rPr lang="en-US" dirty="0">
                <a:solidFill>
                  <a:schemeClr val="bg2">
                    <a:lumMod val="75000"/>
                  </a:schemeClr>
                </a:solidFill>
                <a:latin typeface="+mj-lt"/>
                <a:cs typeface="Times New Roman" pitchFamily="18" charset="0"/>
              </a:rPr>
              <a:t> </a:t>
            </a:r>
            <a:r>
              <a:rPr lang="en-US" dirty="0">
                <a:latin typeface="+mj-lt"/>
                <a:cs typeface="Times New Roman" pitchFamily="18" charset="0"/>
              </a:rPr>
              <a:t>occurs. </a:t>
            </a:r>
          </a:p>
          <a:p>
            <a:pPr marL="342900" indent="-342900" algn="just" rtl="0">
              <a:lnSpc>
                <a:spcPct val="150000"/>
              </a:lnSpc>
              <a:buFont typeface="+mj-lt"/>
              <a:buAutoNum type="arabicPeriod"/>
            </a:pPr>
            <a:r>
              <a:rPr lang="en-US" dirty="0">
                <a:latin typeface="+mj-lt"/>
                <a:cs typeface="Times New Roman" pitchFamily="18" charset="0"/>
              </a:rPr>
              <a:t>Search through the catch blocks. The first one (and the only one) matches the exception. So the codes in the block are executed.</a:t>
            </a:r>
          </a:p>
          <a:p>
            <a:pPr marL="342900" indent="-342900" algn="just" rtl="0">
              <a:lnSpc>
                <a:spcPct val="150000"/>
              </a:lnSpc>
              <a:buFont typeface="+mj-lt"/>
              <a:buAutoNum type="arabicPeriod"/>
            </a:pPr>
            <a:r>
              <a:rPr lang="en-US" dirty="0">
                <a:latin typeface="+mj-lt"/>
                <a:cs typeface="Times New Roman" pitchFamily="18" charset="0"/>
              </a:rPr>
              <a:t>After the codes are executed. The next code is the code outside the whole try-catch block. </a:t>
            </a:r>
          </a:p>
        </p:txBody>
      </p:sp>
    </p:spTree>
    <p:extLst>
      <p:ext uri="{BB962C8B-B14F-4D97-AF65-F5344CB8AC3E}">
        <p14:creationId xmlns:p14="http://schemas.microsoft.com/office/powerpoint/2010/main" val="35747899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a:t>
            </a:r>
            <a:r>
              <a:rPr lang="en-US" altLang="en-US" sz="2400" dirty="0"/>
              <a:t>Example</a:t>
            </a:r>
            <a:endParaRPr lang="en-US" sz="2400"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6" name="Picture 1">
            <a:extLst>
              <a:ext uri="{FF2B5EF4-FFF2-40B4-BE49-F238E27FC236}">
                <a16:creationId xmlns:a16="http://schemas.microsoft.com/office/drawing/2014/main" id="{E0F20146-401B-AB9C-64EF-A9B1A6821D05}"/>
              </a:ext>
            </a:extLst>
          </p:cNvPr>
          <p:cNvPicPr>
            <a:picLocks noChangeAspect="1" noChangeArrowheads="1"/>
          </p:cNvPicPr>
          <p:nvPr/>
        </p:nvPicPr>
        <p:blipFill rotWithShape="1">
          <a:blip r:embed="rId2"/>
          <a:srcRect l="7336"/>
          <a:stretch/>
        </p:blipFill>
        <p:spPr bwMode="auto">
          <a:xfrm>
            <a:off x="348791" y="1918851"/>
            <a:ext cx="7252848" cy="3116788"/>
          </a:xfrm>
          <a:prstGeom prst="rect">
            <a:avLst/>
          </a:prstGeom>
          <a:noFill/>
          <a:ln w="3175">
            <a:solidFill>
              <a:schemeClr val="tx1"/>
            </a:solidFill>
            <a:prstDash val="lgDash"/>
            <a:miter lim="800000"/>
            <a:headEnd/>
            <a:tailEnd/>
          </a:ln>
          <a:effectLst/>
        </p:spPr>
      </p:pic>
      <p:pic>
        <p:nvPicPr>
          <p:cNvPr id="8" name="Picture 2">
            <a:extLst>
              <a:ext uri="{FF2B5EF4-FFF2-40B4-BE49-F238E27FC236}">
                <a16:creationId xmlns:a16="http://schemas.microsoft.com/office/drawing/2014/main" id="{8059201B-FC6E-C8D7-E05E-853DF4940722}"/>
              </a:ext>
            </a:extLst>
          </p:cNvPr>
          <p:cNvPicPr>
            <a:picLocks noChangeAspect="1" noChangeArrowheads="1"/>
          </p:cNvPicPr>
          <p:nvPr/>
        </p:nvPicPr>
        <p:blipFill>
          <a:blip r:embed="rId3"/>
          <a:srcRect/>
          <a:stretch>
            <a:fillRect/>
          </a:stretch>
        </p:blipFill>
        <p:spPr bwMode="auto">
          <a:xfrm>
            <a:off x="284473" y="5120641"/>
            <a:ext cx="7356833" cy="1143008"/>
          </a:xfrm>
          <a:prstGeom prst="rect">
            <a:avLst/>
          </a:prstGeom>
          <a:noFill/>
          <a:ln w="3175">
            <a:solidFill>
              <a:srgbClr val="C00000"/>
            </a:solidFill>
            <a:prstDash val="lgDash"/>
            <a:miter lim="800000"/>
            <a:headEnd/>
            <a:tailEnd/>
          </a:ln>
          <a:effectLst/>
        </p:spPr>
      </p:pic>
      <p:sp>
        <p:nvSpPr>
          <p:cNvPr id="10" name="TextBox 9">
            <a:extLst>
              <a:ext uri="{FF2B5EF4-FFF2-40B4-BE49-F238E27FC236}">
                <a16:creationId xmlns:a16="http://schemas.microsoft.com/office/drawing/2014/main" id="{E8CF0C75-0A61-237E-E613-F1C919FD6041}"/>
              </a:ext>
            </a:extLst>
          </p:cNvPr>
          <p:cNvSpPr txBox="1"/>
          <p:nvPr/>
        </p:nvSpPr>
        <p:spPr>
          <a:xfrm>
            <a:off x="7714445" y="1918851"/>
            <a:ext cx="4116193" cy="2949525"/>
          </a:xfrm>
          <a:prstGeom prst="rect">
            <a:avLst/>
          </a:prstGeom>
          <a:noFill/>
        </p:spPr>
        <p:txBody>
          <a:bodyPr wrap="square">
            <a:spAutoFit/>
          </a:bodyPr>
          <a:lstStyle/>
          <a:p>
            <a:pPr marL="342900" indent="-342900" algn="just" rtl="0">
              <a:lnSpc>
                <a:spcPct val="150000"/>
              </a:lnSpc>
              <a:buFont typeface="+mj-lt"/>
              <a:buAutoNum type="arabicPeriod"/>
            </a:pPr>
            <a:r>
              <a:rPr lang="en-US" dirty="0" err="1">
                <a:solidFill>
                  <a:schemeClr val="bg2">
                    <a:lumMod val="75000"/>
                  </a:schemeClr>
                </a:solidFill>
                <a:latin typeface="+mj-lt"/>
                <a:cs typeface="Times New Roman" pitchFamily="18" charset="0"/>
              </a:rPr>
              <a:t>ArrayIndexOutOfBoundsException</a:t>
            </a:r>
            <a:r>
              <a:rPr lang="en-US" dirty="0">
                <a:latin typeface="+mj-lt"/>
                <a:cs typeface="Times New Roman" pitchFamily="18" charset="0"/>
              </a:rPr>
              <a:t> occurs in the try block. </a:t>
            </a:r>
          </a:p>
          <a:p>
            <a:pPr marL="342900" indent="-342900" algn="just" rtl="0">
              <a:lnSpc>
                <a:spcPct val="150000"/>
              </a:lnSpc>
              <a:buFont typeface="+mj-lt"/>
              <a:buAutoNum type="arabicPeriod"/>
            </a:pPr>
            <a:r>
              <a:rPr lang="en-US" dirty="0">
                <a:latin typeface="+mj-lt"/>
                <a:cs typeface="Times New Roman" pitchFamily="18" charset="0"/>
              </a:rPr>
              <a:t>compare the exceptions in the catch blocks. The first one is matched.</a:t>
            </a:r>
          </a:p>
          <a:p>
            <a:pPr marL="342900" indent="-342900" algn="just" rtl="0">
              <a:lnSpc>
                <a:spcPct val="150000"/>
              </a:lnSpc>
              <a:buFont typeface="+mj-lt"/>
              <a:buAutoNum type="arabicPeriod"/>
            </a:pPr>
            <a:r>
              <a:rPr lang="en-US" dirty="0">
                <a:latin typeface="+mj-lt"/>
                <a:cs typeface="Times New Roman" pitchFamily="18" charset="0"/>
              </a:rPr>
              <a:t>The codes inside the catch block are executed.</a:t>
            </a:r>
          </a:p>
        </p:txBody>
      </p:sp>
    </p:spTree>
    <p:extLst>
      <p:ext uri="{BB962C8B-B14F-4D97-AF65-F5344CB8AC3E}">
        <p14:creationId xmlns:p14="http://schemas.microsoft.com/office/powerpoint/2010/main" val="1325476760"/>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altLang="en-US" dirty="0"/>
              <a:t>Try and Catch: </a:t>
            </a:r>
            <a:r>
              <a:rPr lang="en-US" altLang="en-US" sz="2400" dirty="0"/>
              <a:t>Example</a:t>
            </a:r>
            <a:endParaRPr lang="en-US" sz="2400" dirty="0"/>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pic>
        <p:nvPicPr>
          <p:cNvPr id="3" name="Picture 2">
            <a:extLst>
              <a:ext uri="{FF2B5EF4-FFF2-40B4-BE49-F238E27FC236}">
                <a16:creationId xmlns:a16="http://schemas.microsoft.com/office/drawing/2014/main" id="{2A10C815-8ECA-1C2A-1341-E4AE73063EE8}"/>
              </a:ext>
            </a:extLst>
          </p:cNvPr>
          <p:cNvPicPr>
            <a:picLocks noChangeAspect="1" noChangeArrowheads="1"/>
          </p:cNvPicPr>
          <p:nvPr/>
        </p:nvPicPr>
        <p:blipFill>
          <a:blip r:embed="rId2"/>
          <a:srcRect/>
          <a:stretch>
            <a:fillRect/>
          </a:stretch>
        </p:blipFill>
        <p:spPr bwMode="auto">
          <a:xfrm>
            <a:off x="348791" y="1886450"/>
            <a:ext cx="7279795" cy="2925955"/>
          </a:xfrm>
          <a:prstGeom prst="rect">
            <a:avLst/>
          </a:prstGeom>
          <a:noFill/>
          <a:ln w="3175">
            <a:solidFill>
              <a:schemeClr val="tx1"/>
            </a:solidFill>
            <a:prstDash val="lgDash"/>
            <a:miter lim="800000"/>
            <a:headEnd/>
            <a:tailEnd/>
          </a:ln>
          <a:effectLst/>
        </p:spPr>
      </p:pic>
      <p:pic>
        <p:nvPicPr>
          <p:cNvPr id="5" name="Picture 3">
            <a:extLst>
              <a:ext uri="{FF2B5EF4-FFF2-40B4-BE49-F238E27FC236}">
                <a16:creationId xmlns:a16="http://schemas.microsoft.com/office/drawing/2014/main" id="{A583A181-4B81-65EB-9049-839ECB6287E2}"/>
              </a:ext>
            </a:extLst>
          </p:cNvPr>
          <p:cNvPicPr>
            <a:picLocks noChangeAspect="1" noChangeArrowheads="1"/>
          </p:cNvPicPr>
          <p:nvPr/>
        </p:nvPicPr>
        <p:blipFill>
          <a:blip r:embed="rId3"/>
          <a:srcRect/>
          <a:stretch>
            <a:fillRect/>
          </a:stretch>
        </p:blipFill>
        <p:spPr bwMode="auto">
          <a:xfrm>
            <a:off x="348790" y="4886847"/>
            <a:ext cx="7098611" cy="1143008"/>
          </a:xfrm>
          <a:prstGeom prst="rect">
            <a:avLst/>
          </a:prstGeom>
          <a:noFill/>
          <a:ln w="3175">
            <a:solidFill>
              <a:srgbClr val="C00000"/>
            </a:solidFill>
            <a:prstDash val="lgDash"/>
            <a:miter lim="800000"/>
            <a:headEnd/>
            <a:tailEnd/>
          </a:ln>
          <a:effectLst/>
        </p:spPr>
      </p:pic>
    </p:spTree>
    <p:extLst>
      <p:ext uri="{BB962C8B-B14F-4D97-AF65-F5344CB8AC3E}">
        <p14:creationId xmlns:p14="http://schemas.microsoft.com/office/powerpoint/2010/main" val="1198893338"/>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normAutofit/>
          </a:bodyPr>
          <a:lstStyle/>
          <a:p>
            <a:r>
              <a:rPr lang="en-US" dirty="0"/>
              <a:t>Exception Methods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625768" y="5732480"/>
            <a:ext cx="6966408" cy="365125"/>
          </a:xfrm>
        </p:spPr>
        <p:txBody>
          <a:bodyPr/>
          <a:lstStyle/>
          <a:p>
            <a:r>
              <a:rPr lang="en-US">
                <a:latin typeface="+mj-lt"/>
              </a:rPr>
              <a:t>Edited and Reviewed By: I. Bara' Qadomi &amp; I. Bara' Hamadah (FIT, Applied Science Private University)</a:t>
            </a:r>
          </a:p>
        </p:txBody>
      </p:sp>
      <p:sp>
        <p:nvSpPr>
          <p:cNvPr id="20" name="Rectangle 19">
            <a:extLst>
              <a:ext uri="{FF2B5EF4-FFF2-40B4-BE49-F238E27FC236}">
                <a16:creationId xmlns:a16="http://schemas.microsoft.com/office/drawing/2014/main" id="{16E22081-439C-E752-DF52-9CBE1F4A3206}"/>
              </a:ext>
            </a:extLst>
          </p:cNvPr>
          <p:cNvSpPr/>
          <p:nvPr/>
        </p:nvSpPr>
        <p:spPr>
          <a:xfrm>
            <a:off x="6129362" y="3695834"/>
            <a:ext cx="312906" cy="369332"/>
          </a:xfrm>
          <a:prstGeom prst="rect">
            <a:avLst/>
          </a:prstGeom>
        </p:spPr>
        <p:txBody>
          <a:bodyPr wrap="none">
            <a:spAutoFit/>
          </a:bodyPr>
          <a:lstStyle/>
          <a:p>
            <a:pPr rtl="0"/>
            <a:r>
              <a:rPr lang="en-US" dirty="0">
                <a:latin typeface="+mj-lt"/>
              </a:rPr>
              <a:t>. </a:t>
            </a:r>
          </a:p>
        </p:txBody>
      </p:sp>
      <p:sp>
        <p:nvSpPr>
          <p:cNvPr id="21" name="Rectangle 20">
            <a:extLst>
              <a:ext uri="{FF2B5EF4-FFF2-40B4-BE49-F238E27FC236}">
                <a16:creationId xmlns:a16="http://schemas.microsoft.com/office/drawing/2014/main" id="{52790D46-B809-6873-8736-BB1F8AB19CD3}"/>
              </a:ext>
            </a:extLst>
          </p:cNvPr>
          <p:cNvSpPr/>
          <p:nvPr/>
        </p:nvSpPr>
        <p:spPr>
          <a:xfrm>
            <a:off x="361362" y="1737360"/>
            <a:ext cx="11469276" cy="577850"/>
          </a:xfrm>
          <a:prstGeom prst="rect">
            <a:avLst/>
          </a:prstGeom>
        </p:spPr>
        <p:txBody>
          <a:bodyPr wrap="square">
            <a:spAutoFit/>
          </a:bodyPr>
          <a:lstStyle/>
          <a:p>
            <a:pPr marL="342900" indent="-342900" algn="just" rtl="0">
              <a:lnSpc>
                <a:spcPct val="150000"/>
              </a:lnSpc>
            </a:pPr>
            <a:r>
              <a:rPr lang="en-US" sz="2400" dirty="0">
                <a:latin typeface="+mj-lt"/>
                <a:cs typeface="Times New Roman" pitchFamily="18" charset="0"/>
              </a:rPr>
              <a:t>The following are the most important methods available in  the Throwable class</a:t>
            </a:r>
            <a:r>
              <a:rPr lang="en-US" b="1" dirty="0">
                <a:latin typeface="+mj-lt"/>
                <a:cs typeface="Times New Roman" pitchFamily="18" charset="0"/>
              </a:rPr>
              <a:t>:</a:t>
            </a:r>
          </a:p>
        </p:txBody>
      </p:sp>
      <p:sp>
        <p:nvSpPr>
          <p:cNvPr id="22" name="TextBox 21">
            <a:extLst>
              <a:ext uri="{FF2B5EF4-FFF2-40B4-BE49-F238E27FC236}">
                <a16:creationId xmlns:a16="http://schemas.microsoft.com/office/drawing/2014/main" id="{1A5E7592-7249-51E4-BED4-A6A442B8011B}"/>
              </a:ext>
            </a:extLst>
          </p:cNvPr>
          <p:cNvSpPr txBox="1"/>
          <p:nvPr/>
        </p:nvSpPr>
        <p:spPr>
          <a:xfrm>
            <a:off x="3914130" y="2341685"/>
            <a:ext cx="1659429" cy="369332"/>
          </a:xfrm>
          <a:prstGeom prst="rect">
            <a:avLst/>
          </a:prstGeom>
          <a:solidFill>
            <a:schemeClr val="accent2">
              <a:alpha val="35000"/>
            </a:schemeClr>
          </a:solidFill>
          <a:ln>
            <a:solidFill>
              <a:srgbClr val="C00000"/>
            </a:solidFill>
            <a:prstDash val="dash"/>
          </a:ln>
        </p:spPr>
        <p:txBody>
          <a:bodyPr wrap="none" rtlCol="0">
            <a:spAutoFit/>
          </a:bodyPr>
          <a:lstStyle/>
          <a:p>
            <a:pPr algn="l" rtl="0"/>
            <a:r>
              <a:rPr lang="en-US" b="1" dirty="0" err="1">
                <a:solidFill>
                  <a:srgbClr val="C00000"/>
                </a:solidFill>
                <a:latin typeface="+mj-lt"/>
              </a:rPr>
              <a:t>getMessage</a:t>
            </a:r>
            <a:r>
              <a:rPr lang="en-US" b="1" dirty="0">
                <a:solidFill>
                  <a:srgbClr val="C00000"/>
                </a:solidFill>
                <a:latin typeface="+mj-lt"/>
              </a:rPr>
              <a:t>()</a:t>
            </a:r>
            <a:endParaRPr lang="en-US" dirty="0">
              <a:solidFill>
                <a:srgbClr val="C00000"/>
              </a:solidFill>
              <a:latin typeface="+mj-lt"/>
            </a:endParaRPr>
          </a:p>
        </p:txBody>
      </p:sp>
      <p:sp>
        <p:nvSpPr>
          <p:cNvPr id="23" name="Rectangle 22">
            <a:extLst>
              <a:ext uri="{FF2B5EF4-FFF2-40B4-BE49-F238E27FC236}">
                <a16:creationId xmlns:a16="http://schemas.microsoft.com/office/drawing/2014/main" id="{5EEFB19A-BB9C-D33E-1F1A-C2CB39FD4748}"/>
              </a:ext>
            </a:extLst>
          </p:cNvPr>
          <p:cNvSpPr/>
          <p:nvPr/>
        </p:nvSpPr>
        <p:spPr>
          <a:xfrm>
            <a:off x="361362" y="2737492"/>
            <a:ext cx="8143932" cy="1338828"/>
          </a:xfrm>
          <a:prstGeom prst="rect">
            <a:avLst/>
          </a:prstGeom>
        </p:spPr>
        <p:txBody>
          <a:bodyPr wrap="square">
            <a:spAutoFit/>
          </a:bodyPr>
          <a:lstStyle/>
          <a:p>
            <a:pPr algn="just" rtl="0">
              <a:lnSpc>
                <a:spcPct val="150000"/>
              </a:lnSpc>
            </a:pPr>
            <a:r>
              <a:rPr lang="en-US" b="1" dirty="0">
                <a:solidFill>
                  <a:schemeClr val="bg2">
                    <a:lumMod val="75000"/>
                  </a:schemeClr>
                </a:solidFill>
                <a:latin typeface="+mj-lt"/>
                <a:cs typeface="Times New Roman" pitchFamily="18" charset="0"/>
              </a:rPr>
              <a:t>public String </a:t>
            </a:r>
            <a:r>
              <a:rPr lang="en-US" b="1" dirty="0" err="1">
                <a:solidFill>
                  <a:schemeClr val="bg2">
                    <a:lumMod val="75000"/>
                  </a:schemeClr>
                </a:solidFill>
                <a:latin typeface="+mj-lt"/>
                <a:cs typeface="Times New Roman" pitchFamily="18" charset="0"/>
              </a:rPr>
              <a:t>getMessage</a:t>
            </a:r>
            <a:r>
              <a:rPr lang="en-US" b="1" dirty="0">
                <a:solidFill>
                  <a:schemeClr val="bg2">
                    <a:lumMod val="75000"/>
                  </a:schemeClr>
                </a:solidFill>
                <a:latin typeface="+mj-lt"/>
                <a:cs typeface="Times New Roman" pitchFamily="18" charset="0"/>
              </a:rPr>
              <a:t>(){ }</a:t>
            </a:r>
          </a:p>
          <a:p>
            <a:pPr algn="just" rtl="0">
              <a:lnSpc>
                <a:spcPct val="150000"/>
              </a:lnSpc>
            </a:pPr>
            <a:r>
              <a:rPr lang="en-US" b="1" u="sng" dirty="0">
                <a:solidFill>
                  <a:schemeClr val="bg2">
                    <a:lumMod val="75000"/>
                  </a:schemeClr>
                </a:solidFill>
                <a:latin typeface="+mj-lt"/>
                <a:cs typeface="Times New Roman" pitchFamily="18" charset="0"/>
              </a:rPr>
              <a:t>Description</a:t>
            </a:r>
            <a:r>
              <a:rPr lang="en-US" u="sng" dirty="0">
                <a:latin typeface="+mj-lt"/>
                <a:cs typeface="Times New Roman" pitchFamily="18" charset="0"/>
              </a:rPr>
              <a:t>: </a:t>
            </a:r>
            <a:r>
              <a:rPr lang="en-US" dirty="0">
                <a:latin typeface="+mj-lt"/>
                <a:cs typeface="Times New Roman" pitchFamily="18" charset="0"/>
              </a:rPr>
              <a:t>Returns a detailed message about the exception that has occurred. This message is initialized in the </a:t>
            </a:r>
            <a:r>
              <a:rPr lang="en-US" dirty="0" err="1">
                <a:latin typeface="+mj-lt"/>
                <a:cs typeface="Times New Roman" pitchFamily="18" charset="0"/>
              </a:rPr>
              <a:t>Throwable</a:t>
            </a:r>
            <a:r>
              <a:rPr lang="en-US" dirty="0">
                <a:latin typeface="+mj-lt"/>
                <a:cs typeface="Times New Roman" pitchFamily="18" charset="0"/>
              </a:rPr>
              <a:t> constructor.</a:t>
            </a:r>
          </a:p>
        </p:txBody>
      </p:sp>
      <p:sp>
        <p:nvSpPr>
          <p:cNvPr id="24" name="TextBox 23">
            <a:extLst>
              <a:ext uri="{FF2B5EF4-FFF2-40B4-BE49-F238E27FC236}">
                <a16:creationId xmlns:a16="http://schemas.microsoft.com/office/drawing/2014/main" id="{BA0AC49D-1C9E-D3F2-F7D8-E9A1C2D67974}"/>
              </a:ext>
            </a:extLst>
          </p:cNvPr>
          <p:cNvSpPr txBox="1"/>
          <p:nvPr/>
        </p:nvSpPr>
        <p:spPr>
          <a:xfrm>
            <a:off x="3699231" y="4182511"/>
            <a:ext cx="2089226" cy="369332"/>
          </a:xfrm>
          <a:prstGeom prst="rect">
            <a:avLst/>
          </a:prstGeom>
          <a:solidFill>
            <a:schemeClr val="bg2">
              <a:lumMod val="50000"/>
              <a:alpha val="35000"/>
            </a:schemeClr>
          </a:solidFill>
          <a:ln>
            <a:solidFill>
              <a:srgbClr val="C00000"/>
            </a:solidFill>
            <a:prstDash val="dash"/>
          </a:ln>
        </p:spPr>
        <p:txBody>
          <a:bodyPr wrap="none" rtlCol="0">
            <a:spAutoFit/>
          </a:bodyPr>
          <a:lstStyle/>
          <a:p>
            <a:pPr algn="l" rtl="0"/>
            <a:r>
              <a:rPr lang="en-US" b="1" dirty="0" err="1">
                <a:solidFill>
                  <a:srgbClr val="C00000"/>
                </a:solidFill>
                <a:latin typeface="+mj-lt"/>
              </a:rPr>
              <a:t>printStackTrace</a:t>
            </a:r>
            <a:r>
              <a:rPr lang="en-US" b="1" dirty="0">
                <a:solidFill>
                  <a:srgbClr val="C00000"/>
                </a:solidFill>
                <a:latin typeface="+mj-lt"/>
              </a:rPr>
              <a:t>()</a:t>
            </a:r>
            <a:endParaRPr lang="en-US" dirty="0">
              <a:solidFill>
                <a:srgbClr val="C00000"/>
              </a:solidFill>
              <a:latin typeface="+mj-lt"/>
            </a:endParaRPr>
          </a:p>
        </p:txBody>
      </p:sp>
      <p:sp>
        <p:nvSpPr>
          <p:cNvPr id="25" name="Rectangle 24">
            <a:extLst>
              <a:ext uri="{FF2B5EF4-FFF2-40B4-BE49-F238E27FC236}">
                <a16:creationId xmlns:a16="http://schemas.microsoft.com/office/drawing/2014/main" id="{9F984BA7-E162-EC98-681C-1F7CDEEA8EB3}"/>
              </a:ext>
            </a:extLst>
          </p:cNvPr>
          <p:cNvSpPr/>
          <p:nvPr/>
        </p:nvSpPr>
        <p:spPr>
          <a:xfrm>
            <a:off x="361361" y="4551843"/>
            <a:ext cx="10677539" cy="1754326"/>
          </a:xfrm>
          <a:prstGeom prst="rect">
            <a:avLst/>
          </a:prstGeom>
        </p:spPr>
        <p:txBody>
          <a:bodyPr wrap="square">
            <a:spAutoFit/>
          </a:bodyPr>
          <a:lstStyle/>
          <a:p>
            <a:pPr algn="just" rtl="0">
              <a:lnSpc>
                <a:spcPct val="150000"/>
              </a:lnSpc>
            </a:pPr>
            <a:r>
              <a:rPr lang="en-US" b="1" dirty="0">
                <a:solidFill>
                  <a:schemeClr val="bg2">
                    <a:lumMod val="75000"/>
                  </a:schemeClr>
                </a:solidFill>
                <a:latin typeface="+mj-lt"/>
                <a:cs typeface="Times New Roman" pitchFamily="18" charset="0"/>
              </a:rPr>
              <a:t>public void </a:t>
            </a:r>
            <a:r>
              <a:rPr lang="en-US" b="1" dirty="0" err="1">
                <a:solidFill>
                  <a:schemeClr val="bg2">
                    <a:lumMod val="75000"/>
                  </a:schemeClr>
                </a:solidFill>
                <a:latin typeface="+mj-lt"/>
                <a:cs typeface="Times New Roman" pitchFamily="18" charset="0"/>
              </a:rPr>
              <a:t>printStackTrace</a:t>
            </a:r>
            <a:r>
              <a:rPr lang="en-US" b="1" dirty="0">
                <a:solidFill>
                  <a:schemeClr val="bg2">
                    <a:lumMod val="75000"/>
                  </a:schemeClr>
                </a:solidFill>
                <a:latin typeface="+mj-lt"/>
                <a:cs typeface="Times New Roman" pitchFamily="18" charset="0"/>
              </a:rPr>
              <a:t> (){ }</a:t>
            </a:r>
          </a:p>
          <a:p>
            <a:pPr algn="just" rtl="0">
              <a:lnSpc>
                <a:spcPct val="150000"/>
              </a:lnSpc>
            </a:pPr>
            <a:r>
              <a:rPr lang="en-US" b="1" u="sng" dirty="0">
                <a:solidFill>
                  <a:schemeClr val="bg2">
                    <a:lumMod val="75000"/>
                  </a:schemeClr>
                </a:solidFill>
                <a:latin typeface="+mj-lt"/>
                <a:cs typeface="Times New Roman" pitchFamily="18" charset="0"/>
              </a:rPr>
              <a:t>Description</a:t>
            </a:r>
            <a:r>
              <a:rPr lang="en-US" u="sng" dirty="0">
                <a:solidFill>
                  <a:schemeClr val="bg2">
                    <a:lumMod val="75000"/>
                  </a:schemeClr>
                </a:solidFill>
                <a:latin typeface="+mj-lt"/>
                <a:cs typeface="Times New Roman" pitchFamily="18" charset="0"/>
              </a:rPr>
              <a:t>: </a:t>
            </a:r>
            <a:r>
              <a:rPr lang="en-US" dirty="0">
                <a:latin typeface="+mj-lt"/>
                <a:cs typeface="Times New Roman" pitchFamily="18" charset="0"/>
              </a:rPr>
              <a:t>is a tool used to handle exceptions and errors. It is a method of Java’s </a:t>
            </a:r>
            <a:r>
              <a:rPr lang="en-US" dirty="0" err="1">
                <a:latin typeface="+mj-lt"/>
                <a:cs typeface="Times New Roman" pitchFamily="18" charset="0"/>
              </a:rPr>
              <a:t>throwable</a:t>
            </a:r>
            <a:r>
              <a:rPr lang="en-US" dirty="0">
                <a:latin typeface="+mj-lt"/>
                <a:cs typeface="Times New Roman" pitchFamily="18" charset="0"/>
              </a:rPr>
              <a:t> class that prints the </a:t>
            </a:r>
            <a:r>
              <a:rPr lang="en-US" dirty="0" err="1">
                <a:latin typeface="+mj-lt"/>
                <a:cs typeface="Times New Roman" pitchFamily="18" charset="0"/>
              </a:rPr>
              <a:t>throwable</a:t>
            </a:r>
            <a:r>
              <a:rPr lang="en-US" dirty="0">
                <a:latin typeface="+mj-lt"/>
                <a:cs typeface="Times New Roman" pitchFamily="18" charset="0"/>
              </a:rPr>
              <a:t> along with other details like the line number and class name where the exception occurred.</a:t>
            </a:r>
          </a:p>
        </p:txBody>
      </p:sp>
    </p:spTree>
    <p:extLst>
      <p:ext uri="{BB962C8B-B14F-4D97-AF65-F5344CB8AC3E}">
        <p14:creationId xmlns:p14="http://schemas.microsoft.com/office/powerpoint/2010/main" val="3017213107"/>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04724" y="176434"/>
            <a:ext cx="11481847" cy="1450757"/>
          </a:xfrm>
        </p:spPr>
        <p:txBody>
          <a:bodyPr>
            <a:normAutofit/>
          </a:bodyPr>
          <a:lstStyle/>
          <a:p>
            <a:r>
              <a:rPr lang="en-US" dirty="0"/>
              <a:t>Exception Methods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581701" y="5622311"/>
            <a:ext cx="6966408" cy="365125"/>
          </a:xfrm>
        </p:spPr>
        <p:txBody>
          <a:bodyPr/>
          <a:lstStyle/>
          <a:p>
            <a:r>
              <a:rPr lang="en-US">
                <a:latin typeface="+mj-lt"/>
              </a:rPr>
              <a:t>Edited and Reviewed By: I. Bara' Qadomi &amp; I. Bara' Hamadah (FIT, Applied Science Private University)</a:t>
            </a:r>
          </a:p>
        </p:txBody>
      </p:sp>
      <p:sp>
        <p:nvSpPr>
          <p:cNvPr id="20" name="Rectangle 19">
            <a:extLst>
              <a:ext uri="{FF2B5EF4-FFF2-40B4-BE49-F238E27FC236}">
                <a16:creationId xmlns:a16="http://schemas.microsoft.com/office/drawing/2014/main" id="{16E22081-439C-E752-DF52-9CBE1F4A3206}"/>
              </a:ext>
            </a:extLst>
          </p:cNvPr>
          <p:cNvSpPr/>
          <p:nvPr/>
        </p:nvSpPr>
        <p:spPr>
          <a:xfrm>
            <a:off x="6085295" y="3585665"/>
            <a:ext cx="312906" cy="369332"/>
          </a:xfrm>
          <a:prstGeom prst="rect">
            <a:avLst/>
          </a:prstGeom>
        </p:spPr>
        <p:txBody>
          <a:bodyPr wrap="none">
            <a:spAutoFit/>
          </a:bodyPr>
          <a:lstStyle/>
          <a:p>
            <a:pPr rtl="0"/>
            <a:r>
              <a:rPr lang="en-US" dirty="0">
                <a:latin typeface="+mj-lt"/>
              </a:rPr>
              <a:t>. </a:t>
            </a:r>
          </a:p>
        </p:txBody>
      </p:sp>
      <p:sp>
        <p:nvSpPr>
          <p:cNvPr id="6" name="Slide Number Placeholder 8">
            <a:extLst>
              <a:ext uri="{FF2B5EF4-FFF2-40B4-BE49-F238E27FC236}">
                <a16:creationId xmlns:a16="http://schemas.microsoft.com/office/drawing/2014/main" id="{A6263DDA-5153-A0DF-0F06-0E85A270944A}"/>
              </a:ext>
            </a:extLst>
          </p:cNvPr>
          <p:cNvSpPr txBox="1">
            <a:spLocks/>
          </p:cNvSpPr>
          <p:nvPr/>
        </p:nvSpPr>
        <p:spPr>
          <a:xfrm>
            <a:off x="7943804" y="6929226"/>
            <a:ext cx="762000"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671DF5-48E3-4D79-ACE7-21FC8E6BF122}" type="slidenum">
              <a:rPr lang="ar-JO" smtClean="0"/>
              <a:pPr/>
              <a:t>26</a:t>
            </a:fld>
            <a:endParaRPr lang="ar-JO"/>
          </a:p>
        </p:txBody>
      </p:sp>
      <p:sp>
        <p:nvSpPr>
          <p:cNvPr id="8" name="Rectangle 7">
            <a:extLst>
              <a:ext uri="{FF2B5EF4-FFF2-40B4-BE49-F238E27FC236}">
                <a16:creationId xmlns:a16="http://schemas.microsoft.com/office/drawing/2014/main" id="{22107DAC-5DE2-E690-C9C7-D9081DF0B977}"/>
              </a:ext>
            </a:extLst>
          </p:cNvPr>
          <p:cNvSpPr/>
          <p:nvPr/>
        </p:nvSpPr>
        <p:spPr>
          <a:xfrm>
            <a:off x="6358476" y="3817210"/>
            <a:ext cx="301685" cy="369332"/>
          </a:xfrm>
          <a:prstGeom prst="rect">
            <a:avLst/>
          </a:prstGeom>
        </p:spPr>
        <p:txBody>
          <a:bodyPr wrap="none">
            <a:spAutoFit/>
          </a:bodyPr>
          <a:lstStyle/>
          <a:p>
            <a:pPr rtl="0"/>
            <a:r>
              <a:rPr lang="en-US" dirty="0"/>
              <a:t>. </a:t>
            </a:r>
          </a:p>
        </p:txBody>
      </p:sp>
      <p:pic>
        <p:nvPicPr>
          <p:cNvPr id="9" name="Picture 4">
            <a:extLst>
              <a:ext uri="{FF2B5EF4-FFF2-40B4-BE49-F238E27FC236}">
                <a16:creationId xmlns:a16="http://schemas.microsoft.com/office/drawing/2014/main" id="{E14F99DE-DF0F-BE75-1475-682D633440F4}"/>
              </a:ext>
            </a:extLst>
          </p:cNvPr>
          <p:cNvPicPr>
            <a:picLocks noChangeAspect="1" noChangeArrowheads="1"/>
          </p:cNvPicPr>
          <p:nvPr/>
        </p:nvPicPr>
        <p:blipFill>
          <a:blip r:embed="rId2"/>
          <a:srcRect/>
          <a:stretch>
            <a:fillRect/>
          </a:stretch>
        </p:blipFill>
        <p:spPr bwMode="auto">
          <a:xfrm>
            <a:off x="590476" y="1787298"/>
            <a:ext cx="7643866" cy="2786082"/>
          </a:xfrm>
          <a:prstGeom prst="rect">
            <a:avLst/>
          </a:prstGeom>
          <a:noFill/>
          <a:ln w="3175">
            <a:solidFill>
              <a:schemeClr val="tx1"/>
            </a:solidFill>
            <a:prstDash val="lgDash"/>
            <a:miter lim="800000"/>
            <a:headEnd/>
            <a:tailEnd/>
          </a:ln>
          <a:effectLst/>
        </p:spPr>
      </p:pic>
      <p:sp>
        <p:nvSpPr>
          <p:cNvPr id="10" name="Rectangle 9">
            <a:extLst>
              <a:ext uri="{FF2B5EF4-FFF2-40B4-BE49-F238E27FC236}">
                <a16:creationId xmlns:a16="http://schemas.microsoft.com/office/drawing/2014/main" id="{039EF8E0-3298-420F-2839-5C979C47F398}"/>
              </a:ext>
            </a:extLst>
          </p:cNvPr>
          <p:cNvSpPr/>
          <p:nvPr/>
        </p:nvSpPr>
        <p:spPr>
          <a:xfrm>
            <a:off x="5448260" y="3573248"/>
            <a:ext cx="2357454" cy="285752"/>
          </a:xfrm>
          <a:prstGeom prst="rect">
            <a:avLst/>
          </a:prstGeom>
          <a:solidFill>
            <a:schemeClr val="accent1">
              <a:alpha val="0"/>
            </a:schemeClr>
          </a:solid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FD8854D-8305-A97B-E6F0-D9B2B0C77028}"/>
              </a:ext>
            </a:extLst>
          </p:cNvPr>
          <p:cNvSpPr/>
          <p:nvPr/>
        </p:nvSpPr>
        <p:spPr>
          <a:xfrm>
            <a:off x="2876492" y="3859000"/>
            <a:ext cx="2643206" cy="285752"/>
          </a:xfrm>
          <a:prstGeom prst="rect">
            <a:avLst/>
          </a:prstGeom>
          <a:solidFill>
            <a:schemeClr val="accent1">
              <a:alpha val="0"/>
            </a:schemeClr>
          </a:solid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5">
            <a:extLst>
              <a:ext uri="{FF2B5EF4-FFF2-40B4-BE49-F238E27FC236}">
                <a16:creationId xmlns:a16="http://schemas.microsoft.com/office/drawing/2014/main" id="{38676D73-B3D6-46DD-1BF4-3149FECB521A}"/>
              </a:ext>
            </a:extLst>
          </p:cNvPr>
          <p:cNvPicPr>
            <a:picLocks noChangeAspect="1" noChangeArrowheads="1"/>
          </p:cNvPicPr>
          <p:nvPr/>
        </p:nvPicPr>
        <p:blipFill>
          <a:blip r:embed="rId3"/>
          <a:srcRect/>
          <a:stretch>
            <a:fillRect/>
          </a:stretch>
        </p:blipFill>
        <p:spPr bwMode="auto">
          <a:xfrm>
            <a:off x="590476" y="4716256"/>
            <a:ext cx="7715304" cy="2071702"/>
          </a:xfrm>
          <a:prstGeom prst="rect">
            <a:avLst/>
          </a:prstGeom>
          <a:noFill/>
          <a:ln w="3175">
            <a:solidFill>
              <a:schemeClr val="tx1"/>
            </a:solidFill>
            <a:prstDash val="lgDash"/>
            <a:miter lim="800000"/>
            <a:headEnd/>
            <a:tailEnd/>
          </a:ln>
          <a:effectLst/>
        </p:spPr>
      </p:pic>
      <p:sp>
        <p:nvSpPr>
          <p:cNvPr id="13" name="Rectangle 12">
            <a:extLst>
              <a:ext uri="{FF2B5EF4-FFF2-40B4-BE49-F238E27FC236}">
                <a16:creationId xmlns:a16="http://schemas.microsoft.com/office/drawing/2014/main" id="{64528625-3E30-03C1-0DFF-71B87CB0D44E}"/>
              </a:ext>
            </a:extLst>
          </p:cNvPr>
          <p:cNvSpPr/>
          <p:nvPr/>
        </p:nvSpPr>
        <p:spPr>
          <a:xfrm>
            <a:off x="947666" y="5430636"/>
            <a:ext cx="2357454" cy="285752"/>
          </a:xfrm>
          <a:prstGeom prst="rect">
            <a:avLst/>
          </a:prstGeom>
          <a:solidFill>
            <a:schemeClr val="accent1">
              <a:alpha val="0"/>
            </a:schemeClr>
          </a:solid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FD08A6A-8469-F310-F49F-9C204178B5A2}"/>
              </a:ext>
            </a:extLst>
          </p:cNvPr>
          <p:cNvSpPr/>
          <p:nvPr/>
        </p:nvSpPr>
        <p:spPr>
          <a:xfrm>
            <a:off x="947666" y="5787826"/>
            <a:ext cx="7215238" cy="714380"/>
          </a:xfrm>
          <a:prstGeom prst="rect">
            <a:avLst/>
          </a:prstGeom>
          <a:solidFill>
            <a:schemeClr val="accent1">
              <a:alpha val="0"/>
            </a:schemeClr>
          </a:solidFill>
          <a:ln w="285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6B100B81-DCBC-AEF6-AA0D-233A4A22B692}"/>
              </a:ext>
            </a:extLst>
          </p:cNvPr>
          <p:cNvCxnSpPr/>
          <p:nvPr/>
        </p:nvCxnSpPr>
        <p:spPr>
          <a:xfrm rot="10800000">
            <a:off x="304725" y="3930438"/>
            <a:ext cx="2571769" cy="158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7368E22-BEEC-53DD-23C2-5CD5F5D4AEF8}"/>
              </a:ext>
            </a:extLst>
          </p:cNvPr>
          <p:cNvCxnSpPr>
            <a:stCxn id="14" idx="1"/>
          </p:cNvCxnSpPr>
          <p:nvPr/>
        </p:nvCxnSpPr>
        <p:spPr>
          <a:xfrm rot="10800000">
            <a:off x="304724" y="6145016"/>
            <a:ext cx="642942" cy="158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C36B13DA-C4CE-E303-F9A5-F1FD5AD870C6}"/>
              </a:ext>
            </a:extLst>
          </p:cNvPr>
          <p:cNvCxnSpPr/>
          <p:nvPr/>
        </p:nvCxnSpPr>
        <p:spPr>
          <a:xfrm rot="5400000">
            <a:off x="-801771" y="5036933"/>
            <a:ext cx="2214578" cy="1588"/>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7E466B43-5809-D33C-6BA4-B143DF6310AF}"/>
              </a:ext>
            </a:extLst>
          </p:cNvPr>
          <p:cNvCxnSpPr/>
          <p:nvPr/>
        </p:nvCxnSpPr>
        <p:spPr>
          <a:xfrm rot="10800000">
            <a:off x="7662840" y="3573248"/>
            <a:ext cx="1071569"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195E91A-C0A2-2EA2-695C-16ECC2482CFF}"/>
              </a:ext>
            </a:extLst>
          </p:cNvPr>
          <p:cNvCxnSpPr/>
          <p:nvPr/>
        </p:nvCxnSpPr>
        <p:spPr>
          <a:xfrm rot="10800000">
            <a:off x="3305120" y="5430636"/>
            <a:ext cx="5429288"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E6F549-26F6-577F-BFE7-A79741A7D642}"/>
              </a:ext>
            </a:extLst>
          </p:cNvPr>
          <p:cNvCxnSpPr/>
          <p:nvPr/>
        </p:nvCxnSpPr>
        <p:spPr>
          <a:xfrm rot="5400000">
            <a:off x="7806508" y="4501148"/>
            <a:ext cx="1857388" cy="1588"/>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5882252"/>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04724" y="176434"/>
            <a:ext cx="11481847" cy="1450757"/>
          </a:xfrm>
        </p:spPr>
        <p:txBody>
          <a:bodyPr>
            <a:normAutofit/>
          </a:bodyPr>
          <a:lstStyle/>
          <a:p>
            <a:r>
              <a:rPr lang="en-US" altLang="en-US" dirty="0"/>
              <a:t>Try and Catch: </a:t>
            </a:r>
            <a:r>
              <a:rPr lang="en-US" altLang="en-US" sz="2400" dirty="0"/>
              <a:t>Example</a:t>
            </a:r>
            <a:endParaRPr lang="en-US" dirty="0"/>
          </a:p>
        </p:txBody>
      </p:sp>
      <p:sp>
        <p:nvSpPr>
          <p:cNvPr id="24" name="Rectangle 23">
            <a:extLst>
              <a:ext uri="{FF2B5EF4-FFF2-40B4-BE49-F238E27FC236}">
                <a16:creationId xmlns:a16="http://schemas.microsoft.com/office/drawing/2014/main" id="{98186B88-E4DD-275B-87A1-284C5C023A20}"/>
              </a:ext>
            </a:extLst>
          </p:cNvPr>
          <p:cNvSpPr/>
          <p:nvPr/>
        </p:nvSpPr>
        <p:spPr>
          <a:xfrm>
            <a:off x="6215600" y="3887276"/>
            <a:ext cx="301685" cy="369332"/>
          </a:xfrm>
          <a:prstGeom prst="rect">
            <a:avLst/>
          </a:prstGeom>
        </p:spPr>
        <p:txBody>
          <a:bodyPr wrap="none">
            <a:spAutoFit/>
          </a:bodyPr>
          <a:lstStyle/>
          <a:p>
            <a:pPr rtl="0"/>
            <a:r>
              <a:rPr lang="en-US" dirty="0"/>
              <a:t>. </a:t>
            </a:r>
          </a:p>
        </p:txBody>
      </p:sp>
      <p:pic>
        <p:nvPicPr>
          <p:cNvPr id="25" name="Picture 2">
            <a:extLst>
              <a:ext uri="{FF2B5EF4-FFF2-40B4-BE49-F238E27FC236}">
                <a16:creationId xmlns:a16="http://schemas.microsoft.com/office/drawing/2014/main" id="{03FB6C1E-2273-E36A-2651-3D4460739376}"/>
              </a:ext>
            </a:extLst>
          </p:cNvPr>
          <p:cNvPicPr>
            <a:picLocks noChangeAspect="1" noChangeArrowheads="1"/>
          </p:cNvPicPr>
          <p:nvPr/>
        </p:nvPicPr>
        <p:blipFill>
          <a:blip r:embed="rId2"/>
          <a:srcRect/>
          <a:stretch>
            <a:fillRect/>
          </a:stretch>
        </p:blipFill>
        <p:spPr bwMode="auto">
          <a:xfrm>
            <a:off x="51515" y="1813715"/>
            <a:ext cx="8039949" cy="3380764"/>
          </a:xfrm>
          <a:prstGeom prst="rect">
            <a:avLst/>
          </a:prstGeom>
          <a:noFill/>
          <a:ln w="3175">
            <a:solidFill>
              <a:schemeClr val="tx1"/>
            </a:solidFill>
            <a:prstDash val="lgDash"/>
            <a:miter lim="800000"/>
            <a:headEnd/>
            <a:tailEnd/>
          </a:ln>
          <a:effectLst/>
        </p:spPr>
      </p:pic>
      <p:sp>
        <p:nvSpPr>
          <p:cNvPr id="28" name="Rectangle 27">
            <a:extLst>
              <a:ext uri="{FF2B5EF4-FFF2-40B4-BE49-F238E27FC236}">
                <a16:creationId xmlns:a16="http://schemas.microsoft.com/office/drawing/2014/main" id="{CA2C2975-67C6-522B-2216-8FC6A1001217}"/>
              </a:ext>
            </a:extLst>
          </p:cNvPr>
          <p:cNvSpPr/>
          <p:nvPr/>
        </p:nvSpPr>
        <p:spPr>
          <a:xfrm>
            <a:off x="1411178" y="3009363"/>
            <a:ext cx="6389750" cy="1454321"/>
          </a:xfrm>
          <a:prstGeom prst="rect">
            <a:avLst/>
          </a:prstGeom>
          <a:solidFill>
            <a:schemeClr val="accent1">
              <a:alpha val="0"/>
            </a:schemeClr>
          </a:solidFill>
          <a:ln w="28575">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Picture 3">
            <a:extLst>
              <a:ext uri="{FF2B5EF4-FFF2-40B4-BE49-F238E27FC236}">
                <a16:creationId xmlns:a16="http://schemas.microsoft.com/office/drawing/2014/main" id="{A7D2690C-DD5D-171E-F7B6-971FCDE23E5A}"/>
              </a:ext>
            </a:extLst>
          </p:cNvPr>
          <p:cNvPicPr>
            <a:picLocks noChangeAspect="1" noChangeArrowheads="1"/>
          </p:cNvPicPr>
          <p:nvPr/>
        </p:nvPicPr>
        <p:blipFill>
          <a:blip r:embed="rId3"/>
          <a:srcRect/>
          <a:stretch>
            <a:fillRect/>
          </a:stretch>
        </p:blipFill>
        <p:spPr bwMode="auto">
          <a:xfrm>
            <a:off x="447600" y="5021293"/>
            <a:ext cx="7643866" cy="1308876"/>
          </a:xfrm>
          <a:prstGeom prst="rect">
            <a:avLst/>
          </a:prstGeom>
          <a:noFill/>
          <a:ln w="3175">
            <a:solidFill>
              <a:srgbClr val="C00000"/>
            </a:solidFill>
            <a:prstDash val="lgDash"/>
            <a:miter lim="800000"/>
            <a:headEnd/>
            <a:tailEnd/>
          </a:ln>
          <a:effectLst/>
        </p:spPr>
      </p:pic>
      <p:sp>
        <p:nvSpPr>
          <p:cNvPr id="3" name="Footer Placeholder 2">
            <a:extLst>
              <a:ext uri="{FF2B5EF4-FFF2-40B4-BE49-F238E27FC236}">
                <a16:creationId xmlns:a16="http://schemas.microsoft.com/office/drawing/2014/main" id="{7D7B8629-5D60-7BC8-9CCA-727FDE06DA52}"/>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301573667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04724" y="176434"/>
            <a:ext cx="11481847" cy="1450757"/>
          </a:xfrm>
        </p:spPr>
        <p:txBody>
          <a:bodyPr>
            <a:normAutofit/>
          </a:bodyPr>
          <a:lstStyle/>
          <a:p>
            <a:r>
              <a:rPr lang="en-US" altLang="en-US" dirty="0"/>
              <a:t>Try and Catch: </a:t>
            </a:r>
            <a:r>
              <a:rPr lang="en-US" altLang="en-US" sz="2400" dirty="0"/>
              <a:t>Notes </a:t>
            </a:r>
            <a:endParaRPr lang="en-US" dirty="0"/>
          </a:p>
        </p:txBody>
      </p:sp>
      <p:sp>
        <p:nvSpPr>
          <p:cNvPr id="24" name="Rectangle 23">
            <a:extLst>
              <a:ext uri="{FF2B5EF4-FFF2-40B4-BE49-F238E27FC236}">
                <a16:creationId xmlns:a16="http://schemas.microsoft.com/office/drawing/2014/main" id="{98186B88-E4DD-275B-87A1-284C5C023A20}"/>
              </a:ext>
            </a:extLst>
          </p:cNvPr>
          <p:cNvSpPr/>
          <p:nvPr/>
        </p:nvSpPr>
        <p:spPr>
          <a:xfrm>
            <a:off x="6204583" y="3427684"/>
            <a:ext cx="301685" cy="369332"/>
          </a:xfrm>
          <a:prstGeom prst="rect">
            <a:avLst/>
          </a:prstGeom>
        </p:spPr>
        <p:txBody>
          <a:bodyPr wrap="none">
            <a:spAutoFit/>
          </a:bodyPr>
          <a:lstStyle/>
          <a:p>
            <a:pPr rtl="0"/>
            <a:r>
              <a:rPr lang="en-US" dirty="0"/>
              <a:t>. </a:t>
            </a:r>
          </a:p>
        </p:txBody>
      </p:sp>
      <p:sp>
        <p:nvSpPr>
          <p:cNvPr id="5" name="Slide Number Placeholder 8">
            <a:extLst>
              <a:ext uri="{FF2B5EF4-FFF2-40B4-BE49-F238E27FC236}">
                <a16:creationId xmlns:a16="http://schemas.microsoft.com/office/drawing/2014/main" id="{C60DF307-7DB8-282C-5C3C-81C9C7FB6B0B}"/>
              </a:ext>
            </a:extLst>
          </p:cNvPr>
          <p:cNvSpPr txBox="1">
            <a:spLocks/>
          </p:cNvSpPr>
          <p:nvPr/>
        </p:nvSpPr>
        <p:spPr>
          <a:xfrm>
            <a:off x="7697137" y="6759176"/>
            <a:ext cx="762000" cy="365125"/>
          </a:xfrm>
          <a:prstGeom prst="rect">
            <a:avLst/>
          </a:prstGeom>
        </p:spPr>
        <p:txBody>
          <a:bodyPr vert="horz" lIns="91440" tIns="45720" rIns="91440" bIns="45720" rtlCol="0" anchor="ctr"/>
          <a:lstStyle>
            <a:defPPr>
              <a:defRPr lang="en-US"/>
            </a:defPPr>
            <a:lvl1pPr marL="0" algn="r" defTabSz="457200" rtl="0" eaLnBrk="1" latinLnBrk="0" hangingPunct="1">
              <a:defRPr sz="1050" kern="120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8671DF5-48E3-4D79-ACE7-21FC8E6BF122}" type="slidenum">
              <a:rPr lang="ar-JO" smtClean="0"/>
              <a:pPr/>
              <a:t>28</a:t>
            </a:fld>
            <a:endParaRPr lang="ar-JO"/>
          </a:p>
        </p:txBody>
      </p:sp>
      <p:sp>
        <p:nvSpPr>
          <p:cNvPr id="7" name="Rectangle 6">
            <a:extLst>
              <a:ext uri="{FF2B5EF4-FFF2-40B4-BE49-F238E27FC236}">
                <a16:creationId xmlns:a16="http://schemas.microsoft.com/office/drawing/2014/main" id="{A82125EC-E06E-1ABE-F74B-DFD69AB5F4CF}"/>
              </a:ext>
            </a:extLst>
          </p:cNvPr>
          <p:cNvSpPr/>
          <p:nvPr/>
        </p:nvSpPr>
        <p:spPr>
          <a:xfrm>
            <a:off x="6111809" y="3647160"/>
            <a:ext cx="301685" cy="369332"/>
          </a:xfrm>
          <a:prstGeom prst="rect">
            <a:avLst/>
          </a:prstGeom>
        </p:spPr>
        <p:txBody>
          <a:bodyPr wrap="none">
            <a:spAutoFit/>
          </a:bodyPr>
          <a:lstStyle/>
          <a:p>
            <a:pPr rtl="0"/>
            <a:r>
              <a:rPr lang="en-US" dirty="0"/>
              <a:t>. </a:t>
            </a:r>
          </a:p>
        </p:txBody>
      </p:sp>
      <p:sp>
        <p:nvSpPr>
          <p:cNvPr id="8" name="Rectangle 7">
            <a:extLst>
              <a:ext uri="{FF2B5EF4-FFF2-40B4-BE49-F238E27FC236}">
                <a16:creationId xmlns:a16="http://schemas.microsoft.com/office/drawing/2014/main" id="{7C12286E-6644-118A-16CF-12B204C5DF08}"/>
              </a:ext>
            </a:extLst>
          </p:cNvPr>
          <p:cNvSpPr/>
          <p:nvPr/>
        </p:nvSpPr>
        <p:spPr>
          <a:xfrm>
            <a:off x="415247" y="1627191"/>
            <a:ext cx="7929618" cy="2534027"/>
          </a:xfrm>
          <a:prstGeom prst="rect">
            <a:avLst/>
          </a:prstGeom>
        </p:spPr>
        <p:txBody>
          <a:bodyPr wrap="square">
            <a:spAutoFit/>
          </a:bodyPr>
          <a:lstStyle/>
          <a:p>
            <a:pPr marL="285750" indent="-285750" algn="just" rtl="0">
              <a:lnSpc>
                <a:spcPct val="150000"/>
              </a:lnSpc>
              <a:buFont typeface="Wingdings" panose="05000000000000000000" pitchFamily="2" charset="2"/>
              <a:buChar char="§"/>
            </a:pPr>
            <a:r>
              <a:rPr lang="en-US" dirty="0">
                <a:latin typeface="+mj-lt"/>
                <a:cs typeface="Times New Roman" pitchFamily="18" charset="0"/>
              </a:rPr>
              <a:t>A catch clause cannot exist without a try statement. </a:t>
            </a:r>
          </a:p>
          <a:p>
            <a:pPr marL="285750" indent="-285750" algn="just" rtl="0">
              <a:lnSpc>
                <a:spcPct val="150000"/>
              </a:lnSpc>
              <a:buFont typeface="Wingdings" panose="05000000000000000000" pitchFamily="2" charset="2"/>
              <a:buChar char="§"/>
            </a:pPr>
            <a:r>
              <a:rPr lang="en-US" dirty="0">
                <a:latin typeface="+mj-lt"/>
                <a:cs typeface="Times New Roman" pitchFamily="18" charset="0"/>
              </a:rPr>
              <a:t>It is not compulsory to have finally clauses whenever a try/catch block is present. </a:t>
            </a:r>
            <a:r>
              <a:rPr lang="en-US" b="1" dirty="0">
                <a:solidFill>
                  <a:schemeClr val="bg2">
                    <a:lumMod val="75000"/>
                  </a:schemeClr>
                </a:solidFill>
                <a:latin typeface="+mj-lt"/>
                <a:cs typeface="Times New Roman" pitchFamily="18" charset="0"/>
              </a:rPr>
              <a:t>(finally is an </a:t>
            </a:r>
            <a:r>
              <a:rPr lang="en-US" b="1" u="sng" dirty="0">
                <a:solidFill>
                  <a:schemeClr val="bg2">
                    <a:lumMod val="75000"/>
                  </a:schemeClr>
                </a:solidFill>
                <a:latin typeface="+mj-lt"/>
                <a:cs typeface="Times New Roman" pitchFamily="18" charset="0"/>
              </a:rPr>
              <a:t>optional block)</a:t>
            </a:r>
            <a:r>
              <a:rPr lang="en-US" dirty="0">
                <a:solidFill>
                  <a:schemeClr val="bg2">
                    <a:lumMod val="75000"/>
                  </a:schemeClr>
                </a:solidFill>
                <a:latin typeface="+mj-lt"/>
                <a:cs typeface="Times New Roman" pitchFamily="18" charset="0"/>
              </a:rPr>
              <a:t> </a:t>
            </a:r>
          </a:p>
          <a:p>
            <a:pPr marL="285750" indent="-285750" algn="just" rtl="0">
              <a:lnSpc>
                <a:spcPct val="150000"/>
              </a:lnSpc>
              <a:buFont typeface="Wingdings" panose="05000000000000000000" pitchFamily="2" charset="2"/>
              <a:buChar char="§"/>
            </a:pPr>
            <a:r>
              <a:rPr lang="en-US" dirty="0">
                <a:latin typeface="+mj-lt"/>
                <a:cs typeface="Times New Roman" pitchFamily="18" charset="0"/>
              </a:rPr>
              <a:t>The try block cannot be present without either a catch clause or a finally clause.</a:t>
            </a:r>
          </a:p>
          <a:p>
            <a:pPr marL="285750" indent="-285750" algn="just" rtl="0">
              <a:lnSpc>
                <a:spcPct val="150000"/>
              </a:lnSpc>
              <a:buFont typeface="Wingdings" panose="05000000000000000000" pitchFamily="2" charset="2"/>
              <a:buChar char="§"/>
            </a:pPr>
            <a:r>
              <a:rPr lang="en-US" dirty="0">
                <a:latin typeface="+mj-lt"/>
                <a:cs typeface="Times New Roman" pitchFamily="18" charset="0"/>
              </a:rPr>
              <a:t>Any code cannot be present in between the try, catch, and finally blocks. </a:t>
            </a:r>
          </a:p>
        </p:txBody>
      </p:sp>
      <p:sp>
        <p:nvSpPr>
          <p:cNvPr id="9" name="Rectangle 8">
            <a:extLst>
              <a:ext uri="{FF2B5EF4-FFF2-40B4-BE49-F238E27FC236}">
                <a16:creationId xmlns:a16="http://schemas.microsoft.com/office/drawing/2014/main" id="{A4B619ED-9671-2EEA-1FF4-5726AC80C1D3}"/>
              </a:ext>
            </a:extLst>
          </p:cNvPr>
          <p:cNvSpPr/>
          <p:nvPr/>
        </p:nvSpPr>
        <p:spPr>
          <a:xfrm>
            <a:off x="522404" y="4090014"/>
            <a:ext cx="7715304" cy="873572"/>
          </a:xfrm>
          <a:prstGeom prst="rect">
            <a:avLst/>
          </a:prstGeom>
          <a:ln w="3175">
            <a:solidFill>
              <a:schemeClr val="tx1"/>
            </a:solidFill>
            <a:prstDash val="lgDash"/>
          </a:ln>
        </p:spPr>
        <p:txBody>
          <a:bodyPr wrap="square">
            <a:spAutoFit/>
          </a:bodyPr>
          <a:lstStyle/>
          <a:p>
            <a:pPr algn="just" rtl="0">
              <a:lnSpc>
                <a:spcPct val="150000"/>
              </a:lnSpc>
            </a:pPr>
            <a:r>
              <a:rPr lang="en-US" b="1" dirty="0">
                <a:solidFill>
                  <a:schemeClr val="bg2">
                    <a:lumMod val="75000"/>
                  </a:schemeClr>
                </a:solidFill>
                <a:latin typeface="Times New Roman" pitchFamily="18" charset="0"/>
                <a:cs typeface="Times New Roman" pitchFamily="18" charset="0"/>
              </a:rPr>
              <a:t>Note: </a:t>
            </a:r>
            <a:r>
              <a:rPr lang="en-US" b="1" dirty="0">
                <a:latin typeface="Times New Roman" pitchFamily="18" charset="0"/>
                <a:cs typeface="Times New Roman" pitchFamily="18" charset="0"/>
              </a:rPr>
              <a:t>the order of the catch statement is crucial, why? The following catch can't be the first one, it could be the last one.</a:t>
            </a:r>
          </a:p>
        </p:txBody>
      </p:sp>
      <p:pic>
        <p:nvPicPr>
          <p:cNvPr id="10" name="Picture 3">
            <a:extLst>
              <a:ext uri="{FF2B5EF4-FFF2-40B4-BE49-F238E27FC236}">
                <a16:creationId xmlns:a16="http://schemas.microsoft.com/office/drawing/2014/main" id="{33929116-3909-3213-05E5-E446020F8CB2}"/>
              </a:ext>
            </a:extLst>
          </p:cNvPr>
          <p:cNvPicPr>
            <a:picLocks noChangeAspect="1" noChangeArrowheads="1"/>
          </p:cNvPicPr>
          <p:nvPr/>
        </p:nvPicPr>
        <p:blipFill>
          <a:blip r:embed="rId2"/>
          <a:srcRect/>
          <a:stretch>
            <a:fillRect/>
          </a:stretch>
        </p:blipFill>
        <p:spPr bwMode="auto">
          <a:xfrm>
            <a:off x="486685" y="4903396"/>
            <a:ext cx="4357718" cy="1571636"/>
          </a:xfrm>
          <a:prstGeom prst="rect">
            <a:avLst/>
          </a:prstGeom>
          <a:noFill/>
          <a:ln w="9525">
            <a:solidFill>
              <a:srgbClr val="C00000"/>
            </a:solidFill>
            <a:miter lim="800000"/>
            <a:headEnd/>
            <a:tailEnd/>
          </a:ln>
          <a:effectLst/>
        </p:spPr>
      </p:pic>
      <p:sp>
        <p:nvSpPr>
          <p:cNvPr id="11" name="Rectangle 10">
            <a:extLst>
              <a:ext uri="{FF2B5EF4-FFF2-40B4-BE49-F238E27FC236}">
                <a16:creationId xmlns:a16="http://schemas.microsoft.com/office/drawing/2014/main" id="{F2B34C6B-7988-4B63-CABC-50406729FEE8}"/>
              </a:ext>
            </a:extLst>
          </p:cNvPr>
          <p:cNvSpPr/>
          <p:nvPr/>
        </p:nvSpPr>
        <p:spPr>
          <a:xfrm>
            <a:off x="3201329" y="5974966"/>
            <a:ext cx="1290097" cy="369332"/>
          </a:xfrm>
          <a:prstGeom prst="rect">
            <a:avLst/>
          </a:prstGeom>
        </p:spPr>
        <p:txBody>
          <a:bodyPr wrap="none">
            <a:spAutoFit/>
          </a:bodyPr>
          <a:lstStyle/>
          <a:p>
            <a:r>
              <a:rPr lang="en-US" b="1" dirty="0">
                <a:sym typeface="Wingdings"/>
              </a:rPr>
              <a:t> </a:t>
            </a:r>
            <a:r>
              <a:rPr lang="en-US" b="1" dirty="0"/>
              <a:t>Explain</a:t>
            </a:r>
            <a:endParaRPr lang="en-US" dirty="0"/>
          </a:p>
        </p:txBody>
      </p:sp>
      <p:sp>
        <p:nvSpPr>
          <p:cNvPr id="12" name="Rectangle 11">
            <a:extLst>
              <a:ext uri="{FF2B5EF4-FFF2-40B4-BE49-F238E27FC236}">
                <a16:creationId xmlns:a16="http://schemas.microsoft.com/office/drawing/2014/main" id="{97B6FC60-1EB6-F98D-6C06-01F26A87E3C6}"/>
              </a:ext>
            </a:extLst>
          </p:cNvPr>
          <p:cNvSpPr/>
          <p:nvPr/>
        </p:nvSpPr>
        <p:spPr>
          <a:xfrm>
            <a:off x="4768752" y="5546338"/>
            <a:ext cx="1290097" cy="369332"/>
          </a:xfrm>
          <a:prstGeom prst="rect">
            <a:avLst/>
          </a:prstGeom>
        </p:spPr>
        <p:txBody>
          <a:bodyPr wrap="none">
            <a:spAutoFit/>
          </a:bodyPr>
          <a:lstStyle/>
          <a:p>
            <a:r>
              <a:rPr lang="en-US" b="1" dirty="0">
                <a:sym typeface="Wingdings"/>
              </a:rPr>
              <a:t> </a:t>
            </a:r>
            <a:r>
              <a:rPr lang="en-US" b="1" dirty="0"/>
              <a:t>Explain</a:t>
            </a:r>
            <a:endParaRPr lang="en-US" dirty="0"/>
          </a:p>
        </p:txBody>
      </p:sp>
      <p:sp>
        <p:nvSpPr>
          <p:cNvPr id="3" name="Footer Placeholder 2">
            <a:extLst>
              <a:ext uri="{FF2B5EF4-FFF2-40B4-BE49-F238E27FC236}">
                <a16:creationId xmlns:a16="http://schemas.microsoft.com/office/drawing/2014/main" id="{4E601FF0-ADF1-F01C-3EDD-458ACE7EA6BA}"/>
              </a:ext>
            </a:extLst>
          </p:cNvPr>
          <p:cNvSpPr>
            <a:spLocks noGrp="1"/>
          </p:cNvSpPr>
          <p:nvPr>
            <p:ph type="ftr" sz="quarter" idx="11"/>
          </p:nvPr>
        </p:nvSpPr>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2470777441"/>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E5B45-8D88-ED12-F886-5CB527D7BEF3}"/>
              </a:ext>
            </a:extLst>
          </p:cNvPr>
          <p:cNvSpPr>
            <a:spLocks noGrp="1"/>
          </p:cNvSpPr>
          <p:nvPr>
            <p:ph type="title"/>
          </p:nvPr>
        </p:nvSpPr>
        <p:spPr>
          <a:xfrm>
            <a:off x="348791" y="286603"/>
            <a:ext cx="11481847" cy="1450757"/>
          </a:xfrm>
        </p:spPr>
        <p:txBody>
          <a:bodyPr/>
          <a:lstStyle/>
          <a:p>
            <a:r>
              <a:rPr lang="en-US" dirty="0"/>
              <a:t>References </a:t>
            </a:r>
            <a:endParaRPr lang="en-US" dirty="0">
              <a:solidFill>
                <a:srgbClr val="FF0000"/>
              </a:solidFill>
            </a:endParaRPr>
          </a:p>
        </p:txBody>
      </p:sp>
      <p:sp>
        <p:nvSpPr>
          <p:cNvPr id="3" name="Content Placeholder 2">
            <a:extLst>
              <a:ext uri="{FF2B5EF4-FFF2-40B4-BE49-F238E27FC236}">
                <a16:creationId xmlns:a16="http://schemas.microsoft.com/office/drawing/2014/main" id="{0C2E1710-1895-E34B-968E-9A6498584B1B}"/>
              </a:ext>
            </a:extLst>
          </p:cNvPr>
          <p:cNvSpPr>
            <a:spLocks noGrp="1"/>
          </p:cNvSpPr>
          <p:nvPr>
            <p:ph idx="1"/>
          </p:nvPr>
        </p:nvSpPr>
        <p:spPr>
          <a:xfrm>
            <a:off x="348791" y="1845734"/>
            <a:ext cx="11481847" cy="4306074"/>
          </a:xfrm>
        </p:spPr>
        <p:txBody>
          <a:bodyPr>
            <a:normAutofit/>
          </a:bodyPr>
          <a:lstStyle/>
          <a:p>
            <a:r>
              <a:rPr lang="en-US" altLang="en-US" dirty="0"/>
              <a:t>[1] Introduction to Java Programming, Comprehensive Version, Student Value Edition, Daniel Liang, 12th Edition, Pearson 2019</a:t>
            </a:r>
          </a:p>
          <a:p>
            <a:r>
              <a:rPr lang="en-US" altLang="en-US" dirty="0"/>
              <a:t>lecture Notes :edugate.asu.edu.jo.</a:t>
            </a:r>
          </a:p>
          <a:p>
            <a:r>
              <a:rPr lang="en-US" altLang="en-US" dirty="0"/>
              <a:t>lecture  Videos : YouTube channel.</a:t>
            </a:r>
          </a:p>
          <a:p>
            <a:r>
              <a:rPr lang="en-US" altLang="en-US" dirty="0"/>
              <a:t>Lab manual ???</a:t>
            </a:r>
          </a:p>
        </p:txBody>
      </p:sp>
      <p:sp>
        <p:nvSpPr>
          <p:cNvPr id="4" name="Footer Placeholder 3">
            <a:extLst>
              <a:ext uri="{FF2B5EF4-FFF2-40B4-BE49-F238E27FC236}">
                <a16:creationId xmlns:a16="http://schemas.microsoft.com/office/drawing/2014/main" id="{66738BBB-0AA8-3DCA-D70D-202ADE3D7914}"/>
              </a:ext>
            </a:extLst>
          </p:cNvPr>
          <p:cNvSpPr>
            <a:spLocks noGrp="1"/>
          </p:cNvSpPr>
          <p:nvPr>
            <p:ph type="ftr" sz="quarter" idx="11"/>
          </p:nvPr>
        </p:nvSpPr>
        <p:spPr>
          <a:xfrm>
            <a:off x="2846895" y="6459785"/>
            <a:ext cx="6966408" cy="365125"/>
          </a:xfrm>
        </p:spPr>
        <p:txBody>
          <a:bodyPr/>
          <a:lstStyle/>
          <a:p>
            <a:r>
              <a:rPr lang="en-US"/>
              <a:t>Edited and Reviewed By: I. Bara' Qadomi &amp; I. Bara' Hamadah (FIT, Applied Science Private University)</a:t>
            </a:r>
          </a:p>
        </p:txBody>
      </p:sp>
    </p:spTree>
    <p:extLst>
      <p:ext uri="{BB962C8B-B14F-4D97-AF65-F5344CB8AC3E}">
        <p14:creationId xmlns:p14="http://schemas.microsoft.com/office/powerpoint/2010/main" val="1327438597"/>
      </p:ext>
    </p:extLst>
  </p:cSld>
  <p:clrMapOvr>
    <a:masterClrMapping/>
  </p:clrMapOvr>
  <p:transition spd="slow">
    <p:wipe/>
  </p:transition>
</p:sld>
</file>

<file path=ppt/theme/theme1.xml><?xml version="1.0" encoding="utf-8"?>
<a:theme xmlns:a="http://schemas.openxmlformats.org/drawingml/2006/main" name="Retrospect">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low Edg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692FF6E27440F4A9616568541A8C2D3" ma:contentTypeVersion="6" ma:contentTypeDescription="Create a new document." ma:contentTypeScope="" ma:versionID="e3fbfd782b729c2ea75271ecc6381aad">
  <xsd:schema xmlns:xsd="http://www.w3.org/2001/XMLSchema" xmlns:xs="http://www.w3.org/2001/XMLSchema" xmlns:p="http://schemas.microsoft.com/office/2006/metadata/properties" xmlns:ns2="60b65d92-b9ba-4fda-a6d4-fc80fee45f1e" xmlns:ns3="31c5b7b8-1c06-40e5-9112-5d0b2cb3e63a" targetNamespace="http://schemas.microsoft.com/office/2006/metadata/properties" ma:root="true" ma:fieldsID="27c10afda9c9eed6cc1dc44218ee2e2d" ns2:_="" ns3:_="">
    <xsd:import namespace="60b65d92-b9ba-4fda-a6d4-fc80fee45f1e"/>
    <xsd:import namespace="31c5b7b8-1c06-40e5-9112-5d0b2cb3e63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0b65d92-b9ba-4fda-a6d4-fc80fee45f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c5b7b8-1c06-40e5-9112-5d0b2cb3e63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E53023F-D92C-427B-8DED-E3357D01DBEE}">
  <ds:schemaRefs>
    <ds:schemaRef ds:uri="http://schemas.microsoft.com/office/2006/metadata/properties"/>
    <ds:schemaRef ds:uri="http://schemas.microsoft.com/office/infopath/2007/PartnerControls"/>
    <ds:schemaRef ds:uri="dec0ca4c-66b0-48e9-ad00-41e092718583"/>
    <ds:schemaRef ds:uri="ecd437d3-f4c5-4a99-b253-419d7adaefb7"/>
  </ds:schemaRefs>
</ds:datastoreItem>
</file>

<file path=customXml/itemProps2.xml><?xml version="1.0" encoding="utf-8"?>
<ds:datastoreItem xmlns:ds="http://schemas.openxmlformats.org/officeDocument/2006/customXml" ds:itemID="{A138310F-D681-4880-BECE-DAFF20CF2249}"/>
</file>

<file path=customXml/itemProps3.xml><?xml version="1.0" encoding="utf-8"?>
<ds:datastoreItem xmlns:ds="http://schemas.openxmlformats.org/officeDocument/2006/customXml" ds:itemID="{7AD21629-8556-4260-8D0A-66F958DBEB5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3201</TotalTime>
  <Words>2131</Words>
  <Application>Microsoft Office PowerPoint</Application>
  <PresentationFormat>Widescreen</PresentationFormat>
  <Paragraphs>211</Paragraphs>
  <Slides>29</Slides>
  <Notes>1</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Retrospect</vt:lpstr>
      <vt:lpstr>Fundamental Programming in JAVA</vt:lpstr>
      <vt:lpstr>Objectives</vt:lpstr>
      <vt:lpstr>Exception-Handling Overview </vt:lpstr>
      <vt:lpstr>Exception-Handling Overview </vt:lpstr>
      <vt:lpstr>Exception-Handling Overview </vt:lpstr>
      <vt:lpstr>Exception Types </vt:lpstr>
      <vt:lpstr>Exception Types </vt:lpstr>
      <vt:lpstr>Checked Exceptions vs. Unchecked Exceptions</vt:lpstr>
      <vt:lpstr>Checked Exceptions vs. Unchecked Exceptions</vt:lpstr>
      <vt:lpstr>Unchecked Exceptions</vt:lpstr>
      <vt:lpstr>Exceptions Classes  Example</vt:lpstr>
      <vt:lpstr>Exceptions Classes Example</vt:lpstr>
      <vt:lpstr>Exceptions Classes  Example</vt:lpstr>
      <vt:lpstr>Most Common Java Exceptions</vt:lpstr>
      <vt:lpstr>Catching Exceptions</vt:lpstr>
      <vt:lpstr>Try and Catch: Syntax </vt:lpstr>
      <vt:lpstr>Try and Catch: Syntax </vt:lpstr>
      <vt:lpstr>Try and Catch: Syntax </vt:lpstr>
      <vt:lpstr>Try and Catch: Syntax </vt:lpstr>
      <vt:lpstr>Try and Catch: Syntax </vt:lpstr>
      <vt:lpstr>Try and Catch: Steps </vt:lpstr>
      <vt:lpstr>Try and Catch: Example</vt:lpstr>
      <vt:lpstr>Try and Catch: Example</vt:lpstr>
      <vt:lpstr>Try and Catch: Example</vt:lpstr>
      <vt:lpstr>Exception Methods </vt:lpstr>
      <vt:lpstr>Exception Methods </vt:lpstr>
      <vt:lpstr>Try and Catch: Example</vt:lpstr>
      <vt:lpstr>Try and Catch: Notes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Bara Hamadah;b_qaddoumi@asu.edu.jo</dc:creator>
  <cp:lastModifiedBy>Bara Hamada</cp:lastModifiedBy>
  <cp:revision>31</cp:revision>
  <dcterms:created xsi:type="dcterms:W3CDTF">2023-12-21T19:04:58Z</dcterms:created>
  <dcterms:modified xsi:type="dcterms:W3CDTF">2024-02-25T23:07:21Z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0x0101008692FF6E27440F4A9616568541A8C2D3</vt:lpwstr>
  </property>
  <property fmtid="{D5CDD505-2E9C-101B-9397-08002B2CF9AE}" pid="3" name="MediaServiceImageTags">
    <vt:lpwstr/>
  </property>
</Properties>
</file>